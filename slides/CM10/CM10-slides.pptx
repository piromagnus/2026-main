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382" r:id="rId2"/>
    <p:sldId id="632" r:id="rId3"/>
    <p:sldId id="641" r:id="rId4"/>
    <p:sldId id="650" r:id="rId5"/>
    <p:sldId id="642" r:id="rId6"/>
    <p:sldId id="643" r:id="rId7"/>
    <p:sldId id="644" r:id="rId8"/>
    <p:sldId id="645" r:id="rId9"/>
    <p:sldId id="646" r:id="rId10"/>
    <p:sldId id="647" r:id="rId11"/>
    <p:sldId id="648" r:id="rId12"/>
    <p:sldId id="649" r:id="rId13"/>
    <p:sldId id="651" r:id="rId14"/>
    <p:sldId id="659" r:id="rId15"/>
    <p:sldId id="652" r:id="rId16"/>
    <p:sldId id="653" r:id="rId17"/>
    <p:sldId id="667" r:id="rId18"/>
    <p:sldId id="661" r:id="rId19"/>
    <p:sldId id="662" r:id="rId20"/>
    <p:sldId id="663" r:id="rId21"/>
    <p:sldId id="664" r:id="rId22"/>
    <p:sldId id="665" r:id="rId23"/>
    <p:sldId id="666" r:id="rId24"/>
    <p:sldId id="701" r:id="rId25"/>
    <p:sldId id="655" r:id="rId26"/>
    <p:sldId id="671" r:id="rId27"/>
    <p:sldId id="672" r:id="rId28"/>
    <p:sldId id="657" r:id="rId29"/>
    <p:sldId id="658" r:id="rId30"/>
    <p:sldId id="668" r:id="rId31"/>
    <p:sldId id="660" r:id="rId32"/>
    <p:sldId id="673" r:id="rId33"/>
    <p:sldId id="674" r:id="rId34"/>
    <p:sldId id="675" r:id="rId35"/>
    <p:sldId id="676" r:id="rId36"/>
    <p:sldId id="677" r:id="rId37"/>
    <p:sldId id="669" r:id="rId38"/>
    <p:sldId id="654" r:id="rId39"/>
    <p:sldId id="679" r:id="rId40"/>
    <p:sldId id="680" r:id="rId41"/>
    <p:sldId id="682" r:id="rId42"/>
    <p:sldId id="700" r:id="rId43"/>
    <p:sldId id="683" r:id="rId44"/>
    <p:sldId id="684" r:id="rId45"/>
    <p:sldId id="685" r:id="rId46"/>
    <p:sldId id="686" r:id="rId47"/>
    <p:sldId id="687" r:id="rId48"/>
    <p:sldId id="670" r:id="rId49"/>
    <p:sldId id="688" r:id="rId50"/>
    <p:sldId id="695" r:id="rId51"/>
    <p:sldId id="693" r:id="rId52"/>
    <p:sldId id="694" r:id="rId53"/>
    <p:sldId id="689" r:id="rId54"/>
    <p:sldId id="698" r:id="rId55"/>
    <p:sldId id="696" r:id="rId56"/>
    <p:sldId id="702" r:id="rId57"/>
    <p:sldId id="703" r:id="rId58"/>
    <p:sldId id="691" r:id="rId59"/>
    <p:sldId id="692" r:id="rId60"/>
    <p:sldId id="699" r:id="rId61"/>
    <p:sldId id="697" r:id="rId62"/>
    <p:sldId id="704" r:id="rId63"/>
    <p:sldId id="705" r:id="rId6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00A2FF"/>
    <a:srgbClr val="E8EBE4"/>
    <a:srgbClr val="FA2743"/>
    <a:srgbClr val="1E77B4"/>
    <a:srgbClr val="02FF00"/>
    <a:srgbClr val="FF7F0F"/>
    <a:srgbClr val="F5AE00"/>
    <a:srgbClr val="9B5222"/>
    <a:srgbClr val="FF8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78"/>
    <p:restoredTop sz="94993"/>
  </p:normalViewPr>
  <p:slideViewPr>
    <p:cSldViewPr snapToGrid="0" snapToObjects="1">
      <p:cViewPr varScale="1">
        <p:scale>
          <a:sx n="96" d="100"/>
          <a:sy n="96" d="100"/>
        </p:scale>
        <p:origin x="164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FE6C1-AB26-3F44-9C87-C500B9817AF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39096-BE51-9C45-B82B-FA0E89D4584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37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993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46891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516CA-0DEB-2478-EDE4-5FA8F67C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7096E-419B-A4D5-7A66-7E7AAD8F8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607CE-4783-C02F-14BF-87DF5A5FA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34A3E-EA16-B330-1525-9788A5EE6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23490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B1EC1-81C7-D071-EE80-4EA0C1CEC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D2F0E-38C4-DB80-8D11-ECAC0F46B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20993-B65F-7B46-E6DD-7C3FC7C3C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03B6A-85E9-93A0-603F-1BF4BA283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96312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8AF6-8973-C3B2-2D7D-B2A95EF0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2F380-2803-551E-F7A1-5D2153DE6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39F35-8E8D-1698-C0D3-B2A6166DE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AB81F-3DA2-858D-C63F-74BAE6FCF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961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0F65-0D68-987B-0554-1C70EC67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33502-B3CC-8791-76BB-F243992CA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03A41-0FE5-CA78-247C-E6C20064A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55753-971E-07B3-1BCA-C668D1DCA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6252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E29F-0BF2-81B6-E056-17D5359A5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64EBD-E8F5-29E4-3378-26ED28C09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43352-0C1F-807C-47C7-C2AEB0224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51C15-43E0-62E3-BEDD-BF6E8CF4A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1268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8A02-29F1-85D8-5144-D6B52DB2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1C318-1AAE-CA82-4E1B-FB6F7BC2B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FFF03-4C46-11E4-9F47-FE9E60C7A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13DEF-DD80-7A12-6810-D1B053979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76902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AAD5-0BF2-39DC-39F9-796583C2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BC088-28F3-389F-1F60-9AFF3115B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F70F9-F25A-F7A8-8BCA-84C18C05C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7DD22-FE5E-6E38-DECE-7AA56739B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17972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68807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7320-D868-A28E-AF3F-9FD4E93E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DC503-323E-C38E-FAC0-C62898E33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F6BAC-B735-4595-8E8B-1FEAB938E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27012-60C2-DE1F-5B13-6549FCFEE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09315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56E6-5D73-3B92-EBAC-1CE20A1E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C5CA2-BB75-E845-957C-F636ED9B7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2E43E-D255-EFCB-AB44-AB99A2435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C9630-C41E-E17B-7494-C7B494F95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87872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B72F2-BB33-E918-8577-6DE6DE3D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DF51F-7FCB-3C56-0222-22FF948A6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9CC21-6426-E856-09C5-9309A48AD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42153-D8D4-5A0C-0F11-75A96AAD3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95248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C6CB-0A59-45E4-222B-7939EEB0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59900-A888-8E22-00B9-ADA1EC9A2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03F0B-7556-6A4D-5819-B05FA0F5A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31E7C-E00C-9662-94B1-809690AF3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82729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5EA7-58A3-9A19-1AD0-6C6ACD9B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3E0A3-8F3B-741E-73E5-58D478251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7A6D9-EB55-4426-A25C-9A2BD1150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D9825-390F-8554-73B9-773086862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0893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2773F-F258-71B6-6F8D-A77E7D8F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F51F6-D31B-700C-622A-87B4B065E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8B4DA-810C-E324-F83C-9AA7FA87A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D4C84-A288-738D-FA15-218A0A30C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85261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6170B-6507-4BDC-36E2-80CCEF65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8D53D-D936-62E5-ED6D-6F82ED31A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D810B-C764-B3DF-67F7-C60672B2D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44819-384C-A7EB-6979-1E5C6CD08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56687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A4BB-60A2-522C-D941-192FAE19B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A40CC-9CED-D095-BDAA-A1D8BC694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9F5DD-FB2A-A3EE-9CB5-B19DBE190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9479A-0688-CC65-60AE-20AB44E3C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36967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6BF3-02A5-33C1-0663-DD45BE70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5E2CD-8EC1-EFFA-FC00-B1FABFC83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9C037-3D2B-4B03-69FA-D18585825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13CD9-A7DB-3AC0-6044-15FFD76B7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51931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A400F-2DDD-8F0B-D684-3F0B79456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F3867-D82E-4FC3-928E-98D0A6D17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28FF7-150F-9726-0F79-66DCBA52E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FFCF4-823C-4128-20EF-A69211B2D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09396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FFF33-1C4C-AD88-C1BC-B5F40C1D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E56B6-FB42-7D38-BA19-2B7407BF6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AE0C7-BA15-2D9F-ABC1-A5CA4D699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A99A2-5232-FB79-A391-C46AD5FCE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69161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60B9-93C3-9337-3AD2-4FFAFDEA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C0DCB-CB67-B991-58C1-368258C1E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D9DD1-E1E9-4952-A65F-81544CE09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55E79-CF40-EAC0-0F6B-346762BF4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23131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4BF8-948B-405E-F3FB-E8CA5510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8B454-1130-98E3-3508-7368D20AA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5A346-5D51-1A19-A2D9-51EEC99E2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BD05E-4DE8-025F-526F-F3A0B7D94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87947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D33C-C70E-62CB-DF57-776B297DF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79B79-1BBD-4A46-FCDB-7C7F5846A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6AB60-5ACD-6F71-EF16-F2457BC39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44895-763C-F451-353E-19554BFF0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2598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B94BA-8485-08B0-B795-2E194309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0375E-B8A7-389E-41F9-DD4C8BF2B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44CB2-5826-1BBB-EE28-CE57A4BDE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317D2-1459-7A80-5935-EC59A0E2A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26173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1F05A-9FDB-79A3-C785-F1C11B6E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1DB44-14C4-9DD3-1A4C-C55B52502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7F02F-8CD6-31E3-FF4D-C3492785C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8C5ED-4300-3B3C-E4C9-BCB15B2D3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893189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EB6C9-3B26-06EC-F8BE-662198D0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40204-002E-6E34-26CF-FC95302A2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F8E98-80E4-03BC-8BE0-39BDB13ED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49A8E-5115-479E-C536-CA08D1AE2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52449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0E3C-F2DB-0DE1-D68B-6A14C054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0A3CE-4053-C5DE-7707-40787E9F2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55562-0E1E-4DC6-EDD9-C47C07653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8B9C5-A6A9-F630-BAF6-25B466156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51624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FD45-A4A0-C4A7-5D70-0885C0F3A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65322-7C68-66E6-C732-38CC82E04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609F1-CB15-DE23-9D17-FD364A663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25BFB-D23F-7BE5-225F-D07739DC8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98959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D1A48-A1A8-48B7-5E3F-F66C706C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3F8F5-E980-BD74-A39B-6D98C969F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304E4-041B-AC57-E4FC-421752864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7719F-CB1E-09FF-6E08-A743BBF6E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169471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D12EA-720B-C8A8-2DE7-228AC6D0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2F003-BE78-4114-E218-0F9124D6A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24E74-D3A9-F831-9303-770620C07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99D4E-03B7-2F73-F096-679CBA481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213292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9454-0EA8-A468-C1D4-F7CD14EC1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F7EEB-EB40-2852-916D-0EA6CAC48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FD902-7EC1-4FA4-428C-5AC975A46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6B1FB-8FCC-59B4-CA8E-018BC6ABF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045857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379A-A74C-76D2-2BDC-CC217640A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321A1-4045-3C5E-2735-9880FFE60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F4034-F01C-9B3E-E6F6-04100E5B8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ACE61-47DF-4C44-5750-72DE45897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267647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AF04-19CB-7EB9-0A8B-7FEFDA8E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3D252-1A19-1842-8859-1243E5673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3B872-3DF4-C1E4-D251-0F4771B51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27964-8AC2-68AF-D07A-E105EC93B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562130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7012-DE45-6D1C-8C22-DD381901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CF294-7A39-7FFB-3F2C-BEBAC8345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01971-703D-D0EF-B5C8-116C6A3AD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57B2A-F8A2-C1F9-E895-48B905369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062147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42C71-ADE6-973D-D432-C31E6858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4FC75-D871-CD33-5E3F-E76CFD53B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66C44-98DB-9F3B-63F9-030048955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681EA-B5E9-A589-AD6D-463B81F30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103001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7E978-8947-52EF-9908-E7085EB3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0009B-2F8A-A23A-4737-41B3939D9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FFAD1-1C74-F8A3-D464-BC60D4EE9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F04D9-E5B2-4052-2F16-841B5AF3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159661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CC34-33DA-D0A3-EE16-3D405E0A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75927-4C95-4909-8286-1574F2967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6ABD6-B2DA-84A0-59B0-9C65686D9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9E4D3-E8E8-C2CC-D821-85B64A86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889009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A415-5289-6F5F-35CE-DF3F53009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1A73E-64B2-5377-4049-5ED609458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A3F0A-8364-CE83-F022-6AF0E2942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90086-85A6-4601-EB95-95F35BB53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386155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2D71-8E47-F719-49B1-D924A6A7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F1923-E6A6-4C7E-0B39-FEF64A1E8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9D195-A441-B454-533C-051B860E5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i="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E5D72-8041-3023-4BCD-762528754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8758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EC9B-787C-824C-894C-857B659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034B8-C425-C946-83B5-386EB7480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8366-FA73-7C40-9D66-F01278D9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13DA-3627-824F-B630-E2948873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5195-A057-A740-ABFD-A4428E7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446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7FAB-44BF-AB48-8D73-DA1AEA67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A5C9-E435-904F-9A50-ED9242E28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2556-21DE-C043-BE7B-9E2A5497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DE1C2-7A56-054D-A23E-DD2241BE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8906-A5FE-FF4D-A27E-550C5990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2565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4E8A-2B0D-EB42-A978-1FE768A3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EB75-EBFD-8E42-82F0-A331F604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1795-369A-C94E-9F66-0A208AF1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BA02-0FCB-EA44-B7B5-96861116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71C-9EF7-0C4B-BDDD-FB6BA964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186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381-A6CF-6F47-A7A3-14C7831D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1EC3-D19C-DC4D-A5B9-9460AD4AA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A3376-5078-194F-9992-6B02E62E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1E5D-D454-0943-B25A-DA182891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67DE1-3EE7-D943-B7FD-A51C83BA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BA756-9D8E-C845-B692-3873FF0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0877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190A-2F02-BD4E-9E22-FE2A2CC9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E7DD-D354-C048-8942-567BCCBE7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2036-8FA2-734D-A0A4-540FA63F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EAE85-DEC4-6042-A589-63117EF75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B7604-EC7A-9F4B-8B40-82D381275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45EAB-187C-284A-B3CB-5EC78439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A07A-26C9-CA4B-8592-EA2C357C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9D14B-3E77-C64E-BBF4-00C096EE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615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ED17-FBEF-0040-96E6-994DBD52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881A-CF7D-8C45-9008-E61A46B5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5F0EE-BDC6-3E43-BEAC-A339A972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E1059-D3D9-064E-BFD5-C588BE34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57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CF8FB-7AEB-7147-A83A-4DF08A93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F6FAA-2A77-D645-B7D9-87AF3594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5873-66FC-0E4A-A249-F6FA165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041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E7F8-26AB-8045-9C68-095EB3F3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37C8-7D1E-D745-A650-7BE33872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87F2-0361-5E48-9242-1481CECC5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6C55-C72A-6346-9F4D-E7EBB953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A30C-17EA-D843-AB84-DCC67550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8998-8FCD-4A48-8077-41D395F1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73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506-CC8C-3948-98A1-3618A657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23419-833F-ED48-BCFF-35297290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7541E-9161-9845-900C-0B7F4D6B4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6B3E-FD83-2742-B704-CAA2A3EB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2EB9A-F8B6-4F40-A237-D183B7FA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7B30-1A12-B54A-9EC7-A21A9020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946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F93D-B2C2-7048-94E6-5B0A3937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1939D-3520-5A4E-AC60-F1060FE9B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D6DC-E506-5049-B0CD-01E32D73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9E02-B2EF-CC4E-A982-1A0F3130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BA1F-361D-CF4C-A4FB-8D2BD097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07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8988E-5C51-134D-8C79-867D44453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2FE0-5CF2-8544-A5E3-F37FBDD35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76C2-05A5-5A4B-9AA6-732FC73A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4220-F883-2A4C-82CA-C524A70A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F099-3857-6B40-AE2C-2127FDED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7257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95531-CC31-C242-807F-85E2E673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68A4-CCF7-2A40-831F-1C89AC50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E3EE-7349-1747-80AE-DCDB34EFE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5F58-0AA8-724B-8DBF-E28AC2D343FC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D396-5C82-A643-8632-51B3DE0CC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28E0-1C6E-1140-BACB-EBB4D140C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8282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.com/FrankRHutter/status/1583410845307977733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7.png"/><Relationship Id="rId7" Type="http://schemas.openxmlformats.org/officeDocument/2006/relationships/image" Target="../media/image13.emf"/><Relationship Id="rId12" Type="http://schemas.openxmlformats.org/officeDocument/2006/relationships/image" Target="../media/image18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1" Type="http://schemas.openxmlformats.org/officeDocument/2006/relationships/image" Target="../media/image17.emf"/><Relationship Id="rId5" Type="http://schemas.openxmlformats.org/officeDocument/2006/relationships/image" Target="../media/image6.png"/><Relationship Id="rId10" Type="http://schemas.openxmlformats.org/officeDocument/2006/relationships/image" Target="../media/image16.emf"/><Relationship Id="rId4" Type="http://schemas.openxmlformats.org/officeDocument/2006/relationships/image" Target="../media/image3.png"/><Relationship Id="rId9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4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20.emf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6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31.emf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7.emf"/><Relationship Id="rId4" Type="http://schemas.openxmlformats.org/officeDocument/2006/relationships/image" Target="../media/image32.emf"/><Relationship Id="rId9" Type="http://schemas.openxmlformats.org/officeDocument/2006/relationships/image" Target="../media/image3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33.emf"/><Relationship Id="rId7" Type="http://schemas.openxmlformats.org/officeDocument/2006/relationships/image" Target="../media/image27.emf"/><Relationship Id="rId12" Type="http://schemas.openxmlformats.org/officeDocument/2006/relationships/image" Target="../media/image3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35.emf"/><Relationship Id="rId5" Type="http://schemas.openxmlformats.org/officeDocument/2006/relationships/image" Target="../media/image32.emf"/><Relationship Id="rId10" Type="http://schemas.openxmlformats.org/officeDocument/2006/relationships/image" Target="../media/image29.emf"/><Relationship Id="rId4" Type="http://schemas.openxmlformats.org/officeDocument/2006/relationships/image" Target="../media/image31.emf"/><Relationship Id="rId9" Type="http://schemas.openxmlformats.org/officeDocument/2006/relationships/image" Target="../media/image2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image" Target="../media/image37.emf"/><Relationship Id="rId3" Type="http://schemas.openxmlformats.org/officeDocument/2006/relationships/image" Target="../media/image33.emf"/><Relationship Id="rId7" Type="http://schemas.openxmlformats.org/officeDocument/2006/relationships/image" Target="../media/image27.emf"/><Relationship Id="rId12" Type="http://schemas.openxmlformats.org/officeDocument/2006/relationships/image" Target="../media/image35.emf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29.emf"/><Relationship Id="rId5" Type="http://schemas.openxmlformats.org/officeDocument/2006/relationships/image" Target="../media/image32.emf"/><Relationship Id="rId15" Type="http://schemas.openxmlformats.org/officeDocument/2006/relationships/image" Target="../media/image39.emf"/><Relationship Id="rId10" Type="http://schemas.openxmlformats.org/officeDocument/2006/relationships/image" Target="../media/image28.emf"/><Relationship Id="rId4" Type="http://schemas.openxmlformats.org/officeDocument/2006/relationships/image" Target="../media/image31.emf"/><Relationship Id="rId9" Type="http://schemas.openxmlformats.org/officeDocument/2006/relationships/image" Target="../media/image26.emf"/><Relationship Id="rId14" Type="http://schemas.openxmlformats.org/officeDocument/2006/relationships/image" Target="../media/image3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11" Type="http://schemas.openxmlformats.org/officeDocument/2006/relationships/image" Target="../media/image44.emf"/><Relationship Id="rId5" Type="http://schemas.openxmlformats.org/officeDocument/2006/relationships/image" Target="../media/image38.emf"/><Relationship Id="rId10" Type="http://schemas.openxmlformats.org/officeDocument/2006/relationships/image" Target="../media/image43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image" Target="../media/image68.emf"/><Relationship Id="rId3" Type="http://schemas.openxmlformats.org/officeDocument/2006/relationships/image" Target="../media/image26.emf"/><Relationship Id="rId7" Type="http://schemas.openxmlformats.org/officeDocument/2006/relationships/image" Target="../media/image62.emf"/><Relationship Id="rId12" Type="http://schemas.openxmlformats.org/officeDocument/2006/relationships/image" Target="../media/image6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11" Type="http://schemas.openxmlformats.org/officeDocument/2006/relationships/image" Target="../media/image66.emf"/><Relationship Id="rId5" Type="http://schemas.openxmlformats.org/officeDocument/2006/relationships/image" Target="../media/image32.emf"/><Relationship Id="rId10" Type="http://schemas.openxmlformats.org/officeDocument/2006/relationships/image" Target="../media/image65.emf"/><Relationship Id="rId4" Type="http://schemas.openxmlformats.org/officeDocument/2006/relationships/image" Target="../media/image31.emf"/><Relationship Id="rId9" Type="http://schemas.openxmlformats.org/officeDocument/2006/relationships/image" Target="../media/image6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image" Target="../media/image79.emf"/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12" Type="http://schemas.openxmlformats.org/officeDocument/2006/relationships/image" Target="../media/image7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emf"/><Relationship Id="rId11" Type="http://schemas.openxmlformats.org/officeDocument/2006/relationships/image" Target="../media/image77.emf"/><Relationship Id="rId5" Type="http://schemas.openxmlformats.org/officeDocument/2006/relationships/image" Target="../media/image71.emf"/><Relationship Id="rId10" Type="http://schemas.openxmlformats.org/officeDocument/2006/relationships/image" Target="../media/image76.emf"/><Relationship Id="rId4" Type="http://schemas.openxmlformats.org/officeDocument/2006/relationships/image" Target="../media/image70.emf"/><Relationship Id="rId9" Type="http://schemas.openxmlformats.org/officeDocument/2006/relationships/image" Target="../media/image7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Relationship Id="rId9" Type="http://schemas.openxmlformats.org/officeDocument/2006/relationships/image" Target="../media/image9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emf"/><Relationship Id="rId4" Type="http://schemas.openxmlformats.org/officeDocument/2006/relationships/image" Target="../media/image9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7" Type="http://schemas.openxmlformats.org/officeDocument/2006/relationships/image" Target="../media/image9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emf"/><Relationship Id="rId5" Type="http://schemas.openxmlformats.org/officeDocument/2006/relationships/image" Target="../media/image100.emf"/><Relationship Id="rId4" Type="http://schemas.openxmlformats.org/officeDocument/2006/relationships/image" Target="../media/image98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7" Type="http://schemas.openxmlformats.org/officeDocument/2006/relationships/image" Target="../media/image106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emf"/><Relationship Id="rId5" Type="http://schemas.openxmlformats.org/officeDocument/2006/relationships/image" Target="../media/image104.emf"/><Relationship Id="rId4" Type="http://schemas.openxmlformats.org/officeDocument/2006/relationships/image" Target="../media/image103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7.emf"/><Relationship Id="rId7" Type="http://schemas.openxmlformats.org/officeDocument/2006/relationships/image" Target="../media/image11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108.emf"/><Relationship Id="rId9" Type="http://schemas.openxmlformats.org/officeDocument/2006/relationships/image" Target="../media/image10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anndubs.github.io/Neural-Process-Family/text/CNPF.html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yanndubs.github.io/Neural-Process-Family/text/CNPF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emf"/><Relationship Id="rId4" Type="http://schemas.openxmlformats.org/officeDocument/2006/relationships/image" Target="../media/image116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3" Type="http://schemas.openxmlformats.org/officeDocument/2006/relationships/image" Target="../media/image115.emf"/><Relationship Id="rId7" Type="http://schemas.openxmlformats.org/officeDocument/2006/relationships/image" Target="../media/image119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emf"/><Relationship Id="rId5" Type="http://schemas.openxmlformats.org/officeDocument/2006/relationships/image" Target="../media/image117.emf"/><Relationship Id="rId10" Type="http://schemas.openxmlformats.org/officeDocument/2006/relationships/image" Target="../media/image122.emf"/><Relationship Id="rId4" Type="http://schemas.openxmlformats.org/officeDocument/2006/relationships/image" Target="../media/image116.emf"/><Relationship Id="rId9" Type="http://schemas.openxmlformats.org/officeDocument/2006/relationships/image" Target="../media/image121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3" Type="http://schemas.openxmlformats.org/officeDocument/2006/relationships/image" Target="../media/image115.emf"/><Relationship Id="rId7" Type="http://schemas.openxmlformats.org/officeDocument/2006/relationships/image" Target="../media/image119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emf"/><Relationship Id="rId5" Type="http://schemas.openxmlformats.org/officeDocument/2006/relationships/image" Target="../media/image117.emf"/><Relationship Id="rId4" Type="http://schemas.openxmlformats.org/officeDocument/2006/relationships/image" Target="../media/image116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u7VZeW5TaE?feature=oembed" TargetMode="External"/><Relationship Id="rId6" Type="http://schemas.openxmlformats.org/officeDocument/2006/relationships/image" Target="../media/image125.png"/><Relationship Id="rId5" Type="http://schemas.openxmlformats.org/officeDocument/2006/relationships/hyperlink" Target="https://www.youtube.com/watch?v=Nu7VZeW5TaE" TargetMode="External"/><Relationship Id="rId4" Type="http://schemas.openxmlformats.org/officeDocument/2006/relationships/image" Target="../media/image124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emf"/><Relationship Id="rId4" Type="http://schemas.openxmlformats.org/officeDocument/2006/relationships/image" Target="../media/image12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emf"/><Relationship Id="rId5" Type="http://schemas.openxmlformats.org/officeDocument/2006/relationships/image" Target="../media/image130.emf"/><Relationship Id="rId4" Type="http://schemas.openxmlformats.org/officeDocument/2006/relationships/image" Target="../media/image129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0E4DC-5BA1-4A88-3549-39BB252362F9}"/>
              </a:ext>
            </a:extLst>
          </p:cNvPr>
          <p:cNvSpPr/>
          <p:nvPr/>
        </p:nvSpPr>
        <p:spPr>
          <a:xfrm>
            <a:off x="0" y="5801193"/>
            <a:ext cx="12192000" cy="1056807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9F4F4-12FE-580B-E00C-CFCF2FCF9F40}"/>
              </a:ext>
            </a:extLst>
          </p:cNvPr>
          <p:cNvSpPr txBox="1"/>
          <p:nvPr/>
        </p:nvSpPr>
        <p:spPr>
          <a:xfrm>
            <a:off x="6742386" y="5960264"/>
            <a:ext cx="5319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Pedro L. C. Rodrigues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537CB7-C4BB-7CE0-0825-9715A7575578}"/>
              </a:ext>
            </a:extLst>
          </p:cNvPr>
          <p:cNvSpPr/>
          <p:nvPr/>
        </p:nvSpPr>
        <p:spPr>
          <a:xfrm>
            <a:off x="1006145" y="663992"/>
            <a:ext cx="10179710" cy="2511684"/>
          </a:xfrm>
          <a:prstGeom prst="round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C973D-E8B9-CA36-F0E5-BE9D3B33A408}"/>
              </a:ext>
            </a:extLst>
          </p:cNvPr>
          <p:cNvSpPr txBox="1"/>
          <p:nvPr/>
        </p:nvSpPr>
        <p:spPr>
          <a:xfrm>
            <a:off x="945537" y="950338"/>
            <a:ext cx="10300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6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 to Statistical Learning with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8D681-85A3-D3D9-0655-46D9193F23C1}"/>
              </a:ext>
            </a:extLst>
          </p:cNvPr>
          <p:cNvSpPr txBox="1"/>
          <p:nvPr/>
        </p:nvSpPr>
        <p:spPr>
          <a:xfrm>
            <a:off x="581859" y="3968671"/>
            <a:ext cx="11028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CM10: Tabular Foundational Models</a:t>
            </a:r>
            <a:endParaRPr lang="en-FR" sz="48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8538E42E-F69C-00BB-E335-14D530B8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108869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B0C4B5-0DDA-38F0-2008-D76C97B2AFCB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150352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DD84EB-073B-8C8E-8A17-7DFE34018B26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D97BE0-1E43-7C08-EA2C-2E078AF6CEE7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4B8BF-3F6B-1504-1633-5CBF4D8C6297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Tabular Foundational Models </a:t>
            </a:r>
          </a:p>
        </p:txBody>
      </p:sp>
    </p:spTree>
    <p:extLst>
      <p:ext uri="{BB962C8B-B14F-4D97-AF65-F5344CB8AC3E}">
        <p14:creationId xmlns:p14="http://schemas.microsoft.com/office/powerpoint/2010/main" val="367534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89A6-619A-9382-899D-00D1856A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3999E6-72A4-805D-D03A-86F127B0E8F8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6ED9A-F020-6377-B26B-440E92D3703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8BF7E-D2C2-1A27-4068-6B033DC9CA0A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C862C8-8627-52BD-A45D-EE154572F4FD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73F06-4FEB-97E3-82FD-694DBABFF5B6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Tabular</a:t>
            </a:r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Foundational Models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7490B0-BECB-0F04-7099-A4C95C1675AC}"/>
              </a:ext>
            </a:extLst>
          </p:cNvPr>
          <p:cNvSpPr txBox="1"/>
          <p:nvPr/>
        </p:nvSpPr>
        <p:spPr>
          <a:xfrm>
            <a:off x="306592" y="2690175"/>
            <a:ext cx="5256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But first of all… what are tabular data?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5C5FFC-F572-F422-84C4-02C6BEE0A21B}"/>
              </a:ext>
            </a:extLst>
          </p:cNvPr>
          <p:cNvSpPr txBox="1"/>
          <p:nvPr/>
        </p:nvSpPr>
        <p:spPr>
          <a:xfrm>
            <a:off x="306592" y="5783406"/>
            <a:ext cx="11578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It is the most </a:t>
            </a:r>
            <a:r>
              <a:rPr lang="en-FR" sz="2400" b="1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common type of data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that you will see when working as data scientist…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4EAA0-AC7D-24F6-8FE0-5ABFBDCA5FFB}"/>
              </a:ext>
            </a:extLst>
          </p:cNvPr>
          <p:cNvGrpSpPr/>
          <p:nvPr/>
        </p:nvGrpSpPr>
        <p:grpSpPr>
          <a:xfrm>
            <a:off x="3743045" y="3290083"/>
            <a:ext cx="4705903" cy="2285915"/>
            <a:chOff x="2196935" y="3503854"/>
            <a:chExt cx="4705903" cy="22859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6BB127-A6D0-64A8-1F64-6022DE8FF11C}"/>
                </a:ext>
              </a:extLst>
            </p:cNvPr>
            <p:cNvSpPr/>
            <p:nvPr/>
          </p:nvSpPr>
          <p:spPr>
            <a:xfrm>
              <a:off x="2196935" y="3774020"/>
              <a:ext cx="2576946" cy="1816925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27DC031-5216-A83E-0D9B-E930726ECDCA}"/>
                </a:ext>
              </a:extLst>
            </p:cNvPr>
            <p:cNvSpPr/>
            <p:nvPr/>
          </p:nvSpPr>
          <p:spPr>
            <a:xfrm>
              <a:off x="2382979" y="3575194"/>
              <a:ext cx="2200895" cy="2214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8F75629-F7F9-30CA-D415-6945CD91BEA5}"/>
                </a:ext>
              </a:extLst>
            </p:cNvPr>
            <p:cNvSpPr/>
            <p:nvPr/>
          </p:nvSpPr>
          <p:spPr>
            <a:xfrm>
              <a:off x="5475821" y="3774018"/>
              <a:ext cx="1427017" cy="1816925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3250AF-549A-1A70-0D78-E5C22CA7A9BE}"/>
                </a:ext>
              </a:extLst>
            </p:cNvPr>
            <p:cNvSpPr/>
            <p:nvPr/>
          </p:nvSpPr>
          <p:spPr>
            <a:xfrm>
              <a:off x="5667807" y="3503854"/>
              <a:ext cx="1076699" cy="2214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5CD41B-757F-3669-ABE4-585DD7ABA602}"/>
                </a:ext>
              </a:extLst>
            </p:cNvPr>
            <p:cNvSpPr txBox="1"/>
            <p:nvPr/>
          </p:nvSpPr>
          <p:spPr>
            <a:xfrm>
              <a:off x="3084919" y="4180254"/>
              <a:ext cx="797014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FR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X</a:t>
              </a:r>
              <a:br>
                <a:rPr lang="en-FR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</a:br>
              <a:r>
                <a:rPr lang="en-FR" dirty="0">
                  <a:latin typeface="Roboto Thin" panose="02000000000000000000" pitchFamily="2" charset="0"/>
                  <a:ea typeface="Roboto Thin" panose="02000000000000000000" pitchFamily="2" charset="0"/>
                </a:rPr>
                <a:t>(n x p)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26A3A4-5FAF-C1F9-E8AC-0C58E1601D18}"/>
                </a:ext>
              </a:extLst>
            </p:cNvPr>
            <p:cNvSpPr txBox="1"/>
            <p:nvPr/>
          </p:nvSpPr>
          <p:spPr>
            <a:xfrm>
              <a:off x="5790822" y="4251593"/>
              <a:ext cx="797014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FR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y</a:t>
              </a:r>
              <a:br>
                <a:rPr lang="en-FR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</a:br>
              <a:r>
                <a:rPr lang="en-FR" dirty="0">
                  <a:latin typeface="Roboto Thin" panose="02000000000000000000" pitchFamily="2" charset="0"/>
                  <a:ea typeface="Roboto Thin" panose="02000000000000000000" pitchFamily="2" charset="0"/>
                </a:rPr>
                <a:t>(n x p)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301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AFC8-C3CC-33C0-27E4-3DE1BFC3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1F9F3C-E9BA-6260-81F5-5FA9018AB55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AB4BC-EB1A-7E6D-14FE-39EEDE8F2A5A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958E858-F1AA-20F5-D062-EFA56D83F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302" y="3570345"/>
            <a:ext cx="6957392" cy="1978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DD2548-A1FF-D34B-E034-ABF35F589CE2}"/>
              </a:ext>
            </a:extLst>
          </p:cNvPr>
          <p:cNvSpPr txBox="1"/>
          <p:nvPr/>
        </p:nvSpPr>
        <p:spPr>
          <a:xfrm>
            <a:off x="5134836" y="3292608"/>
            <a:ext cx="19223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latin typeface="Roboto Black" panose="02000000000000000000" pitchFamily="2" charset="0"/>
                <a:ea typeface="Roboto Black" panose="02000000000000000000" pitchFamily="2" charset="0"/>
              </a:rPr>
              <a:t>The titanic dataset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2568DC-C851-3E36-3A62-22FB999C3DFE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52B040-3C5E-1D8B-A6A0-B8CD5C13EDAA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E1FF56-A8BC-54C2-26EE-3B50B1C970A8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Tabular</a:t>
            </a:r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Foundational Models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A7B436-996B-872F-DBB7-BEF0EE339FAB}"/>
              </a:ext>
            </a:extLst>
          </p:cNvPr>
          <p:cNvSpPr txBox="1"/>
          <p:nvPr/>
        </p:nvSpPr>
        <p:spPr>
          <a:xfrm>
            <a:off x="306592" y="2690175"/>
            <a:ext cx="5256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But first of all… what are tabular data?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6F2B2-549F-4CC8-06A8-B37379F612F4}"/>
              </a:ext>
            </a:extLst>
          </p:cNvPr>
          <p:cNvSpPr txBox="1"/>
          <p:nvPr/>
        </p:nvSpPr>
        <p:spPr>
          <a:xfrm>
            <a:off x="306592" y="5783406"/>
            <a:ext cx="11578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It is the most </a:t>
            </a:r>
            <a:r>
              <a:rPr lang="en-FR" sz="2400" b="1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common type of data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that you will see when working as data scientist…</a:t>
            </a:r>
          </a:p>
        </p:txBody>
      </p:sp>
    </p:spTree>
    <p:extLst>
      <p:ext uri="{BB962C8B-B14F-4D97-AF65-F5344CB8AC3E}">
        <p14:creationId xmlns:p14="http://schemas.microsoft.com/office/powerpoint/2010/main" val="366270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9E07-28A4-6BA7-E6B3-8220FC2B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777DED-0CE4-4CA5-4ADD-20C264F2516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A8D81-9914-6AC2-1831-B82E2FF3FE3C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DE93307-41BC-267F-34BD-3A88F96CF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714" y="3357232"/>
            <a:ext cx="6602572" cy="222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74457FC-3C64-C857-8E96-8D3D9A1F4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971" y="3103766"/>
            <a:ext cx="1102071" cy="59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E2DDC91-5EBC-1745-3D75-195455D2220E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090A8A-AE11-12D8-499C-777A266EE1C1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233517-7527-1084-EE58-6A08C0FD56A8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Tabular</a:t>
            </a:r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Foundational Models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87845-C2A1-7F11-6428-A2F7E45637E0}"/>
              </a:ext>
            </a:extLst>
          </p:cNvPr>
          <p:cNvSpPr txBox="1"/>
          <p:nvPr/>
        </p:nvSpPr>
        <p:spPr>
          <a:xfrm>
            <a:off x="306592" y="2690175"/>
            <a:ext cx="5256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But first of all… what are tabular data?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0F11F-65E1-C840-C29D-7FCD15A2203D}"/>
              </a:ext>
            </a:extLst>
          </p:cNvPr>
          <p:cNvSpPr txBox="1"/>
          <p:nvPr/>
        </p:nvSpPr>
        <p:spPr>
          <a:xfrm>
            <a:off x="306592" y="5783406"/>
            <a:ext cx="11578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It is the most </a:t>
            </a:r>
            <a:r>
              <a:rPr lang="en-FR" sz="2400" b="1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common type of data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that you will see when working as data scientist…</a:t>
            </a:r>
          </a:p>
        </p:txBody>
      </p:sp>
    </p:spTree>
    <p:extLst>
      <p:ext uri="{BB962C8B-B14F-4D97-AF65-F5344CB8AC3E}">
        <p14:creationId xmlns:p14="http://schemas.microsoft.com/office/powerpoint/2010/main" val="351685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191D3-524F-9014-544E-AEC0E5C0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CBE1C7-D141-01B8-117D-3E463C20CA6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BC13A-FB2F-84E6-4546-382BD8C186F0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DD5E0E-DA42-7E39-197A-F39AE0455AD7}"/>
              </a:ext>
            </a:extLst>
          </p:cNvPr>
          <p:cNvSpPr txBox="1"/>
          <p:nvPr/>
        </p:nvSpPr>
        <p:spPr>
          <a:xfrm>
            <a:off x="240033" y="887764"/>
            <a:ext cx="87976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Neural networks used to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struggle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tabular data because of…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Heterogeneity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etween datasets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991DA2B-EB9A-AC1E-CFC1-A542C4A37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331" y="2227448"/>
            <a:ext cx="2696444" cy="290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91B683F5-7B36-98F2-4C6D-1D81501B5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867" y="2557625"/>
            <a:ext cx="5713425" cy="257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474E988D-4E01-2535-555D-F3968BA36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993" y="3782563"/>
            <a:ext cx="8393723" cy="238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37A97D84-28B4-F0B6-D97B-28192318574B}"/>
              </a:ext>
            </a:extLst>
          </p:cNvPr>
          <p:cNvSpPr/>
          <p:nvPr/>
        </p:nvSpPr>
        <p:spPr>
          <a:xfrm>
            <a:off x="401347" y="1746739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401121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51FC-88E2-E0B5-D0B2-87E81780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8BF832-01A3-EB47-8235-A1D25F408CB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2692C-2BB5-E2CB-A1A3-C76BBFE2829A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B3774-38D4-B74B-EE81-96AA80829708}"/>
              </a:ext>
            </a:extLst>
          </p:cNvPr>
          <p:cNvSpPr txBox="1"/>
          <p:nvPr/>
        </p:nvSpPr>
        <p:spPr>
          <a:xfrm>
            <a:off x="240033" y="887764"/>
            <a:ext cx="87976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Neural networks used to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struggle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tabular data because of…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Heterogeneity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between columns within a dataset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495A9A67-56F0-C14C-7654-AE99EDE1E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10" y="2337480"/>
            <a:ext cx="10904180" cy="310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6AAEFCDB-5E69-9FAF-60B7-5F53858BC7A6}"/>
              </a:ext>
            </a:extLst>
          </p:cNvPr>
          <p:cNvSpPr/>
          <p:nvPr/>
        </p:nvSpPr>
        <p:spPr>
          <a:xfrm>
            <a:off x="401347" y="1746739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0AA58-E9AF-9511-356B-F7F3CC751F33}"/>
              </a:ext>
            </a:extLst>
          </p:cNvPr>
          <p:cNvSpPr txBox="1"/>
          <p:nvPr/>
        </p:nvSpPr>
        <p:spPr>
          <a:xfrm>
            <a:off x="2515981" y="5687743"/>
            <a:ext cx="7160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Roboto Thin" panose="02000000000000000000" pitchFamily="2" charset="0"/>
                <a:ea typeface="Roboto Thin" panose="02000000000000000000" pitchFamily="2" charset="0"/>
              </a:rPr>
              <a:t>features with different scales, with different types : </a:t>
            </a:r>
            <a:r>
              <a:rPr lang="en-GB" sz="1600" dirty="0" err="1">
                <a:latin typeface="Roboto Thin" panose="02000000000000000000" pitchFamily="2" charset="0"/>
                <a:ea typeface="Roboto Thin" panose="02000000000000000000" pitchFamily="2" charset="0"/>
              </a:rPr>
              <a:t>boolean</a:t>
            </a:r>
            <a:r>
              <a:rPr lang="en-GB" sz="1600" dirty="0">
                <a:latin typeface="Roboto Thin" panose="02000000000000000000" pitchFamily="2" charset="0"/>
                <a:ea typeface="Roboto Thin" panose="02000000000000000000" pitchFamily="2" charset="0"/>
              </a:rPr>
              <a:t>, categorical, ordinal, integer, floating point; imbalance or missing data; unimportant features; outliers</a:t>
            </a:r>
            <a:endParaRPr lang="en-FR" sz="16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C2BF-87B0-528B-6E6A-6036392E1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89F965-791A-AC3D-BCA7-3ABABFBC568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36BF4-646F-0BB1-13B0-70D398CBAC3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79C862-C19C-E51D-7DCC-5831377CF8CC}"/>
              </a:ext>
            </a:extLst>
          </p:cNvPr>
          <p:cNvSpPr txBox="1"/>
          <p:nvPr/>
        </p:nvSpPr>
        <p:spPr>
          <a:xfrm>
            <a:off x="240033" y="887764"/>
            <a:ext cx="87976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Neural networks used to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struggle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tabular data because of…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Column names actually convey information!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9B5D2E0A-3DCE-AFF9-F748-AF1288912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10" y="2337480"/>
            <a:ext cx="10904180" cy="310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78A3A2F5-C42A-71AD-0373-AF08149A1EE1}"/>
              </a:ext>
            </a:extLst>
          </p:cNvPr>
          <p:cNvSpPr/>
          <p:nvPr/>
        </p:nvSpPr>
        <p:spPr>
          <a:xfrm>
            <a:off x="401347" y="1746739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00139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F5BE2-5A35-D4BB-F12C-920A13E7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321572-719C-874E-5737-15911FBC81A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DACCB-555B-7112-8441-1AF6F7944F7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0E3111-39E8-F7FE-4754-6911A241744B}"/>
              </a:ext>
            </a:extLst>
          </p:cNvPr>
          <p:cNvSpPr txBox="1"/>
          <p:nvPr/>
        </p:nvSpPr>
        <p:spPr>
          <a:xfrm>
            <a:off x="240033" y="887764"/>
            <a:ext cx="883286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Neural networks used to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struggle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tabular data because of…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Nevertheless, </a:t>
            </a:r>
            <a:r>
              <a:rPr lang="en-US" sz="2400" u="sng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research kept going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💪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Because it would be cool to: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Leverage modern deep learning infrastructure (e.g. GPUs)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Have a differentiable pipeline for end-to-end learning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Multimodal processing with text and images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in 2022…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951F050-EA0D-0945-0B1C-29CA4D6D8A86}"/>
              </a:ext>
            </a:extLst>
          </p:cNvPr>
          <p:cNvSpPr/>
          <p:nvPr/>
        </p:nvSpPr>
        <p:spPr>
          <a:xfrm>
            <a:off x="870271" y="3217356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069C31C-8770-27D7-2A07-AA623805ACAA}"/>
              </a:ext>
            </a:extLst>
          </p:cNvPr>
          <p:cNvSpPr/>
          <p:nvPr/>
        </p:nvSpPr>
        <p:spPr>
          <a:xfrm>
            <a:off x="870271" y="3955910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C52F8A-5B68-7C68-3BD0-AE1359FE014D}"/>
              </a:ext>
            </a:extLst>
          </p:cNvPr>
          <p:cNvSpPr/>
          <p:nvPr/>
        </p:nvSpPr>
        <p:spPr>
          <a:xfrm>
            <a:off x="870271" y="4694464"/>
            <a:ext cx="187569" cy="187569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121103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C01B9-CB28-3AAF-6211-576405AB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BD0AB7-F36F-4CFE-65F3-BC6F45C7749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9EE07-728F-88A4-6C9F-071F8B9F1DD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393674E-738E-B875-B87B-B7645AF4B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3" y="808892"/>
            <a:ext cx="5624975" cy="565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5F4C4806-1FA2-31A3-1414-3E3A10729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381" y="808892"/>
            <a:ext cx="5945628" cy="545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E72ED8-E7F8-1D2E-7E7A-BA4D81F3B66B}"/>
              </a:ext>
            </a:extLst>
          </p:cNvPr>
          <p:cNvSpPr txBox="1"/>
          <p:nvPr/>
        </p:nvSpPr>
        <p:spPr>
          <a:xfrm>
            <a:off x="6096000" y="636230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GB" sz="1600" u="sng" strike="noStrike" dirty="0">
                <a:solidFill>
                  <a:srgbClr val="0097A7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  <a:hlinkClick r:id="rId4"/>
              </a:rPr>
              <a:t>https://x.com/FrankRHutter/status/1583410845307977733</a:t>
            </a:r>
            <a:endParaRPr lang="en-GB" sz="1600" dirty="0"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205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6729-7844-10FA-1219-54BEEC34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03927A-8DBE-5E77-10B7-BD665CCF434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E74E7-4BB8-598A-ACEA-FA496998E1AF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1AFE21F-7E70-5CCE-AC2C-D082059D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43" y="1074070"/>
            <a:ext cx="11067513" cy="531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20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2D004-FBB2-2BD8-7A17-B3360EBC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DC6116-A39B-3314-485F-101CB1A9B6DD}"/>
              </a:ext>
            </a:extLst>
          </p:cNvPr>
          <p:cNvSpPr/>
          <p:nvPr/>
        </p:nvSpPr>
        <p:spPr>
          <a:xfrm>
            <a:off x="2617303" y="1554821"/>
            <a:ext cx="6957391" cy="9299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69CABC-4CFE-1B5A-7B91-D498BEACC1FD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15CFB-1CB6-6610-9C7E-C63F19019F87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60BFE-64C9-467A-6288-608B5D4C999C}"/>
              </a:ext>
            </a:extLst>
          </p:cNvPr>
          <p:cNvSpPr txBox="1"/>
          <p:nvPr/>
        </p:nvSpPr>
        <p:spPr>
          <a:xfrm>
            <a:off x="240033" y="887764"/>
            <a:ext cx="991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Today we will talk about a completely new paradigm in machine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C5BB4-5096-C96D-95A9-B7B77A560893}"/>
              </a:ext>
            </a:extLst>
          </p:cNvPr>
          <p:cNvSpPr txBox="1"/>
          <p:nvPr/>
        </p:nvSpPr>
        <p:spPr>
          <a:xfrm>
            <a:off x="2855841" y="1696636"/>
            <a:ext cx="648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Tabular </a:t>
            </a:r>
            <a:r>
              <a:rPr lang="en-FR" sz="36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Foundational</a:t>
            </a:r>
            <a:r>
              <a:rPr lang="en-FR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Models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ADAEF3-798A-D99B-4E63-4F6D239ADAED}"/>
              </a:ext>
            </a:extLst>
          </p:cNvPr>
          <p:cNvSpPr txBox="1"/>
          <p:nvPr/>
        </p:nvSpPr>
        <p:spPr>
          <a:xfrm>
            <a:off x="306592" y="2690175"/>
            <a:ext cx="4419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What is a foundational model?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6DBE8-D458-B977-0285-474E7F8AEA93}"/>
              </a:ext>
            </a:extLst>
          </p:cNvPr>
          <p:cNvSpPr txBox="1"/>
          <p:nvPr/>
        </p:nvSpPr>
        <p:spPr>
          <a:xfrm>
            <a:off x="1029867" y="3357232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Large-scale models (e.g., BERT, DALL-E, GPT-3) trained on broad data that can be adapted to a wide range of downstream tasks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E67107-02D7-9D93-1314-8594EBC126DE}"/>
              </a:ext>
            </a:extLst>
          </p:cNvPr>
          <p:cNvSpPr txBox="1"/>
          <p:nvPr/>
        </p:nvSpPr>
        <p:spPr>
          <a:xfrm>
            <a:off x="306592" y="3449565"/>
            <a:ext cx="7232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dirty="0"/>
              <a:t>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00295E-3420-78C3-54C4-94CDA923A3C1}"/>
              </a:ext>
            </a:extLst>
          </p:cNvPr>
          <p:cNvSpPr txBox="1"/>
          <p:nvPr/>
        </p:nvSpPr>
        <p:spPr>
          <a:xfrm>
            <a:off x="306592" y="4393621"/>
            <a:ext cx="570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a tabular foundational model (TFM)?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5F7EEC-1443-F2A0-25D9-1C661B1A8F11}"/>
              </a:ext>
            </a:extLst>
          </p:cNvPr>
          <p:cNvSpPr txBox="1"/>
          <p:nvPr/>
        </p:nvSpPr>
        <p:spPr>
          <a:xfrm>
            <a:off x="1029867" y="5060678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 model trained on broad tabular data that can be adapted to a wide range of downstream tasks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4041EC-E60D-60E8-4C29-210EC3EC55DA}"/>
              </a:ext>
            </a:extLst>
          </p:cNvPr>
          <p:cNvSpPr txBox="1"/>
          <p:nvPr/>
        </p:nvSpPr>
        <p:spPr>
          <a:xfrm>
            <a:off x="306592" y="5153011"/>
            <a:ext cx="7232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dirty="0"/>
              <a:t>📙</a:t>
            </a:r>
          </a:p>
        </p:txBody>
      </p:sp>
    </p:spTree>
    <p:extLst>
      <p:ext uri="{BB962C8B-B14F-4D97-AF65-F5344CB8AC3E}">
        <p14:creationId xmlns:p14="http://schemas.microsoft.com/office/powerpoint/2010/main" val="2143750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BC1ED-0597-0979-873D-F94B658F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E5747E-EDA1-BDFB-FA1D-36A85A47AC6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BABFA-CFB2-A9D9-446C-32BA307B5AF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062EB5-15BB-4C6C-95E9-A6BFD120D2F3}"/>
              </a:ext>
            </a:extLst>
          </p:cNvPr>
          <p:cNvSpPr txBox="1"/>
          <p:nvPr/>
        </p:nvSpPr>
        <p:spPr>
          <a:xfrm>
            <a:off x="240033" y="694724"/>
            <a:ext cx="10495181" cy="557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practice, this means that for a fixed pre-trained neural network         we can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andle </a:t>
            </a:r>
            <a:r>
              <a:rPr lang="en-FR" sz="2400" b="1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datasets of different sizes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and natures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model learns to adapt at inference time! But how?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35152E-FC7D-BACA-7F63-D1DDD598D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756" y="919263"/>
            <a:ext cx="381000" cy="304800"/>
          </a:xfrm>
          <a:prstGeom prst="rect">
            <a:avLst/>
          </a:prstGeom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F6C76C91-4337-D88C-D6BE-8716CA975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46" y="2061495"/>
            <a:ext cx="3261303" cy="146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0CC934CE-4DA6-6CCD-C863-FA861C2EA3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72"/>
          <a:stretch>
            <a:fillRect/>
          </a:stretch>
        </p:blipFill>
        <p:spPr bwMode="auto">
          <a:xfrm>
            <a:off x="5804026" y="2078619"/>
            <a:ext cx="3757691" cy="136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1A3FDBCA-51AC-917B-64F1-FC0ABC5E5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12" y="3723282"/>
            <a:ext cx="1539168" cy="165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71E45C-F95E-152F-273A-09A3C347F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636" y="2389518"/>
            <a:ext cx="1847850" cy="3238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79AEF0-DC7E-CD0A-C1C2-319A8E2ADE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9008" y="2389518"/>
            <a:ext cx="1857375" cy="3238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0D3C8D-4365-04DE-5D71-F55494292A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9008" y="4113126"/>
            <a:ext cx="1857375" cy="3333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E99CBC7-529C-7E34-44AE-02F323DC0B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3699" y="4185033"/>
            <a:ext cx="3543300" cy="469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7BBD7A-55E2-FA65-4EF8-FCE0CBB5B8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4926" y="2888927"/>
            <a:ext cx="1247775" cy="3238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39B4E71-4309-4409-67C0-5D35FE0042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2498" y="2842786"/>
            <a:ext cx="1838325" cy="3524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8B119A-FDC7-CC5D-3EFB-E5D215DCE8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2498" y="4566308"/>
            <a:ext cx="2162175" cy="35242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84203EA-01F0-6614-DBB7-D4D50C1C1439}"/>
              </a:ext>
            </a:extLst>
          </p:cNvPr>
          <p:cNvSpPr/>
          <p:nvPr/>
        </p:nvSpPr>
        <p:spPr>
          <a:xfrm>
            <a:off x="1528354" y="3852773"/>
            <a:ext cx="4074132" cy="114730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CAD9D0-9A86-554D-E11A-B6E40578FF28}"/>
              </a:ext>
            </a:extLst>
          </p:cNvPr>
          <p:cNvSpPr/>
          <p:nvPr/>
        </p:nvSpPr>
        <p:spPr>
          <a:xfrm>
            <a:off x="4095018" y="5089815"/>
            <a:ext cx="1229729" cy="1055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ED1F4-65A0-BEEF-B668-30FFCF1DFAF2}"/>
              </a:ext>
            </a:extLst>
          </p:cNvPr>
          <p:cNvSpPr txBox="1"/>
          <p:nvPr/>
        </p:nvSpPr>
        <p:spPr>
          <a:xfrm>
            <a:off x="4194293" y="5188645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385965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8994-71F2-1308-25E5-8CFF12DA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34609B-CF05-B68E-45D4-5BC1B756D1A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7E796-3C53-F8DF-0C1F-E55EF2D419A2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0F62A-3A23-9563-BE85-2E7460AE0F3A}"/>
              </a:ext>
            </a:extLst>
          </p:cNvPr>
          <p:cNvSpPr txBox="1"/>
          <p:nvPr/>
        </p:nvSpPr>
        <p:spPr>
          <a:xfrm>
            <a:off x="240033" y="887764"/>
            <a:ext cx="7888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🔑  Key concept: TFMs leverage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in-context learning 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(ICL)</a:t>
            </a:r>
          </a:p>
          <a:p>
            <a:endParaRPr lang="en-FR" sz="2400" b="1" dirty="0">
              <a:solidFill>
                <a:srgbClr val="00A2FF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For a given dataset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7EE8E9-5D0C-391C-A99E-99EAEA0BC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928" y="1687808"/>
            <a:ext cx="5909394" cy="37828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A41B077-2B1A-E124-D254-935D86690775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CD2E1E-AB02-1335-AFA7-B7C36F60259F}"/>
              </a:ext>
            </a:extLst>
          </p:cNvPr>
          <p:cNvSpPr txBox="1"/>
          <p:nvPr/>
        </p:nvSpPr>
        <p:spPr>
          <a:xfrm>
            <a:off x="1713391" y="2419829"/>
            <a:ext cx="2970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Supervised learning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54EDCE-CC34-B0B3-C753-6C5D71E8AE6B}"/>
              </a:ext>
            </a:extLst>
          </p:cNvPr>
          <p:cNvSpPr txBox="1"/>
          <p:nvPr/>
        </p:nvSpPr>
        <p:spPr>
          <a:xfrm>
            <a:off x="7467607" y="241982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In-context learning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7EF3318-7796-9609-703B-A92ED18BC012}"/>
              </a:ext>
            </a:extLst>
          </p:cNvPr>
          <p:cNvGrpSpPr/>
          <p:nvPr/>
        </p:nvGrpSpPr>
        <p:grpSpPr>
          <a:xfrm>
            <a:off x="1091456" y="3075096"/>
            <a:ext cx="4214553" cy="1019191"/>
            <a:chOff x="1287112" y="4186350"/>
            <a:chExt cx="4214553" cy="1019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A601369-169F-B704-7938-17334C89EC70}"/>
                </a:ext>
              </a:extLst>
            </p:cNvPr>
            <p:cNvSpPr txBox="1"/>
            <p:nvPr/>
          </p:nvSpPr>
          <p:spPr>
            <a:xfrm>
              <a:off x="1287112" y="4186350"/>
              <a:ext cx="20489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Train       with 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9AA103E-7FC4-E5E4-746E-41CB8B4E1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1028" y="4223138"/>
              <a:ext cx="315619" cy="357702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1FECC20-1B2D-C346-34BA-FD999AE99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1503" y="4780076"/>
              <a:ext cx="2630162" cy="389264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C5DEEF79-F917-4F66-79E1-29351FE95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5884" y="4234861"/>
              <a:ext cx="2062111" cy="363325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FDDF372-57CF-5E11-1DFC-871EBCD56DF0}"/>
                </a:ext>
              </a:extLst>
            </p:cNvPr>
            <p:cNvSpPr txBox="1"/>
            <p:nvPr/>
          </p:nvSpPr>
          <p:spPr>
            <a:xfrm>
              <a:off x="1294427" y="4743876"/>
              <a:ext cx="1553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Predict on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9ED8760-42DE-8D52-8951-A01E82DDBDBF}"/>
              </a:ext>
            </a:extLst>
          </p:cNvPr>
          <p:cNvGrpSpPr/>
          <p:nvPr/>
        </p:nvGrpSpPr>
        <p:grpSpPr>
          <a:xfrm>
            <a:off x="6477320" y="3075096"/>
            <a:ext cx="4834239" cy="946202"/>
            <a:chOff x="6484737" y="4223138"/>
            <a:chExt cx="4834239" cy="946202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2396018F-30F1-52EC-1C5F-373A35249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53123" y="4780076"/>
              <a:ext cx="4765853" cy="38926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668315F-45A0-4B5D-4DEB-C8DE218F4B93}"/>
                </a:ext>
              </a:extLst>
            </p:cNvPr>
            <p:cNvSpPr txBox="1"/>
            <p:nvPr/>
          </p:nvSpPr>
          <p:spPr>
            <a:xfrm>
              <a:off x="6484737" y="4223138"/>
              <a:ext cx="2198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Directly predict</a:t>
              </a: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EBC4FB2-69B5-F019-BFC5-303F251D2409}"/>
              </a:ext>
            </a:extLst>
          </p:cNvPr>
          <p:cNvCxnSpPr>
            <a:cxnSpLocks/>
          </p:cNvCxnSpPr>
          <p:nvPr/>
        </p:nvCxnSpPr>
        <p:spPr>
          <a:xfrm>
            <a:off x="5890268" y="2419829"/>
            <a:ext cx="0" cy="239108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1D2D9F40-7CE7-6EA6-DF84-F05B3C833BB5}"/>
              </a:ext>
            </a:extLst>
          </p:cNvPr>
          <p:cNvSpPr/>
          <p:nvPr/>
        </p:nvSpPr>
        <p:spPr>
          <a:xfrm>
            <a:off x="9254791" y="4224757"/>
            <a:ext cx="1910862" cy="1055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F4B229-4668-F3F9-E6E6-DEE2D542C4C9}"/>
              </a:ext>
            </a:extLst>
          </p:cNvPr>
          <p:cNvSpPr txBox="1"/>
          <p:nvPr/>
        </p:nvSpPr>
        <p:spPr>
          <a:xfrm>
            <a:off x="9696633" y="4349057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context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743A913-9C0A-1FE5-2364-EF317E0AD80E}"/>
              </a:ext>
            </a:extLst>
          </p:cNvPr>
          <p:cNvCxnSpPr>
            <a:cxnSpLocks/>
          </p:cNvCxnSpPr>
          <p:nvPr/>
        </p:nvCxnSpPr>
        <p:spPr>
          <a:xfrm>
            <a:off x="7889631" y="4125111"/>
            <a:ext cx="0" cy="25621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C16C063-30B5-FC65-4620-13E78A2308DC}"/>
              </a:ext>
            </a:extLst>
          </p:cNvPr>
          <p:cNvSpPr txBox="1"/>
          <p:nvPr/>
        </p:nvSpPr>
        <p:spPr>
          <a:xfrm>
            <a:off x="6762263" y="4404770"/>
            <a:ext cx="268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estimator p</a:t>
            </a:r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re-trained on several datasets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F18AC6-039C-8088-D030-73E90711CD89}"/>
              </a:ext>
            </a:extLst>
          </p:cNvPr>
          <p:cNvGrpSpPr/>
          <p:nvPr/>
        </p:nvGrpSpPr>
        <p:grpSpPr>
          <a:xfrm>
            <a:off x="946141" y="4942970"/>
            <a:ext cx="10299718" cy="1887538"/>
            <a:chOff x="1644085" y="4942970"/>
            <a:chExt cx="10299718" cy="1887538"/>
          </a:xfrm>
        </p:grpSpPr>
        <p:pic>
          <p:nvPicPr>
            <p:cNvPr id="46" name="Picture 4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FB956A7-6F9E-73F8-AE46-0093A0E70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44085" y="4942970"/>
              <a:ext cx="4197291" cy="1887538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6EF9B7E-874E-AD94-FB0A-C4C5CE33B317}"/>
                </a:ext>
              </a:extLst>
            </p:cNvPr>
            <p:cNvSpPr/>
            <p:nvPr/>
          </p:nvSpPr>
          <p:spPr>
            <a:xfrm>
              <a:off x="5695404" y="5279231"/>
              <a:ext cx="6198020" cy="12668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1D32718-6540-EA50-739E-C8EC254896EE}"/>
                </a:ext>
              </a:extLst>
            </p:cNvPr>
            <p:cNvSpPr txBox="1"/>
            <p:nvPr/>
          </p:nvSpPr>
          <p:spPr>
            <a:xfrm>
              <a:off x="5745783" y="5380092"/>
              <a:ext cx="619802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FR" sz="16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ICL is an </a:t>
              </a:r>
              <a:r>
                <a:rPr lang="en-FR" sz="1600" b="1" dirty="0">
                  <a:latin typeface="Roboto Light" panose="02000000000000000000" pitchFamily="2" charset="0"/>
                  <a:ea typeface="Roboto Light" panose="02000000000000000000" pitchFamily="2" charset="0"/>
                </a:rPr>
                <a:t>emergent</a:t>
              </a:r>
              <a:r>
                <a:rPr lang="en-FR" sz="16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 property that appears in very large transformer-based neural networks when training of very big datasets. It allows a model to performs tasks by analyzing prompts containing input-output pairs, without explicit training or parameter updates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8636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BBA84-ACC0-1D33-69D7-09C64B567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4FB083-ED4E-AD3F-A670-E2B08A48A39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4344B-44B4-1E30-85C1-3516EA7BE30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654B8-C4F2-2C93-8123-E692713AD6A4}"/>
              </a:ext>
            </a:extLst>
          </p:cNvPr>
          <p:cNvSpPr txBox="1"/>
          <p:nvPr/>
        </p:nvSpPr>
        <p:spPr>
          <a:xfrm>
            <a:off x="1713391" y="2419829"/>
            <a:ext cx="2970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Supervised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84DF8-1658-CFE0-3B17-D993B6C38565}"/>
              </a:ext>
            </a:extLst>
          </p:cNvPr>
          <p:cNvSpPr txBox="1"/>
          <p:nvPr/>
        </p:nvSpPr>
        <p:spPr>
          <a:xfrm>
            <a:off x="7467607" y="241982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In-context learning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4DE52F-52AF-CCE9-D553-97CB8A7843C7}"/>
              </a:ext>
            </a:extLst>
          </p:cNvPr>
          <p:cNvGrpSpPr/>
          <p:nvPr/>
        </p:nvGrpSpPr>
        <p:grpSpPr>
          <a:xfrm>
            <a:off x="1091456" y="3075096"/>
            <a:ext cx="4214553" cy="1019191"/>
            <a:chOff x="1287112" y="4186350"/>
            <a:chExt cx="4214553" cy="101919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141D520-39FC-1242-4F27-FAD99F462228}"/>
                </a:ext>
              </a:extLst>
            </p:cNvPr>
            <p:cNvSpPr txBox="1"/>
            <p:nvPr/>
          </p:nvSpPr>
          <p:spPr>
            <a:xfrm>
              <a:off x="1287112" y="4186350"/>
              <a:ext cx="20489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Train       with 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E2B6610-F4E7-7BC5-862D-96EBCD8D9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1028" y="4223138"/>
              <a:ext cx="315619" cy="357702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5DFDD4C-1962-AA5F-3C32-0F9710DEB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1503" y="4780076"/>
              <a:ext cx="2630162" cy="38926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13C9E7F-6373-EDD4-3A07-9F01B8A38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5884" y="4234861"/>
              <a:ext cx="2062111" cy="36332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547B60-CDF3-4388-C549-D980E777152D}"/>
                </a:ext>
              </a:extLst>
            </p:cNvPr>
            <p:cNvSpPr txBox="1"/>
            <p:nvPr/>
          </p:nvSpPr>
          <p:spPr>
            <a:xfrm>
              <a:off x="1294427" y="4743876"/>
              <a:ext cx="1553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Predict 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07E73A-277A-BE07-FCCE-DB94BCF7B971}"/>
              </a:ext>
            </a:extLst>
          </p:cNvPr>
          <p:cNvGrpSpPr/>
          <p:nvPr/>
        </p:nvGrpSpPr>
        <p:grpSpPr>
          <a:xfrm>
            <a:off x="6477320" y="3075096"/>
            <a:ext cx="4834239" cy="946202"/>
            <a:chOff x="6484737" y="4223138"/>
            <a:chExt cx="4834239" cy="94620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2FC6004-B7FF-43D7-A4DE-ADCAAE767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53123" y="4780076"/>
              <a:ext cx="4765853" cy="38926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36BE7F-70F9-565C-C652-204907E94A62}"/>
                </a:ext>
              </a:extLst>
            </p:cNvPr>
            <p:cNvSpPr txBox="1"/>
            <p:nvPr/>
          </p:nvSpPr>
          <p:spPr>
            <a:xfrm>
              <a:off x="6484737" y="4223138"/>
              <a:ext cx="2198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Directly predict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D136F25-35A6-579E-280F-4BB96812BF81}"/>
              </a:ext>
            </a:extLst>
          </p:cNvPr>
          <p:cNvCxnSpPr>
            <a:cxnSpLocks/>
          </p:cNvCxnSpPr>
          <p:nvPr/>
        </p:nvCxnSpPr>
        <p:spPr>
          <a:xfrm>
            <a:off x="5890268" y="2419829"/>
            <a:ext cx="0" cy="239108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B8E58A1-4866-17D6-BC6C-C2A22753A647}"/>
              </a:ext>
            </a:extLst>
          </p:cNvPr>
          <p:cNvSpPr/>
          <p:nvPr/>
        </p:nvSpPr>
        <p:spPr>
          <a:xfrm>
            <a:off x="9254791" y="4224757"/>
            <a:ext cx="1910862" cy="1055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B2F0E0-A95C-2531-D4D6-F4DF363D12A3}"/>
              </a:ext>
            </a:extLst>
          </p:cNvPr>
          <p:cNvSpPr txBox="1"/>
          <p:nvPr/>
        </p:nvSpPr>
        <p:spPr>
          <a:xfrm>
            <a:off x="9696633" y="4349057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AF5938-A2AC-8E15-CC66-3CE477C484E1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6DA9DD-238E-01AF-F2DF-E1E397442C50}"/>
              </a:ext>
            </a:extLst>
          </p:cNvPr>
          <p:cNvSpPr txBox="1"/>
          <p:nvPr/>
        </p:nvSpPr>
        <p:spPr>
          <a:xfrm>
            <a:off x="240032" y="5239140"/>
            <a:ext cx="11477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💡 The cost of training this very large model       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amortized </a:t>
            </a: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will see later how we can </a:t>
            </a:r>
            <a:r>
              <a:rPr lang="en-GB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“teach” this ICL feature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to the network…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98C282-0F46-D075-3388-07A6ED5EA7DD}"/>
              </a:ext>
            </a:extLst>
          </p:cNvPr>
          <p:cNvCxnSpPr>
            <a:cxnSpLocks/>
          </p:cNvCxnSpPr>
          <p:nvPr/>
        </p:nvCxnSpPr>
        <p:spPr>
          <a:xfrm>
            <a:off x="7889631" y="4125111"/>
            <a:ext cx="0" cy="25621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26B662A-0EDD-700E-C270-72357F9A250A}"/>
              </a:ext>
            </a:extLst>
          </p:cNvPr>
          <p:cNvSpPr txBox="1"/>
          <p:nvPr/>
        </p:nvSpPr>
        <p:spPr>
          <a:xfrm>
            <a:off x="6762263" y="4404770"/>
            <a:ext cx="268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estimator p</a:t>
            </a:r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re-trained on several datasets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0CF4B8-307E-9AB2-5D51-75187797F823}"/>
              </a:ext>
            </a:extLst>
          </p:cNvPr>
          <p:cNvSpPr txBox="1"/>
          <p:nvPr/>
        </p:nvSpPr>
        <p:spPr>
          <a:xfrm>
            <a:off x="240033" y="887764"/>
            <a:ext cx="7888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🔑  Key concept: TFMs leverage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in-context learning 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(ICL)</a:t>
            </a:r>
          </a:p>
          <a:p>
            <a:endParaRPr lang="en-FR" sz="2400" b="1" dirty="0">
              <a:solidFill>
                <a:srgbClr val="00A2FF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For a given dataset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59CF15-636F-6C7E-166D-8A0E44FE7E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0928" y="1687808"/>
            <a:ext cx="5909394" cy="3782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6A7425-8560-2F33-B605-499947094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1400" y="5347571"/>
            <a:ext cx="381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82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6BE6B-64A0-6785-9F5D-1EB5B89CA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06D073-9E80-286E-8166-AD3CE80426E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0CE89-BD38-1F27-7A22-8F2C3DBDAD6C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25415-9D2A-5648-5283-D8C56AA7C99D}"/>
              </a:ext>
            </a:extLst>
          </p:cNvPr>
          <p:cNvSpPr txBox="1"/>
          <p:nvPr/>
        </p:nvSpPr>
        <p:spPr>
          <a:xfrm>
            <a:off x="2815294" y="5966184"/>
            <a:ext cx="6561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6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But first, let’s play a little bit…</a:t>
            </a: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93CB13-4211-652C-F2B1-BC385654B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210" y="914609"/>
            <a:ext cx="6373580" cy="475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2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18E5-111C-63FC-D007-DD033164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362878-E29C-9FFD-7F79-235E7FF80CE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27051-4DAA-7FD7-615C-53595C6CA562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D22E7A-8BA0-BD3F-ADC7-D1FADC8306AC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897563-40EE-CBFC-8B12-D026923C6973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52258CA-F5CF-BBCD-9562-3BF820E5F46F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4E9210-C4FA-1B41-2DE0-B9032E68E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8AA128B-75C8-5186-5C89-65966E2A794A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B5BBAE2C-5534-4E08-9B50-4B0BD696D5BC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EAB9762-21A7-5BBA-F8A4-F00A5950E2F1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1130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6935-CCD4-603F-9B4D-F9EB2DCA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80C02D-4F43-0C66-AA21-2F5F335FEB52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ACA55-B4DC-7BF2-8A93-CD3313AF432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703A51-91C9-966A-93F0-BC79626569A0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978CF1-E606-2007-DD89-58C25FA4ADCE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8927BED-43CC-0181-A523-738FF1178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003287B7-BC11-B43B-7DC2-E38438D7D895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B147A6-E644-E95E-EFF1-C6FA36F6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ACC0AF3-DA65-2030-66D3-A23482B6BE9C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0F505C-4C8F-2EB4-9D07-2A92AC1B6A03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4339A0C-FDA2-ECF6-0529-E76192EC4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19D2AF3C-EEBE-0E89-3DF1-B522888B487A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2E4A200-2232-48EA-8696-BD1880EC31F2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254910-C4E6-2A71-23DB-B5F64F98885A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DE1D3E-CD05-A81A-61AC-EF9608245305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D636129-7362-80EE-622B-753F4256C208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17B27C7D-9C82-A2BB-837E-E70770774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6155E14-BFCD-1EB7-7792-06C08DD61550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DDF2E2A-E701-02DF-931A-19C9BA3C60ED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A5602E3-14C9-8772-5200-1E86CC54CE16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95722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9ED88-6FD9-873F-B1B3-CF064B7E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F58D4E-0534-A3FD-9315-C680E559248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FB52E-F00F-DF06-2639-4E682892E1B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5EFDE-7FF0-7C8A-DA02-864E8D2533AE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C93DAB-0FEF-AD7D-6C65-E00A160CFAF3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9E58DC1-9928-2298-C22F-1B3B8E93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ADD055A9-865B-02DC-C334-13FDF8780D54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FB8A6E-E91F-EEBE-5EC9-FD0A58AB5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CAE7A12-43D8-2461-FD8F-66B4CC2A8E95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9D245E6-2339-53B2-4BBD-3C22A4344CB3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DDDD0BF-9555-1BB8-828F-31D49564F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E3A5F05D-EF2C-EE0E-22BD-539F1AC9E72D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DD9E491-991B-DD89-4B69-A33DD2DCC148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A56CB3-8743-D8EC-D6D8-4CF138B93FAB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63793D-F00F-08A3-8666-9E8736D8AE32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2406654-2962-A9F3-A9CB-3A4FD7733EC1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735AAA59-360A-A410-C28F-93756D232E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5202BBB-C70D-EC52-2394-995525663D19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053A05-74B3-01DF-2FBE-837C3A2CF646}"/>
              </a:ext>
            </a:extLst>
          </p:cNvPr>
          <p:cNvSpPr txBox="1"/>
          <p:nvPr/>
        </p:nvSpPr>
        <p:spPr>
          <a:xfrm>
            <a:off x="536872" y="2048439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osterior predictive distribution </a:t>
            </a:r>
          </a:p>
          <a:p>
            <a:pPr algn="ctr"/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(PPD)</a:t>
            </a:r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E1E866B9-5422-6A54-0A26-9F8DB56D8119}"/>
              </a:ext>
            </a:extLst>
          </p:cNvPr>
          <p:cNvCxnSpPr>
            <a:cxnSpLocks/>
          </p:cNvCxnSpPr>
          <p:nvPr/>
        </p:nvCxnSpPr>
        <p:spPr>
          <a:xfrm rot="5400000">
            <a:off x="9741300" y="1810201"/>
            <a:ext cx="524172" cy="496304"/>
          </a:xfrm>
          <a:prstGeom prst="bentConnector3">
            <a:avLst>
              <a:gd name="adj1" fmla="val 100321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A824C1E-F40F-83E3-58A2-399AD59B01C8}"/>
              </a:ext>
            </a:extLst>
          </p:cNvPr>
          <p:cNvSpPr txBox="1"/>
          <p:nvPr/>
        </p:nvSpPr>
        <p:spPr>
          <a:xfrm>
            <a:off x="10398407" y="1849601"/>
            <a:ext cx="1472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we have a function turning dataset into parameters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09C85C2-0CE1-D196-0C74-2FD98A1816D4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C601767-387F-3BD3-5FBA-EBC1CEB4DEDC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695CB9-8F13-EA2D-1227-145BC4107802}"/>
              </a:ext>
            </a:extLst>
          </p:cNvPr>
          <p:cNvGrpSpPr/>
          <p:nvPr/>
        </p:nvGrpSpPr>
        <p:grpSpPr>
          <a:xfrm>
            <a:off x="3385946" y="1998680"/>
            <a:ext cx="6406411" cy="792366"/>
            <a:chOff x="3385946" y="1998680"/>
            <a:chExt cx="6406411" cy="792366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A3E1D5F7-BFDC-E8F9-42F7-3234601044F6}"/>
                </a:ext>
              </a:extLst>
            </p:cNvPr>
            <p:cNvSpPr/>
            <p:nvPr/>
          </p:nvSpPr>
          <p:spPr>
            <a:xfrm>
              <a:off x="3385946" y="1998680"/>
              <a:ext cx="6222419" cy="622738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BDAFE32-E79C-46AE-AAC4-5E5DADDC9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73458" y="2141805"/>
              <a:ext cx="5786755" cy="354965"/>
            </a:xfrm>
            <a:prstGeom prst="rect">
              <a:avLst/>
            </a:prstGeom>
          </p:spPr>
        </p:pic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3F438C2-CC91-9E33-57FA-DFE8CB9D1FCA}"/>
                </a:ext>
              </a:extLst>
            </p:cNvPr>
            <p:cNvSpPr/>
            <p:nvPr/>
          </p:nvSpPr>
          <p:spPr>
            <a:xfrm>
              <a:off x="9440171" y="2438860"/>
              <a:ext cx="352186" cy="35218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5038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4799-AED1-8939-3D7D-6D57DCCC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19EB38F7-81C2-60DE-D9BC-1C45C28C0861}"/>
              </a:ext>
            </a:extLst>
          </p:cNvPr>
          <p:cNvSpPr txBox="1"/>
          <p:nvPr/>
        </p:nvSpPr>
        <p:spPr>
          <a:xfrm>
            <a:off x="258282" y="2997973"/>
            <a:ext cx="10490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considering a richer feature representation		        we have                                                   and a similar expression for PPD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CB0B5-65B6-32B1-6100-8A2A06BE0F0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6360B-DD8C-BE08-9251-FC55E7D6ADED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CCF40-B021-EB43-97C9-1E182DB08D0D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CE1AAF-A516-2DA1-823E-48DCEECA493C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9F2792-C09A-86A5-219C-32452433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699" y="2930258"/>
            <a:ext cx="1725295" cy="3384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24744E-6FEB-2D33-0B84-C2BF9F36B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192" y="3000315"/>
            <a:ext cx="1477645" cy="30543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77E0E37-D3EE-E391-0E46-97DEA5173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38169975-2186-9EC2-CACF-04EFE66A25F5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F0971A-D586-D7B3-A7E8-CBFB5893D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FBC2AD97-5FA0-9B74-5A72-31DAEAD1B3DA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F5BC76F-E179-5604-62CE-C5F1A5E44F4C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1C318DB-8A56-02D0-D7E1-6F495A393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43D446B5-24BA-689B-9C51-333BD56380C0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0631E4B-E5CB-CE12-2AAF-02EC7183031C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D9904B-4E5A-A167-AAE7-F62D62221D33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8A17F1-60F5-89F5-979C-B3748F0F8E61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BF17D09-53E2-D10E-92D1-6CB7636FF4B9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7FD3752F-3BE9-B0A2-5069-125CCCB6B3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90A3966-EBC1-F934-FDDC-FFB5FD2F8557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424F758-2E6B-5A6F-7C46-1A757838B78D}"/>
              </a:ext>
            </a:extLst>
          </p:cNvPr>
          <p:cNvSpPr/>
          <p:nvPr/>
        </p:nvSpPr>
        <p:spPr>
          <a:xfrm>
            <a:off x="6004279" y="2826208"/>
            <a:ext cx="1960915" cy="62273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82C1C806-9472-EC9C-5155-9748B8CCBBFF}"/>
              </a:ext>
            </a:extLst>
          </p:cNvPr>
          <p:cNvCxnSpPr>
            <a:cxnSpLocks/>
          </p:cNvCxnSpPr>
          <p:nvPr/>
        </p:nvCxnSpPr>
        <p:spPr>
          <a:xfrm rot="5400000">
            <a:off x="9741300" y="1810201"/>
            <a:ext cx="524172" cy="496304"/>
          </a:xfrm>
          <a:prstGeom prst="bentConnector3">
            <a:avLst>
              <a:gd name="adj1" fmla="val 100321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F409C96-F438-9A36-0BFD-F20D42020168}"/>
              </a:ext>
            </a:extLst>
          </p:cNvPr>
          <p:cNvSpPr txBox="1"/>
          <p:nvPr/>
        </p:nvSpPr>
        <p:spPr>
          <a:xfrm>
            <a:off x="10398407" y="1849601"/>
            <a:ext cx="1472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we have a function turning dataset into parameters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44E40D7-FA1C-A0A6-5C37-D8B3040B19B6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FA2C4A7-8FCA-259D-D006-11AEBAB1A3BF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6CAFB42-E9F6-04EC-727E-AB2A74D839C7}"/>
              </a:ext>
            </a:extLst>
          </p:cNvPr>
          <p:cNvSpPr/>
          <p:nvPr/>
        </p:nvSpPr>
        <p:spPr>
          <a:xfrm>
            <a:off x="7789101" y="3281700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4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CF3948-3158-E39D-92B0-70D2E5A0DE9C}"/>
              </a:ext>
            </a:extLst>
          </p:cNvPr>
          <p:cNvGrpSpPr/>
          <p:nvPr/>
        </p:nvGrpSpPr>
        <p:grpSpPr>
          <a:xfrm>
            <a:off x="3385946" y="1998680"/>
            <a:ext cx="6406411" cy="792366"/>
            <a:chOff x="3385946" y="1998680"/>
            <a:chExt cx="6406411" cy="79236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C82CD77-3ACC-FC5A-D76B-B70358F75409}"/>
                </a:ext>
              </a:extLst>
            </p:cNvPr>
            <p:cNvSpPr/>
            <p:nvPr/>
          </p:nvSpPr>
          <p:spPr>
            <a:xfrm>
              <a:off x="3385946" y="1998680"/>
              <a:ext cx="6222419" cy="622738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5E6BA35-1EE4-B73A-1E54-F93850A75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73458" y="2141805"/>
              <a:ext cx="5786755" cy="354965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7BC77F1-BD0D-5A6A-8290-540083DC0E28}"/>
                </a:ext>
              </a:extLst>
            </p:cNvPr>
            <p:cNvSpPr/>
            <p:nvPr/>
          </p:nvSpPr>
          <p:spPr>
            <a:xfrm>
              <a:off x="9440171" y="2438860"/>
              <a:ext cx="352186" cy="35218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3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10EC641-B6CE-0176-47B0-BA2A01B4B34B}"/>
              </a:ext>
            </a:extLst>
          </p:cNvPr>
          <p:cNvSpPr txBox="1"/>
          <p:nvPr/>
        </p:nvSpPr>
        <p:spPr>
          <a:xfrm>
            <a:off x="536872" y="2048439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osterior predictive distribution </a:t>
            </a:r>
          </a:p>
          <a:p>
            <a:pPr algn="ctr"/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(PPD)</a:t>
            </a:r>
          </a:p>
        </p:txBody>
      </p:sp>
    </p:spTree>
    <p:extLst>
      <p:ext uri="{BB962C8B-B14F-4D97-AF65-F5344CB8AC3E}">
        <p14:creationId xmlns:p14="http://schemas.microsoft.com/office/powerpoint/2010/main" val="829598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371E-EA53-8BFB-21BF-AD1C4D82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D83562A-73C4-7C03-FD94-E43090BA2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671" y="3683910"/>
            <a:ext cx="3004820" cy="35496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855CC9B-7A42-F0F7-CE97-9044463EE5F6}"/>
              </a:ext>
            </a:extLst>
          </p:cNvPr>
          <p:cNvSpPr txBox="1"/>
          <p:nvPr/>
        </p:nvSpPr>
        <p:spPr>
          <a:xfrm>
            <a:off x="270676" y="3731098"/>
            <a:ext cx="10716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when                             we can use the kernel trick to write                                                                            and still get a closed-form PPD as per  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75C2A6-EBEA-216F-515C-A15FD45C30BE}"/>
              </a:ext>
            </a:extLst>
          </p:cNvPr>
          <p:cNvSpPr txBox="1"/>
          <p:nvPr/>
        </p:nvSpPr>
        <p:spPr>
          <a:xfrm>
            <a:off x="258282" y="2997973"/>
            <a:ext cx="10490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considering a richer feature representation		        we have                                                   and a similar expression for PPD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4E23E7-89F0-FE0F-DFC2-BA1B774EA87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4F578-44F1-2436-F8D2-338CEC4EE5D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9C41D-2F54-9CB8-9D4C-038CF8A3C21E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DBFBCA-8750-2CB2-290B-3213592384A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8512CE-A449-0C43-9AC5-608D8C106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699" y="2930258"/>
            <a:ext cx="1725295" cy="3384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143AF8-DC19-DA15-7E98-510FD5E9F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3192" y="3000315"/>
            <a:ext cx="1477645" cy="3054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F3F197-05DB-EF7B-AE4F-DEC02967F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62" y="3802436"/>
            <a:ext cx="998855" cy="165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4001897-118A-69C0-CAC2-BDFBA74DE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DB57E652-DED7-A5AC-0836-AED76FAA5AC2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8DCD52D-CA07-16B2-1EC4-F03163373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3EC2FD92-2C13-0566-9304-6B70A8B3E303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2379E96-6E0E-0377-CA72-1D1A64B8706D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9B41664-BF9F-54A5-A651-08D341F6A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D18313B0-70ED-170B-31D9-9C196BB4B417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B90B3817-B938-94EC-462F-D547C74325FB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A63065-752A-04C8-79D1-E70A401DC486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35A958-BEEB-1AE8-3425-14CDBF3018AA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2C723D3-BA01-EA18-2987-98AFF0653270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E3C3EBC2-6303-1A7D-3F1C-FF654A386C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B37ABEA-E799-64FA-2BBF-4EAC106320A0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C322210-8CD3-72DE-339F-2AA6FAC8B692}"/>
              </a:ext>
            </a:extLst>
          </p:cNvPr>
          <p:cNvSpPr/>
          <p:nvPr/>
        </p:nvSpPr>
        <p:spPr>
          <a:xfrm>
            <a:off x="6004279" y="2826208"/>
            <a:ext cx="1960915" cy="62273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3069F68-2727-C310-908E-8026C84BF1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23" y="4368273"/>
            <a:ext cx="10599420" cy="54483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1B6C25C-30A9-0E72-9054-956F78983193}"/>
              </a:ext>
            </a:extLst>
          </p:cNvPr>
          <p:cNvSpPr txBox="1"/>
          <p:nvPr/>
        </p:nvSpPr>
        <p:spPr>
          <a:xfrm>
            <a:off x="307329" y="5135611"/>
            <a:ext cx="3456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which is what we call a Gaussian process</a:t>
            </a:r>
            <a:endParaRPr lang="en-FR" sz="1400" b="1" dirty="0">
              <a:solidFill>
                <a:srgbClr val="00B050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86AE4D35-B36A-830D-EDCF-6AE4C7815371}"/>
              </a:ext>
            </a:extLst>
          </p:cNvPr>
          <p:cNvCxnSpPr>
            <a:cxnSpLocks/>
          </p:cNvCxnSpPr>
          <p:nvPr/>
        </p:nvCxnSpPr>
        <p:spPr>
          <a:xfrm rot="5400000">
            <a:off x="9741300" y="1810201"/>
            <a:ext cx="524172" cy="496304"/>
          </a:xfrm>
          <a:prstGeom prst="bentConnector3">
            <a:avLst>
              <a:gd name="adj1" fmla="val 100321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B7050D4-A7A8-7C06-4563-4DE226CD478E}"/>
              </a:ext>
            </a:extLst>
          </p:cNvPr>
          <p:cNvSpPr txBox="1"/>
          <p:nvPr/>
        </p:nvSpPr>
        <p:spPr>
          <a:xfrm>
            <a:off x="10398407" y="1849601"/>
            <a:ext cx="1472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we have a function turning dataset into parameters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17641CE-145D-62BB-06B8-0B1D1EC0D911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001C9E9-4164-7050-D257-A3AF743716CD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37CC828-5887-A887-358E-C1AC68093907}"/>
              </a:ext>
            </a:extLst>
          </p:cNvPr>
          <p:cNvSpPr/>
          <p:nvPr/>
        </p:nvSpPr>
        <p:spPr>
          <a:xfrm>
            <a:off x="7789101" y="3281700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F5081C-91AC-2275-77AD-DCD6726DDB19}"/>
              </a:ext>
            </a:extLst>
          </p:cNvPr>
          <p:cNvGrpSpPr/>
          <p:nvPr/>
        </p:nvGrpSpPr>
        <p:grpSpPr>
          <a:xfrm>
            <a:off x="3385946" y="1998680"/>
            <a:ext cx="6406411" cy="792366"/>
            <a:chOff x="3385946" y="1998680"/>
            <a:chExt cx="6406411" cy="79236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0AA4AF6-EBD7-68D5-E121-16E3FD8871F1}"/>
                </a:ext>
              </a:extLst>
            </p:cNvPr>
            <p:cNvSpPr/>
            <p:nvPr/>
          </p:nvSpPr>
          <p:spPr>
            <a:xfrm>
              <a:off x="3385946" y="1998680"/>
              <a:ext cx="6222419" cy="622738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13AB52-4D3A-3DB2-A756-4172803FF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573458" y="2141805"/>
              <a:ext cx="5786755" cy="354965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754714F-0196-14BA-9D6E-C9EA0474DD5E}"/>
                </a:ext>
              </a:extLst>
            </p:cNvPr>
            <p:cNvSpPr/>
            <p:nvPr/>
          </p:nvSpPr>
          <p:spPr>
            <a:xfrm>
              <a:off x="9440171" y="2438860"/>
              <a:ext cx="352186" cy="35218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3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BC0C427-71FF-BC45-EAE3-12EA3E9C47F4}"/>
              </a:ext>
            </a:extLst>
          </p:cNvPr>
          <p:cNvSpPr txBox="1"/>
          <p:nvPr/>
        </p:nvSpPr>
        <p:spPr>
          <a:xfrm>
            <a:off x="536872" y="2048439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osterior predictive distribution </a:t>
            </a:r>
          </a:p>
          <a:p>
            <a:pPr algn="ctr"/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(PPD)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36942F-2E04-2CFE-74C4-ED185C843428}"/>
              </a:ext>
            </a:extLst>
          </p:cNvPr>
          <p:cNvGrpSpPr/>
          <p:nvPr/>
        </p:nvGrpSpPr>
        <p:grpSpPr>
          <a:xfrm>
            <a:off x="331034" y="4277558"/>
            <a:ext cx="11426749" cy="726260"/>
            <a:chOff x="231620" y="4234885"/>
            <a:chExt cx="11426749" cy="72626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E97AB51-0C06-1097-2CDB-6A7089A70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68109" y="4325600"/>
              <a:ext cx="10599420" cy="544830"/>
            </a:xfrm>
            <a:prstGeom prst="rect">
              <a:avLst/>
            </a:prstGeom>
          </p:spPr>
        </p:pic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E80EB30-D24C-BA80-7547-88892E1B96A0}"/>
                </a:ext>
              </a:extLst>
            </p:cNvPr>
            <p:cNvSpPr/>
            <p:nvPr/>
          </p:nvSpPr>
          <p:spPr>
            <a:xfrm>
              <a:off x="231620" y="4234885"/>
              <a:ext cx="11426749" cy="726260"/>
            </a:xfrm>
            <a:prstGeom prst="roundRect">
              <a:avLst/>
            </a:prstGeom>
            <a:noFill/>
            <a:ln w="25400">
              <a:solidFill>
                <a:srgbClr val="00A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F1EAA-46FB-C5F0-F7D8-FB93C7677120}"/>
              </a:ext>
            </a:extLst>
          </p:cNvPr>
          <p:cNvSpPr/>
          <p:nvPr/>
        </p:nvSpPr>
        <p:spPr>
          <a:xfrm>
            <a:off x="630890" y="4153904"/>
            <a:ext cx="1525169" cy="235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gaussian processes</a:t>
            </a:r>
            <a:endParaRPr lang="en-FR" sz="12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EF108AD-8FC5-E5D1-A457-3966114808AA}"/>
              </a:ext>
            </a:extLst>
          </p:cNvPr>
          <p:cNvSpPr/>
          <p:nvPr/>
        </p:nvSpPr>
        <p:spPr>
          <a:xfrm>
            <a:off x="11581690" y="4826534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98036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9B6D-B00D-4187-77F6-2C946414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E7B1B9D7-7F40-3DB9-300A-9A33AF708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671" y="3683910"/>
            <a:ext cx="3004820" cy="35496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C9720C9A-CC4B-5104-C6F5-723CB340B951}"/>
              </a:ext>
            </a:extLst>
          </p:cNvPr>
          <p:cNvSpPr txBox="1"/>
          <p:nvPr/>
        </p:nvSpPr>
        <p:spPr>
          <a:xfrm>
            <a:off x="270676" y="3731098"/>
            <a:ext cx="10716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when                             we can use the kernel trick to write                                                                            and still get a closed-form PPD as per  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366AAF-C484-3C31-783E-FD455658FD29}"/>
              </a:ext>
            </a:extLst>
          </p:cNvPr>
          <p:cNvSpPr txBox="1"/>
          <p:nvPr/>
        </p:nvSpPr>
        <p:spPr>
          <a:xfrm>
            <a:off x="258282" y="2997973"/>
            <a:ext cx="10490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considering a richer feature representation		        we have                                                   and a similar expression for PPD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3EDDD-2400-0EE9-0C04-C3DC9DC8453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EF5D4-7AD9-1113-4D2D-109EA9D8AC7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81A563-C789-76C3-7828-1BFA1A45EE84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D95C1E-38E0-2979-721D-BF87BD63DC0B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490EF3-8B9E-1889-9C85-0766E33A5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699" y="2930258"/>
            <a:ext cx="1725295" cy="3384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00D314-EFE1-E858-E49A-1F8A31A60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3192" y="3000315"/>
            <a:ext cx="1477645" cy="3054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2BF68D-58C3-081A-B06C-77D65F85CD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62" y="3802436"/>
            <a:ext cx="998855" cy="165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E46445E-2683-0188-5E60-AC215A262B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7820" y="1318871"/>
            <a:ext cx="2327910" cy="3054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50CC7DC-1653-4131-BA21-D78378B332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6515" y="5924584"/>
            <a:ext cx="1370330" cy="305435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FD3CC6B-73AF-3305-1A20-FA6313E39D1F}"/>
              </a:ext>
            </a:extLst>
          </p:cNvPr>
          <p:cNvGrpSpPr/>
          <p:nvPr/>
        </p:nvGrpSpPr>
        <p:grpSpPr>
          <a:xfrm>
            <a:off x="331034" y="1152489"/>
            <a:ext cx="1725295" cy="622738"/>
            <a:chOff x="117677" y="831503"/>
            <a:chExt cx="1725295" cy="6227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4AF0D6-DA78-C370-B490-E5A1DD27D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AE99248D-9141-117C-09AF-F761B60036C0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3785CE2-EBC8-D314-AF35-E5C1991BBC22}"/>
              </a:ext>
            </a:extLst>
          </p:cNvPr>
          <p:cNvGrpSpPr/>
          <p:nvPr/>
        </p:nvGrpSpPr>
        <p:grpSpPr>
          <a:xfrm>
            <a:off x="4831758" y="1166794"/>
            <a:ext cx="3869836" cy="622738"/>
            <a:chOff x="5428168" y="817057"/>
            <a:chExt cx="3869836" cy="622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3C58AA8-CA49-F4D4-FCFB-8CF5CC393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30744" y="963974"/>
              <a:ext cx="3467100" cy="321945"/>
            </a:xfrm>
            <a:prstGeom prst="rect">
              <a:avLst/>
            </a:prstGeom>
          </p:spPr>
        </p:pic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D4547C0-5C6D-D8DA-A0E0-2D46E19860C8}"/>
                </a:ext>
              </a:extLst>
            </p:cNvPr>
            <p:cNvSpPr/>
            <p:nvPr/>
          </p:nvSpPr>
          <p:spPr>
            <a:xfrm>
              <a:off x="5428168" y="817057"/>
              <a:ext cx="3869836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3F6CF05-0F8B-A134-28D8-A7047ABD1D7B}"/>
              </a:ext>
            </a:extLst>
          </p:cNvPr>
          <p:cNvSpPr txBox="1"/>
          <p:nvPr/>
        </p:nvSpPr>
        <p:spPr>
          <a:xfrm>
            <a:off x="258282" y="767249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ordinary linear regression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22B95F-C3DD-660B-5DDC-B536D07A1894}"/>
              </a:ext>
            </a:extLst>
          </p:cNvPr>
          <p:cNvSpPr txBox="1"/>
          <p:nvPr/>
        </p:nvSpPr>
        <p:spPr>
          <a:xfrm>
            <a:off x="5630744" y="76542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Bayesian linear regression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34886F-393F-1C9A-8B56-FA8E6E5B9838}"/>
              </a:ext>
            </a:extLst>
          </p:cNvPr>
          <p:cNvSpPr txBox="1"/>
          <p:nvPr/>
        </p:nvSpPr>
        <p:spPr>
          <a:xfrm>
            <a:off x="2534179" y="1089660"/>
            <a:ext cx="181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impose a prior on </a:t>
            </a:r>
          </a:p>
          <a:p>
            <a:endParaRPr lang="en-GB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to get uncert. </a:t>
            </a:r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q</a:t>
            </a:r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uantif.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03E567B-A62A-E2DE-876F-FABD20E2B26F}"/>
              </a:ext>
            </a:extLst>
          </p:cNvPr>
          <p:cNvCxnSpPr>
            <a:cxnSpLocks/>
          </p:cNvCxnSpPr>
          <p:nvPr/>
        </p:nvCxnSpPr>
        <p:spPr>
          <a:xfrm>
            <a:off x="2156059" y="1458992"/>
            <a:ext cx="256994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354E709C-AE59-1BEF-EAA3-D9E176A255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5268" y="1171206"/>
            <a:ext cx="120015" cy="18859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E283755-D42F-D927-216B-BBC6B7F3E764}"/>
              </a:ext>
            </a:extLst>
          </p:cNvPr>
          <p:cNvSpPr txBox="1"/>
          <p:nvPr/>
        </p:nvSpPr>
        <p:spPr>
          <a:xfrm>
            <a:off x="9336606" y="931234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latin typeface="Roboto Thin" panose="02000000000000000000" pitchFamily="2" charset="0"/>
                <a:ea typeface="Roboto Thin" panose="02000000000000000000" pitchFamily="2" charset="0"/>
              </a:rPr>
              <a:t>defining the context as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E3FFDD5-D376-0E08-7134-0B5CDC0CDA23}"/>
              </a:ext>
            </a:extLst>
          </p:cNvPr>
          <p:cNvSpPr/>
          <p:nvPr/>
        </p:nvSpPr>
        <p:spPr>
          <a:xfrm>
            <a:off x="6004279" y="2826208"/>
            <a:ext cx="1960915" cy="62273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0A74314-4A55-48F9-3FB0-41C18312DBAB}"/>
              </a:ext>
            </a:extLst>
          </p:cNvPr>
          <p:cNvGrpSpPr/>
          <p:nvPr/>
        </p:nvGrpSpPr>
        <p:grpSpPr>
          <a:xfrm>
            <a:off x="331034" y="4277558"/>
            <a:ext cx="11426749" cy="726260"/>
            <a:chOff x="231620" y="4234885"/>
            <a:chExt cx="11426749" cy="72626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D61ECDB-7072-0245-2B89-6758E6F3C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68109" y="4325600"/>
              <a:ext cx="10599420" cy="544830"/>
            </a:xfrm>
            <a:prstGeom prst="rect">
              <a:avLst/>
            </a:prstGeom>
          </p:spPr>
        </p:pic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E79964AE-53C3-5684-4FCF-7C63A5D36B6E}"/>
                </a:ext>
              </a:extLst>
            </p:cNvPr>
            <p:cNvSpPr/>
            <p:nvPr/>
          </p:nvSpPr>
          <p:spPr>
            <a:xfrm>
              <a:off x="231620" y="4234885"/>
              <a:ext cx="11426749" cy="726260"/>
            </a:xfrm>
            <a:prstGeom prst="roundRect">
              <a:avLst/>
            </a:prstGeom>
            <a:noFill/>
            <a:ln w="25400">
              <a:solidFill>
                <a:srgbClr val="00A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ACC0BB3-B1BC-6ADB-9987-965E3B54257B}"/>
              </a:ext>
            </a:extLst>
          </p:cNvPr>
          <p:cNvSpPr txBox="1"/>
          <p:nvPr/>
        </p:nvSpPr>
        <p:spPr>
          <a:xfrm>
            <a:off x="307329" y="5135611"/>
            <a:ext cx="11466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which is what we call a Gaussian process; however, inverting n-by-n matrices is costly and choosing a kernel annoying, so we use </a:t>
            </a:r>
            <a:r>
              <a:rPr lang="en-US" sz="1400" b="1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neural networks</a:t>
            </a:r>
            <a:endParaRPr lang="en-FR" sz="1400" b="1" dirty="0">
              <a:solidFill>
                <a:srgbClr val="00B050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9D2BEF-4608-0850-73D2-9C0F89B039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8821" y="5678619"/>
            <a:ext cx="2567305" cy="81724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4BD60AE-076E-1B66-B5FD-B23C8BD328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2540" y="5924289"/>
            <a:ext cx="2517775" cy="30543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3F3427C-C342-7DB8-8B19-7276DB1F01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7523" y="5899757"/>
            <a:ext cx="3557905" cy="338455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8F8472D3-2140-6A86-E2B7-AF92C03153F5}"/>
              </a:ext>
            </a:extLst>
          </p:cNvPr>
          <p:cNvSpPr/>
          <p:nvPr/>
        </p:nvSpPr>
        <p:spPr>
          <a:xfrm>
            <a:off x="5959555" y="6274939"/>
            <a:ext cx="28575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8550285-4A8F-0438-0D28-3D30A286BF4A}"/>
              </a:ext>
            </a:extLst>
          </p:cNvPr>
          <p:cNvSpPr/>
          <p:nvPr/>
        </p:nvSpPr>
        <p:spPr>
          <a:xfrm>
            <a:off x="8872911" y="6271495"/>
            <a:ext cx="28575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821468-442C-6134-951E-40E8377AFEE4}"/>
              </a:ext>
            </a:extLst>
          </p:cNvPr>
          <p:cNvSpPr txBox="1"/>
          <p:nvPr/>
        </p:nvSpPr>
        <p:spPr>
          <a:xfrm>
            <a:off x="6584047" y="6306969"/>
            <a:ext cx="1782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trainable parameters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0FC1002-28B4-228E-583D-4DF25746099C}"/>
              </a:ext>
            </a:extLst>
          </p:cNvPr>
          <p:cNvCxnSpPr>
            <a:cxnSpLocks/>
          </p:cNvCxnSpPr>
          <p:nvPr/>
        </p:nvCxnSpPr>
        <p:spPr>
          <a:xfrm flipV="1">
            <a:off x="6094491" y="6374212"/>
            <a:ext cx="0" cy="16140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A2547C3A-CD1B-9B96-9272-E3B5BCD19EB2}"/>
              </a:ext>
            </a:extLst>
          </p:cNvPr>
          <p:cNvCxnSpPr>
            <a:cxnSpLocks/>
          </p:cNvCxnSpPr>
          <p:nvPr/>
        </p:nvCxnSpPr>
        <p:spPr>
          <a:xfrm rot="5400000">
            <a:off x="9741300" y="1810201"/>
            <a:ext cx="524172" cy="496304"/>
          </a:xfrm>
          <a:prstGeom prst="bentConnector3">
            <a:avLst>
              <a:gd name="adj1" fmla="val 100321"/>
            </a:avLst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E65AF6B-3DD2-734A-98E4-9557C43FEA8C}"/>
              </a:ext>
            </a:extLst>
          </p:cNvPr>
          <p:cNvSpPr txBox="1"/>
          <p:nvPr/>
        </p:nvSpPr>
        <p:spPr>
          <a:xfrm>
            <a:off x="10398407" y="1849601"/>
            <a:ext cx="1472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Roboto Thin" panose="02000000000000000000" pitchFamily="2" charset="0"/>
                <a:ea typeface="Roboto Thin" panose="02000000000000000000" pitchFamily="2" charset="0"/>
              </a:rPr>
              <a:t>we have a function turning dataset into parameters</a:t>
            </a:r>
            <a:endParaRPr lang="en-FR" sz="1400" dirty="0"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0EBFDC1-18C1-5F23-2163-41FF52547AB8}"/>
              </a:ext>
            </a:extLst>
          </p:cNvPr>
          <p:cNvSpPr/>
          <p:nvPr/>
        </p:nvSpPr>
        <p:spPr>
          <a:xfrm>
            <a:off x="1886017" y="161799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9821AF2-15C2-250A-8143-F47FFAE10309}"/>
              </a:ext>
            </a:extLst>
          </p:cNvPr>
          <p:cNvSpPr/>
          <p:nvPr/>
        </p:nvSpPr>
        <p:spPr>
          <a:xfrm>
            <a:off x="8525501" y="1599156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94D4279-6871-8451-B4CE-A8720505AC39}"/>
              </a:ext>
            </a:extLst>
          </p:cNvPr>
          <p:cNvSpPr/>
          <p:nvPr/>
        </p:nvSpPr>
        <p:spPr>
          <a:xfrm>
            <a:off x="7789101" y="3281700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4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0A0E07D-978D-D409-D49C-C5B2ED8C1A0D}"/>
              </a:ext>
            </a:extLst>
          </p:cNvPr>
          <p:cNvSpPr/>
          <p:nvPr/>
        </p:nvSpPr>
        <p:spPr>
          <a:xfrm>
            <a:off x="11581690" y="4826534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5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2B8913D0-D14D-5B4E-24FA-0014A5B4C6DF}"/>
              </a:ext>
            </a:extLst>
          </p:cNvPr>
          <p:cNvSpPr/>
          <p:nvPr/>
        </p:nvSpPr>
        <p:spPr>
          <a:xfrm>
            <a:off x="325884" y="5576282"/>
            <a:ext cx="11431899" cy="1052265"/>
          </a:xfrm>
          <a:prstGeom prst="round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6EECA26-E18F-69B5-35A8-E922E5CA55F6}"/>
              </a:ext>
            </a:extLst>
          </p:cNvPr>
          <p:cNvCxnSpPr>
            <a:cxnSpLocks/>
          </p:cNvCxnSpPr>
          <p:nvPr/>
        </p:nvCxnSpPr>
        <p:spPr>
          <a:xfrm flipV="1">
            <a:off x="9015789" y="6381895"/>
            <a:ext cx="0" cy="16140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265490ED-5AE1-1645-50AB-096A59079E7A}"/>
              </a:ext>
            </a:extLst>
          </p:cNvPr>
          <p:cNvSpPr/>
          <p:nvPr/>
        </p:nvSpPr>
        <p:spPr>
          <a:xfrm>
            <a:off x="11581690" y="6439800"/>
            <a:ext cx="352186" cy="35218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B3500-174F-5DF3-1DD3-2709C2606D81}"/>
              </a:ext>
            </a:extLst>
          </p:cNvPr>
          <p:cNvGrpSpPr/>
          <p:nvPr/>
        </p:nvGrpSpPr>
        <p:grpSpPr>
          <a:xfrm>
            <a:off x="3385946" y="1998680"/>
            <a:ext cx="6406411" cy="792366"/>
            <a:chOff x="3385946" y="1998680"/>
            <a:chExt cx="6406411" cy="79236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8D76FC2-7A1D-D8B2-D8AD-FC784EA4F78C}"/>
                </a:ext>
              </a:extLst>
            </p:cNvPr>
            <p:cNvSpPr/>
            <p:nvPr/>
          </p:nvSpPr>
          <p:spPr>
            <a:xfrm>
              <a:off x="3385946" y="1998680"/>
              <a:ext cx="6222419" cy="622738"/>
            </a:xfrm>
            <a:prstGeom prst="round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808A10D-5AB9-D21A-D28F-B8A1AB1C9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573458" y="2141805"/>
              <a:ext cx="5786755" cy="354965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1C8328B-1137-74AC-74EC-A4924B6F61F6}"/>
                </a:ext>
              </a:extLst>
            </p:cNvPr>
            <p:cNvSpPr/>
            <p:nvPr/>
          </p:nvSpPr>
          <p:spPr>
            <a:xfrm>
              <a:off x="9440171" y="2438860"/>
              <a:ext cx="352186" cy="35218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3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00B0AAA-3A27-C8B0-802A-0C1ED9496474}"/>
              </a:ext>
            </a:extLst>
          </p:cNvPr>
          <p:cNvSpPr txBox="1"/>
          <p:nvPr/>
        </p:nvSpPr>
        <p:spPr>
          <a:xfrm>
            <a:off x="536872" y="2048439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osterior predictive distribution </a:t>
            </a:r>
          </a:p>
          <a:p>
            <a:pPr algn="ctr"/>
            <a:r>
              <a:rPr lang="en-FR" sz="1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(PPD)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87F097-72B0-B57A-22C2-4239F1420663}"/>
              </a:ext>
            </a:extLst>
          </p:cNvPr>
          <p:cNvSpPr/>
          <p:nvPr/>
        </p:nvSpPr>
        <p:spPr>
          <a:xfrm>
            <a:off x="630890" y="5457565"/>
            <a:ext cx="2149786" cy="235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lang="en-FR" sz="12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onditional neural processes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876614-F742-B11A-109A-0C8030D55B80}"/>
              </a:ext>
            </a:extLst>
          </p:cNvPr>
          <p:cNvSpPr/>
          <p:nvPr/>
        </p:nvSpPr>
        <p:spPr>
          <a:xfrm>
            <a:off x="630890" y="4153904"/>
            <a:ext cx="1525169" cy="235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gaussian processes</a:t>
            </a:r>
            <a:endParaRPr lang="en-FR" sz="12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890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0E3B-55AD-3375-C420-1A624981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E45B6E-9BCB-F1E9-F7DF-0AFB09CBCCE6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38E87-AD7D-9125-08BD-CBB223ED8D4E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BDD4FE-649D-D5D2-81B3-6AA5CFC7F6FA}"/>
              </a:ext>
            </a:extLst>
          </p:cNvPr>
          <p:cNvSpPr txBox="1"/>
          <p:nvPr/>
        </p:nvSpPr>
        <p:spPr>
          <a:xfrm>
            <a:off x="4047870" y="80536"/>
            <a:ext cx="4078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Roadmap of today’s lecture…</a:t>
            </a:r>
            <a:endParaRPr lang="en-FR" sz="2400" dirty="0">
              <a:solidFill>
                <a:srgbClr val="00A2FF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1F9F5E-15D9-74DD-A390-47F40B97B89D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CD2933F-1E53-5770-3CB7-A866330D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515" y="1500885"/>
            <a:ext cx="1370330" cy="30543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7D8CDBD-518F-EC63-784C-EB54CC266084}"/>
              </a:ext>
            </a:extLst>
          </p:cNvPr>
          <p:cNvSpPr txBox="1"/>
          <p:nvPr/>
        </p:nvSpPr>
        <p:spPr>
          <a:xfrm>
            <a:off x="307329" y="711912"/>
            <a:ext cx="7378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Roboto Thin" panose="02000000000000000000" pitchFamily="2" charset="0"/>
                <a:ea typeface="Roboto Thin" panose="02000000000000000000" pitchFamily="2" charset="0"/>
              </a:rPr>
              <a:t>Inverting n-by-n matrices is costly and choosing a kernel annoying, so we use </a:t>
            </a:r>
            <a:r>
              <a:rPr lang="en-US" sz="1400" b="1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neural networks</a:t>
            </a:r>
            <a:endParaRPr lang="en-FR" sz="1400" b="1" dirty="0">
              <a:solidFill>
                <a:srgbClr val="00B050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DBB3297E-2CD8-F433-F76A-C6C847C05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821" y="1254920"/>
            <a:ext cx="2567305" cy="81724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D139268-942A-349A-5F0E-B691D9357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2540" y="1500590"/>
            <a:ext cx="2517775" cy="30543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082B769-9AAC-172D-3ED9-7BDA22709F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23" y="1476058"/>
            <a:ext cx="3557905" cy="338455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6982FC26-4C6F-59DE-7A95-D79E10B1791B}"/>
              </a:ext>
            </a:extLst>
          </p:cNvPr>
          <p:cNvSpPr/>
          <p:nvPr/>
        </p:nvSpPr>
        <p:spPr>
          <a:xfrm>
            <a:off x="5959555" y="1851240"/>
            <a:ext cx="28575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7E5930C-E42E-4EA7-FF60-CA1CA3AA42B3}"/>
              </a:ext>
            </a:extLst>
          </p:cNvPr>
          <p:cNvSpPr/>
          <p:nvPr/>
        </p:nvSpPr>
        <p:spPr>
          <a:xfrm>
            <a:off x="8872911" y="1847796"/>
            <a:ext cx="28575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B8588BC-B01A-0C38-C051-DA067DD5C1FC}"/>
              </a:ext>
            </a:extLst>
          </p:cNvPr>
          <p:cNvSpPr txBox="1"/>
          <p:nvPr/>
        </p:nvSpPr>
        <p:spPr>
          <a:xfrm>
            <a:off x="6584047" y="1883270"/>
            <a:ext cx="1782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trainable parameters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92FA9B2-8D15-4E13-1502-6053313FECED}"/>
              </a:ext>
            </a:extLst>
          </p:cNvPr>
          <p:cNvCxnSpPr>
            <a:cxnSpLocks/>
          </p:cNvCxnSpPr>
          <p:nvPr/>
        </p:nvCxnSpPr>
        <p:spPr>
          <a:xfrm flipV="1">
            <a:off x="6094491" y="1950513"/>
            <a:ext cx="0" cy="16140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98BCCFEE-4DD9-2D50-AC0D-E6A58A2263BB}"/>
              </a:ext>
            </a:extLst>
          </p:cNvPr>
          <p:cNvSpPr/>
          <p:nvPr/>
        </p:nvSpPr>
        <p:spPr>
          <a:xfrm>
            <a:off x="325884" y="1152583"/>
            <a:ext cx="11431899" cy="1052265"/>
          </a:xfrm>
          <a:prstGeom prst="round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B988992-B109-40B5-2670-F19F907FE9B0}"/>
              </a:ext>
            </a:extLst>
          </p:cNvPr>
          <p:cNvCxnSpPr>
            <a:cxnSpLocks/>
          </p:cNvCxnSpPr>
          <p:nvPr/>
        </p:nvCxnSpPr>
        <p:spPr>
          <a:xfrm flipV="1">
            <a:off x="9015789" y="1958196"/>
            <a:ext cx="0" cy="16140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6B0B4DE-60A5-4195-97C7-DAAE1BF1B119}"/>
              </a:ext>
            </a:extLst>
          </p:cNvPr>
          <p:cNvSpPr/>
          <p:nvPr/>
        </p:nvSpPr>
        <p:spPr>
          <a:xfrm>
            <a:off x="630890" y="1033866"/>
            <a:ext cx="2149786" cy="235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lang="en-FR" sz="12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onditional neural processes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DF03485-A95C-7D95-AB50-7258813E9B63}"/>
              </a:ext>
            </a:extLst>
          </p:cNvPr>
          <p:cNvGrpSpPr>
            <a:grpSpLocks noChangeAspect="1"/>
          </p:cNvGrpSpPr>
          <p:nvPr/>
        </p:nvGrpSpPr>
        <p:grpSpPr>
          <a:xfrm>
            <a:off x="2780676" y="2410833"/>
            <a:ext cx="6548413" cy="2448439"/>
            <a:chOff x="1205565" y="2109365"/>
            <a:chExt cx="9354876" cy="3497770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0883668-ABB7-91C8-8B45-39543F1D3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71484" y="4640274"/>
              <a:ext cx="1552575" cy="352425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1E7B08F-0A27-3113-1EB8-719188F306DE}"/>
                </a:ext>
              </a:extLst>
            </p:cNvPr>
            <p:cNvGrpSpPr/>
            <p:nvPr/>
          </p:nvGrpSpPr>
          <p:grpSpPr>
            <a:xfrm>
              <a:off x="1205565" y="2109365"/>
              <a:ext cx="4488569" cy="1001308"/>
              <a:chOff x="240033" y="4170767"/>
              <a:chExt cx="4488569" cy="1001308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9A4E394B-64BB-D16A-E277-07DD4CB8E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8314" y="4611613"/>
                <a:ext cx="3981450" cy="352425"/>
              </a:xfrm>
              <a:prstGeom prst="rect">
                <a:avLst/>
              </a:prstGeom>
            </p:spPr>
          </p:pic>
          <p:sp>
            <p:nvSpPr>
              <p:cNvPr id="103" name="Rounded Rectangle 102">
                <a:extLst>
                  <a:ext uri="{FF2B5EF4-FFF2-40B4-BE49-F238E27FC236}">
                    <a16:creationId xmlns:a16="http://schemas.microsoft.com/office/drawing/2014/main" id="{0F1C5848-3703-6562-2CA5-69D5CB2C62BF}"/>
                  </a:ext>
                </a:extLst>
              </p:cNvPr>
              <p:cNvSpPr/>
              <p:nvPr/>
            </p:nvSpPr>
            <p:spPr>
              <a:xfrm>
                <a:off x="240033" y="4391025"/>
                <a:ext cx="4488569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8F0DC80E-F8CA-2CA7-B062-88FCAB772C81}"/>
                  </a:ext>
                </a:extLst>
              </p:cNvPr>
              <p:cNvSpPr/>
              <p:nvPr/>
            </p:nvSpPr>
            <p:spPr>
              <a:xfrm>
                <a:off x="1809807" y="4212667"/>
                <a:ext cx="1389561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4D84E8E-B70F-3D54-0452-78A362E991A1}"/>
                  </a:ext>
                </a:extLst>
              </p:cNvPr>
              <p:cNvSpPr txBox="1"/>
              <p:nvPr/>
            </p:nvSpPr>
            <p:spPr>
              <a:xfrm>
                <a:off x="1828857" y="4170767"/>
                <a:ext cx="1388886" cy="39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r>
                  <a:rPr lang="en-FR" sz="1200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ontext set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759C0D1-440A-3EBF-1BB4-5588FB007655}"/>
                </a:ext>
              </a:extLst>
            </p:cNvPr>
            <p:cNvGrpSpPr/>
            <p:nvPr/>
          </p:nvGrpSpPr>
          <p:grpSpPr>
            <a:xfrm>
              <a:off x="6173950" y="2128354"/>
              <a:ext cx="1811978" cy="982319"/>
              <a:chOff x="5095876" y="5413446"/>
              <a:chExt cx="1811978" cy="982319"/>
            </a:xfrm>
          </p:grpSpPr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8C1FA819-9082-CF24-03C6-FEFC1C0FAD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82751" y="5838104"/>
                <a:ext cx="1038225" cy="352425"/>
              </a:xfrm>
              <a:prstGeom prst="rect">
                <a:avLst/>
              </a:prstGeom>
            </p:spPr>
          </p:pic>
          <p:sp>
            <p:nvSpPr>
              <p:cNvPr id="99" name="Rounded Rectangle 98">
                <a:extLst>
                  <a:ext uri="{FF2B5EF4-FFF2-40B4-BE49-F238E27FC236}">
                    <a16:creationId xmlns:a16="http://schemas.microsoft.com/office/drawing/2014/main" id="{733618FE-58D4-B6E2-16C2-FC1F3A84293C}"/>
                  </a:ext>
                </a:extLst>
              </p:cNvPr>
              <p:cNvSpPr/>
              <p:nvPr/>
            </p:nvSpPr>
            <p:spPr>
              <a:xfrm>
                <a:off x="5095876" y="5614715"/>
                <a:ext cx="1811978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D7A6BD25-1294-F37E-62F7-A926C0122E21}"/>
                  </a:ext>
                </a:extLst>
              </p:cNvPr>
              <p:cNvSpPr/>
              <p:nvPr/>
            </p:nvSpPr>
            <p:spPr>
              <a:xfrm>
                <a:off x="5307421" y="5446017"/>
                <a:ext cx="1388887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8E42DC1-2FF6-023B-F651-29CE23F74EF5}"/>
                  </a:ext>
                </a:extLst>
              </p:cNvPr>
              <p:cNvSpPr txBox="1"/>
              <p:nvPr/>
            </p:nvSpPr>
            <p:spPr>
              <a:xfrm>
                <a:off x="5307422" y="5413446"/>
                <a:ext cx="1388887" cy="39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query point</a:t>
                </a:r>
                <a:endParaRPr lang="en-FR" sz="1200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E11592AA-ED74-A273-9097-C7122293E20C}"/>
                </a:ext>
              </a:extLst>
            </p:cNvPr>
            <p:cNvSpPr/>
            <p:nvPr/>
          </p:nvSpPr>
          <p:spPr>
            <a:xfrm>
              <a:off x="8535103" y="4425962"/>
              <a:ext cx="2025338" cy="78105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8FE2FD5-B808-C002-2431-BFCF3A5870D9}"/>
                </a:ext>
              </a:extLst>
            </p:cNvPr>
            <p:cNvSpPr/>
            <p:nvPr/>
          </p:nvSpPr>
          <p:spPr>
            <a:xfrm>
              <a:off x="9216884" y="4249987"/>
              <a:ext cx="635110" cy="359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2B5648-5542-7EC8-E410-9A4F4CF9C8A5}"/>
                </a:ext>
              </a:extLst>
            </p:cNvPr>
            <p:cNvSpPr txBox="1"/>
            <p:nvPr/>
          </p:nvSpPr>
          <p:spPr>
            <a:xfrm>
              <a:off x="9180655" y="4215516"/>
              <a:ext cx="694329" cy="395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PPD</a:t>
              </a:r>
              <a:endParaRPr lang="en-FR" sz="1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cxnSp>
          <p:nvCxnSpPr>
            <p:cNvPr id="66" name="Elbow Connector 65">
              <a:extLst>
                <a:ext uri="{FF2B5EF4-FFF2-40B4-BE49-F238E27FC236}">
                  <a16:creationId xmlns:a16="http://schemas.microsoft.com/office/drawing/2014/main" id="{21B7F287-4ACC-8B71-4596-ABDC516C9364}"/>
                </a:ext>
              </a:extLst>
            </p:cNvPr>
            <p:cNvCxnSpPr>
              <a:cxnSpLocks/>
              <a:stCxn id="99" idx="2"/>
              <a:endCxn id="76" idx="0"/>
            </p:cNvCxnSpPr>
            <p:nvPr/>
          </p:nvCxnSpPr>
          <p:spPr>
            <a:xfrm rot="5400000">
              <a:off x="6371031" y="3819579"/>
              <a:ext cx="1417814" cy="2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4EBE5AA-1AD9-1100-E63F-F37372C50B34}"/>
                </a:ext>
              </a:extLst>
            </p:cNvPr>
            <p:cNvCxnSpPr>
              <a:cxnSpLocks/>
              <a:stCxn id="76" idx="3"/>
              <a:endCxn id="63" idx="1"/>
            </p:cNvCxnSpPr>
            <p:nvPr/>
          </p:nvCxnSpPr>
          <p:spPr>
            <a:xfrm flipV="1">
              <a:off x="7370853" y="4816487"/>
              <a:ext cx="1164250" cy="180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7C3104B-82C0-96BF-36C1-DCC2425B49AE}"/>
                </a:ext>
              </a:extLst>
            </p:cNvPr>
            <p:cNvSpPr/>
            <p:nvPr/>
          </p:nvSpPr>
          <p:spPr>
            <a:xfrm>
              <a:off x="4611418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D718CD3-5F3A-BEB4-9F63-520525F3C790}"/>
                </a:ext>
              </a:extLst>
            </p:cNvPr>
            <p:cNvSpPr/>
            <p:nvPr/>
          </p:nvSpPr>
          <p:spPr>
            <a:xfrm>
              <a:off x="2648589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37516D1-12EA-3262-8917-FA95133B22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89020" y="4528487"/>
              <a:ext cx="581833" cy="579600"/>
            </a:xfrm>
            <a:prstGeom prst="rect">
              <a:avLst/>
            </a:prstGeom>
            <a:solidFill>
              <a:srgbClr val="00A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C5DB213-0F1A-EF15-3E73-6AE74B519188}"/>
                </a:ext>
              </a:extLst>
            </p:cNvPr>
            <p:cNvCxnSpPr>
              <a:endCxn id="74" idx="0"/>
            </p:cNvCxnSpPr>
            <p:nvPr/>
          </p:nvCxnSpPr>
          <p:spPr>
            <a:xfrm flipH="1">
              <a:off x="4757218" y="3110673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E6223CAC-CB6D-FB4B-6C35-92B2DE819199}"/>
                </a:ext>
              </a:extLst>
            </p:cNvPr>
            <p:cNvCxnSpPr/>
            <p:nvPr/>
          </p:nvCxnSpPr>
          <p:spPr>
            <a:xfrm flipH="1">
              <a:off x="2797328" y="3121748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81A6831-C48B-1E4E-6195-5A26AB208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36089" y="3634185"/>
              <a:ext cx="266700" cy="219075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0B25F40-F171-B3DA-9604-A3EFF372B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191447" y="3634185"/>
              <a:ext cx="314325" cy="209550"/>
            </a:xfrm>
            <a:prstGeom prst="rect">
              <a:avLst/>
            </a:prstGeom>
          </p:spPr>
        </p:pic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36BE145-389B-47A3-6ECD-FC11B4F2D14F}"/>
                </a:ext>
              </a:extLst>
            </p:cNvPr>
            <p:cNvSpPr/>
            <p:nvPr/>
          </p:nvSpPr>
          <p:spPr>
            <a:xfrm>
              <a:off x="3444571" y="4524887"/>
              <a:ext cx="583200" cy="583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A242EA0D-F16C-9934-5554-DC23A9F4FCBC}"/>
                </a:ext>
              </a:extLst>
            </p:cNvPr>
            <p:cNvCxnSpPr>
              <a:cxnSpLocks/>
              <a:stCxn id="74" idx="2"/>
              <a:endCxn id="82" idx="7"/>
            </p:cNvCxnSpPr>
            <p:nvPr/>
          </p:nvCxnSpPr>
          <p:spPr>
            <a:xfrm flipH="1">
              <a:off x="3942363" y="3890035"/>
              <a:ext cx="814855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41DC5F5-2DB0-5075-1CD8-103F4DDB4098}"/>
                </a:ext>
              </a:extLst>
            </p:cNvPr>
            <p:cNvCxnSpPr>
              <a:cxnSpLocks/>
              <a:stCxn id="75" idx="2"/>
              <a:endCxn id="82" idx="1"/>
            </p:cNvCxnSpPr>
            <p:nvPr/>
          </p:nvCxnSpPr>
          <p:spPr>
            <a:xfrm>
              <a:off x="2794389" y="3890035"/>
              <a:ext cx="735590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CF1ABF10-1B62-7ACE-ED7E-510C443C92D7}"/>
                </a:ext>
              </a:extLst>
            </p:cNvPr>
            <p:cNvCxnSpPr>
              <a:cxnSpLocks/>
              <a:stCxn id="82" idx="6"/>
              <a:endCxn id="76" idx="1"/>
            </p:cNvCxnSpPr>
            <p:nvPr/>
          </p:nvCxnSpPr>
          <p:spPr>
            <a:xfrm>
              <a:off x="4027771" y="4816487"/>
              <a:ext cx="2761249" cy="180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0F6BC-D70C-8B06-A13B-4A2A0ACD20E2}"/>
                </a:ext>
              </a:extLst>
            </p:cNvPr>
            <p:cNvSpPr txBox="1"/>
            <p:nvPr/>
          </p:nvSpPr>
          <p:spPr>
            <a:xfrm>
              <a:off x="6586582" y="5211422"/>
              <a:ext cx="1044700" cy="395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1200" dirty="0">
                  <a:solidFill>
                    <a:srgbClr val="00A2FF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decoder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E963A3-5B75-1FF9-C734-CA417749D599}"/>
                </a:ext>
              </a:extLst>
            </p:cNvPr>
            <p:cNvSpPr txBox="1"/>
            <p:nvPr/>
          </p:nvSpPr>
          <p:spPr>
            <a:xfrm>
              <a:off x="3039506" y="5187233"/>
              <a:ext cx="1415681" cy="395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1200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aggregation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E122A15-914C-4A58-EF62-9ED16706894D}"/>
                </a:ext>
              </a:extLst>
            </p:cNvPr>
            <p:cNvSpPr txBox="1"/>
            <p:nvPr/>
          </p:nvSpPr>
          <p:spPr>
            <a:xfrm>
              <a:off x="4918205" y="3554294"/>
              <a:ext cx="1044700" cy="395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1200" dirty="0">
                  <a:solidFill>
                    <a:srgbClr val="C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encoder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B508392-6C56-0E2C-8F30-418FA95CA169}"/>
              </a:ext>
            </a:extLst>
          </p:cNvPr>
          <p:cNvGrpSpPr/>
          <p:nvPr/>
        </p:nvGrpSpPr>
        <p:grpSpPr>
          <a:xfrm>
            <a:off x="324516" y="4980593"/>
            <a:ext cx="11867484" cy="1346953"/>
            <a:chOff x="305441" y="4974685"/>
            <a:chExt cx="11867484" cy="134695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185A579-25F8-70AE-3739-1AEE291C83B3}"/>
                </a:ext>
              </a:extLst>
            </p:cNvPr>
            <p:cNvSpPr txBox="1"/>
            <p:nvPr/>
          </p:nvSpPr>
          <p:spPr>
            <a:xfrm>
              <a:off x="305441" y="4974685"/>
              <a:ext cx="77300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Tabular foundational models </a:t>
              </a: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use a very similar architecture, but with three important differences:</a:t>
              </a:r>
              <a:endParaRPr lang="en-FR" sz="1400" b="1" dirty="0">
                <a:solidFill>
                  <a:srgbClr val="00B050"/>
                </a:solidFill>
                <a:latin typeface="Roboto Thin" panose="02000000000000000000" pitchFamily="2" charset="0"/>
                <a:ea typeface="Roboto Thin" panose="02000000000000000000" pitchFamily="2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78B3F1F-04E2-A7EF-F41D-F8429172BF16}"/>
                </a:ext>
              </a:extLst>
            </p:cNvPr>
            <p:cNvSpPr txBox="1"/>
            <p:nvPr/>
          </p:nvSpPr>
          <p:spPr>
            <a:xfrm>
              <a:off x="630889" y="5295716"/>
              <a:ext cx="11542036" cy="1025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The aggregator uses an attention mechanism instead of a simple average</a:t>
              </a:r>
            </a:p>
            <a:p>
              <a:pPr>
                <a:lnSpc>
                  <a:spcPct val="150000"/>
                </a:lnSpc>
              </a:pP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The decoder uses a </a:t>
              </a:r>
              <a:r>
                <a:rPr lang="en-US" sz="1400" dirty="0" err="1">
                  <a:latin typeface="Roboto Thin" panose="02000000000000000000" pitchFamily="2" charset="0"/>
                  <a:ea typeface="Roboto Thin" panose="02000000000000000000" pitchFamily="2" charset="0"/>
                </a:rPr>
                <a:t>softmax</a:t>
              </a: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 operator so to include classification problems on top of regression</a:t>
              </a:r>
            </a:p>
            <a:p>
              <a:pPr>
                <a:lnSpc>
                  <a:spcPct val="150000"/>
                </a:lnSpc>
              </a:pPr>
              <a:r>
                <a:rPr lang="en-US" sz="1400" dirty="0">
                  <a:latin typeface="Roboto Thin" panose="02000000000000000000" pitchFamily="2" charset="0"/>
                  <a:ea typeface="Roboto Thin" panose="02000000000000000000" pitchFamily="2" charset="0"/>
                </a:rPr>
                <a:t>The training relies on a carefully designed generator of synthetic tabular datasets that go beyond smooth functions as in gaussian processes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E7D8310-F6E3-9532-7C72-DF8CDFD630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2714" y="5479387"/>
              <a:ext cx="103413" cy="103413"/>
            </a:xfrm>
            <a:prstGeom prst="ellipse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F39D838B-B998-76C0-E169-8CE05CAB8D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2714" y="5792069"/>
              <a:ext cx="103413" cy="103413"/>
            </a:xfrm>
            <a:prstGeom prst="ellipse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8312F1D-AB6E-3819-BAA7-C9DAD296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2714" y="6104751"/>
              <a:ext cx="103413" cy="103413"/>
            </a:xfrm>
            <a:prstGeom prst="ellipse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</p:spTree>
    <p:extLst>
      <p:ext uri="{BB962C8B-B14F-4D97-AF65-F5344CB8AC3E}">
        <p14:creationId xmlns:p14="http://schemas.microsoft.com/office/powerpoint/2010/main" val="3817081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F622-94E8-4658-83DB-CE0C57D6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A78B94-012A-310E-20E8-EE994884322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2B804D23-5EA6-A27E-6061-1918427AA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218597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175BDE-03F2-3318-B6C3-1614FED7F216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2023505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4A12-FB99-60EA-1F7B-D39EB57F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69B62D-0E22-27F3-2D4E-9C2F6D0E114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A12E4-E712-6636-F38B-CA15232A174D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15CC1-B0C7-7749-F615-D2237D693721}"/>
              </a:ext>
            </a:extLst>
          </p:cNvPr>
          <p:cNvSpPr txBox="1"/>
          <p:nvPr/>
        </p:nvSpPr>
        <p:spPr>
          <a:xfrm>
            <a:off x="240033" y="887764"/>
            <a:ext cx="1158362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Let us start from the very beginning : ordinary multiple linear regression</a:t>
            </a:r>
            <a:r>
              <a:rPr lang="en-FR" sz="2400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 ❤️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You receive a training dataset                               and 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The OLS estimator is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Calling </a:t>
            </a:r>
            <a: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LinearRegression().fit(X, y).predict(x_star)</a:t>
            </a:r>
            <a:b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</a:br>
            <a:endParaRPr lang="en-FR" sz="2400" dirty="0">
              <a:solidFill>
                <a:srgbClr val="5E5E5E"/>
              </a:solidFill>
              <a:latin typeface="Courier New" panose="02070309020205020404" pitchFamily="49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	returns 	            which is a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Courier New" panose="02070309020205020404" pitchFamily="49" charset="0"/>
              </a:rPr>
              <a:t>point prediction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w/o uncertainty quantification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However, we would like to work with the posterior predictive distribution (PPD)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Ok, but why? 🤷🏻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2364D3-876D-503C-7143-0E54A84E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291" y="1695471"/>
            <a:ext cx="2057400" cy="323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91A2C7-022D-A9CC-22CE-F82BDBA6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079" y="1682408"/>
            <a:ext cx="1581150" cy="323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EBDB27-1736-4D14-9820-4763BE4E6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677" y="2371497"/>
            <a:ext cx="4667250" cy="4191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DAF716E-93A0-221F-FFCB-96B58D05EA3D}"/>
              </a:ext>
            </a:extLst>
          </p:cNvPr>
          <p:cNvSpPr/>
          <p:nvPr/>
        </p:nvSpPr>
        <p:spPr>
          <a:xfrm>
            <a:off x="731520" y="1716424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0C7B91-6C17-4F7B-33D3-3F0C7C8CF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5125" y="3787097"/>
            <a:ext cx="1390650" cy="4191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8DE2B97-34F1-882B-FB97-62A76A86CA49}"/>
              </a:ext>
            </a:extLst>
          </p:cNvPr>
          <p:cNvSpPr/>
          <p:nvPr/>
        </p:nvSpPr>
        <p:spPr>
          <a:xfrm>
            <a:off x="731520" y="2484890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E47BD2-1483-D1FF-0E8B-4D312467A4E4}"/>
              </a:ext>
            </a:extLst>
          </p:cNvPr>
          <p:cNvSpPr/>
          <p:nvPr/>
        </p:nvSpPr>
        <p:spPr>
          <a:xfrm>
            <a:off x="731520" y="3206932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56523B-2D53-1EE3-6345-89B43870C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6850" y="5271679"/>
            <a:ext cx="41783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02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DB36-7C73-B369-8E25-C9817E33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27E7ED-668D-22BD-350D-A682CB31983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E2E1E-EBBB-4022-02BE-26C097270504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609A3-2F40-5F80-8E17-05FD32441ED4}"/>
              </a:ext>
            </a:extLst>
          </p:cNvPr>
          <p:cNvSpPr txBox="1"/>
          <p:nvPr/>
        </p:nvSpPr>
        <p:spPr>
          <a:xfrm>
            <a:off x="240033" y="887764"/>
            <a:ext cx="9373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We would like to work with the posterior predictive distribution (PPD)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Courier New" panose="02070309020205020404" pitchFamily="49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Because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FABD0F-FDBF-A11F-D38E-2B44EF8F2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50" y="1567664"/>
            <a:ext cx="4178300" cy="469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DA41F5-CF96-AF69-4227-8DA8431C3D16}"/>
              </a:ext>
            </a:extLst>
          </p:cNvPr>
          <p:cNvSpPr txBox="1"/>
          <p:nvPr/>
        </p:nvSpPr>
        <p:spPr>
          <a:xfrm>
            <a:off x="3633537" y="41605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91A1EA-7B04-C716-46C9-2D0FCC22F879}"/>
              </a:ext>
            </a:extLst>
          </p:cNvPr>
          <p:cNvSpPr txBox="1"/>
          <p:nvPr/>
        </p:nvSpPr>
        <p:spPr>
          <a:xfrm>
            <a:off x="703966" y="2637068"/>
            <a:ext cx="111466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Full description. </a:t>
            </a: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 point estimate discards all uncertainty. The PPD encodes the full distribution of plausible outcomes — any summary (mean, quantiles, confidence bands) can be recovered from it.</a:t>
            </a:r>
          </a:p>
          <a:p>
            <a:pPr algn="just"/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just"/>
            <a:r>
              <a:rPr lang="en-GB" sz="2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Uncertainty quantification for free. </a:t>
            </a: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The variance described by the PPD decomposes into epistemic uncertainty (reducible with more data) and aleatoric uncertainty (irreducible noise) — essential for responsible deployment in high-stakes settings.</a:t>
            </a:r>
          </a:p>
          <a:p>
            <a:pPr algn="just"/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just"/>
            <a:r>
              <a:rPr lang="en-GB" sz="2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Natural target for meta-learning. </a:t>
            </a:r>
            <a:r>
              <a:rPr lang="en-GB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The PPD is the unique prediction that optimally combines the prior learned during meta-training with the evidence in the context. Minimising its negative log-likelihood is the right training objective</a:t>
            </a:r>
            <a:endParaRPr lang="en-FR" sz="2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68C768F-EF94-3897-9F07-33CF142963C1}"/>
              </a:ext>
            </a:extLst>
          </p:cNvPr>
          <p:cNvSpPr/>
          <p:nvPr/>
        </p:nvSpPr>
        <p:spPr>
          <a:xfrm>
            <a:off x="358610" y="2754453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B8FB8F6-0129-452C-9006-DD08C9EA29EC}"/>
              </a:ext>
            </a:extLst>
          </p:cNvPr>
          <p:cNvSpPr/>
          <p:nvPr/>
        </p:nvSpPr>
        <p:spPr>
          <a:xfrm>
            <a:off x="358610" y="4102612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A51FCB0-D697-7BF2-8215-15113897B75D}"/>
              </a:ext>
            </a:extLst>
          </p:cNvPr>
          <p:cNvSpPr/>
          <p:nvPr/>
        </p:nvSpPr>
        <p:spPr>
          <a:xfrm>
            <a:off x="358610" y="5419949"/>
            <a:ext cx="222068" cy="222068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81681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EB076-ADD3-86D6-7F00-EDA6DA02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D4E789-D969-BCEE-08E6-3273DCB9ECC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A5DF3-F766-08D1-90D4-636617A54EC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71DE53-6A95-62B5-2ECC-806DA9913BBF}"/>
              </a:ext>
            </a:extLst>
          </p:cNvPr>
          <p:cNvSpPr txBox="1"/>
          <p:nvPr/>
        </p:nvSpPr>
        <p:spPr>
          <a:xfrm>
            <a:off x="240033" y="857582"/>
            <a:ext cx="820769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Bayesian linear regression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Supposing that the parameter vector has a prior distribution</a:t>
            </a:r>
            <a:endParaRPr lang="en-FR" sz="2400" dirty="0">
              <a:solidFill>
                <a:srgbClr val="00A2FF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nd that observations are generated as per 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have that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ith                                                                        and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NB: Note what happens when 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AEB243-2BF9-C7F3-5E14-F9041473B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729" y="1644599"/>
            <a:ext cx="2428875" cy="390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5B64B7-5C78-8F67-0776-BBDBEE1AA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911" y="2343260"/>
            <a:ext cx="4210050" cy="390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494C89-493E-8D07-CB5A-3A67479FA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18" y="4528940"/>
            <a:ext cx="3962400" cy="4286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D1269E-19DF-4D9A-2FA2-74F3FC259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538" y="4417492"/>
            <a:ext cx="5057775" cy="6953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3013DC-E027-C6C0-77DB-AC0635D88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0732" y="3109632"/>
            <a:ext cx="6991350" cy="37147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C5DFA6A-8797-1A71-3946-FEFBCED40421}"/>
              </a:ext>
            </a:extLst>
          </p:cNvPr>
          <p:cNvSpPr/>
          <p:nvPr/>
        </p:nvSpPr>
        <p:spPr>
          <a:xfrm>
            <a:off x="2879670" y="3615504"/>
            <a:ext cx="1744581" cy="1306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F0B14E5-1F0D-9684-A600-81CE72417BE1}"/>
              </a:ext>
            </a:extLst>
          </p:cNvPr>
          <p:cNvSpPr/>
          <p:nvPr/>
        </p:nvSpPr>
        <p:spPr>
          <a:xfrm>
            <a:off x="3735977" y="3600616"/>
            <a:ext cx="2155372" cy="591317"/>
          </a:xfrm>
          <a:custGeom>
            <a:avLst/>
            <a:gdLst>
              <a:gd name="csX0" fmla="*/ 0 w 2155372"/>
              <a:gd name="csY0" fmla="*/ 91440 h 591317"/>
              <a:gd name="csX1" fmla="*/ 757646 w 2155372"/>
              <a:gd name="csY1" fmla="*/ 548640 h 591317"/>
              <a:gd name="csX2" fmla="*/ 1685109 w 2155372"/>
              <a:gd name="csY2" fmla="*/ 509452 h 591317"/>
              <a:gd name="csX3" fmla="*/ 2155372 w 2155372"/>
              <a:gd name="csY3" fmla="*/ 0 h 591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55372" h="591317">
                <a:moveTo>
                  <a:pt x="0" y="91440"/>
                </a:moveTo>
                <a:cubicBezTo>
                  <a:pt x="238397" y="285205"/>
                  <a:pt x="476795" y="478971"/>
                  <a:pt x="757646" y="548640"/>
                </a:cubicBezTo>
                <a:cubicBezTo>
                  <a:pt x="1038497" y="618309"/>
                  <a:pt x="1452155" y="600892"/>
                  <a:pt x="1685109" y="509452"/>
                </a:cubicBezTo>
                <a:cubicBezTo>
                  <a:pt x="1918063" y="418012"/>
                  <a:pt x="2036717" y="209006"/>
                  <a:pt x="2155372" y="0"/>
                </a:cubicBezTo>
              </a:path>
            </a:pathLst>
          </a:custGeom>
          <a:noFill/>
          <a:ln w="25400">
            <a:solidFill>
              <a:srgbClr val="00B05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AA79C7-3984-7A0E-A23C-F7ED4A5FB5C5}"/>
              </a:ext>
            </a:extLst>
          </p:cNvPr>
          <p:cNvSpPr txBox="1"/>
          <p:nvPr/>
        </p:nvSpPr>
        <p:spPr>
          <a:xfrm>
            <a:off x="5816385" y="3750715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context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8BFFF0F-1D03-F5CE-9088-BCF359BCD0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490" y="5755320"/>
            <a:ext cx="103822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90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E0AA6-0761-2590-C31D-0D1E9FE35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641801-074D-996E-ED6A-A846F3DE269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3986D-12D9-A82E-8BC8-1A89A207034C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CDAF99-C6AB-0267-4BB5-626025BE9134}"/>
              </a:ext>
            </a:extLst>
          </p:cNvPr>
          <p:cNvSpPr txBox="1"/>
          <p:nvPr/>
        </p:nvSpPr>
        <p:spPr>
          <a:xfrm>
            <a:off x="240033" y="887764"/>
            <a:ext cx="8563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PPD is obtained by marginalizing out the coefficients as 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8B3846-ED25-CDD9-B9A2-050683E487D8}"/>
              </a:ext>
            </a:extLst>
          </p:cNvPr>
          <p:cNvSpPr txBox="1"/>
          <p:nvPr/>
        </p:nvSpPr>
        <p:spPr>
          <a:xfrm>
            <a:off x="9364126" y="1102639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R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Gaussian integral </a:t>
            </a:r>
            <a:endParaRPr lang="en-FR" sz="2400" dirty="0">
              <a:solidFill>
                <a:srgbClr val="C00000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5ECED0C-83A4-EEF3-0982-7ABFF963F954}"/>
              </a:ext>
            </a:extLst>
          </p:cNvPr>
          <p:cNvSpPr/>
          <p:nvPr/>
        </p:nvSpPr>
        <p:spPr>
          <a:xfrm>
            <a:off x="7445829" y="1537443"/>
            <a:ext cx="3836594" cy="895883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E173053-8DEA-C000-D8EF-CF0E64969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1606011"/>
            <a:ext cx="9801225" cy="76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C26D3B-E220-DCDF-F86D-E5C9BB2FE392}"/>
              </a:ext>
            </a:extLst>
          </p:cNvPr>
          <p:cNvSpPr txBox="1"/>
          <p:nvPr/>
        </p:nvSpPr>
        <p:spPr>
          <a:xfrm>
            <a:off x="240033" y="2624593"/>
            <a:ext cx="3684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hich can be simplified to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FD37F5-EEE3-DB07-5E16-D2ADF9A14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4" y="3379642"/>
            <a:ext cx="6800850" cy="6286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08D8E85-91E4-637E-30E2-0485D891436A}"/>
              </a:ext>
            </a:extLst>
          </p:cNvPr>
          <p:cNvSpPr txBox="1"/>
          <p:nvPr/>
        </p:nvSpPr>
        <p:spPr>
          <a:xfrm>
            <a:off x="240033" y="4197172"/>
            <a:ext cx="123230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to compute the prediction we first </a:t>
            </a:r>
            <a:r>
              <a:rPr lang="en-US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convert the context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into a pair of parameters                            which is then used to calculate the prediction 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   This can be seen as a primitive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kind of meta-estimator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taking datasets as input.</a:t>
            </a:r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AFC1925-822C-978F-5E1E-CC64DF5E0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585" y="4422367"/>
            <a:ext cx="190500" cy="2667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45AF0AA-2D8A-9167-810D-B65D19303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8778" y="4932480"/>
            <a:ext cx="1866900" cy="3619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A711FFD-B4FE-62CD-A6EF-BB996D4889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584" y="5029279"/>
            <a:ext cx="295275" cy="228600"/>
          </a:xfrm>
          <a:prstGeom prst="rect">
            <a:avLst/>
          </a:prstGeom>
        </p:spPr>
      </p:pic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0F426B6-D82B-4789-7563-BE32BF1E77F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8256" y="5793943"/>
            <a:ext cx="446125" cy="347871"/>
          </a:xfrm>
          <a:prstGeom prst="bentConnector3">
            <a:avLst>
              <a:gd name="adj1" fmla="val 99013"/>
            </a:avLst>
          </a:prstGeom>
          <a:ln w="25400">
            <a:solidFill>
              <a:srgbClr val="00A2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97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E4684-C583-8D17-F0CD-9F6C07F0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6058B5-861E-5F6C-A54F-40D23DB987B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C29E8-C957-4A7D-BBA6-23FFD3E8C90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CEC88-F1A7-0F1F-7EB1-491251BDA512}"/>
              </a:ext>
            </a:extLst>
          </p:cNvPr>
          <p:cNvSpPr txBox="1"/>
          <p:nvPr/>
        </p:nvSpPr>
        <p:spPr>
          <a:xfrm>
            <a:off x="240033" y="887764"/>
            <a:ext cx="9086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is natural to want to consider richer features than the linear case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86E5F-273E-222C-44DB-75C145F8CC87}"/>
              </a:ext>
            </a:extLst>
          </p:cNvPr>
          <p:cNvSpPr txBox="1"/>
          <p:nvPr/>
        </p:nvSpPr>
        <p:spPr>
          <a:xfrm>
            <a:off x="240033" y="2510836"/>
            <a:ext cx="7229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also yields a closed-form expression for PPD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F9D2BC-A753-8DDF-55DB-224EA668FCFD}"/>
              </a:ext>
            </a:extLst>
          </p:cNvPr>
          <p:cNvSpPr txBox="1"/>
          <p:nvPr/>
        </p:nvSpPr>
        <p:spPr>
          <a:xfrm>
            <a:off x="240033" y="3819304"/>
            <a:ext cx="12323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Interestingly, we can rewrite this expression only in terms of inner products as per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9F02DF-308D-B521-81AE-1CE7315B639A}"/>
              </a:ext>
            </a:extLst>
          </p:cNvPr>
          <p:cNvGrpSpPr/>
          <p:nvPr/>
        </p:nvGrpSpPr>
        <p:grpSpPr>
          <a:xfrm>
            <a:off x="329930" y="1614455"/>
            <a:ext cx="1725295" cy="622738"/>
            <a:chOff x="117677" y="831503"/>
            <a:chExt cx="1725295" cy="6227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7C08890-D891-434F-2201-79FB40824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3" y="955719"/>
              <a:ext cx="1329055" cy="330200"/>
            </a:xfrm>
            <a:prstGeom prst="rect">
              <a:avLst/>
            </a:prstGeom>
          </p:spPr>
        </p:pic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CAA850A-95E3-68D1-A5F8-5E267AFF82E6}"/>
                </a:ext>
              </a:extLst>
            </p:cNvPr>
            <p:cNvSpPr/>
            <p:nvPr/>
          </p:nvSpPr>
          <p:spPr>
            <a:xfrm>
              <a:off x="117677" y="831503"/>
              <a:ext cx="172529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EF45F0-4EE0-5BF1-6990-CBD8899576C0}"/>
              </a:ext>
            </a:extLst>
          </p:cNvPr>
          <p:cNvGrpSpPr/>
          <p:nvPr/>
        </p:nvGrpSpPr>
        <p:grpSpPr>
          <a:xfrm>
            <a:off x="2880478" y="1614455"/>
            <a:ext cx="2177435" cy="622738"/>
            <a:chOff x="3845678" y="1614455"/>
            <a:chExt cx="2177435" cy="6227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7B244F2-6D9D-BC9C-0459-3678C9AB6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85056" y="1733652"/>
              <a:ext cx="1725295" cy="338455"/>
            </a:xfrm>
            <a:prstGeom prst="rect">
              <a:avLst/>
            </a:prstGeom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54D1475-F3DA-A152-01F9-2FA5265E8C2D}"/>
                </a:ext>
              </a:extLst>
            </p:cNvPr>
            <p:cNvSpPr/>
            <p:nvPr/>
          </p:nvSpPr>
          <p:spPr>
            <a:xfrm>
              <a:off x="3845678" y="1614455"/>
              <a:ext cx="2177435" cy="62273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232AC34-1CAE-8647-3CDB-3A8B53C92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027" y="1750161"/>
            <a:ext cx="1477645" cy="3054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BBC427-D25B-DC6F-1550-0EE22EFFBF37}"/>
              </a:ext>
            </a:extLst>
          </p:cNvPr>
          <p:cNvSpPr txBox="1"/>
          <p:nvPr/>
        </p:nvSpPr>
        <p:spPr>
          <a:xfrm>
            <a:off x="5165161" y="1680725"/>
            <a:ext cx="1063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</a:t>
            </a:r>
            <a:endParaRPr lang="en-FR" sz="2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D68EC9-1DFE-EE44-781C-E3F56501EE7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055225" y="1925824"/>
            <a:ext cx="8252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E95ECC2F-7889-DCCD-9D81-ECB0075243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3562" y="3183506"/>
            <a:ext cx="8524875" cy="6286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7306812-CF4B-C773-7BE7-9F8874851C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674" y="4681295"/>
            <a:ext cx="3841750" cy="3143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68FA88-3A02-3E7D-6B3C-2D2821C107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4027" y="4720659"/>
            <a:ext cx="5846445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AD69BDE-3463-ECCB-D725-3A16DBFF96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7438" y="5369858"/>
            <a:ext cx="2542540" cy="30035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CEB4D91-C581-FBA6-B607-4F9CF8E5EB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6851" y="5439381"/>
            <a:ext cx="1110615" cy="2095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880456A-78DD-789B-989C-D107F5D0F5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5666" y="5439381"/>
            <a:ext cx="1047750" cy="25146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B4EFE8C-8BA7-5834-51F3-78F89D1179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0651" y="5445195"/>
            <a:ext cx="1878965" cy="25844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326A6D9-03C6-46C1-93A1-68E2877A66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3154" y="5422803"/>
            <a:ext cx="1816100" cy="26543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4C79708-0F40-0F7D-B3C3-B06FE27D0E9D}"/>
              </a:ext>
            </a:extLst>
          </p:cNvPr>
          <p:cNvSpPr txBox="1"/>
          <p:nvPr/>
        </p:nvSpPr>
        <p:spPr>
          <a:xfrm>
            <a:off x="233803" y="5271173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with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FA0001-C1A3-679F-1F48-987BB19DDF05}"/>
              </a:ext>
            </a:extLst>
          </p:cNvPr>
          <p:cNvSpPr txBox="1"/>
          <p:nvPr/>
        </p:nvSpPr>
        <p:spPr>
          <a:xfrm>
            <a:off x="4571584" y="52281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5A9043-2019-C0F1-2642-2FFAF2FA95FC}"/>
              </a:ext>
            </a:extLst>
          </p:cNvPr>
          <p:cNvSpPr txBox="1"/>
          <p:nvPr/>
        </p:nvSpPr>
        <p:spPr>
          <a:xfrm>
            <a:off x="4684618" y="4591613"/>
            <a:ext cx="69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and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D79EF2-CC76-EFC3-8570-58E8981031EA}"/>
              </a:ext>
            </a:extLst>
          </p:cNvPr>
          <p:cNvSpPr txBox="1"/>
          <p:nvPr/>
        </p:nvSpPr>
        <p:spPr>
          <a:xfrm>
            <a:off x="234872" y="6008391"/>
            <a:ext cx="9688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The choice of features can therefore be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turned into a choice of kernel</a:t>
            </a:r>
          </a:p>
        </p:txBody>
      </p:sp>
    </p:spTree>
    <p:extLst>
      <p:ext uri="{BB962C8B-B14F-4D97-AF65-F5344CB8AC3E}">
        <p14:creationId xmlns:p14="http://schemas.microsoft.com/office/powerpoint/2010/main" val="2518830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F02D-5DF0-F3F9-A17D-BF66E624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B31BC8-B479-CF44-3515-0C0E11D7899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BB89BC99-2755-F016-1705-180810C94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329341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5E6D38-245C-2BA4-30AE-FDA388F79D54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375652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85E6-5976-47B8-C4C9-4FC756B7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6797B0F-133F-57BA-0193-89C87CAF598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2DB7E-618D-2B9F-6CED-CFD14CBEDCCB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A3B604-D09E-EC84-47D0-45D5AF8D44EE}"/>
              </a:ext>
            </a:extLst>
          </p:cNvPr>
          <p:cNvSpPr txBox="1"/>
          <p:nvPr/>
        </p:nvSpPr>
        <p:spPr>
          <a:xfrm>
            <a:off x="240033" y="887764"/>
            <a:ext cx="9321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are interested in situations for which the data is generated as per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2651E4-ACC5-B0D9-1BB5-5D553C4C0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125" y="965878"/>
            <a:ext cx="1601470" cy="3054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1C90A7-ADDE-8DFD-015A-4028DC2D0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6" y="1614455"/>
            <a:ext cx="2055495" cy="3632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28709C-C64C-1051-7AAA-FDB7C0B07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943" y="1614455"/>
            <a:ext cx="2864485" cy="3632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41EF15-2976-83FF-4497-0D9D1C580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350" y="1614868"/>
            <a:ext cx="1997710" cy="36322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66775E-06AA-914C-DD85-BC0852DC0364}"/>
              </a:ext>
            </a:extLst>
          </p:cNvPr>
          <p:cNvCxnSpPr>
            <a:cxnSpLocks/>
          </p:cNvCxnSpPr>
          <p:nvPr/>
        </p:nvCxnSpPr>
        <p:spPr>
          <a:xfrm>
            <a:off x="3693796" y="1796065"/>
            <a:ext cx="56387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63296A7-CE95-88BB-C918-9D9B3348215D}"/>
              </a:ext>
            </a:extLst>
          </p:cNvPr>
          <p:cNvCxnSpPr>
            <a:cxnSpLocks/>
          </p:cNvCxnSpPr>
          <p:nvPr/>
        </p:nvCxnSpPr>
        <p:spPr>
          <a:xfrm>
            <a:off x="7313296" y="1796065"/>
            <a:ext cx="56387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6DD9D0-622B-AACB-9E22-C75493E98F01}"/>
              </a:ext>
            </a:extLst>
          </p:cNvPr>
          <p:cNvGrpSpPr/>
          <p:nvPr/>
        </p:nvGrpSpPr>
        <p:grpSpPr>
          <a:xfrm>
            <a:off x="240033" y="2242701"/>
            <a:ext cx="11593238" cy="461665"/>
            <a:chOff x="240033" y="2424311"/>
            <a:chExt cx="11593238" cy="4616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61DBC8-589D-BB82-A8F3-BA4F1A94DDD9}"/>
                </a:ext>
              </a:extLst>
            </p:cNvPr>
            <p:cNvSpPr txBox="1"/>
            <p:nvPr/>
          </p:nvSpPr>
          <p:spPr>
            <a:xfrm>
              <a:off x="240033" y="2424311"/>
              <a:ext cx="115932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Note that when fixing a prior over     we’re also fixing a </a:t>
              </a:r>
              <a:r>
                <a:rPr lang="en-FR" sz="2400" b="1" dirty="0">
                  <a:solidFill>
                    <a:srgbClr val="00A2FF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prior over the function</a:t>
              </a: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values! 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D88C111-2FF1-8A5D-E170-EA2A67230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53299" y="2518935"/>
              <a:ext cx="173355" cy="272415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1792417B-6492-C5FC-8607-E1F2256E95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8749" y="4552514"/>
            <a:ext cx="3384550" cy="33845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4918161-8978-E4C5-1DBF-FFF100E37DBF}"/>
              </a:ext>
            </a:extLst>
          </p:cNvPr>
          <p:cNvGrpSpPr/>
          <p:nvPr/>
        </p:nvGrpSpPr>
        <p:grpSpPr>
          <a:xfrm>
            <a:off x="592829" y="2970258"/>
            <a:ext cx="11006341" cy="1254760"/>
            <a:chOff x="826930" y="2970258"/>
            <a:chExt cx="11006341" cy="125476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131B4E4-1CC3-8C98-127A-852BEC462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28246" y="3410881"/>
              <a:ext cx="2105025" cy="338455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FB2C64E-1F3D-548A-8889-78ED58A7C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82001" y="2970258"/>
              <a:ext cx="1931670" cy="125476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26145BB-7B87-B990-B1B9-859F6F2F5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26930" y="2970258"/>
              <a:ext cx="4961255" cy="125476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AFAB4F9-10FA-56C0-B6C3-19F64A452FFD}"/>
                </a:ext>
              </a:extLst>
            </p:cNvPr>
            <p:cNvSpPr txBox="1"/>
            <p:nvPr/>
          </p:nvSpPr>
          <p:spPr>
            <a:xfrm>
              <a:off x="5958227" y="3312720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with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5C81774-A7DB-E1B4-58B8-37BA8E547863}"/>
                </a:ext>
              </a:extLst>
            </p:cNvPr>
            <p:cNvSpPr txBox="1"/>
            <p:nvPr/>
          </p:nvSpPr>
          <p:spPr>
            <a:xfrm>
              <a:off x="8983713" y="3312719"/>
              <a:ext cx="6912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and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14A9EF4-3781-A3CD-F933-96E4EBD46BAA}"/>
              </a:ext>
            </a:extLst>
          </p:cNvPr>
          <p:cNvSpPr txBox="1"/>
          <p:nvPr/>
        </p:nvSpPr>
        <p:spPr>
          <a:xfrm>
            <a:off x="240033" y="4490910"/>
            <a:ext cx="1148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that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4B6066-9A81-F273-1764-57770667D686}"/>
              </a:ext>
            </a:extLst>
          </p:cNvPr>
          <p:cNvSpPr txBox="1"/>
          <p:nvPr/>
        </p:nvSpPr>
        <p:spPr>
          <a:xfrm>
            <a:off x="4933944" y="4495522"/>
            <a:ext cx="69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5366D2B-02AB-8D5A-BD01-E2E288D691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24126" y="4548871"/>
            <a:ext cx="5291455" cy="35496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63575584-749F-2714-C2F8-65B2AEF73E16}"/>
              </a:ext>
            </a:extLst>
          </p:cNvPr>
          <p:cNvSpPr txBox="1"/>
          <p:nvPr/>
        </p:nvSpPr>
        <p:spPr>
          <a:xfrm>
            <a:off x="240033" y="5243545"/>
            <a:ext cx="1556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Therefore,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A27E10F-167F-B317-1B9C-DA6DE9EA3B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2625" y="5317532"/>
            <a:ext cx="1956435" cy="313690"/>
          </a:xfrm>
          <a:prstGeom prst="rect">
            <a:avLst/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5AB7F48-3382-5791-F5CA-D42D00B6A052}"/>
              </a:ext>
            </a:extLst>
          </p:cNvPr>
          <p:cNvSpPr/>
          <p:nvPr/>
        </p:nvSpPr>
        <p:spPr>
          <a:xfrm>
            <a:off x="1809750" y="5163008"/>
            <a:ext cx="2257425" cy="62273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B2ACEA-7B2A-85A8-DDF0-778D092F59C4}"/>
              </a:ext>
            </a:extLst>
          </p:cNvPr>
          <p:cNvSpPr txBox="1"/>
          <p:nvPr/>
        </p:nvSpPr>
        <p:spPr>
          <a:xfrm>
            <a:off x="240033" y="5996180"/>
            <a:ext cx="10187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meaning that the </a:t>
            </a:r>
            <a:r>
              <a:rPr lang="en-US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function values are characterized directly by the kernel</a:t>
            </a:r>
            <a:endParaRPr lang="en-FR" sz="2400" b="1" dirty="0">
              <a:solidFill>
                <a:srgbClr val="00B050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033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4643-9C64-E976-FB85-7FCF2B81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A76145-6521-5745-40A4-196BBB7E123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B8BD0-7F83-9895-BAB8-49D660EEC70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E70513-F68D-FDD1-0EA5-AF90B67AE733}"/>
              </a:ext>
            </a:extLst>
          </p:cNvPr>
          <p:cNvGrpSpPr/>
          <p:nvPr/>
        </p:nvGrpSpPr>
        <p:grpSpPr>
          <a:xfrm>
            <a:off x="240033" y="711912"/>
            <a:ext cx="10778913" cy="1692771"/>
            <a:chOff x="240033" y="887764"/>
            <a:chExt cx="10778913" cy="1692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F339B66-74CB-542F-3409-1F10F86EB801}"/>
                </a:ext>
              </a:extLst>
            </p:cNvPr>
            <p:cNvSpPr txBox="1"/>
            <p:nvPr/>
          </p:nvSpPr>
          <p:spPr>
            <a:xfrm>
              <a:off x="240033" y="887764"/>
              <a:ext cx="10778913" cy="1692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Note that when taking the taking the dimension of the features to</a:t>
              </a:r>
            </a:p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vector               becomes </a:t>
              </a:r>
              <a:r>
                <a:rPr lang="en-FR" sz="2400" b="1" dirty="0">
                  <a:solidFill>
                    <a:srgbClr val="C00000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infinite-dimensional</a:t>
              </a: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and can no longer be written!</a:t>
              </a:r>
            </a:p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However, the joint pdf over the function values is still </a:t>
              </a:r>
              <a:r>
                <a:rPr lang="en-FR" sz="2400" b="1" dirty="0">
                  <a:solidFill>
                    <a:srgbClr val="00A2FF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perfectly well-defined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AFAB46-93A7-B29A-B920-8D23D28F1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6646" y="1169396"/>
              <a:ext cx="998855" cy="1651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098E1F6-F2FB-BC22-80B1-232B39D8E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0375" y="1681058"/>
              <a:ext cx="957580" cy="28067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DFF9B49-B950-B1F7-932B-66FCA3E58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775" y="2619375"/>
            <a:ext cx="4362450" cy="1447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1E44FF-E8EF-0118-FA45-70F39568A526}"/>
              </a:ext>
            </a:extLst>
          </p:cNvPr>
          <p:cNvSpPr txBox="1"/>
          <p:nvPr/>
        </p:nvSpPr>
        <p:spPr>
          <a:xfrm>
            <a:off x="240033" y="4281867"/>
            <a:ext cx="115328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call this object a Gaussian process and denote it as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function k is called the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covariance kernel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; choosing it is equivalent to choosing a prior over functions: it encodes beliefs about what the function looks like before seeing any data.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AB01C5-098F-A25F-3540-F0D3CB6F8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3360" y="4468846"/>
            <a:ext cx="19050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85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299C-BC44-8798-CBCC-1C6E9EAB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C5DC57-8477-0DDA-11FA-AB5BC12468B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6BB3F-A9C1-EF54-301A-600D22C117E6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D8B02D-89EF-D1A2-16EF-68E0A5029F49}"/>
              </a:ext>
            </a:extLst>
          </p:cNvPr>
          <p:cNvSpPr txBox="1"/>
          <p:nvPr/>
        </p:nvSpPr>
        <p:spPr>
          <a:xfrm>
            <a:off x="240033" y="711912"/>
            <a:ext cx="11692624" cy="557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Given context                                  , the PPD for a Gaussian process write j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 as before: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b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is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exact and closed-form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 No approximation. No optimization.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Limitations:</a:t>
            </a:r>
            <a:b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1. Computational cost: inverting n-by-n matrix costs O(n</a:t>
            </a:r>
            <a:r>
              <a:rPr lang="en-FR" sz="2400" baseline="30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3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time and O(n</a:t>
            </a:r>
            <a:r>
              <a:rPr lang="en-FR" sz="2400" baseline="30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2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memory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2. The kernel has to be (well) chosen by hand, which is not obvious at all in practice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EBD1AE-7C65-EE11-EDFF-4111D9413ECF}"/>
              </a:ext>
            </a:extLst>
          </p:cNvPr>
          <p:cNvGrpSpPr/>
          <p:nvPr/>
        </p:nvGrpSpPr>
        <p:grpSpPr>
          <a:xfrm>
            <a:off x="796291" y="3168975"/>
            <a:ext cx="10599418" cy="1266825"/>
            <a:chOff x="796291" y="3740475"/>
            <a:chExt cx="10599418" cy="126682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AD3B5FD-3D0C-427F-F3FC-7D07CC9BF6FB}"/>
                </a:ext>
              </a:extLst>
            </p:cNvPr>
            <p:cNvSpPr/>
            <p:nvPr/>
          </p:nvSpPr>
          <p:spPr>
            <a:xfrm>
              <a:off x="796291" y="3740475"/>
              <a:ext cx="10599418" cy="12668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7E5564-8402-B009-2C00-A8075BDD2AFB}"/>
                </a:ext>
              </a:extLst>
            </p:cNvPr>
            <p:cNvSpPr txBox="1"/>
            <p:nvPr/>
          </p:nvSpPr>
          <p:spPr>
            <a:xfrm>
              <a:off x="858124" y="3740475"/>
              <a:ext cx="10475751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Key insight: </a:t>
              </a: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GP is the Bayesian posterior predictive that you get when the features as infinite-dimensional and the only choice you make is the kernel.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E0697EA-3AE6-7BD0-83E4-13FF6AC08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95" y="939708"/>
            <a:ext cx="2327910" cy="30543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2F2FAAA-7780-C3AB-BC84-A812C027FE20}"/>
              </a:ext>
            </a:extLst>
          </p:cNvPr>
          <p:cNvGrpSpPr/>
          <p:nvPr/>
        </p:nvGrpSpPr>
        <p:grpSpPr>
          <a:xfrm>
            <a:off x="321509" y="1514598"/>
            <a:ext cx="11426749" cy="726260"/>
            <a:chOff x="231620" y="4234885"/>
            <a:chExt cx="11426749" cy="7262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6215CC0-F7D1-AA13-A200-BCFE96D77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8109" y="4325600"/>
              <a:ext cx="10599420" cy="544830"/>
            </a:xfrm>
            <a:prstGeom prst="rect">
              <a:avLst/>
            </a:prstGeom>
          </p:spPr>
        </p:pic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2F84B90-5D69-ADAD-361B-793A18721521}"/>
                </a:ext>
              </a:extLst>
            </p:cNvPr>
            <p:cNvSpPr/>
            <p:nvPr/>
          </p:nvSpPr>
          <p:spPr>
            <a:xfrm>
              <a:off x="231620" y="4234885"/>
              <a:ext cx="11426749" cy="72626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63218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E4D2-70C1-F1F9-AC3A-B49CCEE5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E307A8-FB38-C5A6-1E23-56A8763F25C1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BC3FE-E38D-7385-4EC8-71B37C6086E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 </a:t>
            </a:r>
            <a:r>
              <a:rPr lang="en-GB" sz="2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practice – Example 1</a:t>
            </a:r>
          </a:p>
        </p:txBody>
      </p:sp>
      <p:pic>
        <p:nvPicPr>
          <p:cNvPr id="7" name="Picture 6" descr="A graph of a graph showing the difference between high uncertainty and high context&#10;&#10;AI-generated content may be incorrect.">
            <a:extLst>
              <a:ext uri="{FF2B5EF4-FFF2-40B4-BE49-F238E27FC236}">
                <a16:creationId xmlns:a16="http://schemas.microsoft.com/office/drawing/2014/main" id="{76408ACA-9AB6-957C-D8D9-F5E17D42A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838299"/>
            <a:ext cx="11727871" cy="578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74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3D2C8-90A7-097B-9969-5CA27B85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05456D-A1D4-BA1B-7F4F-11028246ECB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266AE-A301-F3CD-55F6-BEE4D85D6A2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processes </a:t>
            </a:r>
            <a:r>
              <a:rPr lang="en-GB" sz="2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practice – Example 2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06776491-3DD1-E8F3-5BE2-24B061639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04" y="807162"/>
            <a:ext cx="10656392" cy="587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17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5DD4E-71E9-B4E7-467E-F26F9314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A0E41B-9765-6B5C-E5E8-50B398B82C8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EDF61E73-85C4-B2A3-BBDC-61EBDA792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438053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C1764-9E5F-6477-0B02-5C66EEE23BA5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37714929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19CAF-FC16-942A-B769-6BC528F0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02A821-0F01-AB3A-A436-1E71B09DAF3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BE46F-45A0-BA6C-A2A1-3BC0FBA4BCB0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BCCB66-176A-BD7C-41DE-6B19F67AE1FD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3F0FE-F8D7-9FE1-39F0-4C85D7207E1C}"/>
              </a:ext>
            </a:extLst>
          </p:cNvPr>
          <p:cNvSpPr txBox="1"/>
          <p:nvPr/>
        </p:nvSpPr>
        <p:spPr>
          <a:xfrm>
            <a:off x="240033" y="711912"/>
            <a:ext cx="11323934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Gaussian process gives us the exact posterior predictive distribution (PPD), but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at O(n</a:t>
            </a:r>
            <a:r>
              <a:rPr lang="en-FR" sz="2400" baseline="30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3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cost and 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 a hand-chosen kernel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19B76E7-F292-D18A-E768-5150BB3F9B7D}"/>
              </a:ext>
            </a:extLst>
          </p:cNvPr>
          <p:cNvSpPr/>
          <p:nvPr/>
        </p:nvSpPr>
        <p:spPr>
          <a:xfrm>
            <a:off x="2999667" y="2569142"/>
            <a:ext cx="6192665" cy="590550"/>
          </a:xfrm>
          <a:prstGeom prst="round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 Can we do better with a neural network?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416B5-8C32-1D97-F701-1A6C6990D50B}"/>
              </a:ext>
            </a:extLst>
          </p:cNvPr>
          <p:cNvSpPr txBox="1"/>
          <p:nvPr/>
        </p:nvSpPr>
        <p:spPr>
          <a:xfrm>
            <a:off x="240033" y="3245562"/>
            <a:ext cx="11408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we need a neural network capable of doing the same mapping as a GP, i.e.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48BADD8-0E87-EF11-6062-F999ACA57783}"/>
              </a:ext>
            </a:extLst>
          </p:cNvPr>
          <p:cNvGrpSpPr/>
          <p:nvPr/>
        </p:nvGrpSpPr>
        <p:grpSpPr>
          <a:xfrm>
            <a:off x="1140355" y="4000571"/>
            <a:ext cx="9523290" cy="2184573"/>
            <a:chOff x="354135" y="4083941"/>
            <a:chExt cx="9523290" cy="21845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60A53A2-569E-3893-9EC8-7073855AC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1732" y="5078636"/>
              <a:ext cx="1552575" cy="352425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78510B5-BA8C-8B33-7709-1EC8D33FB2D8}"/>
                </a:ext>
              </a:extLst>
            </p:cNvPr>
            <p:cNvGrpSpPr/>
            <p:nvPr/>
          </p:nvGrpSpPr>
          <p:grpSpPr>
            <a:xfrm>
              <a:off x="354135" y="4083941"/>
              <a:ext cx="4488569" cy="981666"/>
              <a:chOff x="240033" y="4190409"/>
              <a:chExt cx="4488569" cy="98166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A4E8FE0-7EEB-A5CF-2D9C-2DF1B69C9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314" y="4611613"/>
                <a:ext cx="3981450" cy="352425"/>
              </a:xfrm>
              <a:prstGeom prst="rect">
                <a:avLst/>
              </a:prstGeom>
            </p:spPr>
          </p:pic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D18A6C5C-5F10-F6F5-2015-19D55839E473}"/>
                  </a:ext>
                </a:extLst>
              </p:cNvPr>
              <p:cNvSpPr/>
              <p:nvPr/>
            </p:nvSpPr>
            <p:spPr>
              <a:xfrm>
                <a:off x="240033" y="4391025"/>
                <a:ext cx="4488569" cy="781050"/>
              </a:xfrm>
              <a:prstGeom prst="roundRect">
                <a:avLst/>
              </a:prstGeom>
              <a:noFill/>
              <a:ln w="254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283519C-747E-5A1B-D45E-EE287C0909CD}"/>
                  </a:ext>
                </a:extLst>
              </p:cNvPr>
              <p:cNvSpPr/>
              <p:nvPr/>
            </p:nvSpPr>
            <p:spPr>
              <a:xfrm>
                <a:off x="1809807" y="4212667"/>
                <a:ext cx="1389561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84EC3D-ECE0-A800-F070-243A1899EB41}"/>
                  </a:ext>
                </a:extLst>
              </p:cNvPr>
              <p:cNvSpPr txBox="1"/>
              <p:nvPr/>
            </p:nvSpPr>
            <p:spPr>
              <a:xfrm>
                <a:off x="1828857" y="4190409"/>
                <a:ext cx="1338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00B050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r>
                  <a:rPr lang="en-FR" b="1" dirty="0">
                    <a:solidFill>
                      <a:srgbClr val="00B050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ontext set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C99C09D-2676-3284-EC83-91DD526D1F03}"/>
                </a:ext>
              </a:extLst>
            </p:cNvPr>
            <p:cNvGrpSpPr/>
            <p:nvPr/>
          </p:nvGrpSpPr>
          <p:grpSpPr>
            <a:xfrm>
              <a:off x="3030726" y="5286195"/>
              <a:ext cx="1811978" cy="982319"/>
              <a:chOff x="5095876" y="5413446"/>
              <a:chExt cx="1811978" cy="98231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1FED95D-E04E-4BAD-AEBD-DE92C362EA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2751" y="5838104"/>
                <a:ext cx="1038225" cy="352425"/>
              </a:xfrm>
              <a:prstGeom prst="rect">
                <a:avLst/>
              </a:prstGeom>
            </p:spPr>
          </p:pic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B19FAE82-6AAE-90A8-505E-682F9CC5AC63}"/>
                  </a:ext>
                </a:extLst>
              </p:cNvPr>
              <p:cNvSpPr/>
              <p:nvPr/>
            </p:nvSpPr>
            <p:spPr>
              <a:xfrm>
                <a:off x="5095876" y="5614715"/>
                <a:ext cx="1811978" cy="781050"/>
              </a:xfrm>
              <a:prstGeom prst="roundRect">
                <a:avLst/>
              </a:prstGeom>
              <a:noFill/>
              <a:ln w="25400">
                <a:solidFill>
                  <a:srgbClr val="00A2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1BAE9BC-7D44-D917-2E3E-F76D5234723D}"/>
                  </a:ext>
                </a:extLst>
              </p:cNvPr>
              <p:cNvSpPr/>
              <p:nvPr/>
            </p:nvSpPr>
            <p:spPr>
              <a:xfrm>
                <a:off x="5307421" y="5446017"/>
                <a:ext cx="1388887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21DCB5-AEB9-E273-4493-B6D7B2BF40AB}"/>
                  </a:ext>
                </a:extLst>
              </p:cNvPr>
              <p:cNvSpPr txBox="1"/>
              <p:nvPr/>
            </p:nvSpPr>
            <p:spPr>
              <a:xfrm>
                <a:off x="5307422" y="5413446"/>
                <a:ext cx="1388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A2FF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query point</a:t>
                </a:r>
                <a:endParaRPr lang="en-FR" b="1" dirty="0">
                  <a:solidFill>
                    <a:srgbClr val="00A2FF"/>
                  </a:solidFill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5EBC1382-48AE-0464-5032-AB7AC1C8907B}"/>
                </a:ext>
              </a:extLst>
            </p:cNvPr>
            <p:cNvSpPr/>
            <p:nvPr/>
          </p:nvSpPr>
          <p:spPr>
            <a:xfrm>
              <a:off x="7852087" y="4874477"/>
              <a:ext cx="2025338" cy="78105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74636F4-6F51-74C8-A2AA-222FE0C3C759}"/>
                </a:ext>
              </a:extLst>
            </p:cNvPr>
            <p:cNvSpPr/>
            <p:nvPr/>
          </p:nvSpPr>
          <p:spPr>
            <a:xfrm>
              <a:off x="8547201" y="4694719"/>
              <a:ext cx="635110" cy="359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D6FA0FE-B525-453D-60C6-C37C6BF32B03}"/>
                </a:ext>
              </a:extLst>
            </p:cNvPr>
            <p:cNvSpPr txBox="1"/>
            <p:nvPr/>
          </p:nvSpPr>
          <p:spPr>
            <a:xfrm>
              <a:off x="8560011" y="4673520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PPD</a:t>
              </a:r>
              <a:endParaRPr lang="en-FR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E4AE456-C28D-EC6B-8FBC-8574F72F28C4}"/>
                </a:ext>
              </a:extLst>
            </p:cNvPr>
            <p:cNvSpPr/>
            <p:nvPr/>
          </p:nvSpPr>
          <p:spPr>
            <a:xfrm>
              <a:off x="5562482" y="4971248"/>
              <a:ext cx="1571625" cy="62989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solidFill>
                    <a:srgbClr val="E8EBE4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Neural Network</a:t>
              </a:r>
            </a:p>
          </p:txBody>
        </p: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C21DB83D-A6FD-0E21-6AE1-0F7DD6AF1411}"/>
                </a:ext>
              </a:extLst>
            </p:cNvPr>
            <p:cNvCxnSpPr>
              <a:cxnSpLocks/>
              <a:stCxn id="17" idx="3"/>
              <a:endCxn id="49" idx="0"/>
            </p:cNvCxnSpPr>
            <p:nvPr/>
          </p:nvCxnSpPr>
          <p:spPr>
            <a:xfrm>
              <a:off x="4842704" y="4675082"/>
              <a:ext cx="1505591" cy="296166"/>
            </a:xfrm>
            <a:prstGeom prst="bentConnector2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lbow Connector 52">
              <a:extLst>
                <a:ext uri="{FF2B5EF4-FFF2-40B4-BE49-F238E27FC236}">
                  <a16:creationId xmlns:a16="http://schemas.microsoft.com/office/drawing/2014/main" id="{53BDEF43-02AF-AD33-50D0-3875CCDAE3E5}"/>
                </a:ext>
              </a:extLst>
            </p:cNvPr>
            <p:cNvCxnSpPr>
              <a:cxnSpLocks/>
              <a:stCxn id="20" idx="3"/>
              <a:endCxn id="49" idx="2"/>
            </p:cNvCxnSpPr>
            <p:nvPr/>
          </p:nvCxnSpPr>
          <p:spPr>
            <a:xfrm flipV="1">
              <a:off x="4842704" y="5601142"/>
              <a:ext cx="1505591" cy="276847"/>
            </a:xfrm>
            <a:prstGeom prst="bentConnector2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B47A609-DF62-6D01-6C70-7FE0CCCE5FE8}"/>
                </a:ext>
              </a:extLst>
            </p:cNvPr>
            <p:cNvCxnSpPr>
              <a:stCxn id="49" idx="3"/>
            </p:cNvCxnSpPr>
            <p:nvPr/>
          </p:nvCxnSpPr>
          <p:spPr>
            <a:xfrm>
              <a:off x="7134107" y="5286195"/>
              <a:ext cx="717980" cy="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392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A036-8BC7-610F-27AE-834B44D0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F5A741-8B27-774A-CDBD-D70FADCE70C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902F67-641B-9A2C-C38C-8930316E059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47708E-F603-D5C3-E69E-79BAA080D9E9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68525E-7686-1DDA-C61E-B5D3358186B7}"/>
              </a:ext>
            </a:extLst>
          </p:cNvPr>
          <p:cNvSpPr txBox="1"/>
          <p:nvPr/>
        </p:nvSpPr>
        <p:spPr>
          <a:xfrm>
            <a:off x="240034" y="711912"/>
            <a:ext cx="907305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Conditional neural processes (Garnelo et al. 2018) approximate the PPD with a neural network composed of three components :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0892FF4-DF6C-DF1B-B990-2338C977DC13}"/>
              </a:ext>
            </a:extLst>
          </p:cNvPr>
          <p:cNvGrpSpPr/>
          <p:nvPr/>
        </p:nvGrpSpPr>
        <p:grpSpPr>
          <a:xfrm>
            <a:off x="3757487" y="5787922"/>
            <a:ext cx="4677026" cy="776458"/>
            <a:chOff x="3221665" y="5720316"/>
            <a:chExt cx="4677026" cy="776458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F1B4D4DD-1033-EBE2-FF6E-C236E0F13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60750" y="5880673"/>
              <a:ext cx="4216400" cy="416560"/>
            </a:xfrm>
            <a:prstGeom prst="rect">
              <a:avLst/>
            </a:prstGeom>
          </p:spPr>
        </p:pic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6890579F-A506-03DA-5416-31C458DAF61E}"/>
                </a:ext>
              </a:extLst>
            </p:cNvPr>
            <p:cNvSpPr/>
            <p:nvPr/>
          </p:nvSpPr>
          <p:spPr>
            <a:xfrm>
              <a:off x="3221665" y="5720316"/>
              <a:ext cx="4677026" cy="776458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FEE81B3-B9AD-AF2A-BFF0-C73D967C42C6}"/>
              </a:ext>
            </a:extLst>
          </p:cNvPr>
          <p:cNvSpPr txBox="1"/>
          <p:nvPr/>
        </p:nvSpPr>
        <p:spPr>
          <a:xfrm>
            <a:off x="1092784" y="1851375"/>
            <a:ext cx="74427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1) Encoder</a:t>
            </a:r>
          </a:p>
          <a:p>
            <a:r>
              <a:rPr lang="en-FR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trainable function is </a:t>
            </a:r>
          </a:p>
          <a:p>
            <a:r>
              <a:rPr lang="en-FR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applied to each context pair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377196-0A6E-E21E-C423-4FE990E858EE}"/>
              </a:ext>
            </a:extLst>
          </p:cNvPr>
          <p:cNvGrpSpPr/>
          <p:nvPr/>
        </p:nvGrpSpPr>
        <p:grpSpPr>
          <a:xfrm>
            <a:off x="4401798" y="2238210"/>
            <a:ext cx="6667654" cy="584791"/>
            <a:chOff x="4700689" y="2844209"/>
            <a:chExt cx="6667654" cy="5847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816E7AF-8B4F-F8F5-AA60-765FDC353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0689" y="2960391"/>
              <a:ext cx="1581150" cy="352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C1AE47-6E8F-2D7A-EE3E-9AF7CEFCD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82268" y="2887075"/>
              <a:ext cx="2886075" cy="40005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DD6918E-E6EC-E7C6-16C2-D169E50162E6}"/>
                </a:ext>
              </a:extLst>
            </p:cNvPr>
            <p:cNvSpPr/>
            <p:nvPr/>
          </p:nvSpPr>
          <p:spPr>
            <a:xfrm>
              <a:off x="7081284" y="2844209"/>
              <a:ext cx="601539" cy="58479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D580466-D319-CC11-EEA3-6DB533710B1E}"/>
                </a:ext>
              </a:extLst>
            </p:cNvPr>
            <p:cNvCxnSpPr>
              <a:endCxn id="26" idx="1"/>
            </p:cNvCxnSpPr>
            <p:nvPr/>
          </p:nvCxnSpPr>
          <p:spPr>
            <a:xfrm>
              <a:off x="6453963" y="3136604"/>
              <a:ext cx="627321" cy="1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7C8A78B-E3EB-E3CE-6C33-292EDFB996AF}"/>
                </a:ext>
              </a:extLst>
            </p:cNvPr>
            <p:cNvCxnSpPr/>
            <p:nvPr/>
          </p:nvCxnSpPr>
          <p:spPr>
            <a:xfrm>
              <a:off x="7682823" y="3136604"/>
              <a:ext cx="627321" cy="1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53ECB32-FA6C-3FD5-50C7-588B52506CF4}"/>
              </a:ext>
            </a:extLst>
          </p:cNvPr>
          <p:cNvSpPr txBox="1"/>
          <p:nvPr/>
        </p:nvSpPr>
        <p:spPr>
          <a:xfrm>
            <a:off x="1092784" y="3138748"/>
            <a:ext cx="45365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2) Aggregator</a:t>
            </a:r>
          </a:p>
          <a:p>
            <a:r>
              <a:rPr lang="en-FR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individual representations</a:t>
            </a:r>
          </a:p>
          <a:p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</a:t>
            </a:r>
            <a:r>
              <a:rPr lang="en-FR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 averaged into a single global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8502FFA-BD5D-6DE5-1028-DCF683DD9A4C}"/>
              </a:ext>
            </a:extLst>
          </p:cNvPr>
          <p:cNvCxnSpPr>
            <a:cxnSpLocks/>
          </p:cNvCxnSpPr>
          <p:nvPr/>
        </p:nvCxnSpPr>
        <p:spPr>
          <a:xfrm flipV="1">
            <a:off x="6155072" y="3793712"/>
            <a:ext cx="627321" cy="795"/>
          </a:xfrm>
          <a:prstGeom prst="straightConnector1">
            <a:avLst/>
          </a:prstGeom>
          <a:ln w="25400">
            <a:solidFill>
              <a:srgbClr val="5E5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2113B59-060B-006D-3611-A0FA77B00645}"/>
              </a:ext>
            </a:extLst>
          </p:cNvPr>
          <p:cNvCxnSpPr/>
          <p:nvPr/>
        </p:nvCxnSpPr>
        <p:spPr>
          <a:xfrm>
            <a:off x="7383932" y="3794507"/>
            <a:ext cx="627321" cy="1"/>
          </a:xfrm>
          <a:prstGeom prst="straightConnector1">
            <a:avLst/>
          </a:prstGeom>
          <a:ln w="25400">
            <a:solidFill>
              <a:srgbClr val="5E5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790EC360-D3D7-73E8-81AA-1BD78AE23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8623" y="3165857"/>
            <a:ext cx="314325" cy="12573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56CB406-3670-7375-FA79-98D8104DE7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377" y="3323019"/>
            <a:ext cx="1752600" cy="94297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C8851EF-F874-1509-F77D-39BDCB51240D}"/>
              </a:ext>
            </a:extLst>
          </p:cNvPr>
          <p:cNvSpPr txBox="1"/>
          <p:nvPr/>
        </p:nvSpPr>
        <p:spPr>
          <a:xfrm>
            <a:off x="1092783" y="4426121"/>
            <a:ext cx="35900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3) Decoder</a:t>
            </a:r>
          </a:p>
          <a:p>
            <a:r>
              <a:rPr lang="en-FR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trainable function outputs the parameters of a predictive Gaussian for the PPD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2E1F43E-A0F2-135B-41E9-3D1E6D424E45}"/>
              </a:ext>
            </a:extLst>
          </p:cNvPr>
          <p:cNvGrpSpPr/>
          <p:nvPr/>
        </p:nvGrpSpPr>
        <p:grpSpPr>
          <a:xfrm>
            <a:off x="6155072" y="4761399"/>
            <a:ext cx="4838180" cy="584791"/>
            <a:chOff x="6689324" y="5834942"/>
            <a:chExt cx="4838180" cy="58479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0E581D4-6813-A281-7C6F-B863F3E703A9}"/>
                </a:ext>
              </a:extLst>
            </p:cNvPr>
            <p:cNvGrpSpPr/>
            <p:nvPr/>
          </p:nvGrpSpPr>
          <p:grpSpPr>
            <a:xfrm>
              <a:off x="6689324" y="5834942"/>
              <a:ext cx="1856181" cy="584791"/>
              <a:chOff x="6425126" y="5498688"/>
              <a:chExt cx="1856181" cy="584791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F51950E-66A8-33EE-F64B-12438E448340}"/>
                  </a:ext>
                </a:extLst>
              </p:cNvPr>
              <p:cNvSpPr/>
              <p:nvPr/>
            </p:nvSpPr>
            <p:spPr>
              <a:xfrm>
                <a:off x="7052447" y="5498688"/>
                <a:ext cx="601539" cy="584791"/>
              </a:xfrm>
              <a:prstGeom prst="rect">
                <a:avLst/>
              </a:prstGeom>
              <a:solidFill>
                <a:srgbClr val="00A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2F69265E-C419-BACF-B81A-425956A930C7}"/>
                  </a:ext>
                </a:extLst>
              </p:cNvPr>
              <p:cNvCxnSpPr>
                <a:cxnSpLocks/>
                <a:endCxn id="48" idx="1"/>
              </p:cNvCxnSpPr>
              <p:nvPr/>
            </p:nvCxnSpPr>
            <p:spPr>
              <a:xfrm>
                <a:off x="6425126" y="5791083"/>
                <a:ext cx="627321" cy="1"/>
              </a:xfrm>
              <a:prstGeom prst="straightConnector1">
                <a:avLst/>
              </a:prstGeom>
              <a:ln w="25400">
                <a:solidFill>
                  <a:srgbClr val="5E5E5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9F175E7F-C9FD-1659-13C3-BF6F9405CB73}"/>
                  </a:ext>
                </a:extLst>
              </p:cNvPr>
              <p:cNvCxnSpPr/>
              <p:nvPr/>
            </p:nvCxnSpPr>
            <p:spPr>
              <a:xfrm>
                <a:off x="7653986" y="5791083"/>
                <a:ext cx="627321" cy="1"/>
              </a:xfrm>
              <a:prstGeom prst="straightConnector1">
                <a:avLst/>
              </a:prstGeom>
              <a:ln w="25400">
                <a:solidFill>
                  <a:srgbClr val="5E5E5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B860334-4167-0425-2F7E-08851EC2D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17629" y="5946362"/>
              <a:ext cx="2809875" cy="361950"/>
            </a:xfrm>
            <a:prstGeom prst="rect">
              <a:avLst/>
            </a:prstGeom>
          </p:spPr>
        </p:pic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E0B208BD-DECE-63A8-2E8B-0B768DD3C2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6270" y="4947114"/>
            <a:ext cx="772160" cy="21336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1FF2159-980E-565B-5BCF-2527BF7336C1}"/>
              </a:ext>
            </a:extLst>
          </p:cNvPr>
          <p:cNvSpPr txBox="1"/>
          <p:nvPr/>
        </p:nvSpPr>
        <p:spPr>
          <a:xfrm>
            <a:off x="9440900" y="1402575"/>
            <a:ext cx="1552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</a:t>
            </a:r>
            <a:r>
              <a:rPr lang="en-FR" sz="1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mbedding independent of the index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D0C1FF3E-BD88-149A-24ED-29FA2C312722}"/>
              </a:ext>
            </a:extLst>
          </p:cNvPr>
          <p:cNvCxnSpPr>
            <a:stCxn id="68" idx="1"/>
          </p:cNvCxnSpPr>
          <p:nvPr/>
        </p:nvCxnSpPr>
        <p:spPr>
          <a:xfrm rot="10800000" flipV="1">
            <a:off x="8981888" y="1771906"/>
            <a:ext cx="459012" cy="466303"/>
          </a:xfrm>
          <a:prstGeom prst="bentConnector2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6FCB7B7-F98A-EB8D-73CF-98E29ABAAD6B}"/>
              </a:ext>
            </a:extLst>
          </p:cNvPr>
          <p:cNvSpPr txBox="1"/>
          <p:nvPr/>
        </p:nvSpPr>
        <p:spPr>
          <a:xfrm>
            <a:off x="10217076" y="2918619"/>
            <a:ext cx="1552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preserves permutation-invariance</a:t>
            </a:r>
            <a:endParaRPr lang="en-FR" sz="1400" dirty="0">
              <a:solidFill>
                <a:srgbClr val="00B05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2D1E6B6A-1C26-13CE-7EB8-DC24E83090A3}"/>
              </a:ext>
            </a:extLst>
          </p:cNvPr>
          <p:cNvCxnSpPr>
            <a:cxnSpLocks/>
            <a:stCxn id="71" idx="1"/>
          </p:cNvCxnSpPr>
          <p:nvPr/>
        </p:nvCxnSpPr>
        <p:spPr>
          <a:xfrm rot="10800000" flipV="1">
            <a:off x="9782340" y="3287950"/>
            <a:ext cx="434737" cy="214161"/>
          </a:xfrm>
          <a:prstGeom prst="bentConnector3">
            <a:avLst>
              <a:gd name="adj1" fmla="val 99774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F6F56A35-23D9-FE61-2259-31DFF0733FFE}"/>
              </a:ext>
            </a:extLst>
          </p:cNvPr>
          <p:cNvSpPr/>
          <p:nvPr/>
        </p:nvSpPr>
        <p:spPr>
          <a:xfrm>
            <a:off x="6791562" y="3502112"/>
            <a:ext cx="583200" cy="583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078070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AA2C5-5127-FB2C-6FDC-B5D647B1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8AC4CE-8719-9EE1-3FB1-DA49D7DC5DC1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B59FA-CA19-61B7-1F3E-A28AD2202BA9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8B10BB-C389-AE37-8E34-069AD02FFF2C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7A999-537A-BC69-CD32-23720187B4AC}"/>
              </a:ext>
            </a:extLst>
          </p:cNvPr>
          <p:cNvSpPr txBox="1"/>
          <p:nvPr/>
        </p:nvSpPr>
        <p:spPr>
          <a:xfrm>
            <a:off x="240033" y="1720426"/>
            <a:ext cx="9073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we have two parameters to estimate :     and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D606F0-7B91-FF7C-B2CE-D844B506C782}"/>
              </a:ext>
            </a:extLst>
          </p:cNvPr>
          <p:cNvSpPr/>
          <p:nvPr/>
        </p:nvSpPr>
        <p:spPr>
          <a:xfrm>
            <a:off x="361244" y="1018231"/>
            <a:ext cx="5229932" cy="590550"/>
          </a:xfrm>
          <a:prstGeom prst="round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 OK, but how do we train a CNP?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2C34C3-E4FA-7888-9DF2-8726F1943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852" y="1863304"/>
            <a:ext cx="203200" cy="342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FDEA92-539E-3E5C-3856-CDE986581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90" y="1849016"/>
            <a:ext cx="254000" cy="419100"/>
          </a:xfrm>
          <a:prstGeom prst="rect">
            <a:avLst/>
          </a:prstGeom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1679128-5485-5FEA-8623-F986D118C24F}"/>
              </a:ext>
            </a:extLst>
          </p:cNvPr>
          <p:cNvCxnSpPr/>
          <p:nvPr/>
        </p:nvCxnSpPr>
        <p:spPr>
          <a:xfrm rot="10800000" flipV="1">
            <a:off x="6073775" y="2349082"/>
            <a:ext cx="781677" cy="428625"/>
          </a:xfrm>
          <a:prstGeom prst="bentConnector3">
            <a:avLst>
              <a:gd name="adj1" fmla="val 649"/>
            </a:avLst>
          </a:prstGeom>
          <a:ln w="25400">
            <a:solidFill>
              <a:srgbClr val="C0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A2F7AF-9C5A-158E-9748-FE4A5A5511D5}"/>
              </a:ext>
            </a:extLst>
          </p:cNvPr>
          <p:cNvSpPr txBox="1"/>
          <p:nvPr/>
        </p:nvSpPr>
        <p:spPr>
          <a:xfrm>
            <a:off x="2433035" y="2506116"/>
            <a:ext cx="3369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lang="en-FR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elated to the encoding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9CA965AC-0DE0-8853-C8C5-8B74265F04FD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73775" y="2506116"/>
            <a:ext cx="1619964" cy="779629"/>
          </a:xfrm>
          <a:prstGeom prst="bentConnector3">
            <a:avLst>
              <a:gd name="adj1" fmla="val 26"/>
            </a:avLst>
          </a:prstGeom>
          <a:ln w="25400">
            <a:solidFill>
              <a:srgbClr val="00B0F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6906AD-A5EC-C51E-583C-3C86534FB3DD}"/>
              </a:ext>
            </a:extLst>
          </p:cNvPr>
          <p:cNvSpPr txBox="1"/>
          <p:nvPr/>
        </p:nvSpPr>
        <p:spPr>
          <a:xfrm>
            <a:off x="2433035" y="3054912"/>
            <a:ext cx="3371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elated to the decoding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C5BE3D-CD5E-8C39-B0CA-2F9A8126DE76}"/>
              </a:ext>
            </a:extLst>
          </p:cNvPr>
          <p:cNvSpPr txBox="1"/>
          <p:nvPr/>
        </p:nvSpPr>
        <p:spPr>
          <a:xfrm>
            <a:off x="240033" y="3717492"/>
            <a:ext cx="102755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need a loss function depending on both parameters as per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that we can use gradient descent: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New question: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loss function to use then?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5CF3D8-ECE9-F100-DC22-15869D7DE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046" y="3888203"/>
            <a:ext cx="1056640" cy="3759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B6AA01-4413-4581-6940-A2F33C944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4496" y="4734015"/>
            <a:ext cx="5415280" cy="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10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8FA1A-2061-8246-D293-2154E20A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B995C64-299D-FAED-114D-93EDE93CA298}"/>
              </a:ext>
            </a:extLst>
          </p:cNvPr>
          <p:cNvSpPr/>
          <p:nvPr/>
        </p:nvSpPr>
        <p:spPr>
          <a:xfrm>
            <a:off x="576246" y="1105815"/>
            <a:ext cx="11031037" cy="2183363"/>
          </a:xfrm>
          <a:prstGeom prst="roundRect">
            <a:avLst/>
          </a:prstGeom>
          <a:solidFill>
            <a:schemeClr val="bg1">
              <a:alpha val="10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144CD1-010B-E984-A53A-876DC82369F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8BFD6-CE6C-E212-0210-E1EB82B47E7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301949-0BC2-5CF6-67BD-4CBCEB3FA8D1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A5D5737-9963-5D4E-B13B-BB46CEDDA088}"/>
              </a:ext>
            </a:extLst>
          </p:cNvPr>
          <p:cNvGrpSpPr/>
          <p:nvPr/>
        </p:nvGrpSpPr>
        <p:grpSpPr>
          <a:xfrm>
            <a:off x="1160964" y="1340174"/>
            <a:ext cx="10900407" cy="1692771"/>
            <a:chOff x="645796" y="1041598"/>
            <a:chExt cx="10900407" cy="16927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A0CD53-4774-8013-BEC3-41ADCB23B0BA}"/>
                </a:ext>
              </a:extLst>
            </p:cNvPr>
            <p:cNvSpPr txBox="1"/>
            <p:nvPr/>
          </p:nvSpPr>
          <p:spPr>
            <a:xfrm>
              <a:off x="645796" y="1041598"/>
              <a:ext cx="10900407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Suppose you have a model that outputs not just a prediction    ​  but a full Gaussian distribution                             for the values of                                     </a:t>
              </a:r>
            </a:p>
            <a:p>
              <a:pPr>
                <a:lnSpc>
                  <a:spcPct val="150000"/>
                </a:lnSpc>
              </a:pP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do you measure whether this predicted distribution is good or bad?</a:t>
              </a:r>
              <a:endPara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1E621D9-62DD-6040-A248-72F747732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4904" y="1220081"/>
              <a:ext cx="264160" cy="33528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69FE187-FAD4-F808-1AD0-9D196963A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2070" y="1826252"/>
              <a:ext cx="264160" cy="254000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58A8CEE-062B-0586-F605-C9E33C08E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8502" y="2020080"/>
            <a:ext cx="1971040" cy="41656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9368DD8-A2C2-B84F-FE68-052020C38894}"/>
              </a:ext>
            </a:extLst>
          </p:cNvPr>
          <p:cNvSpPr txBox="1"/>
          <p:nvPr/>
        </p:nvSpPr>
        <p:spPr>
          <a:xfrm>
            <a:off x="3037650" y="750013"/>
            <a:ext cx="6108228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New question: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loss function to use?</a:t>
            </a:r>
          </a:p>
        </p:txBody>
      </p:sp>
    </p:spTree>
    <p:extLst>
      <p:ext uri="{BB962C8B-B14F-4D97-AF65-F5344CB8AC3E}">
        <p14:creationId xmlns:p14="http://schemas.microsoft.com/office/powerpoint/2010/main" val="19019454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4598-FCDF-C7A3-45D3-26D16F72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A5C8903-2FCA-C648-0299-E71B5AAC62C6}"/>
              </a:ext>
            </a:extLst>
          </p:cNvPr>
          <p:cNvSpPr/>
          <p:nvPr/>
        </p:nvSpPr>
        <p:spPr>
          <a:xfrm>
            <a:off x="576246" y="1105815"/>
            <a:ext cx="11031037" cy="2183363"/>
          </a:xfrm>
          <a:prstGeom prst="roundRect">
            <a:avLst/>
          </a:prstGeom>
          <a:solidFill>
            <a:schemeClr val="bg1">
              <a:alpha val="10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1D0C2-4031-ADA6-9F33-CF84EFE367D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9E6CE2-3964-744F-8911-92C988D2271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028EF6-4870-EE8E-288C-9C2E8BB7433B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D422949-284B-AF37-C1B5-71C9A10DCA02}"/>
              </a:ext>
            </a:extLst>
          </p:cNvPr>
          <p:cNvGrpSpPr/>
          <p:nvPr/>
        </p:nvGrpSpPr>
        <p:grpSpPr>
          <a:xfrm>
            <a:off x="1160964" y="1340174"/>
            <a:ext cx="10900407" cy="1692771"/>
            <a:chOff x="645796" y="1041598"/>
            <a:chExt cx="10900407" cy="16927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CC6EAB-AFC5-2C0E-82FB-00F553B82DA3}"/>
                </a:ext>
              </a:extLst>
            </p:cNvPr>
            <p:cNvSpPr txBox="1"/>
            <p:nvPr/>
          </p:nvSpPr>
          <p:spPr>
            <a:xfrm>
              <a:off x="645796" y="1041598"/>
              <a:ext cx="10900407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Suppose you have a model that outputs not just a prediction    ​  but a full Gaussian distribution                             for the values of                                     </a:t>
              </a:r>
            </a:p>
            <a:p>
              <a:pPr>
                <a:lnSpc>
                  <a:spcPct val="150000"/>
                </a:lnSpc>
              </a:pPr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do you measure whether this predicted distribution is good or bad?</a:t>
              </a:r>
              <a:endPara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D40E5A-8BCE-174F-6D7A-8184CD860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4904" y="1220081"/>
              <a:ext cx="264160" cy="33528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512B28B-A339-4032-1821-57E3CAA0D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2070" y="1826252"/>
              <a:ext cx="264160" cy="25400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F30E884-28B3-0F9E-36A3-39BE38B2815A}"/>
              </a:ext>
            </a:extLst>
          </p:cNvPr>
          <p:cNvSpPr txBox="1"/>
          <p:nvPr/>
        </p:nvSpPr>
        <p:spPr>
          <a:xfrm>
            <a:off x="515167" y="3447661"/>
            <a:ext cx="1090040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 a point prediction this would be easy – compute the squared error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a whole distribution, we ask: how much probability did your distribution assign to the value that </a:t>
            </a:r>
            <a:r>
              <a:rPr lang="en-GB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actually happened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EC0AAE-21D7-AF2B-B706-D83FC86E4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4723" y="3584201"/>
            <a:ext cx="1432560" cy="4267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A2937A6-000E-D42B-A091-6152B7C136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910" y="5435900"/>
            <a:ext cx="6604000" cy="965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2731ABE-1609-302C-99C4-0B66BA5F35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8502" y="2020080"/>
            <a:ext cx="1971040" cy="41656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EDFCC2-5AE8-17C6-26CD-AE77207AE699}"/>
              </a:ext>
            </a:extLst>
          </p:cNvPr>
          <p:cNvCxnSpPr/>
          <p:nvPr/>
        </p:nvCxnSpPr>
        <p:spPr>
          <a:xfrm flipV="1">
            <a:off x="8146957" y="5435900"/>
            <a:ext cx="0" cy="37429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CFC2212-C923-F68F-EFC4-5850C9478243}"/>
              </a:ext>
            </a:extLst>
          </p:cNvPr>
          <p:cNvSpPr txBox="1"/>
          <p:nvPr/>
        </p:nvSpPr>
        <p:spPr>
          <a:xfrm>
            <a:off x="8274037" y="5435900"/>
            <a:ext cx="325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g</a:t>
            </a:r>
            <a:r>
              <a:rPr lang="en-FR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ood model for that data point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430388-0CD3-69D7-D49E-8F5F16D59C87}"/>
              </a:ext>
            </a:extLst>
          </p:cNvPr>
          <p:cNvCxnSpPr/>
          <p:nvPr/>
        </p:nvCxnSpPr>
        <p:spPr>
          <a:xfrm flipV="1">
            <a:off x="8146957" y="5996638"/>
            <a:ext cx="0" cy="374297"/>
          </a:xfrm>
          <a:prstGeom prst="straightConnector1">
            <a:avLst/>
          </a:prstGeom>
          <a:ln w="25400">
            <a:solidFill>
              <a:srgbClr val="C0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C17C05B-E791-8568-8541-6405DC10E193}"/>
              </a:ext>
            </a:extLst>
          </p:cNvPr>
          <p:cNvSpPr txBox="1"/>
          <p:nvPr/>
        </p:nvSpPr>
        <p:spPr>
          <a:xfrm>
            <a:off x="8274037" y="5996638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bad</a:t>
            </a:r>
            <a:r>
              <a:rPr lang="en-FR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model for that data point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72A62A-509E-C652-2EDB-AB3D90B8C4A7}"/>
              </a:ext>
            </a:extLst>
          </p:cNvPr>
          <p:cNvSpPr txBox="1"/>
          <p:nvPr/>
        </p:nvSpPr>
        <p:spPr>
          <a:xfrm>
            <a:off x="3037650" y="750013"/>
            <a:ext cx="6108228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New question: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loss function to use?</a:t>
            </a:r>
          </a:p>
        </p:txBody>
      </p:sp>
    </p:spTree>
    <p:extLst>
      <p:ext uri="{BB962C8B-B14F-4D97-AF65-F5344CB8AC3E}">
        <p14:creationId xmlns:p14="http://schemas.microsoft.com/office/powerpoint/2010/main" val="4783609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A36E-7E1A-FF7A-B249-69A69B2B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04AFFB-3287-E754-02C4-4CC32C242BA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752D4-CADA-97FA-D407-A0625A0742FC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34D199-373B-06D8-1273-8EC11CAF030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789C42-7CC9-881D-D473-22E6591CD79B}"/>
              </a:ext>
            </a:extLst>
          </p:cNvPr>
          <p:cNvSpPr txBox="1"/>
          <p:nvPr/>
        </p:nvSpPr>
        <p:spPr>
          <a:xfrm>
            <a:off x="3037650" y="750013"/>
            <a:ext cx="6108228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New question: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loss function to use?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5F767-3D37-88A2-869E-73FBD8BE0853}"/>
              </a:ext>
            </a:extLst>
          </p:cNvPr>
          <p:cNvSpPr txBox="1"/>
          <p:nvPr/>
        </p:nvSpPr>
        <p:spPr>
          <a:xfrm>
            <a:off x="515167" y="1545193"/>
            <a:ext cx="1090040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a dataset containing several IID query points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write the loss function 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EE040-BFED-423F-E3E2-E2A54D0CA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408" y="1517483"/>
            <a:ext cx="2783840" cy="772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266359-B339-91C0-6E0B-7CDC2B1CF556}"/>
              </a:ext>
            </a:extLst>
          </p:cNvPr>
          <p:cNvSpPr txBox="1"/>
          <p:nvPr/>
        </p:nvSpPr>
        <p:spPr>
          <a:xfrm>
            <a:off x="638086" y="3991638"/>
            <a:ext cx="10900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(N</a:t>
            </a:r>
            <a:r>
              <a:rPr lang="en-FR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ote that the parameters being opimized appear impliclity in the calcuation of the means and variances)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792658-8059-3D4A-5FC1-85CA8B80B375}"/>
              </a:ext>
            </a:extLst>
          </p:cNvPr>
          <p:cNvGrpSpPr/>
          <p:nvPr/>
        </p:nvGrpSpPr>
        <p:grpSpPr>
          <a:xfrm>
            <a:off x="1277711" y="2806896"/>
            <a:ext cx="9636578" cy="1093004"/>
            <a:chOff x="1154792" y="2956285"/>
            <a:chExt cx="9636578" cy="1093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F46C252-B455-D42D-D289-7994D0B9D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4792" y="2956285"/>
              <a:ext cx="3799840" cy="10769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599AED-63B2-9D9E-4C31-B8BB04CE9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5370" y="2972329"/>
              <a:ext cx="4826000" cy="107696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28A9022-2751-0080-9862-EB2BE521E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7751" y="3377459"/>
              <a:ext cx="444500" cy="26670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6C1120D-C890-145E-3467-A62F0882DD82}"/>
              </a:ext>
            </a:extLst>
          </p:cNvPr>
          <p:cNvSpPr txBox="1"/>
          <p:nvPr/>
        </p:nvSpPr>
        <p:spPr>
          <a:xfrm>
            <a:off x="515166" y="4452708"/>
            <a:ext cx="10900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specifically for the Gaussian model case we get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BF7D607-91C1-999A-7361-07E394886B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0" y="5340517"/>
            <a:ext cx="6400800" cy="10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23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9262-D47A-03A2-C1D6-372F4B1F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DD0CDA-089B-9DC1-F273-98F27F6867C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87A3A-F35D-8A38-715F-1FAFF8B7BBD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A06896-89C8-64CA-F0A1-22D2A21B91B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5FFDE0-7684-328E-7FBD-74090AE1ECE4}"/>
              </a:ext>
            </a:extLst>
          </p:cNvPr>
          <p:cNvSpPr txBox="1"/>
          <p:nvPr/>
        </p:nvSpPr>
        <p:spPr>
          <a:xfrm>
            <a:off x="5828033" y="992831"/>
            <a:ext cx="5229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use a </a:t>
            </a: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meta-learning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procedure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0D3FEF-0BA9-962B-079F-D9E5F4E90E26}"/>
              </a:ext>
            </a:extLst>
          </p:cNvPr>
          <p:cNvSpPr/>
          <p:nvPr/>
        </p:nvSpPr>
        <p:spPr>
          <a:xfrm>
            <a:off x="361244" y="1018231"/>
            <a:ext cx="5229932" cy="590550"/>
          </a:xfrm>
          <a:prstGeom prst="round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Q: OK, but how do we train a CNP?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82EEB1-BF34-A313-9B5B-A6FBAFD6E2B2}"/>
              </a:ext>
            </a:extLst>
          </p:cNvPr>
          <p:cNvSpPr/>
          <p:nvPr/>
        </p:nvSpPr>
        <p:spPr>
          <a:xfrm>
            <a:off x="935753" y="1965637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9FCDED-F38F-6255-E28E-4D81BC4E7374}"/>
              </a:ext>
            </a:extLst>
          </p:cNvPr>
          <p:cNvSpPr/>
          <p:nvPr/>
        </p:nvSpPr>
        <p:spPr>
          <a:xfrm>
            <a:off x="935753" y="2557980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1E855D-F5D0-5BDD-C8AC-292272E3BAEA}"/>
              </a:ext>
            </a:extLst>
          </p:cNvPr>
          <p:cNvSpPr/>
          <p:nvPr/>
        </p:nvSpPr>
        <p:spPr>
          <a:xfrm>
            <a:off x="938262" y="3150323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715100-2EC8-30AE-CC30-61FB497405BB}"/>
              </a:ext>
            </a:extLst>
          </p:cNvPr>
          <p:cNvSpPr/>
          <p:nvPr/>
        </p:nvSpPr>
        <p:spPr>
          <a:xfrm>
            <a:off x="935753" y="3742666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349AE8-8AD0-50D1-D2D5-AE4C38D23C8F}"/>
              </a:ext>
            </a:extLst>
          </p:cNvPr>
          <p:cNvSpPr/>
          <p:nvPr/>
        </p:nvSpPr>
        <p:spPr>
          <a:xfrm>
            <a:off x="935753" y="4335009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E2AA67-A63C-FAF4-82FC-D83E94FEF7C3}"/>
              </a:ext>
            </a:extLst>
          </p:cNvPr>
          <p:cNvSpPr txBox="1"/>
          <p:nvPr/>
        </p:nvSpPr>
        <p:spPr>
          <a:xfrm>
            <a:off x="1454185" y="1931521"/>
            <a:ext cx="775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Sample a function from a meta-training distribution, e.g.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40EAA5-0090-0AF0-66CC-ACF70653C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233" y="2018988"/>
            <a:ext cx="1760220" cy="3289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890C3F-038B-52A2-CAB1-F81FE1DFD232}"/>
              </a:ext>
            </a:extLst>
          </p:cNvPr>
          <p:cNvSpPr txBox="1"/>
          <p:nvPr/>
        </p:nvSpPr>
        <p:spPr>
          <a:xfrm>
            <a:off x="1473253" y="2523730"/>
            <a:ext cx="5344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Sample N input locations and evaluate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C290332-C1E3-2282-F1E8-D94867F28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986" y="2599600"/>
            <a:ext cx="2009140" cy="32893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F1670B-6298-B251-D3F9-C81BE47D776C}"/>
              </a:ext>
            </a:extLst>
          </p:cNvPr>
          <p:cNvSpPr txBox="1"/>
          <p:nvPr/>
        </p:nvSpPr>
        <p:spPr>
          <a:xfrm>
            <a:off x="1473253" y="3115939"/>
            <a:ext cx="6740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Randomly split into context set     and target set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AC1E995-87A7-4F12-EFA0-14F21467C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154" y="3222492"/>
            <a:ext cx="177800" cy="24003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DEB7661-743D-77DA-B84B-C37A58E616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226" y="3213602"/>
            <a:ext cx="266700" cy="25781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F0C44CB-C030-640B-BAE9-EF8972B6BECE}"/>
              </a:ext>
            </a:extLst>
          </p:cNvPr>
          <p:cNvSpPr txBox="1"/>
          <p:nvPr/>
        </p:nvSpPr>
        <p:spPr>
          <a:xfrm>
            <a:off x="1473253" y="3708148"/>
            <a:ext cx="9728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Run the CNP forward pass on the context to obtain a                for each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B88C39A-9A65-39F5-E4A9-A8DB40E1D7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1677" y="3786341"/>
            <a:ext cx="977900" cy="3378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B2E271B-5501-EC18-E6C8-47C411CEC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7038" y="3786204"/>
            <a:ext cx="969010" cy="32893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29F0BF7-F513-F18F-CA4D-54C922408DC0}"/>
              </a:ext>
            </a:extLst>
          </p:cNvPr>
          <p:cNvSpPr txBox="1"/>
          <p:nvPr/>
        </p:nvSpPr>
        <p:spPr>
          <a:xfrm>
            <a:off x="1473253" y="4275548"/>
            <a:ext cx="5620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Compute the negative log-likelihood loss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4479480-FF42-5FB8-EAB9-2F6731E87C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0159" y="4951086"/>
            <a:ext cx="5600700" cy="9423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3ADAB3B-7E92-DDD0-7622-A966546D2D34}"/>
              </a:ext>
            </a:extLst>
          </p:cNvPr>
          <p:cNvSpPr/>
          <p:nvPr/>
        </p:nvSpPr>
        <p:spPr>
          <a:xfrm>
            <a:off x="935753" y="6140256"/>
            <a:ext cx="393700" cy="3937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72B087-E6A7-7D1D-A1FF-2E6D979DCC4C}"/>
              </a:ext>
            </a:extLst>
          </p:cNvPr>
          <p:cNvSpPr txBox="1"/>
          <p:nvPr/>
        </p:nvSpPr>
        <p:spPr>
          <a:xfrm>
            <a:off x="1473253" y="6080795"/>
            <a:ext cx="761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Calculate the gradient of the loss and do a gradient step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2C374556-E636-0118-A6FD-5254B3D651DF}"/>
              </a:ext>
            </a:extLst>
          </p:cNvPr>
          <p:cNvCxnSpPr>
            <a:cxnSpLocks/>
            <a:stCxn id="35" idx="2"/>
          </p:cNvCxnSpPr>
          <p:nvPr/>
        </p:nvCxnSpPr>
        <p:spPr>
          <a:xfrm rot="10800000">
            <a:off x="657461" y="2129528"/>
            <a:ext cx="278292" cy="4207578"/>
          </a:xfrm>
          <a:prstGeom prst="bentConnector2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B83D752-66B5-63E0-99DD-74E13E8F4B88}"/>
              </a:ext>
            </a:extLst>
          </p:cNvPr>
          <p:cNvCxnSpPr/>
          <p:nvPr/>
        </p:nvCxnSpPr>
        <p:spPr>
          <a:xfrm>
            <a:off x="643675" y="2129528"/>
            <a:ext cx="229307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846424F-D4E8-934D-09E7-414BE2757F72}"/>
              </a:ext>
            </a:extLst>
          </p:cNvPr>
          <p:cNvSpPr txBox="1"/>
          <p:nvPr/>
        </p:nvSpPr>
        <p:spPr>
          <a:xfrm rot="16200000">
            <a:off x="-1120733" y="4090881"/>
            <a:ext cx="3068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run several episodes like this</a:t>
            </a:r>
            <a:endParaRPr lang="en-FR" dirty="0">
              <a:solidFill>
                <a:srgbClr val="00B050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3024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0D600-950A-474B-F5D5-18AB901E8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5A2E1A-8B37-3D24-30F7-51F27DEB811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8DA0A-E367-944F-89BA-4F90FB0598A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05FFF6-5F56-E077-4AEF-4C2A860F774F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734BC-3F43-A119-83FC-E1DDBCB267C5}"/>
              </a:ext>
            </a:extLst>
          </p:cNvPr>
          <p:cNvSpPr txBox="1"/>
          <p:nvPr/>
        </p:nvSpPr>
        <p:spPr>
          <a:xfrm>
            <a:off x="240033" y="763428"/>
            <a:ext cx="1167292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After millions (!) of steps in the meta-learning procedure, the network will have learned a general strategy for predicting functions from partial observations in a context.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72217A9-6403-CBA1-5EC6-009BBA6CA8D8}"/>
              </a:ext>
            </a:extLst>
          </p:cNvPr>
          <p:cNvGrpSpPr/>
          <p:nvPr/>
        </p:nvGrpSpPr>
        <p:grpSpPr>
          <a:xfrm>
            <a:off x="1399056" y="2181691"/>
            <a:ext cx="9354876" cy="3452399"/>
            <a:chOff x="1205565" y="2128354"/>
            <a:chExt cx="9354876" cy="345239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E3CCBA0-FC8C-6417-714D-CC7080F12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71484" y="4640274"/>
              <a:ext cx="1552575" cy="352425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E14EC35-2063-28B3-9670-895CAB95C7B6}"/>
                </a:ext>
              </a:extLst>
            </p:cNvPr>
            <p:cNvGrpSpPr/>
            <p:nvPr/>
          </p:nvGrpSpPr>
          <p:grpSpPr>
            <a:xfrm>
              <a:off x="1205565" y="2129007"/>
              <a:ext cx="4488569" cy="981666"/>
              <a:chOff x="240033" y="4190409"/>
              <a:chExt cx="4488569" cy="981666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3F79196B-E48D-00C5-3858-2AAAE888D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314" y="4611613"/>
                <a:ext cx="3981450" cy="352425"/>
              </a:xfrm>
              <a:prstGeom prst="rect">
                <a:avLst/>
              </a:prstGeom>
            </p:spPr>
          </p:pic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82ABE9BB-4500-8DDC-3B2F-29C99C6BAACD}"/>
                  </a:ext>
                </a:extLst>
              </p:cNvPr>
              <p:cNvSpPr/>
              <p:nvPr/>
            </p:nvSpPr>
            <p:spPr>
              <a:xfrm>
                <a:off x="240033" y="4391025"/>
                <a:ext cx="4488569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87F5609-68FA-47AB-43E8-A97B6CFC8517}"/>
                  </a:ext>
                </a:extLst>
              </p:cNvPr>
              <p:cNvSpPr/>
              <p:nvPr/>
            </p:nvSpPr>
            <p:spPr>
              <a:xfrm>
                <a:off x="1809807" y="4212667"/>
                <a:ext cx="1389561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56CC34-D5F2-C14A-DDF2-391367E2B3B6}"/>
                  </a:ext>
                </a:extLst>
              </p:cNvPr>
              <p:cNvSpPr txBox="1"/>
              <p:nvPr/>
            </p:nvSpPr>
            <p:spPr>
              <a:xfrm>
                <a:off x="1828857" y="4190409"/>
                <a:ext cx="1338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r>
                  <a:rPr lang="en-FR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ontext set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7CACBEC-5ECF-5BCD-CA4A-902626D16908}"/>
                </a:ext>
              </a:extLst>
            </p:cNvPr>
            <p:cNvGrpSpPr/>
            <p:nvPr/>
          </p:nvGrpSpPr>
          <p:grpSpPr>
            <a:xfrm>
              <a:off x="6173950" y="2128354"/>
              <a:ext cx="1811978" cy="982319"/>
              <a:chOff x="5095876" y="5413446"/>
              <a:chExt cx="1811978" cy="982319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4EDB6FCF-2860-2420-E888-6753EBCA7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2751" y="5838104"/>
                <a:ext cx="1038225" cy="352425"/>
              </a:xfrm>
              <a:prstGeom prst="rect">
                <a:avLst/>
              </a:prstGeom>
            </p:spPr>
          </p:pic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012B181C-71EC-5D84-1496-62551CFFBC3F}"/>
                  </a:ext>
                </a:extLst>
              </p:cNvPr>
              <p:cNvSpPr/>
              <p:nvPr/>
            </p:nvSpPr>
            <p:spPr>
              <a:xfrm>
                <a:off x="5095876" y="5614715"/>
                <a:ext cx="1811978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65B63EB-90DC-4CDF-5F8F-F1E465AFF852}"/>
                  </a:ext>
                </a:extLst>
              </p:cNvPr>
              <p:cNvSpPr/>
              <p:nvPr/>
            </p:nvSpPr>
            <p:spPr>
              <a:xfrm>
                <a:off x="5307421" y="5446017"/>
                <a:ext cx="1388887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C0A852C-9224-434C-67CA-79FC8CEB362B}"/>
                  </a:ext>
                </a:extLst>
              </p:cNvPr>
              <p:cNvSpPr txBox="1"/>
              <p:nvPr/>
            </p:nvSpPr>
            <p:spPr>
              <a:xfrm>
                <a:off x="5307422" y="5413446"/>
                <a:ext cx="1388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query point</a:t>
                </a:r>
                <a:endParaRPr lang="en-FR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26614A4-DEFB-7876-DC23-81B215ACF3F2}"/>
                </a:ext>
              </a:extLst>
            </p:cNvPr>
            <p:cNvSpPr/>
            <p:nvPr/>
          </p:nvSpPr>
          <p:spPr>
            <a:xfrm>
              <a:off x="8535103" y="4425962"/>
              <a:ext cx="2025338" cy="78105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43E7242-E626-095C-103D-B2EA2D3E3933}"/>
                </a:ext>
              </a:extLst>
            </p:cNvPr>
            <p:cNvSpPr/>
            <p:nvPr/>
          </p:nvSpPr>
          <p:spPr>
            <a:xfrm>
              <a:off x="9216884" y="4249987"/>
              <a:ext cx="635110" cy="359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86F704E-326E-4D30-209B-898D656A0AD4}"/>
                </a:ext>
              </a:extLst>
            </p:cNvPr>
            <p:cNvSpPr txBox="1"/>
            <p:nvPr/>
          </p:nvSpPr>
          <p:spPr>
            <a:xfrm>
              <a:off x="9229763" y="4235158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PPD</a:t>
              </a:r>
              <a:endParaRPr lang="en-FR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448D252B-14B7-E665-D271-FF32A9005BFB}"/>
                </a:ext>
              </a:extLst>
            </p:cNvPr>
            <p:cNvCxnSpPr>
              <a:cxnSpLocks/>
              <a:stCxn id="45" idx="2"/>
              <a:endCxn id="57" idx="0"/>
            </p:cNvCxnSpPr>
            <p:nvPr/>
          </p:nvCxnSpPr>
          <p:spPr>
            <a:xfrm rot="5400000">
              <a:off x="6371031" y="3819579"/>
              <a:ext cx="1417814" cy="2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8C1DDFD-F912-69C7-38BC-33146DDC05CC}"/>
                </a:ext>
              </a:extLst>
            </p:cNvPr>
            <p:cNvCxnSpPr>
              <a:cxnSpLocks/>
              <a:stCxn id="57" idx="3"/>
              <a:endCxn id="22" idx="1"/>
            </p:cNvCxnSpPr>
            <p:nvPr/>
          </p:nvCxnSpPr>
          <p:spPr>
            <a:xfrm flipV="1">
              <a:off x="7370853" y="4816487"/>
              <a:ext cx="1164250" cy="180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98EB94-BC3C-BE8A-FB88-C9116B44489A}"/>
                </a:ext>
              </a:extLst>
            </p:cNvPr>
            <p:cNvSpPr/>
            <p:nvPr/>
          </p:nvSpPr>
          <p:spPr>
            <a:xfrm>
              <a:off x="4611418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13A80B5-02C3-A2DF-D98C-3B9FC8FCB0D1}"/>
                </a:ext>
              </a:extLst>
            </p:cNvPr>
            <p:cNvSpPr/>
            <p:nvPr/>
          </p:nvSpPr>
          <p:spPr>
            <a:xfrm>
              <a:off x="2648589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5C86CFD-C25A-90F9-34A7-4E3D37D297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89020" y="4528487"/>
              <a:ext cx="581833" cy="579600"/>
            </a:xfrm>
            <a:prstGeom prst="rect">
              <a:avLst/>
            </a:prstGeom>
            <a:solidFill>
              <a:srgbClr val="00A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96EDB78-A379-26C6-9D51-90C23080F959}"/>
                </a:ext>
              </a:extLst>
            </p:cNvPr>
            <p:cNvCxnSpPr>
              <a:endCxn id="54" idx="0"/>
            </p:cNvCxnSpPr>
            <p:nvPr/>
          </p:nvCxnSpPr>
          <p:spPr>
            <a:xfrm flipH="1">
              <a:off x="4757218" y="3110673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5CFBB3F-9050-EBAD-BFBF-BA7D52D80B9F}"/>
                </a:ext>
              </a:extLst>
            </p:cNvPr>
            <p:cNvCxnSpPr/>
            <p:nvPr/>
          </p:nvCxnSpPr>
          <p:spPr>
            <a:xfrm flipH="1">
              <a:off x="2797328" y="3121748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85CCD45-C50C-61C7-EAD0-BFA35D8A2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6089" y="3634185"/>
              <a:ext cx="266700" cy="219075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ECB0E6A-9B09-0FF7-2583-A9AEF2C4F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91447" y="3634185"/>
              <a:ext cx="314325" cy="209550"/>
            </a:xfrm>
            <a:prstGeom prst="rect">
              <a:avLst/>
            </a:prstGeom>
          </p:spPr>
        </p:pic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D83BE0F-9B8C-B13E-99CD-AC73AAA81C36}"/>
                </a:ext>
              </a:extLst>
            </p:cNvPr>
            <p:cNvSpPr/>
            <p:nvPr/>
          </p:nvSpPr>
          <p:spPr>
            <a:xfrm>
              <a:off x="3444571" y="4524887"/>
              <a:ext cx="583200" cy="583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8EC2DFC-09AA-04D5-EDA5-B7866D6518EC}"/>
                </a:ext>
              </a:extLst>
            </p:cNvPr>
            <p:cNvCxnSpPr>
              <a:cxnSpLocks/>
              <a:stCxn id="54" idx="2"/>
              <a:endCxn id="64" idx="7"/>
            </p:cNvCxnSpPr>
            <p:nvPr/>
          </p:nvCxnSpPr>
          <p:spPr>
            <a:xfrm flipH="1">
              <a:off x="3942363" y="3890035"/>
              <a:ext cx="814855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C7DF433-F05D-FCA8-E98B-85657796F1A7}"/>
                </a:ext>
              </a:extLst>
            </p:cNvPr>
            <p:cNvCxnSpPr>
              <a:cxnSpLocks/>
              <a:stCxn id="56" idx="2"/>
              <a:endCxn id="64" idx="1"/>
            </p:cNvCxnSpPr>
            <p:nvPr/>
          </p:nvCxnSpPr>
          <p:spPr>
            <a:xfrm>
              <a:off x="2794389" y="3890035"/>
              <a:ext cx="735590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FD8441D8-137C-4268-2561-CF5DE6C32657}"/>
                </a:ext>
              </a:extLst>
            </p:cNvPr>
            <p:cNvCxnSpPr>
              <a:cxnSpLocks/>
              <a:stCxn id="64" idx="6"/>
              <a:endCxn id="57" idx="1"/>
            </p:cNvCxnSpPr>
            <p:nvPr/>
          </p:nvCxnSpPr>
          <p:spPr>
            <a:xfrm>
              <a:off x="4027771" y="4816487"/>
              <a:ext cx="2761249" cy="180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D1F9697-2BD7-5079-B7FB-BB4DA6E82B64}"/>
                </a:ext>
              </a:extLst>
            </p:cNvPr>
            <p:cNvSpPr txBox="1"/>
            <p:nvPr/>
          </p:nvSpPr>
          <p:spPr>
            <a:xfrm>
              <a:off x="6586583" y="5211421"/>
              <a:ext cx="1003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00A2FF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decoder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70C8CA5-E00C-F513-1E6E-5398D264BAB5}"/>
                </a:ext>
              </a:extLst>
            </p:cNvPr>
            <p:cNvSpPr txBox="1"/>
            <p:nvPr/>
          </p:nvSpPr>
          <p:spPr>
            <a:xfrm>
              <a:off x="3039506" y="5187233"/>
              <a:ext cx="1393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aggregation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902BC4F-FC40-3AC1-C2A4-31BC39D54024}"/>
                </a:ext>
              </a:extLst>
            </p:cNvPr>
            <p:cNvSpPr txBox="1"/>
            <p:nvPr/>
          </p:nvSpPr>
          <p:spPr>
            <a:xfrm>
              <a:off x="4918205" y="3554294"/>
              <a:ext cx="1002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C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encoder</a:t>
              </a: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4FFE5C9-A3E0-559C-40AD-3399FA05EAA5}"/>
              </a:ext>
            </a:extLst>
          </p:cNvPr>
          <p:cNvSpPr txBox="1"/>
          <p:nvPr/>
        </p:nvSpPr>
        <p:spPr>
          <a:xfrm>
            <a:off x="240032" y="5841864"/>
            <a:ext cx="11672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Compared to a GP, we have a O(n) complexity and a supervised data-driven kernel</a:t>
            </a:r>
          </a:p>
        </p:txBody>
      </p:sp>
    </p:spTree>
    <p:extLst>
      <p:ext uri="{BB962C8B-B14F-4D97-AF65-F5344CB8AC3E}">
        <p14:creationId xmlns:p14="http://schemas.microsoft.com/office/powerpoint/2010/main" val="28831451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12A14-C751-B518-8085-5201B7FA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97C5E7-AA5A-5E49-9722-1727F2094E9D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781CF3-8EDC-33F6-CDA5-E3D62092DDB6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6B30A2-9A22-5CA5-184A-CD7747B10B8B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4" name="Picture 3" descr="A graph of a line&#10;&#10;AI-generated content may be incorrect.">
            <a:extLst>
              <a:ext uri="{FF2B5EF4-FFF2-40B4-BE49-F238E27FC236}">
                <a16:creationId xmlns:a16="http://schemas.microsoft.com/office/drawing/2014/main" id="{8BBAE4A9-7C6E-B91B-B56F-16D5DF1D5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70" y="1259879"/>
            <a:ext cx="11746860" cy="43382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15ADF7-0C85-EA37-8B50-782E00E02E37}"/>
              </a:ext>
            </a:extLst>
          </p:cNvPr>
          <p:cNvSpPr txBox="1"/>
          <p:nvPr/>
        </p:nvSpPr>
        <p:spPr>
          <a:xfrm>
            <a:off x="2370460" y="6050595"/>
            <a:ext cx="745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  <a:r>
              <a:rPr lang="en-FR" dirty="0"/>
              <a:t>eference: </a:t>
            </a:r>
            <a:r>
              <a:rPr lang="en-GB" dirty="0">
                <a:hlinkClick r:id="rId4"/>
              </a:rPr>
              <a:t>https://yanndubs.github.io/Neural-Process-Family/text/CNPF.html</a:t>
            </a:r>
            <a:r>
              <a:rPr lang="en-GB" dirty="0"/>
              <a:t> 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6022574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B4DCB-6393-BDC3-75BE-6D982994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D01195-0745-7FE0-3252-E6652F532E1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562FF-8AAB-51DD-6BFD-26D2F816A294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neural processes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8577AD-E7F4-1483-C436-8A1FD520295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A825D-E41C-5E28-20B9-A9A86F3E288F}"/>
              </a:ext>
            </a:extLst>
          </p:cNvPr>
          <p:cNvSpPr txBox="1"/>
          <p:nvPr/>
        </p:nvSpPr>
        <p:spPr>
          <a:xfrm>
            <a:off x="2370460" y="6050595"/>
            <a:ext cx="745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  <a:r>
              <a:rPr lang="en-FR" dirty="0"/>
              <a:t>eference: </a:t>
            </a:r>
            <a:r>
              <a:rPr lang="en-GB" dirty="0">
                <a:hlinkClick r:id="rId3"/>
              </a:rPr>
              <a:t>https://yanndubs.github.io/Neural-Process-Family/text/CNPF.html</a:t>
            </a:r>
            <a:r>
              <a:rPr lang="en-GB" dirty="0"/>
              <a:t> </a:t>
            </a:r>
            <a:endParaRPr lang="en-FR" dirty="0"/>
          </a:p>
        </p:txBody>
      </p:sp>
      <p:pic>
        <p:nvPicPr>
          <p:cNvPr id="7" name="Picture 6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5D2F4DD7-209A-C68A-920C-6F2AC97E5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00" y="1260000"/>
            <a:ext cx="11719560" cy="43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777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BDC99-AF89-5123-AD8F-9AA20586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DF7435-4870-3B16-4911-1191ACC1E80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64036DC7-3475-23C6-DA67-FF691DC33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203" y="5487976"/>
            <a:ext cx="1083311" cy="1083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43AEE-615C-E30A-C53D-E63BC4A2B80B}"/>
              </a:ext>
            </a:extLst>
          </p:cNvPr>
          <p:cNvSpPr txBox="1"/>
          <p:nvPr/>
        </p:nvSpPr>
        <p:spPr>
          <a:xfrm>
            <a:off x="1972916" y="1146570"/>
            <a:ext cx="82461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Introduction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point prediction to distributions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processes</a:t>
            </a:r>
          </a:p>
          <a:p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(Conditional) neural processes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36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36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</p:spTree>
    <p:extLst>
      <p:ext uri="{BB962C8B-B14F-4D97-AF65-F5344CB8AC3E}">
        <p14:creationId xmlns:p14="http://schemas.microsoft.com/office/powerpoint/2010/main" val="6029383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4E956-B26F-BDED-27CA-9E87418B8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DBDC10-D919-7DA9-1ABE-6E1D9404C441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35E59-3620-20C8-EDD1-853AF20A1AF4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188036-2E92-454B-699E-E8298240734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D34A3-1BD1-3A77-3688-F84CF4D24AAB}"/>
              </a:ext>
            </a:extLst>
          </p:cNvPr>
          <p:cNvSpPr txBox="1"/>
          <p:nvPr/>
        </p:nvSpPr>
        <p:spPr>
          <a:xfrm>
            <a:off x="240033" y="763428"/>
            <a:ext cx="11565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Despite their elegance, conditional neural processes have important weaknesses</a:t>
            </a:r>
          </a:p>
        </p:txBody>
      </p:sp>
    </p:spTree>
    <p:extLst>
      <p:ext uri="{BB962C8B-B14F-4D97-AF65-F5344CB8AC3E}">
        <p14:creationId xmlns:p14="http://schemas.microsoft.com/office/powerpoint/2010/main" val="7309011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33388-E57D-A945-5199-7FD8ECC2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9BC506-0751-A898-4843-39AADA18BA0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3A777-7F8A-F4BD-A095-A5BA8B48D742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630C68-222E-D32C-E535-01660459487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36A7E-B4F4-CB19-1BF7-F97CFA8EEAE3}"/>
              </a:ext>
            </a:extLst>
          </p:cNvPr>
          <p:cNvSpPr txBox="1"/>
          <p:nvPr/>
        </p:nvSpPr>
        <p:spPr>
          <a:xfrm>
            <a:off x="240033" y="763428"/>
            <a:ext cx="11565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Despite their elegance, conditional neural processes have important weaknesses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Lossy aggregator:</a:t>
            </a:r>
            <a:r>
              <a:rPr lang="en-FR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mean pooling throws away all information about which y came from which x. If two context points have very different y values at nearby x locations, the mean r cannot represent this. The model underfits local structure.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7CB22A-1788-9F10-6ABC-3F787ECC6F1C}"/>
              </a:ext>
            </a:extLst>
          </p:cNvPr>
          <p:cNvSpPr/>
          <p:nvPr/>
        </p:nvSpPr>
        <p:spPr>
          <a:xfrm>
            <a:off x="169762" y="1468704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F58BDE-DEFF-A201-4927-D60D8564B142}"/>
              </a:ext>
            </a:extLst>
          </p:cNvPr>
          <p:cNvGrpSpPr/>
          <p:nvPr/>
        </p:nvGrpSpPr>
        <p:grpSpPr>
          <a:xfrm>
            <a:off x="1205686" y="3150887"/>
            <a:ext cx="9780628" cy="1504538"/>
            <a:chOff x="1197968" y="3429000"/>
            <a:chExt cx="9780628" cy="15045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9B6AFF-530B-1A24-337A-046ED43CB155}"/>
                </a:ext>
              </a:extLst>
            </p:cNvPr>
            <p:cNvSpPr txBox="1"/>
            <p:nvPr/>
          </p:nvSpPr>
          <p:spPr>
            <a:xfrm>
              <a:off x="1197968" y="3676238"/>
              <a:ext cx="350993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b="1" dirty="0">
                  <a:solidFill>
                    <a:srgbClr val="00B050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Aggregator</a:t>
              </a:r>
            </a:p>
            <a:p>
              <a:r>
                <a:rPr lang="en-FR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individual representations</a:t>
              </a:r>
            </a:p>
            <a:p>
              <a:r>
                <a:rPr lang="en-GB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a</a:t>
              </a:r>
              <a:r>
                <a:rPr lang="en-FR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re averaged into a single global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9A5CE88-AA4D-AE16-B889-4D8849870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4240" y="4304093"/>
              <a:ext cx="627321" cy="795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4EB2FD6-6B13-5BA0-D0F1-5A1F7B32C01C}"/>
                </a:ext>
              </a:extLst>
            </p:cNvPr>
            <p:cNvCxnSpPr/>
            <p:nvPr/>
          </p:nvCxnSpPr>
          <p:spPr>
            <a:xfrm>
              <a:off x="6593100" y="4304888"/>
              <a:ext cx="627321" cy="1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D986B4-62EB-2BFF-80D0-5CE65F2C3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7791" y="3676238"/>
              <a:ext cx="314325" cy="12573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85F9E1-E7C8-119C-A2D4-68495EC8F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2545" y="3833400"/>
              <a:ext cx="1752600" cy="94297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0E68AE-4E3C-4D42-F093-FE47B84D976B}"/>
                </a:ext>
              </a:extLst>
            </p:cNvPr>
            <p:cNvSpPr txBox="1"/>
            <p:nvPr/>
          </p:nvSpPr>
          <p:spPr>
            <a:xfrm>
              <a:off x="9426244" y="3429000"/>
              <a:ext cx="15523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preserves permutation-invariance</a:t>
              </a:r>
              <a:endParaRPr lang="en-FR" sz="1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4" name="Elbow Connector 13">
              <a:extLst>
                <a:ext uri="{FF2B5EF4-FFF2-40B4-BE49-F238E27FC236}">
                  <a16:creationId xmlns:a16="http://schemas.microsoft.com/office/drawing/2014/main" id="{7E5C3059-856D-F258-45BB-CF63A42ABC20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rot="10800000" flipV="1">
              <a:off x="8991508" y="3798331"/>
              <a:ext cx="434737" cy="214161"/>
            </a:xfrm>
            <a:prstGeom prst="bentConnector3">
              <a:avLst>
                <a:gd name="adj1" fmla="val 99774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3D180E-B183-8D87-BBAD-019978A0D22E}"/>
                </a:ext>
              </a:extLst>
            </p:cNvPr>
            <p:cNvSpPr/>
            <p:nvPr/>
          </p:nvSpPr>
          <p:spPr>
            <a:xfrm>
              <a:off x="6000730" y="4012493"/>
              <a:ext cx="583200" cy="583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</p:spTree>
    <p:extLst>
      <p:ext uri="{BB962C8B-B14F-4D97-AF65-F5344CB8AC3E}">
        <p14:creationId xmlns:p14="http://schemas.microsoft.com/office/powerpoint/2010/main" val="20503571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7D45-A5DA-C2CC-1ECE-4FBC3CB7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512578-7E97-3EC3-953F-209555295B4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251C4-194D-0195-9855-ED1C81E78D0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0A077D-870A-B0B0-AF52-6FC5CDBFFFAD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7980F3-60C7-C452-4756-2F8839E1047B}"/>
              </a:ext>
            </a:extLst>
          </p:cNvPr>
          <p:cNvSpPr txBox="1"/>
          <p:nvPr/>
        </p:nvSpPr>
        <p:spPr>
          <a:xfrm>
            <a:off x="240033" y="763428"/>
            <a:ext cx="1156528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Despite their elegance, conditional neural processes have important weaknesses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Lossy aggregator:</a:t>
            </a:r>
            <a:r>
              <a:rPr lang="en-FR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mean pooling throws away all information about which y came from which x. If two context points have very different y values at nearby x locations, the mean r cannot represent this. The model underfits local structure.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prior over functions is not sufficiently rich: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CNPs are good at smooth regressions functions but know nothing about tabular classification and regression problems with heterogeneous features, mixed scales, class imbalance, etc.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18255B4-BF8A-22D2-F86E-266BFA7BFCA3}"/>
              </a:ext>
            </a:extLst>
          </p:cNvPr>
          <p:cNvSpPr/>
          <p:nvPr/>
        </p:nvSpPr>
        <p:spPr>
          <a:xfrm>
            <a:off x="169762" y="1468704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80B8F4-3768-D9E1-DBAA-CFC102C9B98E}"/>
              </a:ext>
            </a:extLst>
          </p:cNvPr>
          <p:cNvSpPr/>
          <p:nvPr/>
        </p:nvSpPr>
        <p:spPr>
          <a:xfrm>
            <a:off x="169761" y="3121040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2A085AD-BE93-A24F-3E83-0D8F8739DB62}"/>
              </a:ext>
            </a:extLst>
          </p:cNvPr>
          <p:cNvGrpSpPr/>
          <p:nvPr/>
        </p:nvGrpSpPr>
        <p:grpSpPr>
          <a:xfrm>
            <a:off x="809610" y="4976546"/>
            <a:ext cx="10426125" cy="1544595"/>
            <a:chOff x="743624" y="4902404"/>
            <a:chExt cx="10426125" cy="154459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E086515-25D8-D4EF-2D73-D021E3B24F7D}"/>
                </a:ext>
              </a:extLst>
            </p:cNvPr>
            <p:cNvSpPr/>
            <p:nvPr/>
          </p:nvSpPr>
          <p:spPr>
            <a:xfrm>
              <a:off x="1022251" y="5166037"/>
              <a:ext cx="393700" cy="3937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78927DD-992D-50D1-77C1-D0449F794C3C}"/>
                </a:ext>
              </a:extLst>
            </p:cNvPr>
            <p:cNvSpPr/>
            <p:nvPr/>
          </p:nvSpPr>
          <p:spPr>
            <a:xfrm>
              <a:off x="1022251" y="5758380"/>
              <a:ext cx="393700" cy="3937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EBE31C-6267-5DC2-3116-EA34E4A01976}"/>
                </a:ext>
              </a:extLst>
            </p:cNvPr>
            <p:cNvSpPr txBox="1"/>
            <p:nvPr/>
          </p:nvSpPr>
          <p:spPr>
            <a:xfrm>
              <a:off x="1540683" y="5131921"/>
              <a:ext cx="775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Sample a function from a meta-training distribution, e.g.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25AFF2-2DB9-B4E3-2625-16002A03B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8731" y="5219388"/>
              <a:ext cx="1760220" cy="3289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52FD88-CF77-E43F-B327-945FAC419140}"/>
                </a:ext>
              </a:extLst>
            </p:cNvPr>
            <p:cNvSpPr txBox="1"/>
            <p:nvPr/>
          </p:nvSpPr>
          <p:spPr>
            <a:xfrm>
              <a:off x="1559751" y="5724130"/>
              <a:ext cx="53447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latin typeface="Roboto Light" panose="02000000000000000000" pitchFamily="2" charset="0"/>
                  <a:ea typeface="Roboto Light" panose="02000000000000000000" pitchFamily="2" charset="0"/>
                </a:rPr>
                <a:t>Sample N input locations and evaluate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A0CCF1B-8D69-D394-7FEA-7D7DAB208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4484" y="5800000"/>
              <a:ext cx="2009140" cy="328930"/>
            </a:xfrm>
            <a:prstGeom prst="rect">
              <a:avLst/>
            </a:prstGeom>
          </p:spPr>
        </p:pic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A22A718-1FA5-FCDD-3506-BCFD92996330}"/>
                </a:ext>
              </a:extLst>
            </p:cNvPr>
            <p:cNvSpPr/>
            <p:nvPr/>
          </p:nvSpPr>
          <p:spPr>
            <a:xfrm>
              <a:off x="743624" y="4902404"/>
              <a:ext cx="10426125" cy="1544595"/>
            </a:xfrm>
            <a:prstGeom prst="roundRect">
              <a:avLst/>
            </a:prstGeom>
            <a:noFill/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35FB5CF-DD3A-FCEE-5B02-2A93D175D101}"/>
              </a:ext>
            </a:extLst>
          </p:cNvPr>
          <p:cNvSpPr txBox="1"/>
          <p:nvPr/>
        </p:nvSpPr>
        <p:spPr>
          <a:xfrm>
            <a:off x="3695753" y="4760193"/>
            <a:ext cx="46538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   r</a:t>
            </a:r>
            <a:r>
              <a:rPr lang="en-FR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ecall the first two steps of meta-learning</a:t>
            </a:r>
          </a:p>
        </p:txBody>
      </p:sp>
    </p:spTree>
    <p:extLst>
      <p:ext uri="{BB962C8B-B14F-4D97-AF65-F5344CB8AC3E}">
        <p14:creationId xmlns:p14="http://schemas.microsoft.com/office/powerpoint/2010/main" val="36663049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BACAF-AACF-FDC6-832F-D3254678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B6E9A7-A865-6578-7980-0DBB7D81F8F2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8D660-F841-9E03-06B6-6CA358188CF6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842C56-9A1C-34DE-AD81-CDBA5DE187B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091E00-CE6B-7002-5E58-D26AAE6D4DA6}"/>
              </a:ext>
            </a:extLst>
          </p:cNvPr>
          <p:cNvSpPr txBox="1"/>
          <p:nvPr/>
        </p:nvSpPr>
        <p:spPr>
          <a:xfrm>
            <a:off x="240033" y="763428"/>
            <a:ext cx="1156528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Despite their elegance, conditional neural processes have important weaknesses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Lossy aggregator:</a:t>
            </a:r>
            <a:r>
              <a:rPr lang="en-FR" sz="2400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mean pooling throws away all information about which y came from which x. If two context points have very different y values at nearby x locations, the mean r cannot represent this. The model underfits local structure.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prior over functions is not sufficiently rich: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CNPs are good at smooth regressions functions but know nothing about tabular classification and regression problems with heterogeneous features, mixed scales, class imbalance,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 Gaussian model is hardly enough: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Gaussian output for a CNP is not enough for regression problems with multimodal, skewed, or heavy-tailed noise. Also, we simply can’t apply it to classification where the y are discrete labels.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0056F63-0EF2-C00B-F2B7-63918FA8FD2F}"/>
              </a:ext>
            </a:extLst>
          </p:cNvPr>
          <p:cNvSpPr/>
          <p:nvPr/>
        </p:nvSpPr>
        <p:spPr>
          <a:xfrm>
            <a:off x="169762" y="1468704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70243A-5F07-DAF6-2BAB-0E004F37BB1C}"/>
              </a:ext>
            </a:extLst>
          </p:cNvPr>
          <p:cNvSpPr/>
          <p:nvPr/>
        </p:nvSpPr>
        <p:spPr>
          <a:xfrm>
            <a:off x="169761" y="3121040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79AA5F-91BC-A65B-0F7C-E81D0E6E0134}"/>
              </a:ext>
            </a:extLst>
          </p:cNvPr>
          <p:cNvSpPr/>
          <p:nvPr/>
        </p:nvSpPr>
        <p:spPr>
          <a:xfrm>
            <a:off x="169761" y="4773376"/>
            <a:ext cx="401625" cy="4016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99323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788A-16FB-9A9F-0863-DD968AB1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2136EA-F04D-0EE5-CF8C-DC88A95E587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5BBB0-8272-9B87-3B27-0D1CA767256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E8ABE2-0716-E800-73E3-53A0A4765EF3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6975AA-EE64-0A2A-3862-AA3A38D87734}"/>
              </a:ext>
            </a:extLst>
          </p:cNvPr>
          <p:cNvSpPr txBox="1"/>
          <p:nvPr/>
        </p:nvSpPr>
        <p:spPr>
          <a:xfrm>
            <a:off x="240033" y="714000"/>
            <a:ext cx="11565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1 : Use an attention mechanism for context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CNP, a representation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 same for every target query.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instance, when predicting       for a given       that is near to context point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model cannot give extra weight to                  since all points contribute equally.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42E895-EFB8-4725-9837-70C5D3254DE0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148502-361B-40EF-FE82-5B3BA3CF4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70" y="2077746"/>
            <a:ext cx="314960" cy="25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D502B2-98FC-5ED3-96D2-A5D95E5B8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0" y="2100606"/>
            <a:ext cx="345440" cy="223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0063BC-0C87-2121-633A-9148B10F9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47" y="1971066"/>
            <a:ext cx="1097280" cy="375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D9EBEA-4E3D-8152-D3FD-76C455A88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920" y="2542844"/>
            <a:ext cx="1097280" cy="37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137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BA0A5-5D6D-1D9D-6DFE-88FB907B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49C0A4-A9DA-874E-B19B-DC13497F338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DA8A8-763A-D1BF-264D-5905A123B49D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02E2FB-9BAA-50FE-AFA3-07C885FFB3F3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BA45DF-B8E9-B1F4-4FE8-DB631BA574C8}"/>
              </a:ext>
            </a:extLst>
          </p:cNvPr>
          <p:cNvSpPr txBox="1"/>
          <p:nvPr/>
        </p:nvSpPr>
        <p:spPr>
          <a:xfrm>
            <a:off x="240033" y="714000"/>
            <a:ext cx="115652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1 : Use an attention mechanism for context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CNP, a representation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 same for every target query.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instance, when predicting       for a given       that is near to context point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model cannot give extra weight to                  since all points contribute equally.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fix this by using a a context representation that is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query-specific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84DA00-5507-F2FA-D741-ABCE8A70D730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E7C1F0-FE95-4DCE-FDB4-F9D1E501D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70" y="2077746"/>
            <a:ext cx="314960" cy="25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9906E7-8622-8135-9081-9A3DA6ED3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0" y="2100606"/>
            <a:ext cx="345440" cy="223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192FE5-E0CC-6008-D149-897D20354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47" y="1971066"/>
            <a:ext cx="1097280" cy="375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C1B1F1-E4EA-7717-2B1D-E69DE49CC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920" y="2542844"/>
            <a:ext cx="1097280" cy="3759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BADECD-98A5-B0DA-132A-7CD228AC5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5004" y="3704377"/>
            <a:ext cx="3190240" cy="10058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6671098-3B8D-372A-05EB-1ADF44C68A68}"/>
              </a:ext>
            </a:extLst>
          </p:cNvPr>
          <p:cNvSpPr txBox="1"/>
          <p:nvPr/>
        </p:nvSpPr>
        <p:spPr>
          <a:xfrm>
            <a:off x="4915894" y="3945984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with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6ABE54-ED1B-740D-59EC-1BA56BE7B3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0276" y="3684057"/>
            <a:ext cx="4765040" cy="1046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2F5ADE-1429-6027-3272-854B380900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167" y="5276414"/>
            <a:ext cx="2381250" cy="352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751AE5-0D26-A18D-5937-90E07C0E02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1212" y="5293767"/>
            <a:ext cx="1352550" cy="31432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D46A4E3-7549-55A7-78C3-50D9F3EFBBD5}"/>
              </a:ext>
            </a:extLst>
          </p:cNvPr>
          <p:cNvGrpSpPr/>
          <p:nvPr/>
        </p:nvGrpSpPr>
        <p:grpSpPr>
          <a:xfrm>
            <a:off x="4328796" y="5028806"/>
            <a:ext cx="3518239" cy="1524000"/>
            <a:chOff x="6457271" y="1426610"/>
            <a:chExt cx="3518239" cy="152400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21A5907-B9CB-E0C6-FC84-04270BAE6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22444" y="1686916"/>
              <a:ext cx="2333625" cy="35242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4E596D-1415-9F66-9C0F-16A39E5B6DEA}"/>
                </a:ext>
              </a:extLst>
            </p:cNvPr>
            <p:cNvSpPr txBox="1"/>
            <p:nvPr/>
          </p:nvSpPr>
          <p:spPr>
            <a:xfrm>
              <a:off x="6616361" y="2170568"/>
              <a:ext cx="33591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Roboto Light" panose="02000000000000000000" pitchFamily="2" charset="0"/>
                  <a:ea typeface="Roboto Light" panose="02000000000000000000" pitchFamily="2" charset="0"/>
                </a:rPr>
                <a:t>v</a:t>
              </a:r>
              <a:r>
                <a:rPr lang="en-FR" dirty="0">
                  <a:latin typeface="Roboto Light" panose="02000000000000000000" pitchFamily="2" charset="0"/>
                  <a:ea typeface="Roboto Light" panose="02000000000000000000" pitchFamily="2" charset="0"/>
                </a:rPr>
                <a:t>alues are learned projections of the context representations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DF2AD68-B799-0ED5-8BF4-F066243CA750}"/>
                </a:ext>
              </a:extLst>
            </p:cNvPr>
            <p:cNvSpPr/>
            <p:nvPr/>
          </p:nvSpPr>
          <p:spPr>
            <a:xfrm>
              <a:off x="6457271" y="1426610"/>
              <a:ext cx="3518239" cy="152400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E1DB986-C717-1CF9-7697-BB089E0FA7BB}"/>
              </a:ext>
            </a:extLst>
          </p:cNvPr>
          <p:cNvGrpSpPr/>
          <p:nvPr/>
        </p:nvGrpSpPr>
        <p:grpSpPr>
          <a:xfrm>
            <a:off x="489224" y="5018592"/>
            <a:ext cx="3518239" cy="1524000"/>
            <a:chOff x="6457271" y="1426610"/>
            <a:chExt cx="3518239" cy="152400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39015CE-AFD8-8461-8AD1-2E893AD0C9E7}"/>
                </a:ext>
              </a:extLst>
            </p:cNvPr>
            <p:cNvSpPr txBox="1"/>
            <p:nvPr/>
          </p:nvSpPr>
          <p:spPr>
            <a:xfrm>
              <a:off x="6616361" y="2170568"/>
              <a:ext cx="33591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Roboto Light" panose="02000000000000000000" pitchFamily="2" charset="0"/>
                  <a:ea typeface="Roboto Light" panose="02000000000000000000" pitchFamily="2" charset="0"/>
                </a:rPr>
                <a:t>keys are learned projections of the context representations</a:t>
              </a:r>
              <a:endParaRPr lang="en-FR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55791DDB-F217-9F3D-9EBC-AED3980D0C10}"/>
                </a:ext>
              </a:extLst>
            </p:cNvPr>
            <p:cNvSpPr/>
            <p:nvPr/>
          </p:nvSpPr>
          <p:spPr>
            <a:xfrm>
              <a:off x="6457271" y="1426610"/>
              <a:ext cx="3518239" cy="152400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38961EC-590D-52B3-F0F0-CF57B9EC3378}"/>
              </a:ext>
            </a:extLst>
          </p:cNvPr>
          <p:cNvGrpSpPr/>
          <p:nvPr/>
        </p:nvGrpSpPr>
        <p:grpSpPr>
          <a:xfrm>
            <a:off x="8168368" y="5028806"/>
            <a:ext cx="3518239" cy="1524000"/>
            <a:chOff x="6457271" y="1426610"/>
            <a:chExt cx="3518239" cy="15240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F23456-ECF9-D5BD-C1B2-76A19BBEDA80}"/>
                </a:ext>
              </a:extLst>
            </p:cNvPr>
            <p:cNvSpPr txBox="1"/>
            <p:nvPr/>
          </p:nvSpPr>
          <p:spPr>
            <a:xfrm>
              <a:off x="6536815" y="2170568"/>
              <a:ext cx="33591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Roboto Light" panose="02000000000000000000" pitchFamily="2" charset="0"/>
                  <a:ea typeface="Roboto Light" panose="02000000000000000000" pitchFamily="2" charset="0"/>
                </a:rPr>
                <a:t>the query is a learned projection of the target input</a:t>
              </a:r>
              <a:endParaRPr lang="en-FR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3E2F7DBE-F84B-4F3F-DF1C-FD24BA4513C1}"/>
                </a:ext>
              </a:extLst>
            </p:cNvPr>
            <p:cNvSpPr/>
            <p:nvPr/>
          </p:nvSpPr>
          <p:spPr>
            <a:xfrm>
              <a:off x="6457271" y="1426610"/>
              <a:ext cx="3518239" cy="152400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</p:spTree>
    <p:extLst>
      <p:ext uri="{BB962C8B-B14F-4D97-AF65-F5344CB8AC3E}">
        <p14:creationId xmlns:p14="http://schemas.microsoft.com/office/powerpoint/2010/main" val="39970241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5901E-15F7-57ED-FBF9-8350E588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204D3E-562A-C75C-AAB4-30094739C3B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6F528-58C2-1D9C-102A-35505242A911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8512B1-6CA3-2F8F-5964-3AF342349668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B533A-2E93-7488-ABC3-D766D48E60FF}"/>
              </a:ext>
            </a:extLst>
          </p:cNvPr>
          <p:cNvSpPr txBox="1"/>
          <p:nvPr/>
        </p:nvSpPr>
        <p:spPr>
          <a:xfrm>
            <a:off x="240033" y="712800"/>
            <a:ext cx="115652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1 : Use an attention mechanism for context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CNP, a representation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 same for every target query.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instance, when predicting       for a given       that is near to context point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model cannot give extra weight to                  since all points contribute equally.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fix this by using a a context representation that is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query-specific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E345F4-F3AC-525F-2D3E-C6DEAFD46E50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CDCAF5-32A7-D137-A512-E4995CD9C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70" y="2077746"/>
            <a:ext cx="314960" cy="25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85016B-3243-FB01-4005-DC220085B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0" y="2100606"/>
            <a:ext cx="345440" cy="223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C0EF40-7138-1177-D18B-CF2133AA7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447" y="1971066"/>
            <a:ext cx="1097280" cy="375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E9BC5F-A18A-A68B-75E7-703159A3B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920" y="2542844"/>
            <a:ext cx="1097280" cy="3759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19F31E-D7AB-1482-9DD8-E84848B2F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5004" y="3704377"/>
            <a:ext cx="3190240" cy="10058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1FBA68-3336-9642-449E-8783E26EC927}"/>
              </a:ext>
            </a:extLst>
          </p:cNvPr>
          <p:cNvSpPr txBox="1"/>
          <p:nvPr/>
        </p:nvSpPr>
        <p:spPr>
          <a:xfrm>
            <a:off x="4915894" y="3945984"/>
            <a:ext cx="75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with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A0CB0E-E9A5-04BF-EF69-1A769CA83E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0276" y="3684057"/>
            <a:ext cx="4765040" cy="1046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EDDE7A-813A-D4AC-E6F1-57126594105A}"/>
              </a:ext>
            </a:extLst>
          </p:cNvPr>
          <p:cNvSpPr txBox="1"/>
          <p:nvPr/>
        </p:nvSpPr>
        <p:spPr>
          <a:xfrm>
            <a:off x="240033" y="4878513"/>
            <a:ext cx="115652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is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cross-attention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the query comes from target, the keys+values from context</a:t>
            </a:r>
          </a:p>
          <a:p>
            <a:pPr lvl="1"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get an embedding             that is constructed </a:t>
            </a: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focusing on the parts of the context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that are most relevant for predicting that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84108-14A5-827D-4EF5-8F31F1C7B76F}"/>
              </a:ext>
            </a:extLst>
          </p:cNvPr>
          <p:cNvSpPr txBox="1"/>
          <p:nvPr/>
        </p:nvSpPr>
        <p:spPr>
          <a:xfrm>
            <a:off x="402185" y="548633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A2FF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↳</a:t>
            </a:r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5D7A5-ABAD-4603-7AEE-8A26E2BA30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1905" y="5603973"/>
            <a:ext cx="792480" cy="37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980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D35E-5324-7F60-C1D2-9B4252DC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75F522-1D10-4130-FBDC-BAC03C5100FD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B894B-9F4C-1F81-864E-D21B3F18A31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187A66-90B8-CCDD-BE9D-3ADC179054E4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CCB808-65B1-46F2-287D-859DB1470202}"/>
              </a:ext>
            </a:extLst>
          </p:cNvPr>
          <p:cNvSpPr txBox="1"/>
          <p:nvPr/>
        </p:nvSpPr>
        <p:spPr>
          <a:xfrm>
            <a:off x="313360" y="1118821"/>
            <a:ext cx="11565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Parenthesis: some good places to read and learn about the attention mechanism</a:t>
            </a:r>
          </a:p>
        </p:txBody>
      </p:sp>
      <p:pic>
        <p:nvPicPr>
          <p:cNvPr id="20" name="Online Media 19" descr="CS4780 Transformers (additional lecture 2023)">
            <a:hlinkClick r:id="" action="ppaction://media"/>
            <a:extLst>
              <a:ext uri="{FF2B5EF4-FFF2-40B4-BE49-F238E27FC236}">
                <a16:creationId xmlns:a16="http://schemas.microsoft.com/office/drawing/2014/main" id="{EF04CFE4-5FE9-0F27-39CD-528FD95D9F4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580691" y="2639912"/>
            <a:ext cx="5058697" cy="28581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D601F74-93FB-51FF-E9D3-280F8956AE74}"/>
              </a:ext>
            </a:extLst>
          </p:cNvPr>
          <p:cNvSpPr txBox="1"/>
          <p:nvPr/>
        </p:nvSpPr>
        <p:spPr>
          <a:xfrm>
            <a:off x="6276625" y="1965075"/>
            <a:ext cx="5469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Excellent video on attention and transformers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04B284-6F66-CFD3-9019-1BCBC5EDD7D2}"/>
              </a:ext>
            </a:extLst>
          </p:cNvPr>
          <p:cNvSpPr txBox="1"/>
          <p:nvPr/>
        </p:nvSpPr>
        <p:spPr>
          <a:xfrm>
            <a:off x="6687208" y="5711247"/>
            <a:ext cx="505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dirty="0">
                <a:hlinkClick r:id="rId5"/>
              </a:rPr>
              <a:t>https://www.youtube.com/watch?v=Nu7VZeW5TaE</a:t>
            </a:r>
            <a:endParaRPr lang="en-FR" dirty="0"/>
          </a:p>
        </p:txBody>
      </p:sp>
      <p:pic>
        <p:nvPicPr>
          <p:cNvPr id="25" name="Picture 24" descr="A diagram of a program&#10;&#10;AI-generated content may be incorrect.">
            <a:extLst>
              <a:ext uri="{FF2B5EF4-FFF2-40B4-BE49-F238E27FC236}">
                <a16:creationId xmlns:a16="http://schemas.microsoft.com/office/drawing/2014/main" id="{FD61629A-F33A-2BD0-95CA-AB681D7F1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862" y="2639911"/>
            <a:ext cx="4977986" cy="344066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DA0AA4E-05F9-D9A1-C8F5-484208127856}"/>
              </a:ext>
            </a:extLst>
          </p:cNvPr>
          <p:cNvSpPr txBox="1"/>
          <p:nvPr/>
        </p:nvSpPr>
        <p:spPr>
          <a:xfrm>
            <a:off x="1460573" y="1965075"/>
            <a:ext cx="3884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Original paper by Google researchers </a:t>
            </a:r>
          </a:p>
        </p:txBody>
      </p:sp>
      <p:sp>
        <p:nvSpPr>
          <p:cNvPr id="27" name="Double Bracket 26">
            <a:extLst>
              <a:ext uri="{FF2B5EF4-FFF2-40B4-BE49-F238E27FC236}">
                <a16:creationId xmlns:a16="http://schemas.microsoft.com/office/drawing/2014/main" id="{8939F6F4-F444-CC01-3276-761EC8859E8B}"/>
              </a:ext>
            </a:extLst>
          </p:cNvPr>
          <p:cNvSpPr/>
          <p:nvPr/>
        </p:nvSpPr>
        <p:spPr>
          <a:xfrm>
            <a:off x="313360" y="1014696"/>
            <a:ext cx="11565280" cy="5330051"/>
          </a:xfrm>
          <a:prstGeom prst="bracketPair">
            <a:avLst>
              <a:gd name="adj" fmla="val 4848"/>
            </a:avLst>
          </a:prstGeom>
          <a:ln w="25400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8317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F9E5A-7FCF-C6AC-A26D-C303B0AB0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31C4D3-9718-8202-2A8A-9D3525B74EC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CBABD-2F5C-6B94-E716-8EC5891EE7C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1D56BC-C71E-771F-CC74-4C3D7EA9D050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6C8F3-3F1D-AB27-E47C-DA17F3BB7EBF}"/>
              </a:ext>
            </a:extLst>
          </p:cNvPr>
          <p:cNvSpPr txBox="1"/>
          <p:nvPr/>
        </p:nvSpPr>
        <p:spPr>
          <a:xfrm>
            <a:off x="240033" y="712800"/>
            <a:ext cx="1156528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2 : Leverage synthetic data to get a better prior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a prior that covers the diversity of real tabular datasets: heterogeneous features, nonlinear dependencies, mixed scales, class imbalance, etc.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💡 Sample datasets from a structured causal model (SCM), which consists of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1. A set of variables 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2. A directed acyclic graph (DAG) specifying which variables influence which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3. A function form for each variable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F866A39-D508-FC27-3DEF-C14E65FC52E1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42BFD3-2FD1-9650-A075-CEC02705C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580" y="3144520"/>
            <a:ext cx="1938020" cy="284480"/>
          </a:xfrm>
          <a:prstGeom prst="rect">
            <a:avLst/>
          </a:prstGeom>
        </p:spPr>
      </p:pic>
      <p:pic>
        <p:nvPicPr>
          <p:cNvPr id="4" name="Picture 3" descr="A diagram of a complex equation&#10;&#10;AI-generated content may be incorrect.">
            <a:extLst>
              <a:ext uri="{FF2B5EF4-FFF2-40B4-BE49-F238E27FC236}">
                <a16:creationId xmlns:a16="http://schemas.microsoft.com/office/drawing/2014/main" id="{54CC9091-5E7A-4E57-1D03-BD7A5F30C0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16" t="5203" r="3298" b="24695"/>
          <a:stretch>
            <a:fillRect/>
          </a:stretch>
        </p:blipFill>
        <p:spPr>
          <a:xfrm>
            <a:off x="9401454" y="4406442"/>
            <a:ext cx="2620852" cy="20939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615BA1-D4E6-2D95-CDB0-B13E7965B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694" y="4090160"/>
            <a:ext cx="3538220" cy="58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97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9BAF4-916A-F255-4070-A4460B64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722B4C9-EC79-CD39-4E07-DE7FBB3B021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02F6C-6AF3-9751-FAAB-36CCA97A1D1E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0787D3-74FA-C826-8455-2EE41016E00E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39E4FB-6143-4806-43FF-8DBC0040BC7F}"/>
              </a:ext>
            </a:extLst>
          </p:cNvPr>
          <p:cNvSpPr txBox="1"/>
          <p:nvPr/>
        </p:nvSpPr>
        <p:spPr>
          <a:xfrm>
            <a:off x="240033" y="712800"/>
            <a:ext cx="115652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2 : Leverage synthetic data to get a better prior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sample one synthetic dataset we:</a:t>
            </a:r>
            <a:b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1. Sample a DAG structure (number of nodes, edge probabilities, etc)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2. Sample random functional form f</a:t>
            </a:r>
            <a:r>
              <a:rPr lang="en-FR" sz="2400" baseline="-25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(linear, polynomial, etc.)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3. Sample random noise distribution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	4. Sample n realisations from this SCM to get a dataset (X, y)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Each sampled SCM defines a different task. The distribution over SCMs defines a prior over tasks. By varying the DAG structure, the functional forms, the noise distributions, number of features, etc., we cover a </a:t>
            </a: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very broad class of tabular tasks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83F7A37-EE5F-E5DD-68F0-D3560232BF62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4897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47149-671F-9401-6C90-36484EBE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BDF7644A-473F-D17E-B980-F16C04656525}"/>
              </a:ext>
            </a:extLst>
          </p:cNvPr>
          <p:cNvSpPr txBox="1"/>
          <p:nvPr/>
        </p:nvSpPr>
        <p:spPr>
          <a:xfrm>
            <a:off x="240032" y="2598821"/>
            <a:ext cx="11028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However, if the target variables are discrete in a classification task it won’t work…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AAFFD6-4556-C5CE-7DB8-04D051F95156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5BC2B-56E1-6B4A-949D-36497BFA6E08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63BE0C-A095-9D5F-893D-250E9409B8F5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BC714-8391-1BE4-77F3-FE305C8EB368}"/>
              </a:ext>
            </a:extLst>
          </p:cNvPr>
          <p:cNvSpPr txBox="1"/>
          <p:nvPr/>
        </p:nvSpPr>
        <p:spPr>
          <a:xfrm>
            <a:off x="240032" y="712800"/>
            <a:ext cx="119519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3 : Richer output distribution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decoder of a CNP (i.e. its output) is a Gaussian distribution approximating the PPD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A88C391-76AA-0F3D-8E1E-6BE13CD0D7CE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6B53C-5CCC-BCEF-BCD7-9D869A0DB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2065125"/>
            <a:ext cx="4216400" cy="41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2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DFB9-12C5-5BD7-21B6-8388D615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4C4824C1-C712-0553-AA3B-AC7D73DB3FB5}"/>
              </a:ext>
            </a:extLst>
          </p:cNvPr>
          <p:cNvSpPr txBox="1"/>
          <p:nvPr/>
        </p:nvSpPr>
        <p:spPr>
          <a:xfrm>
            <a:off x="240032" y="2598821"/>
            <a:ext cx="11028981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However, if the target variables are discrete in a classification task it won’t work…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we do is to consider a C-dimensional vector of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logits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             defined 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670F6-BAFE-63BA-7D97-E189AA4CD62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C3394-40F5-78D5-E607-4CF97256BBFB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702240-7AF8-E183-53D5-8C0D59856C8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79D22-5190-5EEF-8E05-766DC1EA41C3}"/>
              </a:ext>
            </a:extLst>
          </p:cNvPr>
          <p:cNvSpPr txBox="1"/>
          <p:nvPr/>
        </p:nvSpPr>
        <p:spPr>
          <a:xfrm>
            <a:off x="240032" y="712800"/>
            <a:ext cx="119519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3 : Richer output distribution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decoder of a CNP (i.e. its output) is a Gaussian distribution approximating the PPD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B316095-A691-207A-A70A-EB9C5AADF690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18B9A-0BFA-8BA9-EA7B-0042661F7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2065125"/>
            <a:ext cx="4216400" cy="4165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20D9F2-659A-B1DF-40DF-5113837C3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628" y="3251200"/>
            <a:ext cx="1107440" cy="355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7933EE-019C-D643-2BD4-82BE78CA9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07" y="4098533"/>
            <a:ext cx="4958080" cy="15341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0D1B063-609D-9C86-97D6-EBA45E5DE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650" y="4420516"/>
            <a:ext cx="4927600" cy="965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F6A9716-B0C3-EFE8-5BED-61A35C38390D}"/>
              </a:ext>
            </a:extLst>
          </p:cNvPr>
          <p:cNvSpPr txBox="1"/>
          <p:nvPr/>
        </p:nvSpPr>
        <p:spPr>
          <a:xfrm>
            <a:off x="5579540" y="4634781"/>
            <a:ext cx="691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D9D7B0-0FB4-F116-C54D-EB66BD937E2F}"/>
              </a:ext>
            </a:extLst>
          </p:cNvPr>
          <p:cNvSpPr txBox="1"/>
          <p:nvPr/>
        </p:nvSpPr>
        <p:spPr>
          <a:xfrm>
            <a:off x="9175829" y="5623615"/>
            <a:ext cx="22964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</a:t>
            </a:r>
            <a:r>
              <a:rPr lang="en-FR" dirty="0">
                <a:solidFill>
                  <a:srgbClr val="C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oftmax operation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75B32-0C1B-470B-AEFC-786FA99C8B42}"/>
              </a:ext>
            </a:extLst>
          </p:cNvPr>
          <p:cNvSpPr txBox="1"/>
          <p:nvPr/>
        </p:nvSpPr>
        <p:spPr>
          <a:xfrm>
            <a:off x="406565" y="5993632"/>
            <a:ext cx="5623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Roboto Light" panose="02000000000000000000" pitchFamily="2" charset="0"/>
                <a:ea typeface="Roboto Light" panose="02000000000000000000" pitchFamily="2" charset="0"/>
              </a:rPr>
              <a:t>(n</a:t>
            </a:r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</a:rPr>
              <a:t>ote that W</a:t>
            </a:r>
            <a:r>
              <a:rPr lang="en-FR" baseline="-25000" dirty="0">
                <a:latin typeface="Roboto Light" panose="02000000000000000000" pitchFamily="2" charset="0"/>
                <a:ea typeface="Roboto Light" panose="02000000000000000000" pitchFamily="2" charset="0"/>
              </a:rPr>
              <a:t>out</a:t>
            </a:r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</a:rPr>
              <a:t> and b</a:t>
            </a:r>
            <a:r>
              <a:rPr lang="en-FR" baseline="-25000" dirty="0">
                <a:latin typeface="Roboto Light" panose="02000000000000000000" pitchFamily="2" charset="0"/>
                <a:ea typeface="Roboto Light" panose="02000000000000000000" pitchFamily="2" charset="0"/>
              </a:rPr>
              <a:t>out </a:t>
            </a:r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</a:rPr>
              <a:t>are both learnable parameters!)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C97397A-F052-F189-B6B7-BE813C1F0C19}"/>
              </a:ext>
            </a:extLst>
          </p:cNvPr>
          <p:cNvCxnSpPr>
            <a:cxnSpLocks/>
          </p:cNvCxnSpPr>
          <p:nvPr/>
        </p:nvCxnSpPr>
        <p:spPr>
          <a:xfrm flipV="1">
            <a:off x="2314945" y="5135769"/>
            <a:ext cx="0" cy="249947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39712A-F8CB-E401-668A-E4D16A692489}"/>
              </a:ext>
            </a:extLst>
          </p:cNvPr>
          <p:cNvSpPr txBox="1"/>
          <p:nvPr/>
        </p:nvSpPr>
        <p:spPr>
          <a:xfrm>
            <a:off x="506785" y="5410957"/>
            <a:ext cx="3616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  <a:latin typeface="Roboto ExtraLight" panose="02000000000000000000" pitchFamily="2" charset="0"/>
                <a:ea typeface="Roboto ExtraLight" panose="02000000000000000000" pitchFamily="2" charset="0"/>
              </a:rPr>
              <a:t>o</a:t>
            </a:r>
            <a:r>
              <a:rPr lang="en-FR" dirty="0">
                <a:solidFill>
                  <a:srgbClr val="00B050"/>
                </a:solidFill>
                <a:latin typeface="Roboto ExtraLight" panose="02000000000000000000" pitchFamily="2" charset="0"/>
                <a:ea typeface="Roboto ExtraLight" panose="02000000000000000000" pitchFamily="2" charset="0"/>
              </a:rPr>
              <a:t>utput of the cross-attention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B3326-7D07-1275-F492-82BBBA0F4543}"/>
              </a:ext>
            </a:extLst>
          </p:cNvPr>
          <p:cNvSpPr/>
          <p:nvPr/>
        </p:nvSpPr>
        <p:spPr>
          <a:xfrm>
            <a:off x="9016746" y="5538634"/>
            <a:ext cx="2614620" cy="849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698528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090F-C208-382C-5C37-9CB06B458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8BEDBF-A552-1B18-1683-351818C1631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35062-D7F1-38F0-0D3C-87219CDC0785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9E5BEA-3766-4701-1EEB-83EE787E15B8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9D2465-BFF3-A825-C431-1A9DCC62C664}"/>
              </a:ext>
            </a:extLst>
          </p:cNvPr>
          <p:cNvSpPr txBox="1"/>
          <p:nvPr/>
        </p:nvSpPr>
        <p:spPr>
          <a:xfrm>
            <a:off x="240032" y="712800"/>
            <a:ext cx="119519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R" sz="2400" b="1" dirty="0">
                <a:solidFill>
                  <a:srgbClr val="00A2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Fix 3 : Richer output distribution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new loss function for classification tasks becomes the cross-entropy loss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7F92E4D-8F00-2DFC-0D96-7B5DA39C4308}"/>
              </a:ext>
            </a:extLst>
          </p:cNvPr>
          <p:cNvSpPr/>
          <p:nvPr/>
        </p:nvSpPr>
        <p:spPr>
          <a:xfrm>
            <a:off x="306345" y="966195"/>
            <a:ext cx="200440" cy="200440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0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DD72E-5367-66F3-5FF3-02A44A212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60916"/>
            <a:ext cx="7772400" cy="988715"/>
          </a:xfrm>
          <a:prstGeom prst="rect">
            <a:avLst/>
          </a:prstGeom>
        </p:spPr>
      </p:pic>
      <p:pic>
        <p:nvPicPr>
          <p:cNvPr id="8" name="Picture 7" descr="A screenshot of a math book&#10;&#10;AI-generated content may be incorrect.">
            <a:extLst>
              <a:ext uri="{FF2B5EF4-FFF2-40B4-BE49-F238E27FC236}">
                <a16:creationId xmlns:a16="http://schemas.microsoft.com/office/drawing/2014/main" id="{3667A176-8AC1-3BC6-FB57-9EE951849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425687"/>
            <a:ext cx="7772400" cy="293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658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C670-5758-C6FC-CC38-BF622984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95413A-3B1C-45C5-9713-8C734C85BCB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D996D-2E55-3494-5D2C-E19585563893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2F9461-27C8-392C-431E-1C80337C9F9A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2468E-D1E8-F8B3-2F13-77A5D89C4F68}"/>
              </a:ext>
            </a:extLst>
          </p:cNvPr>
          <p:cNvSpPr txBox="1"/>
          <p:nvPr/>
        </p:nvSpPr>
        <p:spPr>
          <a:xfrm>
            <a:off x="240033" y="763428"/>
            <a:ext cx="1156528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Putting it all together, we get a tabular foundational model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two most popular architectures are TabPFN and TabICL, which are somewhat more complicated, but fundamentally what we have seen.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46AD1D-8389-9425-F440-EF58555A5C5F}"/>
              </a:ext>
            </a:extLst>
          </p:cNvPr>
          <p:cNvGrpSpPr/>
          <p:nvPr/>
        </p:nvGrpSpPr>
        <p:grpSpPr>
          <a:xfrm>
            <a:off x="1418562" y="1595904"/>
            <a:ext cx="9354876" cy="3452399"/>
            <a:chOff x="1205565" y="2128354"/>
            <a:chExt cx="9354876" cy="34523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F0BC31E-B8E3-644E-D138-CE73F2B86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71484" y="4640274"/>
              <a:ext cx="1552575" cy="352425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0F5E2A-CD62-6447-4B66-01FD63D67CDD}"/>
                </a:ext>
              </a:extLst>
            </p:cNvPr>
            <p:cNvGrpSpPr/>
            <p:nvPr/>
          </p:nvGrpSpPr>
          <p:grpSpPr>
            <a:xfrm>
              <a:off x="1205565" y="2129007"/>
              <a:ext cx="4488569" cy="981666"/>
              <a:chOff x="240033" y="4190409"/>
              <a:chExt cx="4488569" cy="981666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4543596-DD92-7E56-B4C0-FFC9B93D4F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314" y="4611613"/>
                <a:ext cx="3981450" cy="352425"/>
              </a:xfrm>
              <a:prstGeom prst="rect">
                <a:avLst/>
              </a:prstGeom>
            </p:spPr>
          </p:pic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CF9C5797-DE4B-CC0F-C769-273ED02AD8DB}"/>
                  </a:ext>
                </a:extLst>
              </p:cNvPr>
              <p:cNvSpPr/>
              <p:nvPr/>
            </p:nvSpPr>
            <p:spPr>
              <a:xfrm>
                <a:off x="240033" y="4391025"/>
                <a:ext cx="4488569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4A253CA-56AB-116E-E74C-3CBA9B68DE23}"/>
                  </a:ext>
                </a:extLst>
              </p:cNvPr>
              <p:cNvSpPr/>
              <p:nvPr/>
            </p:nvSpPr>
            <p:spPr>
              <a:xfrm>
                <a:off x="1809807" y="4212667"/>
                <a:ext cx="1389561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4F6F26-AF1B-BF05-883E-3E442E5F64BC}"/>
                  </a:ext>
                </a:extLst>
              </p:cNvPr>
              <p:cNvSpPr txBox="1"/>
              <p:nvPr/>
            </p:nvSpPr>
            <p:spPr>
              <a:xfrm>
                <a:off x="1828857" y="4190409"/>
                <a:ext cx="1338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r>
                  <a:rPr lang="en-FR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ontext set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666B4CA-BB4A-6D2C-7260-6136FC5D42D8}"/>
                </a:ext>
              </a:extLst>
            </p:cNvPr>
            <p:cNvGrpSpPr/>
            <p:nvPr/>
          </p:nvGrpSpPr>
          <p:grpSpPr>
            <a:xfrm>
              <a:off x="6173950" y="2128354"/>
              <a:ext cx="1811978" cy="982319"/>
              <a:chOff x="5095876" y="5413446"/>
              <a:chExt cx="1811978" cy="982319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5B01E33-4EDE-D317-9D10-B3018CADB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2751" y="5838104"/>
                <a:ext cx="1038225" cy="352425"/>
              </a:xfrm>
              <a:prstGeom prst="rect">
                <a:avLst/>
              </a:prstGeom>
            </p:spPr>
          </p:pic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CE425ABD-4557-ED10-E537-3BF09322B5DC}"/>
                  </a:ext>
                </a:extLst>
              </p:cNvPr>
              <p:cNvSpPr/>
              <p:nvPr/>
            </p:nvSpPr>
            <p:spPr>
              <a:xfrm>
                <a:off x="5095876" y="5614715"/>
                <a:ext cx="1811978" cy="781050"/>
              </a:xfrm>
              <a:prstGeom prst="round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6A4F8BB-6704-83DA-8631-0CF63B051F5D}"/>
                  </a:ext>
                </a:extLst>
              </p:cNvPr>
              <p:cNvSpPr/>
              <p:nvPr/>
            </p:nvSpPr>
            <p:spPr>
              <a:xfrm>
                <a:off x="5307421" y="5446017"/>
                <a:ext cx="1388887" cy="359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1E43493-1A67-08BD-9BE8-8408046AFD6A}"/>
                  </a:ext>
                </a:extLst>
              </p:cNvPr>
              <p:cNvSpPr txBox="1"/>
              <p:nvPr/>
            </p:nvSpPr>
            <p:spPr>
              <a:xfrm>
                <a:off x="5307422" y="5413446"/>
                <a:ext cx="1388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5E5E5E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query point</a:t>
                </a:r>
                <a:endParaRPr lang="en-FR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5BEF849-3E95-F343-85F2-7E655EB7905A}"/>
                </a:ext>
              </a:extLst>
            </p:cNvPr>
            <p:cNvSpPr/>
            <p:nvPr/>
          </p:nvSpPr>
          <p:spPr>
            <a:xfrm>
              <a:off x="8535103" y="4425962"/>
              <a:ext cx="2025338" cy="781050"/>
            </a:xfrm>
            <a:prstGeom prst="round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16ADB0-4E59-6060-65EB-13A8F94C0B26}"/>
                </a:ext>
              </a:extLst>
            </p:cNvPr>
            <p:cNvSpPr/>
            <p:nvPr/>
          </p:nvSpPr>
          <p:spPr>
            <a:xfrm>
              <a:off x="9216884" y="4249987"/>
              <a:ext cx="635110" cy="359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8E268E-4F64-3A9E-A3E8-17B92E078A42}"/>
                </a:ext>
              </a:extLst>
            </p:cNvPr>
            <p:cNvSpPr txBox="1"/>
            <p:nvPr/>
          </p:nvSpPr>
          <p:spPr>
            <a:xfrm>
              <a:off x="9229763" y="4235158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5E5E5E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PPD</a:t>
              </a:r>
              <a:endParaRPr lang="en-FR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cxnSp>
          <p:nvCxnSpPr>
            <p:cNvPr id="14" name="Elbow Connector 13">
              <a:extLst>
                <a:ext uri="{FF2B5EF4-FFF2-40B4-BE49-F238E27FC236}">
                  <a16:creationId xmlns:a16="http://schemas.microsoft.com/office/drawing/2014/main" id="{AD351FE3-7752-1AF7-F690-66AE43AB82EB}"/>
                </a:ext>
              </a:extLst>
            </p:cNvPr>
            <p:cNvCxnSpPr>
              <a:cxnSpLocks/>
              <a:stCxn id="31" idx="2"/>
              <a:endCxn id="18" idx="0"/>
            </p:cNvCxnSpPr>
            <p:nvPr/>
          </p:nvCxnSpPr>
          <p:spPr>
            <a:xfrm rot="5400000">
              <a:off x="6371031" y="3819579"/>
              <a:ext cx="1417814" cy="2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2AFE2FF-FDCA-E455-69B1-8097CECA30C4}"/>
                </a:ext>
              </a:extLst>
            </p:cNvPr>
            <p:cNvCxnSpPr>
              <a:cxnSpLocks/>
              <a:stCxn id="18" idx="3"/>
              <a:endCxn id="10" idx="1"/>
            </p:cNvCxnSpPr>
            <p:nvPr/>
          </p:nvCxnSpPr>
          <p:spPr>
            <a:xfrm flipV="1">
              <a:off x="7370853" y="4816487"/>
              <a:ext cx="1164250" cy="180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886F1E5-18B4-ECBB-2534-A2967E3329E9}"/>
                </a:ext>
              </a:extLst>
            </p:cNvPr>
            <p:cNvSpPr/>
            <p:nvPr/>
          </p:nvSpPr>
          <p:spPr>
            <a:xfrm>
              <a:off x="4611418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B417AE-DBEB-C11F-0948-8574213FB711}"/>
                </a:ext>
              </a:extLst>
            </p:cNvPr>
            <p:cNvSpPr/>
            <p:nvPr/>
          </p:nvSpPr>
          <p:spPr>
            <a:xfrm>
              <a:off x="2648589" y="3597639"/>
              <a:ext cx="291600" cy="2923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E710EE-03AB-5CA9-786A-DA9E9AAE74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89020" y="4528487"/>
              <a:ext cx="581833" cy="579600"/>
            </a:xfrm>
            <a:prstGeom prst="rect">
              <a:avLst/>
            </a:prstGeom>
            <a:solidFill>
              <a:srgbClr val="00A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449FA6A-E153-B21D-EADE-556DEF96BC2B}"/>
                </a:ext>
              </a:extLst>
            </p:cNvPr>
            <p:cNvCxnSpPr>
              <a:endCxn id="16" idx="0"/>
            </p:cNvCxnSpPr>
            <p:nvPr/>
          </p:nvCxnSpPr>
          <p:spPr>
            <a:xfrm flipH="1">
              <a:off x="4757218" y="3110673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063CF76-72C8-76A8-6733-641E47B09D5F}"/>
                </a:ext>
              </a:extLst>
            </p:cNvPr>
            <p:cNvCxnSpPr/>
            <p:nvPr/>
          </p:nvCxnSpPr>
          <p:spPr>
            <a:xfrm flipH="1">
              <a:off x="2797328" y="3121748"/>
              <a:ext cx="1459" cy="486966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17C95CD-27FD-0229-A867-0F79F3FF1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6089" y="3634185"/>
              <a:ext cx="266700" cy="21907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DF2A84-3026-D4F7-9863-EB967739F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91447" y="3634185"/>
              <a:ext cx="314325" cy="209550"/>
            </a:xfrm>
            <a:prstGeom prst="rect">
              <a:avLst/>
            </a:prstGeom>
          </p:spPr>
        </p:pic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7B48FF6-4825-6459-A265-7E1570590D9F}"/>
                </a:ext>
              </a:extLst>
            </p:cNvPr>
            <p:cNvSpPr/>
            <p:nvPr/>
          </p:nvSpPr>
          <p:spPr>
            <a:xfrm>
              <a:off x="3444571" y="4524887"/>
              <a:ext cx="583200" cy="583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46B2812-85E4-B7E2-79DD-8B96A4E31D11}"/>
                </a:ext>
              </a:extLst>
            </p:cNvPr>
            <p:cNvCxnSpPr>
              <a:cxnSpLocks/>
              <a:stCxn id="16" idx="2"/>
              <a:endCxn id="23" idx="7"/>
            </p:cNvCxnSpPr>
            <p:nvPr/>
          </p:nvCxnSpPr>
          <p:spPr>
            <a:xfrm flipH="1">
              <a:off x="3942363" y="3890035"/>
              <a:ext cx="814855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EE23D9A-0DC5-8489-D287-B8DCA2D4BC9C}"/>
                </a:ext>
              </a:extLst>
            </p:cNvPr>
            <p:cNvCxnSpPr>
              <a:cxnSpLocks/>
              <a:stCxn id="17" idx="2"/>
              <a:endCxn id="23" idx="1"/>
            </p:cNvCxnSpPr>
            <p:nvPr/>
          </p:nvCxnSpPr>
          <p:spPr>
            <a:xfrm>
              <a:off x="2794389" y="3890035"/>
              <a:ext cx="735590" cy="720260"/>
            </a:xfrm>
            <a:prstGeom prst="straightConnector1">
              <a:avLst/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A3DD8E36-12D7-E029-170E-27B38350145F}"/>
                </a:ext>
              </a:extLst>
            </p:cNvPr>
            <p:cNvCxnSpPr>
              <a:cxnSpLocks/>
              <a:stCxn id="23" idx="6"/>
              <a:endCxn id="18" idx="1"/>
            </p:cNvCxnSpPr>
            <p:nvPr/>
          </p:nvCxnSpPr>
          <p:spPr>
            <a:xfrm>
              <a:off x="4027771" y="4816487"/>
              <a:ext cx="2761249" cy="180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5E5E5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C755D5-F038-7078-43AB-6BC9EC0ABFB2}"/>
                </a:ext>
              </a:extLst>
            </p:cNvPr>
            <p:cNvSpPr txBox="1"/>
            <p:nvPr/>
          </p:nvSpPr>
          <p:spPr>
            <a:xfrm>
              <a:off x="6586583" y="5211421"/>
              <a:ext cx="1003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00A2FF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decoder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EACAD6-5063-4FD7-63A7-9F4E40C9AB36}"/>
                </a:ext>
              </a:extLst>
            </p:cNvPr>
            <p:cNvSpPr txBox="1"/>
            <p:nvPr/>
          </p:nvSpPr>
          <p:spPr>
            <a:xfrm>
              <a:off x="3039506" y="5187233"/>
              <a:ext cx="1393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00B05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aggregation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565F16-E929-4CAE-3224-5E18006795EC}"/>
                </a:ext>
              </a:extLst>
            </p:cNvPr>
            <p:cNvSpPr txBox="1"/>
            <p:nvPr/>
          </p:nvSpPr>
          <p:spPr>
            <a:xfrm>
              <a:off x="4918205" y="3554294"/>
              <a:ext cx="1002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C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encoder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25259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26BE8-B604-D02F-5A8E-52B609EB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3257EA20-9C43-16D1-DA01-046E60C94191}"/>
              </a:ext>
            </a:extLst>
          </p:cNvPr>
          <p:cNvSpPr txBox="1"/>
          <p:nvPr/>
        </p:nvSpPr>
        <p:spPr>
          <a:xfrm>
            <a:off x="240032" y="763428"/>
            <a:ext cx="1219199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There’s a lot of $$ going around this area…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is why many ideas and implementations are not open-source</a:t>
            </a: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b="1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TLDR: tabular foundational models are changing data science jobs profoundly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70F0A-69D7-216B-C147-6554F30DE17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A7B1A-49E6-671C-70CD-F4554BFA8987}"/>
              </a:ext>
            </a:extLst>
          </p:cNvPr>
          <p:cNvSpPr txBox="1"/>
          <p:nvPr/>
        </p:nvSpPr>
        <p:spPr>
          <a:xfrm>
            <a:off x="240033" y="-89174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Tabular foundational models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AC1905-A65F-314D-F19C-63634BD2167B}"/>
              </a:ext>
            </a:extLst>
          </p:cNvPr>
          <p:cNvSpPr txBox="1"/>
          <p:nvPr/>
        </p:nvSpPr>
        <p:spPr>
          <a:xfrm>
            <a:off x="13798062" y="-1055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pic>
        <p:nvPicPr>
          <p:cNvPr id="2" name="Picture 1" descr="A screenshot of a website&#10;&#10;AI-generated content may be incorrect.">
            <a:extLst>
              <a:ext uri="{FF2B5EF4-FFF2-40B4-BE49-F238E27FC236}">
                <a16:creationId xmlns:a16="http://schemas.microsoft.com/office/drawing/2014/main" id="{C7805002-3CB4-CFC5-A87E-3DAB1051B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431" y="1594378"/>
            <a:ext cx="4794908" cy="2863101"/>
          </a:xfrm>
          <a:prstGeom prst="rect">
            <a:avLst/>
          </a:prstGeom>
        </p:spPr>
      </p:pic>
      <p:pic>
        <p:nvPicPr>
          <p:cNvPr id="39" name="Picture 3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DC87DA-3CB3-D922-8F8E-D9AF0F276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3" y="1594378"/>
            <a:ext cx="6328961" cy="286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3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59096</TotalTime>
  <Words>3451</Words>
  <Application>Microsoft Macintosh PowerPoint</Application>
  <PresentationFormat>Widescreen</PresentationFormat>
  <Paragraphs>568</Paragraphs>
  <Slides>63</Slides>
  <Notes>40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3" baseType="lpstr">
      <vt:lpstr>Arial</vt:lpstr>
      <vt:lpstr>Calibri</vt:lpstr>
      <vt:lpstr>Calibri Light</vt:lpstr>
      <vt:lpstr>Courier New</vt:lpstr>
      <vt:lpstr>Lato</vt:lpstr>
      <vt:lpstr>Roboto Black</vt:lpstr>
      <vt:lpstr>Roboto ExtraLight</vt:lpstr>
      <vt:lpstr>Roboto Light</vt:lpstr>
      <vt:lpstr>Roboto Thin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 Rodrigues</dc:creator>
  <cp:lastModifiedBy>Pedro Rodrigues</cp:lastModifiedBy>
  <cp:revision>2124</cp:revision>
  <dcterms:created xsi:type="dcterms:W3CDTF">2022-01-14T10:39:20Z</dcterms:created>
  <dcterms:modified xsi:type="dcterms:W3CDTF">2026-04-20T08:04:12Z</dcterms:modified>
</cp:coreProperties>
</file>