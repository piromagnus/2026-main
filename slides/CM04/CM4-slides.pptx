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382" r:id="rId2"/>
    <p:sldId id="487" r:id="rId3"/>
    <p:sldId id="478" r:id="rId4"/>
    <p:sldId id="425" r:id="rId5"/>
    <p:sldId id="426" r:id="rId6"/>
    <p:sldId id="377" r:id="rId7"/>
    <p:sldId id="427" r:id="rId8"/>
    <p:sldId id="429" r:id="rId9"/>
    <p:sldId id="488" r:id="rId10"/>
    <p:sldId id="428" r:id="rId11"/>
    <p:sldId id="435" r:id="rId12"/>
    <p:sldId id="436" r:id="rId13"/>
    <p:sldId id="437" r:id="rId14"/>
    <p:sldId id="438" r:id="rId15"/>
    <p:sldId id="431" r:id="rId16"/>
    <p:sldId id="439" r:id="rId17"/>
    <p:sldId id="444" r:id="rId18"/>
    <p:sldId id="452" r:id="rId19"/>
    <p:sldId id="453" r:id="rId20"/>
    <p:sldId id="454" r:id="rId21"/>
    <p:sldId id="455" r:id="rId22"/>
    <p:sldId id="456" r:id="rId23"/>
    <p:sldId id="457" r:id="rId24"/>
    <p:sldId id="445" r:id="rId25"/>
    <p:sldId id="466" r:id="rId26"/>
    <p:sldId id="467" r:id="rId27"/>
    <p:sldId id="273" r:id="rId28"/>
    <p:sldId id="274" r:id="rId29"/>
    <p:sldId id="491" r:id="rId30"/>
    <p:sldId id="492" r:id="rId31"/>
    <p:sldId id="493" r:id="rId32"/>
    <p:sldId id="502" r:id="rId33"/>
    <p:sldId id="503" r:id="rId34"/>
    <p:sldId id="504" r:id="rId35"/>
    <p:sldId id="463" r:id="rId36"/>
    <p:sldId id="505" r:id="rId37"/>
    <p:sldId id="506" r:id="rId38"/>
    <p:sldId id="507" r:id="rId39"/>
    <p:sldId id="508" r:id="rId40"/>
    <p:sldId id="489" r:id="rId41"/>
    <p:sldId id="468" r:id="rId42"/>
    <p:sldId id="475" r:id="rId43"/>
    <p:sldId id="509" r:id="rId44"/>
    <p:sldId id="469" r:id="rId45"/>
    <p:sldId id="473" r:id="rId46"/>
    <p:sldId id="476" r:id="rId47"/>
    <p:sldId id="497" r:id="rId48"/>
    <p:sldId id="494" r:id="rId49"/>
    <p:sldId id="496" r:id="rId50"/>
    <p:sldId id="490" r:id="rId51"/>
    <p:sldId id="443" r:id="rId52"/>
    <p:sldId id="470" r:id="rId53"/>
    <p:sldId id="471" r:id="rId54"/>
    <p:sldId id="472" r:id="rId55"/>
    <p:sldId id="495" r:id="rId56"/>
    <p:sldId id="465" r:id="rId57"/>
    <p:sldId id="481" r:id="rId58"/>
    <p:sldId id="482" r:id="rId59"/>
    <p:sldId id="498" r:id="rId60"/>
    <p:sldId id="500" r:id="rId61"/>
    <p:sldId id="499" r:id="rId62"/>
    <p:sldId id="501" r:id="rId63"/>
    <p:sldId id="486" r:id="rId6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2743"/>
    <a:srgbClr val="5E5E5E"/>
    <a:srgbClr val="548FF7"/>
    <a:srgbClr val="BBD5E8"/>
    <a:srgbClr val="E8EBE4"/>
    <a:srgbClr val="F5AE00"/>
    <a:srgbClr val="9B5222"/>
    <a:srgbClr val="FF871B"/>
    <a:srgbClr val="0000FF"/>
    <a:srgbClr val="00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5210"/>
  </p:normalViewPr>
  <p:slideViewPr>
    <p:cSldViewPr snapToGrid="0" snapToObjects="1">
      <p:cViewPr varScale="1">
        <p:scale>
          <a:sx n="96" d="100"/>
          <a:sy n="96" d="100"/>
        </p:scale>
        <p:origin x="184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FE6C1-AB26-3F44-9C87-C500B9817AF1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39096-BE51-9C45-B82B-FA0E89D45848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37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9930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71D78-4FD9-2946-7516-2C993A7E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C0C5C-1FD6-4DA9-A775-59174BE90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D8028-A2B5-901C-28A8-FFE24EFED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B8F8-4E04-8E28-8E39-24059E5FA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211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44281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19753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51432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81649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35615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86150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65632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58519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28068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35943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61616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14738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19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74912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61781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11862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04073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26086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690565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547010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26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243380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844749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8C7A-851F-4239-DC05-76BA9F02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B4681-41B8-E0C6-9B59-3B3A6FB49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88C28-D188-71E0-EA9F-03000EC2C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F1F81-286F-BCF5-7260-437F4244C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540322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D9396-AFB1-6E1B-57F9-4CA3F2F6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66DC3-CC57-77CD-439F-9876EF774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5B8CF-7C92-455D-5CC7-B59C4541B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5FD2C-3222-DAE3-4321-A034819B4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12622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2977-1BF6-E758-B814-3996A314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AC130-77EA-8C6C-EA6E-1CD8BDA9B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2E3D0-C63C-07F0-B239-326DD4199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E89B4-60E3-D18D-45FA-8F76ED02B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579691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E1F0-E16B-EC86-D8C7-BF0B91618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59359-EE61-FD0F-FE4C-31B006BB9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E7C17-011B-9778-CE66-6F1ABC4C0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2E086-2484-48A2-02C8-96C9A3C5B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39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576970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02339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901736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9B5E-DC2E-B288-86ED-EDB86947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530FB-084E-5BAF-5E73-B2EE0A2EA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D4D2F-E9D3-C04E-1DAE-1E4781FA2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2F152-6AC4-0530-9B79-0DA2A8563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972668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479094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148682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09545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2AA5-7055-13F5-5D3C-DF0642C1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05888-9C4A-947F-38AC-4FCAD1FB9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3F2E7-DDE0-09E0-4A09-3AB6C4992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F08AC-6A41-819E-588C-3399364C8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005133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81377-888D-562B-8799-1FE1B3F7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1A0BA-4689-A2B5-5123-E9AAD9349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8A636-2A92-D225-0258-2FC446C48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E1D73-E347-3259-8C04-BA4FE5604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006294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CB21-2B5D-B22C-D450-56421792F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A8A40-11EC-8712-B4EB-CFA8563F4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613DA-890F-E94F-79EE-834B8D825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75DA6-4679-9AB6-8D8C-9B5EC2515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49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461556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720786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658545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289488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54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877304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BB4C7-896B-2336-08E4-222043A5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0C434-21D0-AFED-091F-F39BA06F2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6F403-EE21-A61F-DFCC-8BCA3839B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6B833-334C-79C2-F4B2-3317891C9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620328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56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137259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57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728170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58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474844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BC751-9D29-764D-F70A-90758B4B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5F08E-6C84-5679-17FF-16D8DC540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E5A5C-6ED7-26B0-73BC-2B34DD1CA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BFF4E-6186-FCE5-4095-C6607311B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59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993655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03C45-2C33-ACE3-E217-55F273CE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0BD80-5284-E22E-ADF2-C3A3DC00B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BB1B7-4B3F-99D6-CB20-2DEA9616E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77724-D08A-8C7D-3447-59028F45D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60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266011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9943B-A25F-216C-102E-07CFF1FD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7093B-CB1F-F03A-8978-45D935BA6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61EF7-8AB1-3333-0F21-3F5DACF3B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E7715-3856-5125-4910-E61192FD2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618148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39F2-25E3-E1F8-11B5-C9F8D4E4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A0D0E-673C-2721-6D80-DFCCDAE1A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90CD3-8282-9C73-A916-57A9043DE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2A4FB-31DD-9D8E-069F-82413D016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13633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FR" dirty="0"/>
              <a:t>The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9096-BE51-9C45-B82B-FA0E89D45848}" type="slidenum">
              <a:rPr lang="en-FR" smtClean="0"/>
              <a:t>63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525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EC9B-787C-824C-894C-857B659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034B8-C425-C946-83B5-386EB7480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8366-FA73-7C40-9D66-F01278D9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13DA-3627-824F-B630-E2948873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5195-A057-A740-ABFD-A4428E7E0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446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7FAB-44BF-AB48-8D73-DA1AEA67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A5C9-E435-904F-9A50-ED9242E28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2556-21DE-C043-BE7B-9E2A5497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DE1C2-7A56-054D-A23E-DD2241BE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8906-A5FE-FF4D-A27E-550C5990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2565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4E8A-2B0D-EB42-A978-1FE768A3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EB75-EBFD-8E42-82F0-A331F604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81795-369A-C94E-9F66-0A208AF1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FBA02-0FCB-EA44-B7B5-96861116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71C-9EF7-0C4B-BDDD-FB6BA964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1860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381-A6CF-6F47-A7A3-14C7831D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1EC3-D19C-DC4D-A5B9-9460AD4AA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A3376-5078-194F-9992-6B02E62E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1E5D-D454-0943-B25A-DA182891A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67DE1-3EE7-D943-B7FD-A51C83BA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BA756-9D8E-C845-B692-3873FF00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0877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190A-2F02-BD4E-9E22-FE2A2CC9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E7DD-D354-C048-8942-567BCCBE7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2036-8FA2-734D-A0A4-540FA63F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EAE85-DEC4-6042-A589-63117EF75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B7604-EC7A-9F4B-8B40-82D381275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45EAB-187C-284A-B3CB-5EC78439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DA07A-26C9-CA4B-8592-EA2C357C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9D14B-3E77-C64E-BBF4-00C096EE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615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EED17-FBEF-0040-96E6-994DBD52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2881A-CF7D-8C45-9008-E61A46B5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5F0EE-BDC6-3E43-BEAC-A339A972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E1059-D3D9-064E-BFD5-C588BE34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575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CF8FB-7AEB-7147-A83A-4DF08A93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F6FAA-2A77-D645-B7D9-87AF3594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85873-66FC-0E4A-A249-F6FA165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1041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E7F8-26AB-8045-9C68-095EB3F35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37C8-7D1E-D745-A650-7BE33872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687F2-0361-5E48-9242-1481CECC5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96C55-C72A-6346-9F4D-E7EBB953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2A30C-17EA-D843-AB84-DCC67550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58998-8FCD-4A48-8077-41D395F1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73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506-CC8C-3948-98A1-3618A657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23419-833F-ED48-BCFF-35297290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7541E-9161-9845-900C-0B7F4D6B4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6B3E-FD83-2742-B704-CAA2A3EB7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2EB9A-F8B6-4F40-A237-D183B7FA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7B30-1A12-B54A-9EC7-A21A9020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8946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F93D-B2C2-7048-94E6-5B0A3937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1939D-3520-5A4E-AC60-F1060FE9B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3D6DC-E506-5049-B0CD-01E32D73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9E02-B2EF-CC4E-A982-1A0F3130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BA1F-361D-CF4C-A4FB-8D2BD097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107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8988E-5C51-134D-8C79-867D44453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2FE0-5CF2-8544-A5E3-F37FBDD35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76C2-05A5-5A4B-9AA6-732FC73A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24220-F883-2A4C-82CA-C524A70A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F099-3857-6B40-AE2C-2127FDED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72570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95531-CC31-C242-807F-85E2E673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68A4-CCF7-2A40-831F-1C89AC50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E3EE-7349-1747-80AE-DCDB34EFE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5F58-0AA8-724B-8DBF-E28AC2D343FC}" type="datetimeFigureOut">
              <a:rPr lang="en-FR" smtClean="0"/>
              <a:t>27/02/2026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D396-5C82-A643-8632-51B3DE0CC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28E0-1C6E-1140-BACB-EBB4D140C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13FD-52B6-3A43-8809-9B737C0501F5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8282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11" Type="http://schemas.openxmlformats.org/officeDocument/2006/relationships/image" Target="../media/image22.emf"/><Relationship Id="rId5" Type="http://schemas.openxmlformats.org/officeDocument/2006/relationships/image" Target="../media/image16.emf"/><Relationship Id="rId10" Type="http://schemas.openxmlformats.org/officeDocument/2006/relationships/image" Target="../media/image21.emf"/><Relationship Id="rId4" Type="http://schemas.openxmlformats.org/officeDocument/2006/relationships/image" Target="../media/image15.emf"/><Relationship Id="rId9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emf"/><Relationship Id="rId7" Type="http://schemas.openxmlformats.org/officeDocument/2006/relationships/image" Target="../media/image28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10" Type="http://schemas.openxmlformats.org/officeDocument/2006/relationships/image" Target="../media/image31.emf"/><Relationship Id="rId4" Type="http://schemas.openxmlformats.org/officeDocument/2006/relationships/image" Target="../media/image25.emf"/><Relationship Id="rId9" Type="http://schemas.openxmlformats.org/officeDocument/2006/relationships/image" Target="../media/image3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6.emf"/><Relationship Id="rId7" Type="http://schemas.openxmlformats.org/officeDocument/2006/relationships/image" Target="../media/image3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5.emf"/><Relationship Id="rId9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image" Target="../media/image45.emf"/><Relationship Id="rId3" Type="http://schemas.openxmlformats.org/officeDocument/2006/relationships/image" Target="../media/image37.emf"/><Relationship Id="rId7" Type="http://schemas.openxmlformats.org/officeDocument/2006/relationships/image" Target="../media/image6.emf"/><Relationship Id="rId12" Type="http://schemas.openxmlformats.org/officeDocument/2006/relationships/image" Target="../media/image4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11" Type="http://schemas.openxmlformats.org/officeDocument/2006/relationships/image" Target="../media/image43.emf"/><Relationship Id="rId5" Type="http://schemas.openxmlformats.org/officeDocument/2006/relationships/image" Target="../media/image39.emf"/><Relationship Id="rId10" Type="http://schemas.openxmlformats.org/officeDocument/2006/relationships/image" Target="../media/image42.emf"/><Relationship Id="rId4" Type="http://schemas.openxmlformats.org/officeDocument/2006/relationships/image" Target="../media/image38.emf"/><Relationship Id="rId9" Type="http://schemas.openxmlformats.org/officeDocument/2006/relationships/image" Target="../media/image4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2.emf"/><Relationship Id="rId7" Type="http://schemas.openxmlformats.org/officeDocument/2006/relationships/image" Target="../media/image5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5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emf"/><Relationship Id="rId5" Type="http://schemas.openxmlformats.org/officeDocument/2006/relationships/image" Target="../media/image5.emf"/><Relationship Id="rId4" Type="http://schemas.openxmlformats.org/officeDocument/2006/relationships/image" Target="../media/image3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13" Type="http://schemas.openxmlformats.org/officeDocument/2006/relationships/image" Target="../media/image95.jpg"/><Relationship Id="rId3" Type="http://schemas.openxmlformats.org/officeDocument/2006/relationships/image" Target="../media/image85.jpg"/><Relationship Id="rId7" Type="http://schemas.openxmlformats.org/officeDocument/2006/relationships/image" Target="../media/image89.jpg"/><Relationship Id="rId12" Type="http://schemas.openxmlformats.org/officeDocument/2006/relationships/image" Target="../media/image94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jpg"/><Relationship Id="rId11" Type="http://schemas.openxmlformats.org/officeDocument/2006/relationships/image" Target="../media/image93.emf"/><Relationship Id="rId5" Type="http://schemas.openxmlformats.org/officeDocument/2006/relationships/image" Target="../media/image87.jpg"/><Relationship Id="rId10" Type="http://schemas.openxmlformats.org/officeDocument/2006/relationships/image" Target="../media/image92.emf"/><Relationship Id="rId4" Type="http://schemas.openxmlformats.org/officeDocument/2006/relationships/image" Target="../media/image86.jpg"/><Relationship Id="rId9" Type="http://schemas.openxmlformats.org/officeDocument/2006/relationships/image" Target="../media/image91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image" Target="../media/image105.emf"/><Relationship Id="rId3" Type="http://schemas.openxmlformats.org/officeDocument/2006/relationships/image" Target="../media/image96.emf"/><Relationship Id="rId7" Type="http://schemas.openxmlformats.org/officeDocument/2006/relationships/image" Target="../media/image100.emf"/><Relationship Id="rId12" Type="http://schemas.openxmlformats.org/officeDocument/2006/relationships/image" Target="../media/image104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emf"/><Relationship Id="rId11" Type="http://schemas.openxmlformats.org/officeDocument/2006/relationships/image" Target="../media/image103.emf"/><Relationship Id="rId5" Type="http://schemas.openxmlformats.org/officeDocument/2006/relationships/image" Target="../media/image98.emf"/><Relationship Id="rId10" Type="http://schemas.openxmlformats.org/officeDocument/2006/relationships/image" Target="../media/image102.emf"/><Relationship Id="rId4" Type="http://schemas.openxmlformats.org/officeDocument/2006/relationships/image" Target="../media/image97.emf"/><Relationship Id="rId9" Type="http://schemas.openxmlformats.org/officeDocument/2006/relationships/image" Target="../media/image95.jpg"/><Relationship Id="rId14" Type="http://schemas.openxmlformats.org/officeDocument/2006/relationships/image" Target="../media/image10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5.emf"/><Relationship Id="rId7" Type="http://schemas.openxmlformats.org/officeDocument/2006/relationships/image" Target="../media/image11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e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9" Type="http://schemas.openxmlformats.org/officeDocument/2006/relationships/image" Target="../media/image113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emf"/><Relationship Id="rId4" Type="http://schemas.openxmlformats.org/officeDocument/2006/relationships/image" Target="../media/image11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emf"/><Relationship Id="rId4" Type="http://schemas.openxmlformats.org/officeDocument/2006/relationships/image" Target="../media/image115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emf"/><Relationship Id="rId3" Type="http://schemas.openxmlformats.org/officeDocument/2006/relationships/image" Target="../media/image117.emf"/><Relationship Id="rId7" Type="http://schemas.openxmlformats.org/officeDocument/2006/relationships/image" Target="../media/image11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emf"/><Relationship Id="rId5" Type="http://schemas.openxmlformats.org/officeDocument/2006/relationships/image" Target="../media/image119.emf"/><Relationship Id="rId4" Type="http://schemas.openxmlformats.org/officeDocument/2006/relationships/image" Target="../media/image118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image" Target="../media/image121.emf"/><Relationship Id="rId7" Type="http://schemas.openxmlformats.org/officeDocument/2006/relationships/image" Target="../media/image125.emf"/><Relationship Id="rId12" Type="http://schemas.openxmlformats.org/officeDocument/2006/relationships/image" Target="../media/image11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emf"/><Relationship Id="rId11" Type="http://schemas.openxmlformats.org/officeDocument/2006/relationships/image" Target="../media/image114.emf"/><Relationship Id="rId5" Type="http://schemas.openxmlformats.org/officeDocument/2006/relationships/image" Target="../media/image123.emf"/><Relationship Id="rId10" Type="http://schemas.openxmlformats.org/officeDocument/2006/relationships/image" Target="../media/image117.emf"/><Relationship Id="rId4" Type="http://schemas.openxmlformats.org/officeDocument/2006/relationships/image" Target="../media/image122.emf"/><Relationship Id="rId9" Type="http://schemas.openxmlformats.org/officeDocument/2006/relationships/image" Target="../media/image12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7" Type="http://schemas.openxmlformats.org/officeDocument/2006/relationships/image" Target="../media/image115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emf"/><Relationship Id="rId5" Type="http://schemas.openxmlformats.org/officeDocument/2006/relationships/image" Target="../media/image130.emf"/><Relationship Id="rId4" Type="http://schemas.openxmlformats.org/officeDocument/2006/relationships/image" Target="../media/image129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7" Type="http://schemas.openxmlformats.org/officeDocument/2006/relationships/image" Target="../media/image139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emf"/><Relationship Id="rId5" Type="http://schemas.openxmlformats.org/officeDocument/2006/relationships/image" Target="../media/image137.emf"/><Relationship Id="rId4" Type="http://schemas.openxmlformats.org/officeDocument/2006/relationships/image" Target="../media/image136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emf"/><Relationship Id="rId3" Type="http://schemas.openxmlformats.org/officeDocument/2006/relationships/image" Target="../media/image147.emf"/><Relationship Id="rId7" Type="http://schemas.openxmlformats.org/officeDocument/2006/relationships/image" Target="../media/image151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emf"/><Relationship Id="rId11" Type="http://schemas.openxmlformats.org/officeDocument/2006/relationships/image" Target="../media/image155.emf"/><Relationship Id="rId5" Type="http://schemas.openxmlformats.org/officeDocument/2006/relationships/image" Target="../media/image149.emf"/><Relationship Id="rId10" Type="http://schemas.openxmlformats.org/officeDocument/2006/relationships/image" Target="../media/image154.emf"/><Relationship Id="rId4" Type="http://schemas.openxmlformats.org/officeDocument/2006/relationships/image" Target="../media/image148.emf"/><Relationship Id="rId9" Type="http://schemas.openxmlformats.org/officeDocument/2006/relationships/image" Target="../media/image153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erveAbdi/data4PCCAR/blob/master/data/foodOfTheWorld.r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30E4DC-5BA1-4A88-3549-39BB252362F9}"/>
              </a:ext>
            </a:extLst>
          </p:cNvPr>
          <p:cNvSpPr/>
          <p:nvPr/>
        </p:nvSpPr>
        <p:spPr>
          <a:xfrm>
            <a:off x="0" y="5801193"/>
            <a:ext cx="12192000" cy="1056807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9F4F4-12FE-580B-E00C-CFCF2FCF9F40}"/>
              </a:ext>
            </a:extLst>
          </p:cNvPr>
          <p:cNvSpPr txBox="1"/>
          <p:nvPr/>
        </p:nvSpPr>
        <p:spPr>
          <a:xfrm>
            <a:off x="6686967" y="5960264"/>
            <a:ext cx="55050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2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Pedro L. C. Rodrigues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537CB7-C4BB-7CE0-0825-9715A7575578}"/>
              </a:ext>
            </a:extLst>
          </p:cNvPr>
          <p:cNvSpPr/>
          <p:nvPr/>
        </p:nvSpPr>
        <p:spPr>
          <a:xfrm>
            <a:off x="1006145" y="663992"/>
            <a:ext cx="10179710" cy="2511684"/>
          </a:xfrm>
          <a:prstGeom prst="round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C973D-E8B9-CA36-F0E5-BE9D3B33A408}"/>
              </a:ext>
            </a:extLst>
          </p:cNvPr>
          <p:cNvSpPr txBox="1"/>
          <p:nvPr/>
        </p:nvSpPr>
        <p:spPr>
          <a:xfrm>
            <a:off x="945537" y="950338"/>
            <a:ext cx="10300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60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Introduction to Statistical Learning with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8D681-85A3-D3D9-0655-46D9193F23C1}"/>
              </a:ext>
            </a:extLst>
          </p:cNvPr>
          <p:cNvSpPr txBox="1"/>
          <p:nvPr/>
        </p:nvSpPr>
        <p:spPr>
          <a:xfrm>
            <a:off x="581859" y="3975929"/>
            <a:ext cx="110282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CM4: Principal component analysis</a:t>
            </a:r>
            <a:endParaRPr lang="en-FR" sz="4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1A4F1-1AA1-78C2-5EDF-D9B5D1C9F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A778508-5D3C-B71A-F9C4-18178231527D}"/>
              </a:ext>
            </a:extLst>
          </p:cNvPr>
          <p:cNvSpPr txBox="1"/>
          <p:nvPr/>
        </p:nvSpPr>
        <p:spPr>
          <a:xfrm>
            <a:off x="305060" y="995093"/>
            <a:ext cx="11182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figure depicts training and validation curves with increasing model complexity</a:t>
            </a:r>
            <a:endParaRPr lang="en-GB" sz="2400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C7770F-C2E6-B8EE-F478-4421D7D85B94}"/>
              </a:ext>
            </a:extLst>
          </p:cNvPr>
          <p:cNvSpPr txBox="1"/>
          <p:nvPr/>
        </p:nvSpPr>
        <p:spPr>
          <a:xfrm>
            <a:off x="7208846" y="1933425"/>
            <a:ext cx="46563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curve is more likely to be the training error ? and the testing error? </a:t>
            </a:r>
          </a:p>
          <a:p>
            <a:endParaRPr lang="en-GB" sz="2400" dirty="0"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 in the graph are bias/variance low/high</a:t>
            </a:r>
            <a:r>
              <a:rPr lang="en-GB" sz="2400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?</a:t>
            </a:r>
          </a:p>
          <a:p>
            <a:endParaRPr lang="en-GB" sz="2400" dirty="0"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which regions does the model overfit or underfit?</a:t>
            </a:r>
            <a:endParaRPr lang="en-GB" sz="2400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607EFD1-B7F6-8125-EE87-25F8DC846A86}"/>
              </a:ext>
            </a:extLst>
          </p:cNvPr>
          <p:cNvSpPr/>
          <p:nvPr/>
        </p:nvSpPr>
        <p:spPr>
          <a:xfrm>
            <a:off x="1067209" y="2156452"/>
            <a:ext cx="5271608" cy="2159979"/>
          </a:xfrm>
          <a:custGeom>
            <a:avLst/>
            <a:gdLst>
              <a:gd name="connsiteX0" fmla="*/ 0 w 5271608"/>
              <a:gd name="connsiteY0" fmla="*/ 0 h 2159979"/>
              <a:gd name="connsiteX1" fmla="*/ 558459 w 5271608"/>
              <a:gd name="connsiteY1" fmla="*/ 1485133 h 2159979"/>
              <a:gd name="connsiteX2" fmla="*/ 1632419 w 5271608"/>
              <a:gd name="connsiteY2" fmla="*/ 2062003 h 2159979"/>
              <a:gd name="connsiteX3" fmla="*/ 3252564 w 5271608"/>
              <a:gd name="connsiteY3" fmla="*/ 2141783 h 2159979"/>
              <a:gd name="connsiteX4" fmla="*/ 4019678 w 5271608"/>
              <a:gd name="connsiteY4" fmla="*/ 1865622 h 2159979"/>
              <a:gd name="connsiteX5" fmla="*/ 4682465 w 5271608"/>
              <a:gd name="connsiteY5" fmla="*/ 1110781 h 2159979"/>
              <a:gd name="connsiteX6" fmla="*/ 5271608 w 5271608"/>
              <a:gd name="connsiteY6" fmla="*/ 165697 h 2159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1608" h="2159979">
                <a:moveTo>
                  <a:pt x="0" y="0"/>
                </a:moveTo>
                <a:cubicBezTo>
                  <a:pt x="143194" y="570733"/>
                  <a:pt x="286389" y="1141466"/>
                  <a:pt x="558459" y="1485133"/>
                </a:cubicBezTo>
                <a:cubicBezTo>
                  <a:pt x="830529" y="1828800"/>
                  <a:pt x="1183402" y="1952561"/>
                  <a:pt x="1632419" y="2062003"/>
                </a:cubicBezTo>
                <a:cubicBezTo>
                  <a:pt x="2081437" y="2171445"/>
                  <a:pt x="2854688" y="2174513"/>
                  <a:pt x="3252564" y="2141783"/>
                </a:cubicBezTo>
                <a:cubicBezTo>
                  <a:pt x="3650440" y="2109053"/>
                  <a:pt x="3781361" y="2037456"/>
                  <a:pt x="4019678" y="1865622"/>
                </a:cubicBezTo>
                <a:cubicBezTo>
                  <a:pt x="4257995" y="1693788"/>
                  <a:pt x="4473810" y="1394102"/>
                  <a:pt x="4682465" y="1110781"/>
                </a:cubicBezTo>
                <a:cubicBezTo>
                  <a:pt x="4891120" y="827460"/>
                  <a:pt x="5081364" y="496578"/>
                  <a:pt x="5271608" y="165697"/>
                </a:cubicBezTo>
              </a:path>
            </a:pathLst>
          </a:custGeom>
          <a:noFill/>
          <a:ln w="63500">
            <a:solidFill>
              <a:srgbClr val="548F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1B4B725E-4B97-B439-A1D3-2BA726059EAB}"/>
              </a:ext>
            </a:extLst>
          </p:cNvPr>
          <p:cNvSpPr/>
          <p:nvPr/>
        </p:nvSpPr>
        <p:spPr>
          <a:xfrm>
            <a:off x="1011977" y="2285327"/>
            <a:ext cx="5676644" cy="3137395"/>
          </a:xfrm>
          <a:custGeom>
            <a:avLst/>
            <a:gdLst>
              <a:gd name="connsiteX0" fmla="*/ 0 w 5676644"/>
              <a:gd name="connsiteY0" fmla="*/ 0 h 3137395"/>
              <a:gd name="connsiteX1" fmla="*/ 423447 w 5676644"/>
              <a:gd name="connsiteY1" fmla="*/ 1466723 h 3137395"/>
              <a:gd name="connsiteX2" fmla="*/ 846894 w 5676644"/>
              <a:gd name="connsiteY2" fmla="*/ 2190878 h 3137395"/>
              <a:gd name="connsiteX3" fmla="*/ 1362395 w 5676644"/>
              <a:gd name="connsiteY3" fmla="*/ 2626599 h 3137395"/>
              <a:gd name="connsiteX4" fmla="*/ 2712515 w 5676644"/>
              <a:gd name="connsiteY4" fmla="*/ 2933445 h 3137395"/>
              <a:gd name="connsiteX5" fmla="*/ 4940215 w 5676644"/>
              <a:gd name="connsiteY5" fmla="*/ 3117552 h 3137395"/>
              <a:gd name="connsiteX6" fmla="*/ 5676644 w 5676644"/>
              <a:gd name="connsiteY6" fmla="*/ 3123689 h 3137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6644" h="3137395">
                <a:moveTo>
                  <a:pt x="0" y="0"/>
                </a:moveTo>
                <a:cubicBezTo>
                  <a:pt x="141149" y="550788"/>
                  <a:pt x="282298" y="1101577"/>
                  <a:pt x="423447" y="1466723"/>
                </a:cubicBezTo>
                <a:cubicBezTo>
                  <a:pt x="564596" y="1831869"/>
                  <a:pt x="690403" y="1997565"/>
                  <a:pt x="846894" y="2190878"/>
                </a:cubicBezTo>
                <a:cubicBezTo>
                  <a:pt x="1003385" y="2384191"/>
                  <a:pt x="1051458" y="2502838"/>
                  <a:pt x="1362395" y="2626599"/>
                </a:cubicBezTo>
                <a:cubicBezTo>
                  <a:pt x="1673332" y="2750360"/>
                  <a:pt x="2116212" y="2851620"/>
                  <a:pt x="2712515" y="2933445"/>
                </a:cubicBezTo>
                <a:cubicBezTo>
                  <a:pt x="3308818" y="3015271"/>
                  <a:pt x="4446194" y="3085845"/>
                  <a:pt x="4940215" y="3117552"/>
                </a:cubicBezTo>
                <a:cubicBezTo>
                  <a:pt x="5434236" y="3149259"/>
                  <a:pt x="5555440" y="3136474"/>
                  <a:pt x="5676644" y="3123689"/>
                </a:cubicBezTo>
              </a:path>
            </a:pathLst>
          </a:cu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47C948-3EAB-5390-B304-EC059D78541E}"/>
              </a:ext>
            </a:extLst>
          </p:cNvPr>
          <p:cNvSpPr/>
          <p:nvPr/>
        </p:nvSpPr>
        <p:spPr>
          <a:xfrm>
            <a:off x="895376" y="1763690"/>
            <a:ext cx="5940531" cy="375579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84E44A-B854-8807-DFE0-9F578FC075A0}"/>
              </a:ext>
            </a:extLst>
          </p:cNvPr>
          <p:cNvSpPr txBox="1"/>
          <p:nvPr/>
        </p:nvSpPr>
        <p:spPr>
          <a:xfrm>
            <a:off x="2371559" y="5619147"/>
            <a:ext cx="2662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Model complexity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3A0EDC-4460-42E6-E655-C45EE8302D1D}"/>
              </a:ext>
            </a:extLst>
          </p:cNvPr>
          <p:cNvSpPr txBox="1"/>
          <p:nvPr/>
        </p:nvSpPr>
        <p:spPr>
          <a:xfrm rot="16200000">
            <a:off x="-654782" y="3410753"/>
            <a:ext cx="2395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Prediction error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5A8880-8B82-2238-D7C6-3DD3C6947E8A}"/>
              </a:ext>
            </a:extLst>
          </p:cNvPr>
          <p:cNvSpPr txBox="1"/>
          <p:nvPr/>
        </p:nvSpPr>
        <p:spPr>
          <a:xfrm>
            <a:off x="308169" y="298169"/>
            <a:ext cx="978024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b="1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from Carnegie Mellon University (CMU) 11-601 course</a:t>
            </a:r>
            <a:endParaRPr lang="en-GB" sz="2600" b="1" dirty="0"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09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F77173EA-248E-A4E4-48F6-1871B6BEF3E2}"/>
              </a:ext>
            </a:extLst>
          </p:cNvPr>
          <p:cNvSpPr txBox="1"/>
          <p:nvPr/>
        </p:nvSpPr>
        <p:spPr>
          <a:xfrm>
            <a:off x="305060" y="995093"/>
            <a:ext cx="11182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figure depicts training and validation curves with increasing model complexity</a:t>
            </a:r>
            <a:endParaRPr lang="en-GB" sz="2400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1AB37A-DA81-EC20-9337-0701E7EEE518}"/>
              </a:ext>
            </a:extLst>
          </p:cNvPr>
          <p:cNvSpPr txBox="1"/>
          <p:nvPr/>
        </p:nvSpPr>
        <p:spPr>
          <a:xfrm>
            <a:off x="7208846" y="1933425"/>
            <a:ext cx="46563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Which curve is more likely to be the training error ? and the testing error? </a:t>
            </a:r>
          </a:p>
          <a:p>
            <a:endParaRPr lang="en-GB" sz="2400" dirty="0"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 in the graph are bias/variance low/high</a:t>
            </a:r>
            <a:r>
              <a:rPr lang="en-GB" sz="2400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?</a:t>
            </a:r>
          </a:p>
          <a:p>
            <a:endParaRPr lang="en-GB" sz="2400" dirty="0"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which regions does the model overfit or underfit?</a:t>
            </a:r>
            <a:endParaRPr lang="en-GB" sz="2400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068676CC-440D-11EE-1609-2A1173FFA966}"/>
              </a:ext>
            </a:extLst>
          </p:cNvPr>
          <p:cNvSpPr/>
          <p:nvPr/>
        </p:nvSpPr>
        <p:spPr>
          <a:xfrm>
            <a:off x="1067209" y="2156452"/>
            <a:ext cx="5271608" cy="2159979"/>
          </a:xfrm>
          <a:custGeom>
            <a:avLst/>
            <a:gdLst>
              <a:gd name="connsiteX0" fmla="*/ 0 w 5271608"/>
              <a:gd name="connsiteY0" fmla="*/ 0 h 2159979"/>
              <a:gd name="connsiteX1" fmla="*/ 558459 w 5271608"/>
              <a:gd name="connsiteY1" fmla="*/ 1485133 h 2159979"/>
              <a:gd name="connsiteX2" fmla="*/ 1632419 w 5271608"/>
              <a:gd name="connsiteY2" fmla="*/ 2062003 h 2159979"/>
              <a:gd name="connsiteX3" fmla="*/ 3252564 w 5271608"/>
              <a:gd name="connsiteY3" fmla="*/ 2141783 h 2159979"/>
              <a:gd name="connsiteX4" fmla="*/ 4019678 w 5271608"/>
              <a:gd name="connsiteY4" fmla="*/ 1865622 h 2159979"/>
              <a:gd name="connsiteX5" fmla="*/ 4682465 w 5271608"/>
              <a:gd name="connsiteY5" fmla="*/ 1110781 h 2159979"/>
              <a:gd name="connsiteX6" fmla="*/ 5271608 w 5271608"/>
              <a:gd name="connsiteY6" fmla="*/ 165697 h 2159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1608" h="2159979">
                <a:moveTo>
                  <a:pt x="0" y="0"/>
                </a:moveTo>
                <a:cubicBezTo>
                  <a:pt x="143194" y="570733"/>
                  <a:pt x="286389" y="1141466"/>
                  <a:pt x="558459" y="1485133"/>
                </a:cubicBezTo>
                <a:cubicBezTo>
                  <a:pt x="830529" y="1828800"/>
                  <a:pt x="1183402" y="1952561"/>
                  <a:pt x="1632419" y="2062003"/>
                </a:cubicBezTo>
                <a:cubicBezTo>
                  <a:pt x="2081437" y="2171445"/>
                  <a:pt x="2854688" y="2174513"/>
                  <a:pt x="3252564" y="2141783"/>
                </a:cubicBezTo>
                <a:cubicBezTo>
                  <a:pt x="3650440" y="2109053"/>
                  <a:pt x="3781361" y="2037456"/>
                  <a:pt x="4019678" y="1865622"/>
                </a:cubicBezTo>
                <a:cubicBezTo>
                  <a:pt x="4257995" y="1693788"/>
                  <a:pt x="4473810" y="1394102"/>
                  <a:pt x="4682465" y="1110781"/>
                </a:cubicBezTo>
                <a:cubicBezTo>
                  <a:pt x="4891120" y="827460"/>
                  <a:pt x="5081364" y="496578"/>
                  <a:pt x="5271608" y="165697"/>
                </a:cubicBezTo>
              </a:path>
            </a:pathLst>
          </a:custGeom>
          <a:noFill/>
          <a:ln w="63500">
            <a:solidFill>
              <a:srgbClr val="548F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E91A33BE-D0F0-F945-6F2E-2630FAE655DF}"/>
              </a:ext>
            </a:extLst>
          </p:cNvPr>
          <p:cNvSpPr/>
          <p:nvPr/>
        </p:nvSpPr>
        <p:spPr>
          <a:xfrm>
            <a:off x="1011977" y="2285327"/>
            <a:ext cx="5676644" cy="3137395"/>
          </a:xfrm>
          <a:custGeom>
            <a:avLst/>
            <a:gdLst>
              <a:gd name="connsiteX0" fmla="*/ 0 w 5676644"/>
              <a:gd name="connsiteY0" fmla="*/ 0 h 3137395"/>
              <a:gd name="connsiteX1" fmla="*/ 423447 w 5676644"/>
              <a:gd name="connsiteY1" fmla="*/ 1466723 h 3137395"/>
              <a:gd name="connsiteX2" fmla="*/ 846894 w 5676644"/>
              <a:gd name="connsiteY2" fmla="*/ 2190878 h 3137395"/>
              <a:gd name="connsiteX3" fmla="*/ 1362395 w 5676644"/>
              <a:gd name="connsiteY3" fmla="*/ 2626599 h 3137395"/>
              <a:gd name="connsiteX4" fmla="*/ 2712515 w 5676644"/>
              <a:gd name="connsiteY4" fmla="*/ 2933445 h 3137395"/>
              <a:gd name="connsiteX5" fmla="*/ 4940215 w 5676644"/>
              <a:gd name="connsiteY5" fmla="*/ 3117552 h 3137395"/>
              <a:gd name="connsiteX6" fmla="*/ 5676644 w 5676644"/>
              <a:gd name="connsiteY6" fmla="*/ 3123689 h 3137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6644" h="3137395">
                <a:moveTo>
                  <a:pt x="0" y="0"/>
                </a:moveTo>
                <a:cubicBezTo>
                  <a:pt x="141149" y="550788"/>
                  <a:pt x="282298" y="1101577"/>
                  <a:pt x="423447" y="1466723"/>
                </a:cubicBezTo>
                <a:cubicBezTo>
                  <a:pt x="564596" y="1831869"/>
                  <a:pt x="690403" y="1997565"/>
                  <a:pt x="846894" y="2190878"/>
                </a:cubicBezTo>
                <a:cubicBezTo>
                  <a:pt x="1003385" y="2384191"/>
                  <a:pt x="1051458" y="2502838"/>
                  <a:pt x="1362395" y="2626599"/>
                </a:cubicBezTo>
                <a:cubicBezTo>
                  <a:pt x="1673332" y="2750360"/>
                  <a:pt x="2116212" y="2851620"/>
                  <a:pt x="2712515" y="2933445"/>
                </a:cubicBezTo>
                <a:cubicBezTo>
                  <a:pt x="3308818" y="3015271"/>
                  <a:pt x="4446194" y="3085845"/>
                  <a:pt x="4940215" y="3117552"/>
                </a:cubicBezTo>
                <a:cubicBezTo>
                  <a:pt x="5434236" y="3149259"/>
                  <a:pt x="5555440" y="3136474"/>
                  <a:pt x="5676644" y="3123689"/>
                </a:cubicBezTo>
              </a:path>
            </a:pathLst>
          </a:cu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554B4A-C6A7-E470-A492-63970A6F8B04}"/>
              </a:ext>
            </a:extLst>
          </p:cNvPr>
          <p:cNvSpPr/>
          <p:nvPr/>
        </p:nvSpPr>
        <p:spPr>
          <a:xfrm>
            <a:off x="895376" y="1763690"/>
            <a:ext cx="5940531" cy="375579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44B0D1-5FCF-0409-59F5-529E01641250}"/>
              </a:ext>
            </a:extLst>
          </p:cNvPr>
          <p:cNvSpPr txBox="1"/>
          <p:nvPr/>
        </p:nvSpPr>
        <p:spPr>
          <a:xfrm>
            <a:off x="2371559" y="5619147"/>
            <a:ext cx="2662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Model complexity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17B46F-20C2-8E2C-A4C6-6E585C13EE2E}"/>
              </a:ext>
            </a:extLst>
          </p:cNvPr>
          <p:cNvSpPr txBox="1"/>
          <p:nvPr/>
        </p:nvSpPr>
        <p:spPr>
          <a:xfrm rot="16200000">
            <a:off x="-654782" y="3410753"/>
            <a:ext cx="2395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Prediction error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279687-33FC-B3A0-2F16-E342BA722BEB}"/>
              </a:ext>
            </a:extLst>
          </p:cNvPr>
          <p:cNvCxnSpPr>
            <a:cxnSpLocks/>
          </p:cNvCxnSpPr>
          <p:nvPr/>
        </p:nvCxnSpPr>
        <p:spPr>
          <a:xfrm>
            <a:off x="4865828" y="2341835"/>
            <a:ext cx="1045890" cy="0"/>
          </a:xfrm>
          <a:prstGeom prst="straightConnector1">
            <a:avLst/>
          </a:prstGeom>
          <a:ln w="25400">
            <a:solidFill>
              <a:srgbClr val="FA274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E4E1280-7D67-4F9A-AD44-EF027268A323}"/>
              </a:ext>
            </a:extLst>
          </p:cNvPr>
          <p:cNvSpPr txBox="1"/>
          <p:nvPr/>
        </p:nvSpPr>
        <p:spPr>
          <a:xfrm>
            <a:off x="4795707" y="1843348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Low bias</a:t>
            </a:r>
          </a:p>
          <a:p>
            <a:r>
              <a:rPr lang="en-FR" sz="1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High variance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44108F-2322-1A62-19D3-606423E73660}"/>
              </a:ext>
            </a:extLst>
          </p:cNvPr>
          <p:cNvSpPr txBox="1"/>
          <p:nvPr/>
        </p:nvSpPr>
        <p:spPr>
          <a:xfrm>
            <a:off x="4795707" y="240468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Overfits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B8CFE8-28FE-6400-89B9-240F7E701206}"/>
              </a:ext>
            </a:extLst>
          </p:cNvPr>
          <p:cNvCxnSpPr>
            <a:cxnSpLocks/>
          </p:cNvCxnSpPr>
          <p:nvPr/>
        </p:nvCxnSpPr>
        <p:spPr>
          <a:xfrm>
            <a:off x="1440148" y="2341835"/>
            <a:ext cx="1045890" cy="0"/>
          </a:xfrm>
          <a:prstGeom prst="straightConnector1">
            <a:avLst/>
          </a:prstGeom>
          <a:ln w="25400">
            <a:solidFill>
              <a:srgbClr val="FA2743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B8CE1DF-E85D-BE93-D153-ACCCB9031553}"/>
              </a:ext>
            </a:extLst>
          </p:cNvPr>
          <p:cNvSpPr txBox="1"/>
          <p:nvPr/>
        </p:nvSpPr>
        <p:spPr>
          <a:xfrm>
            <a:off x="1370027" y="1843348"/>
            <a:ext cx="1071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FR" sz="1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High bias</a:t>
            </a:r>
          </a:p>
          <a:p>
            <a:pPr algn="r"/>
            <a:r>
              <a:rPr lang="en-FR" sz="1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Low variance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E10912-43FC-3A0F-1BFF-BD9BAF15B148}"/>
              </a:ext>
            </a:extLst>
          </p:cNvPr>
          <p:cNvSpPr txBox="1"/>
          <p:nvPr/>
        </p:nvSpPr>
        <p:spPr>
          <a:xfrm>
            <a:off x="1634602" y="2404680"/>
            <a:ext cx="801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Underfits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D60320-8C9F-CC22-FB64-6F05477BE028}"/>
              </a:ext>
            </a:extLst>
          </p:cNvPr>
          <p:cNvSpPr txBox="1"/>
          <p:nvPr/>
        </p:nvSpPr>
        <p:spPr>
          <a:xfrm>
            <a:off x="2535706" y="3768244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548FF7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Test error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983701-4E5C-C85A-92AA-769D9C4538A0}"/>
              </a:ext>
            </a:extLst>
          </p:cNvPr>
          <p:cNvSpPr txBox="1"/>
          <p:nvPr/>
        </p:nvSpPr>
        <p:spPr>
          <a:xfrm>
            <a:off x="4101035" y="4824275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</a:rPr>
              <a:t>Training error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7AADEA-4AC2-0752-9389-E8466A54E93F}"/>
              </a:ext>
            </a:extLst>
          </p:cNvPr>
          <p:cNvSpPr txBox="1"/>
          <p:nvPr/>
        </p:nvSpPr>
        <p:spPr>
          <a:xfrm>
            <a:off x="308169" y="298169"/>
            <a:ext cx="978024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b="1" dirty="0">
                <a:effectLst/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Exercise from Carnegie Mellon University (CMU) 11-601 course</a:t>
            </a:r>
            <a:endParaRPr lang="en-GB" sz="2600" b="1" dirty="0"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55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5ABBC-E592-BDEA-BDA0-9EB632F88E2C}"/>
              </a:ext>
            </a:extLst>
          </p:cNvPr>
          <p:cNvSpPr txBox="1"/>
          <p:nvPr/>
        </p:nvSpPr>
        <p:spPr>
          <a:xfrm>
            <a:off x="240033" y="-6963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Motivation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5468C-5F78-83C6-0EA6-A23C05F24BF2}"/>
              </a:ext>
            </a:extLst>
          </p:cNvPr>
          <p:cNvSpPr txBox="1"/>
          <p:nvPr/>
        </p:nvSpPr>
        <p:spPr>
          <a:xfrm>
            <a:off x="240033" y="645054"/>
            <a:ext cx="7920758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TP2 you will be given a dataset with: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494 rows representing different individuals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5709 columns containing their genetic markers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asked to train a linear regression model that predicts: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latitude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longitude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 the tribe to which each individual belongs.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CEF682-8929-5C34-4033-007621826FAC}"/>
              </a:ext>
            </a:extLst>
          </p:cNvPr>
          <p:cNvSpPr/>
          <p:nvPr/>
        </p:nvSpPr>
        <p:spPr>
          <a:xfrm>
            <a:off x="7114270" y="1391120"/>
            <a:ext cx="72000" cy="85177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21FE08-0DBA-D031-39D0-A4A0249B198A}"/>
              </a:ext>
            </a:extLst>
          </p:cNvPr>
          <p:cNvSpPr/>
          <p:nvPr/>
        </p:nvSpPr>
        <p:spPr>
          <a:xfrm>
            <a:off x="2672075" y="3029303"/>
            <a:ext cx="72000" cy="85177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A7A645-3531-1AE0-4AF2-F1748D4EF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428" y="3230628"/>
            <a:ext cx="2400300" cy="393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5546B3-4A74-D11B-7F27-42098ACBC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966" y="1644400"/>
            <a:ext cx="2044700" cy="31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A240532-5575-C3A6-F0FF-DCD671DB12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42" r="5416"/>
          <a:stretch/>
        </p:blipFill>
        <p:spPr>
          <a:xfrm>
            <a:off x="8466779" y="2061712"/>
            <a:ext cx="3546465" cy="3339314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7E380647-A7CA-5E4B-2E02-F6C873C4CB5A}"/>
              </a:ext>
            </a:extLst>
          </p:cNvPr>
          <p:cNvGrpSpPr/>
          <p:nvPr/>
        </p:nvGrpSpPr>
        <p:grpSpPr>
          <a:xfrm>
            <a:off x="240033" y="5330576"/>
            <a:ext cx="9068192" cy="974282"/>
            <a:chOff x="423081" y="5758649"/>
            <a:chExt cx="8176073" cy="974282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EB1A33E5-1994-5546-F4F6-A50D1D58520F}"/>
                </a:ext>
              </a:extLst>
            </p:cNvPr>
            <p:cNvSpPr/>
            <p:nvPr/>
          </p:nvSpPr>
          <p:spPr>
            <a:xfrm>
              <a:off x="423081" y="5758649"/>
              <a:ext cx="8176073" cy="716018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sz="2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AD8D21-15F5-C8E1-D039-9674669BFA54}"/>
                </a:ext>
              </a:extLst>
            </p:cNvPr>
            <p:cNvSpPr txBox="1"/>
            <p:nvPr/>
          </p:nvSpPr>
          <p:spPr>
            <a:xfrm>
              <a:off x="489077" y="5901934"/>
              <a:ext cx="804407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How can we get the coefficients for a linear regression model? 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109D5F5-9A93-1D01-B03F-447F199C0D26}"/>
              </a:ext>
            </a:extLst>
          </p:cNvPr>
          <p:cNvGrpSpPr/>
          <p:nvPr/>
        </p:nvGrpSpPr>
        <p:grpSpPr>
          <a:xfrm>
            <a:off x="178756" y="4604079"/>
            <a:ext cx="6729839" cy="604950"/>
            <a:chOff x="292045" y="4409325"/>
            <a:chExt cx="6729839" cy="60495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85B7341-211B-85FF-51FC-6B95AB38C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2064" y="4445920"/>
              <a:ext cx="2679700" cy="3302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B45238F-2400-C7AF-0257-54839C2D2DAB}"/>
                </a:ext>
              </a:extLst>
            </p:cNvPr>
            <p:cNvSpPr txBox="1"/>
            <p:nvPr/>
          </p:nvSpPr>
          <p:spPr>
            <a:xfrm>
              <a:off x="3735428" y="4409325"/>
              <a:ext cx="22140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i</a:t>
              </a: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s not invertible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D0E2B9A-3FA9-522E-1596-335A501D196F}"/>
                </a:ext>
              </a:extLst>
            </p:cNvPr>
            <p:cNvSpPr txBox="1"/>
            <p:nvPr/>
          </p:nvSpPr>
          <p:spPr>
            <a:xfrm>
              <a:off x="5858102" y="4429500"/>
              <a:ext cx="116378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FR" sz="3200" dirty="0"/>
                <a:t>😱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5781B3D-6B77-4A23-DF1D-7635A07DBF71}"/>
                </a:ext>
              </a:extLst>
            </p:cNvPr>
            <p:cNvSpPr txBox="1"/>
            <p:nvPr/>
          </p:nvSpPr>
          <p:spPr>
            <a:xfrm>
              <a:off x="292045" y="4409325"/>
              <a:ext cx="6415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But</a:t>
              </a:r>
              <a:endPara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6EA618A-6F4F-F637-1EFF-484C44F5347F}"/>
              </a:ext>
            </a:extLst>
          </p:cNvPr>
          <p:cNvGrpSpPr/>
          <p:nvPr/>
        </p:nvGrpSpPr>
        <p:grpSpPr>
          <a:xfrm>
            <a:off x="387890" y="6219093"/>
            <a:ext cx="11379350" cy="475533"/>
            <a:chOff x="451737" y="6166444"/>
            <a:chExt cx="11379350" cy="475533"/>
          </a:xfrm>
        </p:grpSpPr>
        <p:sp>
          <p:nvSpPr>
            <p:cNvPr id="53" name="Bent Arrow 52">
              <a:extLst>
                <a:ext uri="{FF2B5EF4-FFF2-40B4-BE49-F238E27FC236}">
                  <a16:creationId xmlns:a16="http://schemas.microsoft.com/office/drawing/2014/main" id="{FA566781-F97D-140C-CC7F-00F10D1688A4}"/>
                </a:ext>
              </a:extLst>
            </p:cNvPr>
            <p:cNvSpPr/>
            <p:nvPr/>
          </p:nvSpPr>
          <p:spPr>
            <a:xfrm rot="10800000" flipH="1">
              <a:off x="451737" y="6166444"/>
              <a:ext cx="290945" cy="332509"/>
            </a:xfrm>
            <a:prstGeom prst="bentArrow">
              <a:avLst/>
            </a:prstGeom>
            <a:solidFill>
              <a:srgbClr val="FA27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FC077B8-A8AB-3AFD-FED3-93F16372FBD6}"/>
                </a:ext>
              </a:extLst>
            </p:cNvPr>
            <p:cNvSpPr txBox="1"/>
            <p:nvPr/>
          </p:nvSpPr>
          <p:spPr>
            <a:xfrm>
              <a:off x="803709" y="6180312"/>
              <a:ext cx="11027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solidFill>
                    <a:srgbClr val="FA2743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Principal component analysis (PCA) can reduce the dimensionality of the data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4D9ACE3-B832-BBCE-53BD-88A14E326AC5}"/>
              </a:ext>
            </a:extLst>
          </p:cNvPr>
          <p:cNvSpPr txBox="1"/>
          <p:nvPr/>
        </p:nvSpPr>
        <p:spPr>
          <a:xfrm>
            <a:off x="6344055" y="4616198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(Why?)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56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756D64-2FA4-52FB-E47B-2826EBF17F6F}"/>
              </a:ext>
            </a:extLst>
          </p:cNvPr>
          <p:cNvGrpSpPr/>
          <p:nvPr/>
        </p:nvGrpSpPr>
        <p:grpSpPr>
          <a:xfrm>
            <a:off x="1510497" y="1398199"/>
            <a:ext cx="3565085" cy="1925711"/>
            <a:chOff x="595746" y="1005198"/>
            <a:chExt cx="3565085" cy="192571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BE7DC8-1E43-DBC6-81F6-0251CC10883D}"/>
                </a:ext>
              </a:extLst>
            </p:cNvPr>
            <p:cNvSpPr/>
            <p:nvPr/>
          </p:nvSpPr>
          <p:spPr>
            <a:xfrm>
              <a:off x="595746" y="1192206"/>
              <a:ext cx="3565085" cy="1684800"/>
            </a:xfrm>
            <a:prstGeom prst="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4C4ACF-4344-9A50-3F70-1145937C7260}"/>
                </a:ext>
              </a:extLst>
            </p:cNvPr>
            <p:cNvSpPr/>
            <p:nvPr/>
          </p:nvSpPr>
          <p:spPr>
            <a:xfrm>
              <a:off x="796636" y="1005198"/>
              <a:ext cx="3163305" cy="192571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7191D5-AE5C-727B-CB03-1DEB3D75171B}"/>
              </a:ext>
            </a:extLst>
          </p:cNvPr>
          <p:cNvGrpSpPr/>
          <p:nvPr/>
        </p:nvGrpSpPr>
        <p:grpSpPr>
          <a:xfrm>
            <a:off x="7304445" y="1411452"/>
            <a:ext cx="2148926" cy="1980516"/>
            <a:chOff x="5597238" y="1005199"/>
            <a:chExt cx="2148926" cy="198051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1DBAC1B-11A2-7E2A-1A5A-8CD24D5F538C}"/>
                </a:ext>
              </a:extLst>
            </p:cNvPr>
            <p:cNvSpPr/>
            <p:nvPr/>
          </p:nvSpPr>
          <p:spPr>
            <a:xfrm>
              <a:off x="5597238" y="1192206"/>
              <a:ext cx="2148926" cy="1684800"/>
            </a:xfrm>
            <a:prstGeom prst="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92CD49-94A7-3085-867C-1988172DC32A}"/>
                </a:ext>
              </a:extLst>
            </p:cNvPr>
            <p:cNvSpPr/>
            <p:nvPr/>
          </p:nvSpPr>
          <p:spPr>
            <a:xfrm>
              <a:off x="5798128" y="1005199"/>
              <a:ext cx="1747146" cy="1980516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14" name="Freeform 13">
            <a:extLst>
              <a:ext uri="{FF2B5EF4-FFF2-40B4-BE49-F238E27FC236}">
                <a16:creationId xmlns:a16="http://schemas.microsoft.com/office/drawing/2014/main" id="{D9472AF4-300D-9BAB-DF70-C0CDFB97F7CA}"/>
              </a:ext>
            </a:extLst>
          </p:cNvPr>
          <p:cNvSpPr/>
          <p:nvPr/>
        </p:nvSpPr>
        <p:spPr>
          <a:xfrm>
            <a:off x="5390857" y="2186041"/>
            <a:ext cx="645720" cy="321128"/>
          </a:xfrm>
          <a:custGeom>
            <a:avLst/>
            <a:gdLst>
              <a:gd name="connsiteX0" fmla="*/ 0 w 974271"/>
              <a:gd name="connsiteY0" fmla="*/ 0 h 321128"/>
              <a:gd name="connsiteX1" fmla="*/ 391886 w 974271"/>
              <a:gd name="connsiteY1" fmla="*/ 321128 h 321128"/>
              <a:gd name="connsiteX2" fmla="*/ 974271 w 974271"/>
              <a:gd name="connsiteY2" fmla="*/ 0 h 321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4271" h="321128">
                <a:moveTo>
                  <a:pt x="0" y="0"/>
                </a:moveTo>
                <a:cubicBezTo>
                  <a:pt x="114754" y="160564"/>
                  <a:pt x="229508" y="321128"/>
                  <a:pt x="391886" y="321128"/>
                </a:cubicBezTo>
                <a:cubicBezTo>
                  <a:pt x="554264" y="321128"/>
                  <a:pt x="764267" y="160564"/>
                  <a:pt x="974271" y="0"/>
                </a:cubicBezTo>
              </a:path>
            </a:pathLst>
          </a:custGeom>
          <a:noFill/>
          <a:ln w="25400">
            <a:solidFill>
              <a:srgbClr val="363833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4903855-35D9-4F1A-DCDD-7EA454040F58}"/>
              </a:ext>
            </a:extLst>
          </p:cNvPr>
          <p:cNvGrpSpPr/>
          <p:nvPr/>
        </p:nvGrpSpPr>
        <p:grpSpPr>
          <a:xfrm>
            <a:off x="606345" y="1411452"/>
            <a:ext cx="671945" cy="1980516"/>
            <a:chOff x="5597238" y="2875505"/>
            <a:chExt cx="671945" cy="198051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7169489-54E0-BCC3-8DD7-F970A947365B}"/>
                </a:ext>
              </a:extLst>
            </p:cNvPr>
            <p:cNvSpPr/>
            <p:nvPr/>
          </p:nvSpPr>
          <p:spPr>
            <a:xfrm>
              <a:off x="5597238" y="3049725"/>
              <a:ext cx="671945" cy="1683298"/>
            </a:xfrm>
            <a:prstGeom prst="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5C66587-0C89-3FFA-0D15-72B41B36A51B}"/>
                </a:ext>
              </a:extLst>
            </p:cNvPr>
            <p:cNvSpPr/>
            <p:nvPr/>
          </p:nvSpPr>
          <p:spPr>
            <a:xfrm>
              <a:off x="5782227" y="2875505"/>
              <a:ext cx="297872" cy="1980516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3C2B5A-98B8-DBE1-9A7A-840037C75798}"/>
              </a:ext>
            </a:extLst>
          </p:cNvPr>
          <p:cNvGrpSpPr/>
          <p:nvPr/>
        </p:nvGrpSpPr>
        <p:grpSpPr>
          <a:xfrm>
            <a:off x="6388619" y="1411451"/>
            <a:ext cx="671945" cy="1980517"/>
            <a:chOff x="5597238" y="2875504"/>
            <a:chExt cx="671945" cy="198051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B172FB0-4618-D5FB-0D92-CF5B538E9A3F}"/>
                </a:ext>
              </a:extLst>
            </p:cNvPr>
            <p:cNvSpPr/>
            <p:nvPr/>
          </p:nvSpPr>
          <p:spPr>
            <a:xfrm>
              <a:off x="5597238" y="3062512"/>
              <a:ext cx="671945" cy="1684800"/>
            </a:xfrm>
            <a:prstGeom prst="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B5DBEF9-3365-DF44-1451-6536BB4C5BFF}"/>
                </a:ext>
              </a:extLst>
            </p:cNvPr>
            <p:cNvSpPr/>
            <p:nvPr/>
          </p:nvSpPr>
          <p:spPr>
            <a:xfrm>
              <a:off x="5782227" y="2875504"/>
              <a:ext cx="297872" cy="1980517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98BC6918-64AA-70BE-8CBD-5B969216A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145" y="3482994"/>
            <a:ext cx="1279525" cy="288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3E3B862-BF79-DC80-F7B5-047DB756C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931" y="3482994"/>
            <a:ext cx="1345565" cy="2889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DE8616A-D26D-64E4-C647-42ACD3491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52" y="3458229"/>
            <a:ext cx="965835" cy="33845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6F9E9F5-853B-94A9-3AEF-A58CE75A8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626" y="3458229"/>
            <a:ext cx="965835" cy="33845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80DEE7A-CCD5-9960-E065-0BC38ACB0E4C}"/>
              </a:ext>
            </a:extLst>
          </p:cNvPr>
          <p:cNvSpPr/>
          <p:nvPr/>
        </p:nvSpPr>
        <p:spPr>
          <a:xfrm>
            <a:off x="796306" y="1699096"/>
            <a:ext cx="288000" cy="288000"/>
          </a:xfrm>
          <a:prstGeom prst="rect">
            <a:avLst/>
          </a:prstGeom>
          <a:solidFill>
            <a:srgbClr val="548F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F1A591-D652-8B5D-76EE-B485AA51CF8C}"/>
              </a:ext>
            </a:extLst>
          </p:cNvPr>
          <p:cNvSpPr/>
          <p:nvPr/>
        </p:nvSpPr>
        <p:spPr>
          <a:xfrm>
            <a:off x="796306" y="2088889"/>
            <a:ext cx="288000" cy="28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984C6D-0E9C-3C52-0021-63068FB13E94}"/>
              </a:ext>
            </a:extLst>
          </p:cNvPr>
          <p:cNvSpPr/>
          <p:nvPr/>
        </p:nvSpPr>
        <p:spPr>
          <a:xfrm>
            <a:off x="796306" y="2477525"/>
            <a:ext cx="288000" cy="288000"/>
          </a:xfrm>
          <a:prstGeom prst="rect">
            <a:avLst/>
          </a:prstGeom>
          <a:solidFill>
            <a:srgbClr val="BBD5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3F319F-0A5A-6FD6-6771-33D9046AEC2D}"/>
              </a:ext>
            </a:extLst>
          </p:cNvPr>
          <p:cNvSpPr/>
          <p:nvPr/>
        </p:nvSpPr>
        <p:spPr>
          <a:xfrm>
            <a:off x="796306" y="2869911"/>
            <a:ext cx="288000" cy="28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446714-0554-5153-E4C6-D079EC484B43}"/>
              </a:ext>
            </a:extLst>
          </p:cNvPr>
          <p:cNvSpPr/>
          <p:nvPr/>
        </p:nvSpPr>
        <p:spPr>
          <a:xfrm>
            <a:off x="1734195" y="1685844"/>
            <a:ext cx="288000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F01F068-593E-2919-A97D-F48AE1E809B4}"/>
              </a:ext>
            </a:extLst>
          </p:cNvPr>
          <p:cNvSpPr/>
          <p:nvPr/>
        </p:nvSpPr>
        <p:spPr>
          <a:xfrm>
            <a:off x="1734195" y="2075637"/>
            <a:ext cx="288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121A10-5DB2-0ACF-7363-3D47FF3B07A0}"/>
              </a:ext>
            </a:extLst>
          </p:cNvPr>
          <p:cNvSpPr/>
          <p:nvPr/>
        </p:nvSpPr>
        <p:spPr>
          <a:xfrm>
            <a:off x="1734195" y="2464273"/>
            <a:ext cx="288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98B35FC-8B04-C4D1-3952-2655DDACB2F9}"/>
              </a:ext>
            </a:extLst>
          </p:cNvPr>
          <p:cNvSpPr/>
          <p:nvPr/>
        </p:nvSpPr>
        <p:spPr>
          <a:xfrm>
            <a:off x="1734195" y="2856659"/>
            <a:ext cx="288000" cy="288000"/>
          </a:xfrm>
          <a:prstGeom prst="rect">
            <a:avLst/>
          </a:prstGeom>
          <a:solidFill>
            <a:srgbClr val="9B5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E12A2DD-9942-16DF-A293-9B3CE50EEE16}"/>
              </a:ext>
            </a:extLst>
          </p:cNvPr>
          <p:cNvSpPr/>
          <p:nvPr/>
        </p:nvSpPr>
        <p:spPr>
          <a:xfrm>
            <a:off x="2206292" y="1685844"/>
            <a:ext cx="288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DC1E911-3906-31BD-ECC7-C6CB1219A935}"/>
              </a:ext>
            </a:extLst>
          </p:cNvPr>
          <p:cNvSpPr/>
          <p:nvPr/>
        </p:nvSpPr>
        <p:spPr>
          <a:xfrm>
            <a:off x="2206292" y="2075637"/>
            <a:ext cx="288000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D9127C7-0710-8205-5EFD-0EDAFCA0C6C1}"/>
              </a:ext>
            </a:extLst>
          </p:cNvPr>
          <p:cNvSpPr/>
          <p:nvPr/>
        </p:nvSpPr>
        <p:spPr>
          <a:xfrm>
            <a:off x="2206292" y="2464273"/>
            <a:ext cx="288000" cy="288000"/>
          </a:xfrm>
          <a:prstGeom prst="rect">
            <a:avLst/>
          </a:prstGeom>
          <a:solidFill>
            <a:srgbClr val="9B5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0A5F704-F13E-AD72-1791-3BD2BEF5FA16}"/>
              </a:ext>
            </a:extLst>
          </p:cNvPr>
          <p:cNvSpPr/>
          <p:nvPr/>
        </p:nvSpPr>
        <p:spPr>
          <a:xfrm>
            <a:off x="2206292" y="2856659"/>
            <a:ext cx="288000" cy="288000"/>
          </a:xfrm>
          <a:prstGeom prst="rect">
            <a:avLst/>
          </a:prstGeom>
          <a:solidFill>
            <a:srgbClr val="F5A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55DAC3E-5F14-3238-89EA-8DE619ED0862}"/>
              </a:ext>
            </a:extLst>
          </p:cNvPr>
          <p:cNvSpPr/>
          <p:nvPr/>
        </p:nvSpPr>
        <p:spPr>
          <a:xfrm>
            <a:off x="2678389" y="1685844"/>
            <a:ext cx="288000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7F29335-C8C6-F24A-892D-67A67BF85EB6}"/>
              </a:ext>
            </a:extLst>
          </p:cNvPr>
          <p:cNvSpPr/>
          <p:nvPr/>
        </p:nvSpPr>
        <p:spPr>
          <a:xfrm>
            <a:off x="2678389" y="2075637"/>
            <a:ext cx="288000" cy="288000"/>
          </a:xfrm>
          <a:prstGeom prst="rect">
            <a:avLst/>
          </a:prstGeom>
          <a:solidFill>
            <a:srgbClr val="FF8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BEA7E56-C762-81A1-A56C-D18C4E3E5AF3}"/>
              </a:ext>
            </a:extLst>
          </p:cNvPr>
          <p:cNvSpPr/>
          <p:nvPr/>
        </p:nvSpPr>
        <p:spPr>
          <a:xfrm>
            <a:off x="2678389" y="2464273"/>
            <a:ext cx="288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27B5EA0-8918-1260-CE7C-73F52B34B845}"/>
              </a:ext>
            </a:extLst>
          </p:cNvPr>
          <p:cNvSpPr/>
          <p:nvPr/>
        </p:nvSpPr>
        <p:spPr>
          <a:xfrm>
            <a:off x="2678389" y="2856659"/>
            <a:ext cx="288000" cy="288000"/>
          </a:xfrm>
          <a:prstGeom prst="rect">
            <a:avLst/>
          </a:prstGeom>
          <a:solidFill>
            <a:srgbClr val="9B5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E86D02D-790D-0918-ACEB-8DE49C9429D0}"/>
              </a:ext>
            </a:extLst>
          </p:cNvPr>
          <p:cNvSpPr/>
          <p:nvPr/>
        </p:nvSpPr>
        <p:spPr>
          <a:xfrm>
            <a:off x="3147714" y="1685844"/>
            <a:ext cx="288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9BCFD7A-4261-B58E-F6B8-9CB5E9C40C4D}"/>
              </a:ext>
            </a:extLst>
          </p:cNvPr>
          <p:cNvSpPr/>
          <p:nvPr/>
        </p:nvSpPr>
        <p:spPr>
          <a:xfrm>
            <a:off x="3147714" y="2075637"/>
            <a:ext cx="288000" cy="288000"/>
          </a:xfrm>
          <a:prstGeom prst="rect">
            <a:avLst/>
          </a:prstGeom>
          <a:solidFill>
            <a:srgbClr val="FF8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F110702-97B2-5749-0B0A-32EC86F8400B}"/>
              </a:ext>
            </a:extLst>
          </p:cNvPr>
          <p:cNvSpPr/>
          <p:nvPr/>
        </p:nvSpPr>
        <p:spPr>
          <a:xfrm>
            <a:off x="3147714" y="2464273"/>
            <a:ext cx="288000" cy="288000"/>
          </a:xfrm>
          <a:prstGeom prst="rect">
            <a:avLst/>
          </a:prstGeom>
          <a:solidFill>
            <a:srgbClr val="FF8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71A305B-B00C-DBF5-CC0D-643908988206}"/>
              </a:ext>
            </a:extLst>
          </p:cNvPr>
          <p:cNvSpPr/>
          <p:nvPr/>
        </p:nvSpPr>
        <p:spPr>
          <a:xfrm>
            <a:off x="3147714" y="2856659"/>
            <a:ext cx="288000" cy="288000"/>
          </a:xfrm>
          <a:prstGeom prst="rect">
            <a:avLst/>
          </a:prstGeom>
          <a:solidFill>
            <a:srgbClr val="F5A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8F21C5B-F1A9-6A76-FFC9-93A76FD54F8F}"/>
              </a:ext>
            </a:extLst>
          </p:cNvPr>
          <p:cNvSpPr/>
          <p:nvPr/>
        </p:nvSpPr>
        <p:spPr>
          <a:xfrm>
            <a:off x="3618750" y="1685844"/>
            <a:ext cx="288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86E1021-289C-EF1C-B935-9899A4DC46EF}"/>
              </a:ext>
            </a:extLst>
          </p:cNvPr>
          <p:cNvSpPr/>
          <p:nvPr/>
        </p:nvSpPr>
        <p:spPr>
          <a:xfrm>
            <a:off x="3618750" y="2075637"/>
            <a:ext cx="288000" cy="28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33D3C82-F447-0A41-D3A7-4FBF5A63853C}"/>
              </a:ext>
            </a:extLst>
          </p:cNvPr>
          <p:cNvSpPr/>
          <p:nvPr/>
        </p:nvSpPr>
        <p:spPr>
          <a:xfrm>
            <a:off x="3618750" y="2464273"/>
            <a:ext cx="288000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36BFB9A-E13D-EE60-6FA2-AD955521D036}"/>
              </a:ext>
            </a:extLst>
          </p:cNvPr>
          <p:cNvSpPr/>
          <p:nvPr/>
        </p:nvSpPr>
        <p:spPr>
          <a:xfrm>
            <a:off x="3618750" y="2856659"/>
            <a:ext cx="288000" cy="288000"/>
          </a:xfrm>
          <a:prstGeom prst="rect">
            <a:avLst/>
          </a:prstGeom>
          <a:solidFill>
            <a:srgbClr val="F5A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12A01F0-A7F2-B7F6-DB5A-4EDEB94CDBE5}"/>
              </a:ext>
            </a:extLst>
          </p:cNvPr>
          <p:cNvSpPr/>
          <p:nvPr/>
        </p:nvSpPr>
        <p:spPr>
          <a:xfrm>
            <a:off x="4089786" y="1685844"/>
            <a:ext cx="288000" cy="288000"/>
          </a:xfrm>
          <a:prstGeom prst="rect">
            <a:avLst/>
          </a:prstGeom>
          <a:solidFill>
            <a:srgbClr val="F5A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3073E11-07A0-5384-BADE-460F94119ECA}"/>
              </a:ext>
            </a:extLst>
          </p:cNvPr>
          <p:cNvSpPr/>
          <p:nvPr/>
        </p:nvSpPr>
        <p:spPr>
          <a:xfrm>
            <a:off x="4089786" y="2075637"/>
            <a:ext cx="288000" cy="28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38BA80A-2DBB-9A75-08B3-45FC3AE6A3D6}"/>
              </a:ext>
            </a:extLst>
          </p:cNvPr>
          <p:cNvSpPr/>
          <p:nvPr/>
        </p:nvSpPr>
        <p:spPr>
          <a:xfrm>
            <a:off x="4089786" y="2464273"/>
            <a:ext cx="288000" cy="288000"/>
          </a:xfrm>
          <a:prstGeom prst="rect">
            <a:avLst/>
          </a:prstGeom>
          <a:solidFill>
            <a:srgbClr val="FF8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03CC0E1-377D-2535-C960-C90A35B04AD7}"/>
              </a:ext>
            </a:extLst>
          </p:cNvPr>
          <p:cNvSpPr/>
          <p:nvPr/>
        </p:nvSpPr>
        <p:spPr>
          <a:xfrm>
            <a:off x="4089786" y="2856659"/>
            <a:ext cx="288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E31594C-C798-001C-C16A-E148577C170E}"/>
              </a:ext>
            </a:extLst>
          </p:cNvPr>
          <p:cNvSpPr/>
          <p:nvPr/>
        </p:nvSpPr>
        <p:spPr>
          <a:xfrm>
            <a:off x="4560822" y="1685844"/>
            <a:ext cx="288000" cy="288000"/>
          </a:xfrm>
          <a:prstGeom prst="rect">
            <a:avLst/>
          </a:prstGeom>
          <a:solidFill>
            <a:srgbClr val="FF8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91ED002-2623-04F9-A41A-97832DE7199E}"/>
              </a:ext>
            </a:extLst>
          </p:cNvPr>
          <p:cNvSpPr/>
          <p:nvPr/>
        </p:nvSpPr>
        <p:spPr>
          <a:xfrm>
            <a:off x="4560822" y="2075637"/>
            <a:ext cx="288000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C13A27F-2613-B55C-B2D9-3BE0210FDB42}"/>
              </a:ext>
            </a:extLst>
          </p:cNvPr>
          <p:cNvSpPr/>
          <p:nvPr/>
        </p:nvSpPr>
        <p:spPr>
          <a:xfrm>
            <a:off x="4560822" y="2464273"/>
            <a:ext cx="288000" cy="288000"/>
          </a:xfrm>
          <a:prstGeom prst="rect">
            <a:avLst/>
          </a:prstGeom>
          <a:solidFill>
            <a:srgbClr val="F5A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C431D12-36DF-CC73-0D97-4E8C5C35B7C6}"/>
              </a:ext>
            </a:extLst>
          </p:cNvPr>
          <p:cNvSpPr/>
          <p:nvPr/>
        </p:nvSpPr>
        <p:spPr>
          <a:xfrm>
            <a:off x="4560822" y="2856659"/>
            <a:ext cx="288000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71065E-89CB-684E-332A-CC770E8A6755}"/>
              </a:ext>
            </a:extLst>
          </p:cNvPr>
          <p:cNvSpPr/>
          <p:nvPr/>
        </p:nvSpPr>
        <p:spPr>
          <a:xfrm>
            <a:off x="6583480" y="1699096"/>
            <a:ext cx="288000" cy="288000"/>
          </a:xfrm>
          <a:prstGeom prst="rect">
            <a:avLst/>
          </a:prstGeom>
          <a:solidFill>
            <a:srgbClr val="548F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1BDEEF8-9019-F5A0-529C-61D72EF5A310}"/>
              </a:ext>
            </a:extLst>
          </p:cNvPr>
          <p:cNvSpPr/>
          <p:nvPr/>
        </p:nvSpPr>
        <p:spPr>
          <a:xfrm>
            <a:off x="6583480" y="2088889"/>
            <a:ext cx="288000" cy="28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E81D141-EA7C-43CC-7D58-B2C90CE571C3}"/>
              </a:ext>
            </a:extLst>
          </p:cNvPr>
          <p:cNvSpPr/>
          <p:nvPr/>
        </p:nvSpPr>
        <p:spPr>
          <a:xfrm>
            <a:off x="6583480" y="2477525"/>
            <a:ext cx="288000" cy="288000"/>
          </a:xfrm>
          <a:prstGeom prst="rect">
            <a:avLst/>
          </a:prstGeom>
          <a:solidFill>
            <a:srgbClr val="BBD5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CC71A65-5744-3CED-B743-15719899929E}"/>
              </a:ext>
            </a:extLst>
          </p:cNvPr>
          <p:cNvSpPr/>
          <p:nvPr/>
        </p:nvSpPr>
        <p:spPr>
          <a:xfrm>
            <a:off x="6583480" y="2869911"/>
            <a:ext cx="288000" cy="28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872B559-FA5D-9EA1-611F-573E2768F80D}"/>
              </a:ext>
            </a:extLst>
          </p:cNvPr>
          <p:cNvSpPr/>
          <p:nvPr/>
        </p:nvSpPr>
        <p:spPr>
          <a:xfrm>
            <a:off x="7525354" y="1699096"/>
            <a:ext cx="288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4F40456-F679-2461-630A-4222CAD8A090}"/>
              </a:ext>
            </a:extLst>
          </p:cNvPr>
          <p:cNvSpPr/>
          <p:nvPr/>
        </p:nvSpPr>
        <p:spPr>
          <a:xfrm>
            <a:off x="7525354" y="2088889"/>
            <a:ext cx="288000" cy="28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53316C6-4211-D03E-C75E-5BDEC6995DBF}"/>
              </a:ext>
            </a:extLst>
          </p:cNvPr>
          <p:cNvSpPr/>
          <p:nvPr/>
        </p:nvSpPr>
        <p:spPr>
          <a:xfrm>
            <a:off x="7525354" y="2477525"/>
            <a:ext cx="288000" cy="28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3157C70-B9AE-1D0A-4ED7-5C6C367AA962}"/>
              </a:ext>
            </a:extLst>
          </p:cNvPr>
          <p:cNvSpPr/>
          <p:nvPr/>
        </p:nvSpPr>
        <p:spPr>
          <a:xfrm>
            <a:off x="7525354" y="2869911"/>
            <a:ext cx="288000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51D202A-D50F-31A9-A667-B712EEFEEE30}"/>
              </a:ext>
            </a:extLst>
          </p:cNvPr>
          <p:cNvSpPr/>
          <p:nvPr/>
        </p:nvSpPr>
        <p:spPr>
          <a:xfrm>
            <a:off x="7996390" y="1699096"/>
            <a:ext cx="288000" cy="28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1E38D16-DF6E-E2FC-B855-F63F97720C29}"/>
              </a:ext>
            </a:extLst>
          </p:cNvPr>
          <p:cNvSpPr/>
          <p:nvPr/>
        </p:nvSpPr>
        <p:spPr>
          <a:xfrm>
            <a:off x="7996390" y="2088889"/>
            <a:ext cx="288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6B84774-1487-A1D0-4946-1BC96F3CEC76}"/>
              </a:ext>
            </a:extLst>
          </p:cNvPr>
          <p:cNvSpPr/>
          <p:nvPr/>
        </p:nvSpPr>
        <p:spPr>
          <a:xfrm>
            <a:off x="7996390" y="2477525"/>
            <a:ext cx="28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E887777-2133-5280-CF26-37E388234E61}"/>
              </a:ext>
            </a:extLst>
          </p:cNvPr>
          <p:cNvSpPr/>
          <p:nvPr/>
        </p:nvSpPr>
        <p:spPr>
          <a:xfrm>
            <a:off x="7996390" y="2869911"/>
            <a:ext cx="288000" cy="28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990E758-129A-0162-D31F-A8CFB846E4C4}"/>
              </a:ext>
            </a:extLst>
          </p:cNvPr>
          <p:cNvSpPr/>
          <p:nvPr/>
        </p:nvSpPr>
        <p:spPr>
          <a:xfrm>
            <a:off x="8467426" y="1699096"/>
            <a:ext cx="288000" cy="28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3F8633C-23C5-E9EF-69C1-0DC0C48B6671}"/>
              </a:ext>
            </a:extLst>
          </p:cNvPr>
          <p:cNvSpPr/>
          <p:nvPr/>
        </p:nvSpPr>
        <p:spPr>
          <a:xfrm>
            <a:off x="8467426" y="2088889"/>
            <a:ext cx="28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AA4A1DE-A63E-27D5-9327-310F8769697F}"/>
              </a:ext>
            </a:extLst>
          </p:cNvPr>
          <p:cNvSpPr/>
          <p:nvPr/>
        </p:nvSpPr>
        <p:spPr>
          <a:xfrm>
            <a:off x="8467426" y="2477525"/>
            <a:ext cx="288000" cy="28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F66D8A1-5F74-AAEA-C1BC-A5C75DBCF694}"/>
              </a:ext>
            </a:extLst>
          </p:cNvPr>
          <p:cNvSpPr/>
          <p:nvPr/>
        </p:nvSpPr>
        <p:spPr>
          <a:xfrm>
            <a:off x="8467426" y="2869911"/>
            <a:ext cx="288000" cy="28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8D6FECB-3469-4204-C2C0-E2498928FDB4}"/>
              </a:ext>
            </a:extLst>
          </p:cNvPr>
          <p:cNvSpPr/>
          <p:nvPr/>
        </p:nvSpPr>
        <p:spPr>
          <a:xfrm>
            <a:off x="8938462" y="1699096"/>
            <a:ext cx="288000" cy="28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ECCD5B5-4CD8-6B28-C929-E7EEE1C2694A}"/>
              </a:ext>
            </a:extLst>
          </p:cNvPr>
          <p:cNvSpPr/>
          <p:nvPr/>
        </p:nvSpPr>
        <p:spPr>
          <a:xfrm>
            <a:off x="8938462" y="2088889"/>
            <a:ext cx="288000" cy="28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88E9E4A-E6C5-EF24-FB35-F8C577F6EEFB}"/>
              </a:ext>
            </a:extLst>
          </p:cNvPr>
          <p:cNvSpPr/>
          <p:nvPr/>
        </p:nvSpPr>
        <p:spPr>
          <a:xfrm>
            <a:off x="8938462" y="2477525"/>
            <a:ext cx="28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5D396E2-6785-7AB8-71FE-060622600F82}"/>
              </a:ext>
            </a:extLst>
          </p:cNvPr>
          <p:cNvSpPr/>
          <p:nvPr/>
        </p:nvSpPr>
        <p:spPr>
          <a:xfrm>
            <a:off x="8938462" y="2869911"/>
            <a:ext cx="288000" cy="28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11C573C-E5EC-815F-9C03-C3B18DA924C0}"/>
              </a:ext>
            </a:extLst>
          </p:cNvPr>
          <p:cNvSpPr txBox="1"/>
          <p:nvPr/>
        </p:nvSpPr>
        <p:spPr>
          <a:xfrm>
            <a:off x="292619" y="690142"/>
            <a:ext cx="10388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In other words, we look for a way to transform the data matrix… 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E19FE353-323C-937F-14E1-35FBD3B2B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3499" y="2464273"/>
            <a:ext cx="1143000" cy="368300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97502481-8A4D-5BE5-910C-0ADE0138FF78}"/>
              </a:ext>
            </a:extLst>
          </p:cNvPr>
          <p:cNvSpPr txBox="1"/>
          <p:nvPr/>
        </p:nvSpPr>
        <p:spPr>
          <a:xfrm>
            <a:off x="10141916" y="1923396"/>
            <a:ext cx="973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271A05C-A8ED-D545-B739-6E217A7AFA44}"/>
              </a:ext>
            </a:extLst>
          </p:cNvPr>
          <p:cNvSpPr txBox="1"/>
          <p:nvPr/>
        </p:nvSpPr>
        <p:spPr>
          <a:xfrm>
            <a:off x="292619" y="3970007"/>
            <a:ext cx="10388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…s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 that the linear regression model becomes viable and numerically stable 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DBC912F-15B1-F404-59F1-E1903C966D9A}"/>
              </a:ext>
            </a:extLst>
          </p:cNvPr>
          <p:cNvGrpSpPr/>
          <p:nvPr/>
        </p:nvGrpSpPr>
        <p:grpSpPr>
          <a:xfrm>
            <a:off x="2432371" y="4752870"/>
            <a:ext cx="7327257" cy="1025782"/>
            <a:chOff x="2112862" y="5136738"/>
            <a:chExt cx="7327257" cy="1025782"/>
          </a:xfrm>
        </p:grpSpPr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960CA903-532D-0267-3324-E18B981CCEAB}"/>
                </a:ext>
              </a:extLst>
            </p:cNvPr>
            <p:cNvSpPr/>
            <p:nvPr/>
          </p:nvSpPr>
          <p:spPr>
            <a:xfrm>
              <a:off x="6478063" y="5142102"/>
              <a:ext cx="2962056" cy="1020418"/>
            </a:xfrm>
            <a:prstGeom prst="roundRect">
              <a:avLst/>
            </a:prstGeom>
            <a:solidFill>
              <a:srgbClr val="00B050">
                <a:alpha val="15000"/>
              </a:srgbClr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21" name="Rounded Rectangle 120">
              <a:extLst>
                <a:ext uri="{FF2B5EF4-FFF2-40B4-BE49-F238E27FC236}">
                  <a16:creationId xmlns:a16="http://schemas.microsoft.com/office/drawing/2014/main" id="{6BAC12A2-80F5-0D71-AFA2-1643981772CD}"/>
                </a:ext>
              </a:extLst>
            </p:cNvPr>
            <p:cNvSpPr/>
            <p:nvPr/>
          </p:nvSpPr>
          <p:spPr>
            <a:xfrm>
              <a:off x="2112862" y="5136738"/>
              <a:ext cx="2962056" cy="1020418"/>
            </a:xfrm>
            <a:prstGeom prst="roundRect">
              <a:avLst/>
            </a:prstGeom>
            <a:solidFill>
              <a:srgbClr val="FF0000">
                <a:alpha val="15749"/>
              </a:srgbClr>
            </a:solidFill>
            <a:ln w="25400">
              <a:solidFill>
                <a:srgbClr val="FA274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1577EB0B-7E67-DBF1-06EB-25BCFDD5C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62" y="5432964"/>
              <a:ext cx="2324100" cy="419100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A04E9531-F5D1-1A61-73C8-124D6AEE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47841" y="5432964"/>
              <a:ext cx="2222500" cy="419100"/>
            </a:xfrm>
            <a:prstGeom prst="rect">
              <a:avLst/>
            </a:prstGeom>
          </p:spPr>
        </p:pic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E6890E80-A598-6836-BDA5-655B4EA74D9A}"/>
                </a:ext>
              </a:extLst>
            </p:cNvPr>
            <p:cNvSpPr/>
            <p:nvPr/>
          </p:nvSpPr>
          <p:spPr>
            <a:xfrm>
              <a:off x="5462565" y="5611251"/>
              <a:ext cx="645720" cy="321128"/>
            </a:xfrm>
            <a:custGeom>
              <a:avLst/>
              <a:gdLst>
                <a:gd name="connsiteX0" fmla="*/ 0 w 974271"/>
                <a:gd name="connsiteY0" fmla="*/ 0 h 321128"/>
                <a:gd name="connsiteX1" fmla="*/ 391886 w 974271"/>
                <a:gd name="connsiteY1" fmla="*/ 321128 h 321128"/>
                <a:gd name="connsiteX2" fmla="*/ 974271 w 974271"/>
                <a:gd name="connsiteY2" fmla="*/ 0 h 32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4271" h="321128">
                  <a:moveTo>
                    <a:pt x="0" y="0"/>
                  </a:moveTo>
                  <a:cubicBezTo>
                    <a:pt x="114754" y="160564"/>
                    <a:pt x="229508" y="321128"/>
                    <a:pt x="391886" y="321128"/>
                  </a:cubicBezTo>
                  <a:cubicBezTo>
                    <a:pt x="554264" y="321128"/>
                    <a:pt x="764267" y="160564"/>
                    <a:pt x="974271" y="0"/>
                  </a:cubicBezTo>
                </a:path>
              </a:pathLst>
            </a:custGeom>
            <a:noFill/>
            <a:ln w="25400">
              <a:solidFill>
                <a:srgbClr val="363833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403AE490-646F-9BCA-ED52-B9A705CE68B4}"/>
              </a:ext>
            </a:extLst>
          </p:cNvPr>
          <p:cNvSpPr txBox="1"/>
          <p:nvPr/>
        </p:nvSpPr>
        <p:spPr>
          <a:xfrm>
            <a:off x="381076" y="5971376"/>
            <a:ext cx="11429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(We would also like to easily relate the coefficients from each regression model)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920C33-8DFB-C6D1-0F0C-E9160461D1BE}"/>
              </a:ext>
            </a:extLst>
          </p:cNvPr>
          <p:cNvSpPr txBox="1"/>
          <p:nvPr/>
        </p:nvSpPr>
        <p:spPr>
          <a:xfrm>
            <a:off x="240033" y="-6963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3693537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8538E42E-F69C-00BB-E335-14D530B8A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1580886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F3F278-B1A0-E02B-5FB1-832131E89666}"/>
              </a:ext>
            </a:extLst>
          </p:cNvPr>
          <p:cNvSpPr txBox="1"/>
          <p:nvPr/>
        </p:nvSpPr>
        <p:spPr>
          <a:xfrm>
            <a:off x="1865622" y="1580886"/>
            <a:ext cx="96808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important mathematical tools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Principal Component Analysis (PCA)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Principal Component Regression (PCR)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1486325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7FE5DFB-6529-6A70-1753-6B35024ADFC0}"/>
              </a:ext>
            </a:extLst>
          </p:cNvPr>
          <p:cNvSpPr txBox="1"/>
          <p:nvPr/>
        </p:nvSpPr>
        <p:spPr>
          <a:xfrm>
            <a:off x="292619" y="2689770"/>
            <a:ext cx="10388884" cy="49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data matrix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Two vectors                        are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orthogonal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if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FR" sz="2200" dirty="0">
              <a:solidFill>
                <a:srgbClr val="5E5E5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FR" sz="2200" dirty="0">
              <a:solidFill>
                <a:srgbClr val="5E5E5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AFD93A-6E64-F6AF-5469-06ADEBADA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171" y="3986631"/>
            <a:ext cx="4660900" cy="14097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A1671F5-3B20-5D7A-AC11-5DDE5738168C}"/>
              </a:ext>
            </a:extLst>
          </p:cNvPr>
          <p:cNvSpPr txBox="1"/>
          <p:nvPr/>
        </p:nvSpPr>
        <p:spPr>
          <a:xfrm>
            <a:off x="675518" y="433538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projection over     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A0B4DF-A2C7-41FF-AA70-CBE53100ED0C}"/>
              </a:ext>
            </a:extLst>
          </p:cNvPr>
          <p:cNvSpPr txBox="1"/>
          <p:nvPr/>
        </p:nvSpPr>
        <p:spPr>
          <a:xfrm>
            <a:off x="292619" y="793995"/>
            <a:ext cx="10388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Given two vectors                     with			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D9EC4-CEC7-36AE-5DDA-258033964660}"/>
              </a:ext>
            </a:extLst>
          </p:cNvPr>
          <p:cNvSpPr txBox="1"/>
          <p:nvPr/>
        </p:nvSpPr>
        <p:spPr>
          <a:xfrm>
            <a:off x="240033" y="-69961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Important tools from Linear Algebra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75492-342E-EF79-6AC4-F29BE9980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378" y="985604"/>
            <a:ext cx="1320800" cy="317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E61284-74F8-E94B-2264-9CE28C95FBFE}"/>
              </a:ext>
            </a:extLst>
          </p:cNvPr>
          <p:cNvSpPr txBox="1"/>
          <p:nvPr/>
        </p:nvSpPr>
        <p:spPr>
          <a:xfrm>
            <a:off x="292619" y="1529901"/>
            <a:ext cx="10388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projection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    onto     is the vector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1602EA-FFD3-13D7-E037-EAE3B4BD3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295" y="1822671"/>
            <a:ext cx="190500" cy="152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7BC411-EC66-D8FC-A729-FD5008D55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377" y="1822671"/>
            <a:ext cx="203200" cy="152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F284FAD-A7D7-FD6E-4B6C-1F85959D2C75}"/>
              </a:ext>
            </a:extLst>
          </p:cNvPr>
          <p:cNvSpPr/>
          <p:nvPr/>
        </p:nvSpPr>
        <p:spPr>
          <a:xfrm>
            <a:off x="6052239" y="2191678"/>
            <a:ext cx="828000" cy="7200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AA9EBA-2BD1-D696-3FCA-E75DB595C6EB}"/>
              </a:ext>
            </a:extLst>
          </p:cNvPr>
          <p:cNvSpPr txBox="1"/>
          <p:nvPr/>
        </p:nvSpPr>
        <p:spPr>
          <a:xfrm>
            <a:off x="6088513" y="2256058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score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D00C9E-AF45-DE63-DE41-4430712D9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9763" y="1669489"/>
            <a:ext cx="1828800" cy="393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B250A8-C8F9-B9BA-FB8B-3DF595A8A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0388" y="2329833"/>
            <a:ext cx="3136900" cy="1409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BDD0FC7-9CC3-C58D-AC74-E78DA178B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726" y="4628533"/>
            <a:ext cx="203200" cy="152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5EF31F-1F58-8A63-3CE2-5AC9443AE4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4703" y="916254"/>
            <a:ext cx="2298700" cy="393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C3D288-A281-82B9-320C-E1AF2298F8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4623" y="6097958"/>
            <a:ext cx="1358900" cy="40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F5EB9D-C6E1-787B-6939-6104F97C65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6323" y="6171943"/>
            <a:ext cx="1562100" cy="35560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731C92B7-3D25-557B-6C36-63998C91655E}"/>
              </a:ext>
            </a:extLst>
          </p:cNvPr>
          <p:cNvGrpSpPr/>
          <p:nvPr/>
        </p:nvGrpSpPr>
        <p:grpSpPr>
          <a:xfrm>
            <a:off x="8819623" y="1100579"/>
            <a:ext cx="2321197" cy="1774499"/>
            <a:chOff x="9684756" y="1260184"/>
            <a:chExt cx="2321197" cy="1774499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658D93-B9B4-E84E-32CD-7145899092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5332" y="1523115"/>
              <a:ext cx="1582592" cy="944099"/>
            </a:xfrm>
            <a:prstGeom prst="line">
              <a:avLst/>
            </a:prstGeom>
            <a:ln w="50800">
              <a:solidFill>
                <a:srgbClr val="5E5E5E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F038EDA-DC90-D5F0-1B79-5BA36C4DE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62407" y="1260184"/>
              <a:ext cx="190500" cy="1524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3443088-A845-667F-2DE2-754236ABD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97781" y="2630444"/>
              <a:ext cx="203200" cy="152400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9E2998C-FA7F-1A79-C893-9B6A92C40F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17924" y="1523115"/>
              <a:ext cx="0" cy="957673"/>
            </a:xfrm>
            <a:prstGeom prst="line">
              <a:avLst/>
            </a:prstGeom>
            <a:ln w="25400">
              <a:solidFill>
                <a:srgbClr val="FA2743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0FAE4E-43A8-0838-ABDA-7E1ADAD48786}"/>
                </a:ext>
              </a:extLst>
            </p:cNvPr>
            <p:cNvCxnSpPr>
              <a:cxnSpLocks/>
            </p:cNvCxnSpPr>
            <p:nvPr/>
          </p:nvCxnSpPr>
          <p:spPr>
            <a:xfrm>
              <a:off x="9735332" y="2474001"/>
              <a:ext cx="2270621" cy="0"/>
            </a:xfrm>
            <a:prstGeom prst="line">
              <a:avLst/>
            </a:prstGeom>
            <a:ln w="50800">
              <a:solidFill>
                <a:srgbClr val="5E5E5E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0694BEB-7B85-2B38-ED5C-CB2CA1B586A4}"/>
                </a:ext>
              </a:extLst>
            </p:cNvPr>
            <p:cNvCxnSpPr>
              <a:cxnSpLocks/>
            </p:cNvCxnSpPr>
            <p:nvPr/>
          </p:nvCxnSpPr>
          <p:spPr>
            <a:xfrm>
              <a:off x="9735332" y="2474186"/>
              <a:ext cx="1567667" cy="0"/>
            </a:xfrm>
            <a:prstGeom prst="line">
              <a:avLst/>
            </a:prstGeom>
            <a:ln w="50800">
              <a:solidFill>
                <a:srgbClr val="FA2743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A9E96E0-0CBE-65A1-E7AC-C12DDC0F504C}"/>
                </a:ext>
              </a:extLst>
            </p:cNvPr>
            <p:cNvSpPr/>
            <p:nvPr/>
          </p:nvSpPr>
          <p:spPr>
            <a:xfrm>
              <a:off x="9684756" y="2395193"/>
              <a:ext cx="139267" cy="139267"/>
            </a:xfrm>
            <a:prstGeom prst="ellipse">
              <a:avLst/>
            </a:prstGeom>
            <a:solidFill>
              <a:srgbClr val="5E5E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1967D12-DB1F-563D-7CE7-50681242E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999578" y="2640983"/>
              <a:ext cx="1054100" cy="393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089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EF525EB-1062-89C8-8154-7AE72F6B975A}"/>
              </a:ext>
            </a:extLst>
          </p:cNvPr>
          <p:cNvSpPr/>
          <p:nvPr/>
        </p:nvSpPr>
        <p:spPr>
          <a:xfrm>
            <a:off x="2682240" y="3429000"/>
            <a:ext cx="6389299" cy="825372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A0B4DF-A2C7-41FF-AA70-CBE53100ED0C}"/>
              </a:ext>
            </a:extLst>
          </p:cNvPr>
          <p:cNvSpPr txBox="1"/>
          <p:nvPr/>
        </p:nvSpPr>
        <p:spPr>
          <a:xfrm>
            <a:off x="292619" y="793995"/>
            <a:ext cx="10388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Matrix                     is symmetric positive semi-definite (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SPSD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matrix if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7A7DDC-5469-FFC3-FE22-BBFA624C3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396" y="987144"/>
            <a:ext cx="1371600" cy="279400"/>
          </a:xfrm>
          <a:prstGeom prst="rect">
            <a:avLst/>
          </a:prstGeom>
        </p:spPr>
      </p:pic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0671798-94DD-3BCD-1CCB-5A6C75574CA1}"/>
              </a:ext>
            </a:extLst>
          </p:cNvPr>
          <p:cNvSpPr/>
          <p:nvPr/>
        </p:nvSpPr>
        <p:spPr>
          <a:xfrm>
            <a:off x="2682240" y="1624908"/>
            <a:ext cx="6389299" cy="825372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61284-74F8-E94B-2264-9CE28C95FBFE}"/>
              </a:ext>
            </a:extLst>
          </p:cNvPr>
          <p:cNvSpPr txBox="1"/>
          <p:nvPr/>
        </p:nvSpPr>
        <p:spPr>
          <a:xfrm>
            <a:off x="2833978" y="1696811"/>
            <a:ext cx="60458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any 		      we have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49AF763-8705-EB11-1F96-D96BAA73C30B}"/>
              </a:ext>
            </a:extLst>
          </p:cNvPr>
          <p:cNvGrpSpPr/>
          <p:nvPr/>
        </p:nvGrpSpPr>
        <p:grpSpPr>
          <a:xfrm>
            <a:off x="4021734" y="1837007"/>
            <a:ext cx="4808994" cy="378939"/>
            <a:chOff x="1644350" y="1768335"/>
            <a:chExt cx="4808994" cy="37893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1974CE4-5F85-43D7-D8EA-C3D45BF36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4350" y="1817074"/>
              <a:ext cx="1968500" cy="3302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D52F274-DA1A-1F28-3A47-67AE71E46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4744" y="1768335"/>
              <a:ext cx="1498600" cy="355600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9785269-CDEE-7956-B608-F1B969EFE65C}"/>
              </a:ext>
            </a:extLst>
          </p:cNvPr>
          <p:cNvSpPr txBox="1"/>
          <p:nvPr/>
        </p:nvSpPr>
        <p:spPr>
          <a:xfrm>
            <a:off x="292619" y="2639879"/>
            <a:ext cx="116222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Equivalently, we have that the eigen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values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 and eigen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vectors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  of	      are such that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BAB4DF2-C52D-F232-D343-B61E8159B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410" y="2822777"/>
            <a:ext cx="266700" cy="3048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B51C97-D3DA-894B-CE64-8F944FD13E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176" y="2900117"/>
            <a:ext cx="279400" cy="2159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F6E10A8-6120-5A6E-40B9-47EDC0296D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4226" y="2860877"/>
            <a:ext cx="241300" cy="228600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C16A046D-3A9E-123D-F8FF-F194861E0E05}"/>
              </a:ext>
            </a:extLst>
          </p:cNvPr>
          <p:cNvGrpSpPr/>
          <p:nvPr/>
        </p:nvGrpSpPr>
        <p:grpSpPr>
          <a:xfrm>
            <a:off x="3258255" y="3624512"/>
            <a:ext cx="5287553" cy="433857"/>
            <a:chOff x="2640010" y="4120705"/>
            <a:chExt cx="5287553" cy="43385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D3AB000-B5F2-B1C2-285B-7C60B65DA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40010" y="4184428"/>
              <a:ext cx="2921000" cy="3429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E323D01-0689-AF48-8F67-AE7D953E2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90863" y="4120705"/>
              <a:ext cx="1536700" cy="4064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BAE14EB-802B-1770-B22B-A7AB9C2C6BDB}"/>
                </a:ext>
              </a:extLst>
            </p:cNvPr>
            <p:cNvSpPr txBox="1"/>
            <p:nvPr/>
          </p:nvSpPr>
          <p:spPr>
            <a:xfrm>
              <a:off x="5645460" y="4123675"/>
              <a:ext cx="66095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FR" sz="2200" dirty="0">
                  <a:solidFill>
                    <a:srgbClr val="5E5E5E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and</a:t>
              </a:r>
              <a:endParaRPr lang="en-FR" sz="2200" dirty="0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10346503-70FF-9BC7-368A-D9BB9D04D7AC}"/>
              </a:ext>
            </a:extLst>
          </p:cNvPr>
          <p:cNvSpPr txBox="1"/>
          <p:nvPr/>
        </p:nvSpPr>
        <p:spPr>
          <a:xfrm>
            <a:off x="309114" y="4485763"/>
            <a:ext cx="8066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we can write its eigenvalue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decomposition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as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CC91BA4-51AE-B48B-14B3-D0369764D0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1130" y="5148041"/>
            <a:ext cx="9349740" cy="1291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AAC6CE-BAC7-409D-F066-116D35630CC9}"/>
              </a:ext>
            </a:extLst>
          </p:cNvPr>
          <p:cNvSpPr txBox="1"/>
          <p:nvPr/>
        </p:nvSpPr>
        <p:spPr>
          <a:xfrm>
            <a:off x="240033" y="-69961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Important tools from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073973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8077A-1466-80B2-3B91-28C935FC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EBF766C-AD34-A1D1-1314-BDCDC036DE1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9B10B2A2-CB73-31D5-EF45-5304FDE7B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2777689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E20F7D-EF5A-4D4F-E98A-57796E35E476}"/>
              </a:ext>
            </a:extLst>
          </p:cNvPr>
          <p:cNvSpPr txBox="1"/>
          <p:nvPr/>
        </p:nvSpPr>
        <p:spPr>
          <a:xfrm>
            <a:off x="1865622" y="1580886"/>
            <a:ext cx="96808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important mathematical tools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Principal Component Analysis (PCA)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Principal Component Regression (PCR)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1177732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A142E5-63E4-0322-7085-4F917C77904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2438C9-2139-0AA3-879A-1DA1CAD1161C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7CDFE3-3B42-DCBB-6A38-74768A05065D}"/>
              </a:ext>
            </a:extLst>
          </p:cNvPr>
          <p:cNvSpPr txBox="1"/>
          <p:nvPr/>
        </p:nvSpPr>
        <p:spPr>
          <a:xfrm>
            <a:off x="292618" y="793995"/>
            <a:ext cx="113313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want to define a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linear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transformation on our (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zero-mean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data matrix: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0DD8CC0-5019-9650-16C0-B5707E2F84E6}"/>
              </a:ext>
            </a:extLst>
          </p:cNvPr>
          <p:cNvGrpSpPr/>
          <p:nvPr/>
        </p:nvGrpSpPr>
        <p:grpSpPr>
          <a:xfrm>
            <a:off x="909837" y="1374828"/>
            <a:ext cx="3565085" cy="2373720"/>
            <a:chOff x="1704461" y="1627980"/>
            <a:chExt cx="3565085" cy="237372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788A33B-CB01-F2BB-2059-62DB1804A786}"/>
                </a:ext>
              </a:extLst>
            </p:cNvPr>
            <p:cNvGrpSpPr/>
            <p:nvPr/>
          </p:nvGrpSpPr>
          <p:grpSpPr>
            <a:xfrm>
              <a:off x="1704461" y="1627980"/>
              <a:ext cx="3565085" cy="1925711"/>
              <a:chOff x="595746" y="1005198"/>
              <a:chExt cx="3565085" cy="1925711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A2E075A-3CC7-E4BB-60C1-69BB4373999B}"/>
                  </a:ext>
                </a:extLst>
              </p:cNvPr>
              <p:cNvSpPr/>
              <p:nvPr/>
            </p:nvSpPr>
            <p:spPr>
              <a:xfrm>
                <a:off x="595746" y="1192206"/>
                <a:ext cx="3565085" cy="1684800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7858743-F8F3-CA04-B85C-D04F1BD2D06E}"/>
                  </a:ext>
                </a:extLst>
              </p:cNvPr>
              <p:cNvSpPr/>
              <p:nvPr/>
            </p:nvSpPr>
            <p:spPr>
              <a:xfrm>
                <a:off x="796636" y="1005198"/>
                <a:ext cx="3163305" cy="1925711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26244C5-8227-80B6-F972-A256139B3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2895" y="3712775"/>
              <a:ext cx="1345565" cy="28892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A91D596-4516-E304-04ED-44CB6841915A}"/>
                </a:ext>
              </a:extLst>
            </p:cNvPr>
            <p:cNvSpPr/>
            <p:nvPr/>
          </p:nvSpPr>
          <p:spPr>
            <a:xfrm>
              <a:off x="1928159" y="1915625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B594F3C-9B32-F01B-3F3E-5D6AE6906325}"/>
                </a:ext>
              </a:extLst>
            </p:cNvPr>
            <p:cNvSpPr/>
            <p:nvPr/>
          </p:nvSpPr>
          <p:spPr>
            <a:xfrm>
              <a:off x="1928159" y="2305418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3AB55F9-909E-AACB-04BC-BB4B0A5F9A20}"/>
                </a:ext>
              </a:extLst>
            </p:cNvPr>
            <p:cNvSpPr/>
            <p:nvPr/>
          </p:nvSpPr>
          <p:spPr>
            <a:xfrm>
              <a:off x="1928159" y="2694054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78984EB-55E8-D87D-A989-598B01DB2B88}"/>
                </a:ext>
              </a:extLst>
            </p:cNvPr>
            <p:cNvSpPr/>
            <p:nvPr/>
          </p:nvSpPr>
          <p:spPr>
            <a:xfrm>
              <a:off x="1928159" y="3086440"/>
              <a:ext cx="288000" cy="288000"/>
            </a:xfrm>
            <a:prstGeom prst="rect">
              <a:avLst/>
            </a:prstGeom>
            <a:solidFill>
              <a:srgbClr val="9B5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9DF4C7F-E198-7C04-BAB8-C780DE479201}"/>
                </a:ext>
              </a:extLst>
            </p:cNvPr>
            <p:cNvSpPr/>
            <p:nvPr/>
          </p:nvSpPr>
          <p:spPr>
            <a:xfrm>
              <a:off x="2400256" y="1915625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B8D102F-A554-171C-B0A4-D2C63AEA7B62}"/>
                </a:ext>
              </a:extLst>
            </p:cNvPr>
            <p:cNvSpPr/>
            <p:nvPr/>
          </p:nvSpPr>
          <p:spPr>
            <a:xfrm>
              <a:off x="2400256" y="2305418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D484F72-52F8-0582-F1C0-1C24B4D3511E}"/>
                </a:ext>
              </a:extLst>
            </p:cNvPr>
            <p:cNvSpPr/>
            <p:nvPr/>
          </p:nvSpPr>
          <p:spPr>
            <a:xfrm>
              <a:off x="2400256" y="2694054"/>
              <a:ext cx="288000" cy="288000"/>
            </a:xfrm>
            <a:prstGeom prst="rect">
              <a:avLst/>
            </a:prstGeom>
            <a:solidFill>
              <a:srgbClr val="9B5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B2102DC-3F83-62FD-F15B-78B1178547FB}"/>
                </a:ext>
              </a:extLst>
            </p:cNvPr>
            <p:cNvSpPr/>
            <p:nvPr/>
          </p:nvSpPr>
          <p:spPr>
            <a:xfrm>
              <a:off x="2400256" y="3086440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821B67-CE36-CBAA-046C-29D9ADD7E6FC}"/>
                </a:ext>
              </a:extLst>
            </p:cNvPr>
            <p:cNvSpPr/>
            <p:nvPr/>
          </p:nvSpPr>
          <p:spPr>
            <a:xfrm>
              <a:off x="2872353" y="1915625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4301897-97B7-5689-4436-65EC9B3849F2}"/>
                </a:ext>
              </a:extLst>
            </p:cNvPr>
            <p:cNvSpPr/>
            <p:nvPr/>
          </p:nvSpPr>
          <p:spPr>
            <a:xfrm>
              <a:off x="2872353" y="2305418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C9C8885-3944-6C36-F1EF-00D17567E701}"/>
                </a:ext>
              </a:extLst>
            </p:cNvPr>
            <p:cNvSpPr/>
            <p:nvPr/>
          </p:nvSpPr>
          <p:spPr>
            <a:xfrm>
              <a:off x="2872353" y="2694054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B068018-D103-2D8B-ECCE-70522D1FBDBF}"/>
                </a:ext>
              </a:extLst>
            </p:cNvPr>
            <p:cNvSpPr/>
            <p:nvPr/>
          </p:nvSpPr>
          <p:spPr>
            <a:xfrm>
              <a:off x="2872353" y="3086440"/>
              <a:ext cx="288000" cy="288000"/>
            </a:xfrm>
            <a:prstGeom prst="rect">
              <a:avLst/>
            </a:prstGeom>
            <a:solidFill>
              <a:srgbClr val="9B5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0CF7CFA-0CEE-CB83-AB95-67F7CACA02D9}"/>
                </a:ext>
              </a:extLst>
            </p:cNvPr>
            <p:cNvSpPr/>
            <p:nvPr/>
          </p:nvSpPr>
          <p:spPr>
            <a:xfrm>
              <a:off x="3341678" y="1915625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BDE0A10-A24B-2F96-0757-94835E1AD8FF}"/>
                </a:ext>
              </a:extLst>
            </p:cNvPr>
            <p:cNvSpPr/>
            <p:nvPr/>
          </p:nvSpPr>
          <p:spPr>
            <a:xfrm>
              <a:off x="3341678" y="2305418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4B81D8B-487D-2DB9-066A-637DE1FC788F}"/>
                </a:ext>
              </a:extLst>
            </p:cNvPr>
            <p:cNvSpPr/>
            <p:nvPr/>
          </p:nvSpPr>
          <p:spPr>
            <a:xfrm>
              <a:off x="3341678" y="2694054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71B9CE5-6369-E75C-A9C9-6F89F4D6A90B}"/>
                </a:ext>
              </a:extLst>
            </p:cNvPr>
            <p:cNvSpPr/>
            <p:nvPr/>
          </p:nvSpPr>
          <p:spPr>
            <a:xfrm>
              <a:off x="3341678" y="3086440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2A4212C-8E23-B130-D12B-E72DF65E2855}"/>
                </a:ext>
              </a:extLst>
            </p:cNvPr>
            <p:cNvSpPr/>
            <p:nvPr/>
          </p:nvSpPr>
          <p:spPr>
            <a:xfrm>
              <a:off x="3812714" y="1915625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90C611C-A30D-5A94-B963-286C0162E358}"/>
                </a:ext>
              </a:extLst>
            </p:cNvPr>
            <p:cNvSpPr/>
            <p:nvPr/>
          </p:nvSpPr>
          <p:spPr>
            <a:xfrm>
              <a:off x="3812714" y="2305418"/>
              <a:ext cx="288000" cy="28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35104F5-C78F-3306-4EA2-99F3AB9E17CB}"/>
                </a:ext>
              </a:extLst>
            </p:cNvPr>
            <p:cNvSpPr/>
            <p:nvPr/>
          </p:nvSpPr>
          <p:spPr>
            <a:xfrm>
              <a:off x="3812714" y="2694054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855A722-227A-80CD-243D-A83CA00363DF}"/>
                </a:ext>
              </a:extLst>
            </p:cNvPr>
            <p:cNvSpPr/>
            <p:nvPr/>
          </p:nvSpPr>
          <p:spPr>
            <a:xfrm>
              <a:off x="3812714" y="3086440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5277D71-9F83-8BF1-2F30-5B393B397D07}"/>
                </a:ext>
              </a:extLst>
            </p:cNvPr>
            <p:cNvSpPr/>
            <p:nvPr/>
          </p:nvSpPr>
          <p:spPr>
            <a:xfrm>
              <a:off x="4283750" y="1915625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B192C2E-4D21-BC39-46E0-12CD18A12D6C}"/>
                </a:ext>
              </a:extLst>
            </p:cNvPr>
            <p:cNvSpPr/>
            <p:nvPr/>
          </p:nvSpPr>
          <p:spPr>
            <a:xfrm>
              <a:off x="4283750" y="2305418"/>
              <a:ext cx="288000" cy="28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DF3D19F-722E-72B0-79FF-5BA7E2F55F7A}"/>
                </a:ext>
              </a:extLst>
            </p:cNvPr>
            <p:cNvSpPr/>
            <p:nvPr/>
          </p:nvSpPr>
          <p:spPr>
            <a:xfrm>
              <a:off x="4283750" y="2694054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71189B7-A22F-1316-89C4-9FA003791B4A}"/>
                </a:ext>
              </a:extLst>
            </p:cNvPr>
            <p:cNvSpPr/>
            <p:nvPr/>
          </p:nvSpPr>
          <p:spPr>
            <a:xfrm>
              <a:off x="4283750" y="3086440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A67D7C4-C8AA-E357-983A-B6118C2ADF4F}"/>
                </a:ext>
              </a:extLst>
            </p:cNvPr>
            <p:cNvSpPr/>
            <p:nvPr/>
          </p:nvSpPr>
          <p:spPr>
            <a:xfrm>
              <a:off x="4754786" y="1915625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3D3EDF0-0120-550B-DC5A-22F7FB942B89}"/>
                </a:ext>
              </a:extLst>
            </p:cNvPr>
            <p:cNvSpPr/>
            <p:nvPr/>
          </p:nvSpPr>
          <p:spPr>
            <a:xfrm>
              <a:off x="4754786" y="2305418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AAAC26D-DA30-F690-7619-08F0B44FD641}"/>
                </a:ext>
              </a:extLst>
            </p:cNvPr>
            <p:cNvSpPr/>
            <p:nvPr/>
          </p:nvSpPr>
          <p:spPr>
            <a:xfrm>
              <a:off x="4754786" y="2694054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59F970C-510A-F733-CC01-796118718504}"/>
                </a:ext>
              </a:extLst>
            </p:cNvPr>
            <p:cNvSpPr/>
            <p:nvPr/>
          </p:nvSpPr>
          <p:spPr>
            <a:xfrm>
              <a:off x="4754786" y="3086440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D16F469-8D44-A9D9-34BA-1190A9AB6900}"/>
              </a:ext>
            </a:extLst>
          </p:cNvPr>
          <p:cNvGrpSpPr/>
          <p:nvPr/>
        </p:nvGrpSpPr>
        <p:grpSpPr>
          <a:xfrm>
            <a:off x="5483292" y="1374828"/>
            <a:ext cx="2148926" cy="2360467"/>
            <a:chOff x="6959079" y="1627980"/>
            <a:chExt cx="2148926" cy="236046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8162145-DD63-050B-31A3-6E1A04074CE8}"/>
                </a:ext>
              </a:extLst>
            </p:cNvPr>
            <p:cNvGrpSpPr/>
            <p:nvPr/>
          </p:nvGrpSpPr>
          <p:grpSpPr>
            <a:xfrm>
              <a:off x="6959079" y="1627980"/>
              <a:ext cx="2148926" cy="1980516"/>
              <a:chOff x="5597238" y="1005199"/>
              <a:chExt cx="2148926" cy="19805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ECC18C9-C390-26FE-4434-A551B997309D}"/>
                  </a:ext>
                </a:extLst>
              </p:cNvPr>
              <p:cNvSpPr/>
              <p:nvPr/>
            </p:nvSpPr>
            <p:spPr>
              <a:xfrm>
                <a:off x="5597238" y="1192206"/>
                <a:ext cx="2148926" cy="1684800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2A59FBB-5AF0-A3FF-6F33-F8682631C0EC}"/>
                  </a:ext>
                </a:extLst>
              </p:cNvPr>
              <p:cNvSpPr/>
              <p:nvPr/>
            </p:nvSpPr>
            <p:spPr>
              <a:xfrm>
                <a:off x="5798128" y="1005199"/>
                <a:ext cx="1747146" cy="1980516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D701996-EEFB-3E81-5022-84ABA8DCC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3779" y="3699522"/>
              <a:ext cx="1279525" cy="28892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C13F2B0-C023-BCF1-E27A-66E8465D3D3C}"/>
                </a:ext>
              </a:extLst>
            </p:cNvPr>
            <p:cNvSpPr/>
            <p:nvPr/>
          </p:nvSpPr>
          <p:spPr>
            <a:xfrm>
              <a:off x="7179988" y="1915624"/>
              <a:ext cx="288000" cy="28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7B78DA6-DF4C-4D09-B97F-08AD9232E852}"/>
                </a:ext>
              </a:extLst>
            </p:cNvPr>
            <p:cNvSpPr/>
            <p:nvPr/>
          </p:nvSpPr>
          <p:spPr>
            <a:xfrm>
              <a:off x="7179988" y="2305417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04CBB11-86BA-39D7-54CD-A098B48223E1}"/>
                </a:ext>
              </a:extLst>
            </p:cNvPr>
            <p:cNvSpPr/>
            <p:nvPr/>
          </p:nvSpPr>
          <p:spPr>
            <a:xfrm>
              <a:off x="7179988" y="2694053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499BFF9-A907-A7BF-1BA0-51208BDA549F}"/>
                </a:ext>
              </a:extLst>
            </p:cNvPr>
            <p:cNvSpPr/>
            <p:nvPr/>
          </p:nvSpPr>
          <p:spPr>
            <a:xfrm>
              <a:off x="7179988" y="3086439"/>
              <a:ext cx="288000" cy="28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356BB2-4884-C3E1-7B15-198D21CA2693}"/>
                </a:ext>
              </a:extLst>
            </p:cNvPr>
            <p:cNvSpPr/>
            <p:nvPr/>
          </p:nvSpPr>
          <p:spPr>
            <a:xfrm>
              <a:off x="7651024" y="1915624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49158AB-7551-1F44-5FC6-8264698B5349}"/>
                </a:ext>
              </a:extLst>
            </p:cNvPr>
            <p:cNvSpPr/>
            <p:nvPr/>
          </p:nvSpPr>
          <p:spPr>
            <a:xfrm>
              <a:off x="7651024" y="2305417"/>
              <a:ext cx="288000" cy="28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A1D07F2-7B85-7CF4-C97B-D3CFB5F6ACC9}"/>
                </a:ext>
              </a:extLst>
            </p:cNvPr>
            <p:cNvSpPr/>
            <p:nvPr/>
          </p:nvSpPr>
          <p:spPr>
            <a:xfrm>
              <a:off x="7651024" y="2694053"/>
              <a:ext cx="288000" cy="288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D14B6DA-F11B-E31E-80C9-2F9A8FDD9D6A}"/>
                </a:ext>
              </a:extLst>
            </p:cNvPr>
            <p:cNvSpPr/>
            <p:nvPr/>
          </p:nvSpPr>
          <p:spPr>
            <a:xfrm>
              <a:off x="7651024" y="3086439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BCCDE00-753C-C1BC-B9AC-8ED1C8477417}"/>
                </a:ext>
              </a:extLst>
            </p:cNvPr>
            <p:cNvSpPr/>
            <p:nvPr/>
          </p:nvSpPr>
          <p:spPr>
            <a:xfrm>
              <a:off x="8122060" y="1915624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74EC25F-A909-2E9B-F974-1786C8A8436E}"/>
                </a:ext>
              </a:extLst>
            </p:cNvPr>
            <p:cNvSpPr/>
            <p:nvPr/>
          </p:nvSpPr>
          <p:spPr>
            <a:xfrm>
              <a:off x="8122060" y="2305417"/>
              <a:ext cx="288000" cy="288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9B49C00-2717-389F-532B-724F0B9B6F84}"/>
                </a:ext>
              </a:extLst>
            </p:cNvPr>
            <p:cNvSpPr/>
            <p:nvPr/>
          </p:nvSpPr>
          <p:spPr>
            <a:xfrm>
              <a:off x="8122060" y="2694053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B8EC420-C91D-117F-C40C-169628E8DACD}"/>
                </a:ext>
              </a:extLst>
            </p:cNvPr>
            <p:cNvSpPr/>
            <p:nvPr/>
          </p:nvSpPr>
          <p:spPr>
            <a:xfrm>
              <a:off x="8122060" y="3086439"/>
              <a:ext cx="288000" cy="28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E48CE4E-33FA-0167-FFF6-54D931A85FA4}"/>
                </a:ext>
              </a:extLst>
            </p:cNvPr>
            <p:cNvSpPr/>
            <p:nvPr/>
          </p:nvSpPr>
          <p:spPr>
            <a:xfrm>
              <a:off x="8593096" y="1915624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B9E786F-8D6F-874C-06FA-9DB0874CEF43}"/>
                </a:ext>
              </a:extLst>
            </p:cNvPr>
            <p:cNvSpPr/>
            <p:nvPr/>
          </p:nvSpPr>
          <p:spPr>
            <a:xfrm>
              <a:off x="8593096" y="2305417"/>
              <a:ext cx="288000" cy="28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9B8C3A4-36D5-8D26-C8D6-F9698E61FA7E}"/>
                </a:ext>
              </a:extLst>
            </p:cNvPr>
            <p:cNvSpPr/>
            <p:nvPr/>
          </p:nvSpPr>
          <p:spPr>
            <a:xfrm>
              <a:off x="8593096" y="2694053"/>
              <a:ext cx="288000" cy="288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6A37216-84F6-A3DE-12C0-CC13BACAD892}"/>
                </a:ext>
              </a:extLst>
            </p:cNvPr>
            <p:cNvSpPr/>
            <p:nvPr/>
          </p:nvSpPr>
          <p:spPr>
            <a:xfrm>
              <a:off x="8593096" y="3086439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4BF4D96-CE39-96C0-39E6-A88EE130ECD3}"/>
              </a:ext>
            </a:extLst>
          </p:cNvPr>
          <p:cNvGrpSpPr/>
          <p:nvPr/>
        </p:nvGrpSpPr>
        <p:grpSpPr>
          <a:xfrm>
            <a:off x="4656247" y="2440901"/>
            <a:ext cx="645720" cy="701168"/>
            <a:chOff x="5396785" y="2694053"/>
            <a:chExt cx="645720" cy="701168"/>
          </a:xfrm>
        </p:grpSpPr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00F4062-918C-F1E4-BC9D-0FE800321B05}"/>
                </a:ext>
              </a:extLst>
            </p:cNvPr>
            <p:cNvSpPr/>
            <p:nvPr/>
          </p:nvSpPr>
          <p:spPr>
            <a:xfrm>
              <a:off x="5396785" y="2694053"/>
              <a:ext cx="645720" cy="321128"/>
            </a:xfrm>
            <a:custGeom>
              <a:avLst/>
              <a:gdLst>
                <a:gd name="connsiteX0" fmla="*/ 0 w 974271"/>
                <a:gd name="connsiteY0" fmla="*/ 0 h 321128"/>
                <a:gd name="connsiteX1" fmla="*/ 391886 w 974271"/>
                <a:gd name="connsiteY1" fmla="*/ 321128 h 321128"/>
                <a:gd name="connsiteX2" fmla="*/ 974271 w 974271"/>
                <a:gd name="connsiteY2" fmla="*/ 0 h 32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4271" h="321128">
                  <a:moveTo>
                    <a:pt x="0" y="0"/>
                  </a:moveTo>
                  <a:cubicBezTo>
                    <a:pt x="114754" y="160564"/>
                    <a:pt x="229508" y="321128"/>
                    <a:pt x="391886" y="321128"/>
                  </a:cubicBezTo>
                  <a:cubicBezTo>
                    <a:pt x="554264" y="321128"/>
                    <a:pt x="764267" y="160564"/>
                    <a:pt x="974271" y="0"/>
                  </a:cubicBezTo>
                </a:path>
              </a:pathLst>
            </a:custGeom>
            <a:noFill/>
            <a:ln w="25400">
              <a:solidFill>
                <a:srgbClr val="363833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C3CBEF7C-129B-E323-0CB5-346DB0EA2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78584" y="3166621"/>
              <a:ext cx="215900" cy="2286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9B7F3CC-B67E-43E3-C2A0-073E53CBC1A0}"/>
              </a:ext>
            </a:extLst>
          </p:cNvPr>
          <p:cNvGrpSpPr/>
          <p:nvPr/>
        </p:nvGrpSpPr>
        <p:grpSpPr>
          <a:xfrm>
            <a:off x="8125544" y="1774014"/>
            <a:ext cx="3149680" cy="1191597"/>
            <a:chOff x="8519782" y="2011196"/>
            <a:chExt cx="3149680" cy="1191597"/>
          </a:xfrm>
        </p:grpSpPr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5A807761-4000-D898-37C0-AF7F4780F1F3}"/>
                </a:ext>
              </a:extLst>
            </p:cNvPr>
            <p:cNvSpPr/>
            <p:nvPr/>
          </p:nvSpPr>
          <p:spPr>
            <a:xfrm>
              <a:off x="8519782" y="2011196"/>
              <a:ext cx="3149680" cy="1191597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ACBA041-525C-9E03-4DEF-591A600F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06842" y="2309815"/>
              <a:ext cx="2575560" cy="594360"/>
            </a:xfrm>
            <a:prstGeom prst="rect">
              <a:avLst/>
            </a:prstGeom>
          </p:spPr>
        </p:pic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4FD39CA0-0E82-68A9-E5D0-03C48B88E29E}"/>
              </a:ext>
            </a:extLst>
          </p:cNvPr>
          <p:cNvSpPr txBox="1"/>
          <p:nvPr/>
        </p:nvSpPr>
        <p:spPr>
          <a:xfrm>
            <a:off x="329742" y="3871384"/>
            <a:ext cx="10388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Matrix       should minimize the following </a:t>
            </a:r>
            <a:r>
              <a:rPr lang="en-GB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objective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function: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C89962E3-C1C7-99F9-E574-123F154391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4398" y="4085059"/>
            <a:ext cx="381000" cy="241300"/>
          </a:xfrm>
          <a:prstGeom prst="rect">
            <a:avLst/>
          </a:prstGeom>
        </p:spPr>
      </p:pic>
      <p:grpSp>
        <p:nvGrpSpPr>
          <p:cNvPr id="119" name="Group 118">
            <a:extLst>
              <a:ext uri="{FF2B5EF4-FFF2-40B4-BE49-F238E27FC236}">
                <a16:creationId xmlns:a16="http://schemas.microsoft.com/office/drawing/2014/main" id="{B9EC4750-30B9-4A71-94BE-F73BFEC8C0D1}"/>
              </a:ext>
            </a:extLst>
          </p:cNvPr>
          <p:cNvGrpSpPr/>
          <p:nvPr/>
        </p:nvGrpSpPr>
        <p:grpSpPr>
          <a:xfrm>
            <a:off x="1434785" y="4671614"/>
            <a:ext cx="9322430" cy="1314031"/>
            <a:chOff x="1133536" y="5006373"/>
            <a:chExt cx="9322430" cy="1314031"/>
          </a:xfrm>
        </p:grpSpPr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8727B1A5-EBAD-8B3E-B325-CE9D0B49BB4A}"/>
                </a:ext>
              </a:extLst>
            </p:cNvPr>
            <p:cNvSpPr/>
            <p:nvPr/>
          </p:nvSpPr>
          <p:spPr>
            <a:xfrm>
              <a:off x="1133536" y="5006373"/>
              <a:ext cx="9322430" cy="1314031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4BAEEE40-6C37-58AF-A4D5-D41F722EF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14273" y="5454599"/>
              <a:ext cx="1714500" cy="406400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EFB7A3-42B1-1A57-87D6-9ADF5F9B0B5D}"/>
                </a:ext>
              </a:extLst>
            </p:cNvPr>
            <p:cNvSpPr txBox="1"/>
            <p:nvPr/>
          </p:nvSpPr>
          <p:spPr>
            <a:xfrm>
              <a:off x="6790273" y="5430112"/>
              <a:ext cx="152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such that</a:t>
              </a:r>
              <a:endPara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2A9D0075-A42F-C894-1A2C-B54226649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81890" y="5172452"/>
              <a:ext cx="5168900" cy="8890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F14B50D-0B6C-D7C8-70B1-C1815DD9E433}"/>
              </a:ext>
            </a:extLst>
          </p:cNvPr>
          <p:cNvSpPr txBox="1"/>
          <p:nvPr/>
        </p:nvSpPr>
        <p:spPr>
          <a:xfrm>
            <a:off x="3691306" y="6201100"/>
            <a:ext cx="2951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70C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Reconstruction error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F3EDEC-8C04-031E-DF76-0DCD235E0BF2}"/>
              </a:ext>
            </a:extLst>
          </p:cNvPr>
          <p:cNvSpPr/>
          <p:nvPr/>
        </p:nvSpPr>
        <p:spPr>
          <a:xfrm>
            <a:off x="3489126" y="6064005"/>
            <a:ext cx="3355811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87901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A142E5-63E4-0322-7085-4F917C77904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7CDFE3-3B42-DCBB-6A38-74768A05065D}"/>
              </a:ext>
            </a:extLst>
          </p:cNvPr>
          <p:cNvSpPr txBox="1"/>
          <p:nvPr/>
        </p:nvSpPr>
        <p:spPr>
          <a:xfrm>
            <a:off x="292618" y="686346"/>
            <a:ext cx="113313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where does that come from? Let’s start from the beginning with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19CC3-2F4F-4069-A6F7-809CE059E892}"/>
              </a:ext>
            </a:extLst>
          </p:cNvPr>
          <p:cNvSpPr txBox="1"/>
          <p:nvPr/>
        </p:nvSpPr>
        <p:spPr>
          <a:xfrm>
            <a:off x="5779556" y="1466554"/>
            <a:ext cx="63594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Each coordinate of the projection (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score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is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4D3357-E898-A2BC-5D5D-BC7EC6EF5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726" y="2058937"/>
            <a:ext cx="1358900" cy="317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6EE507-564D-87CF-3998-4997F9155907}"/>
              </a:ext>
            </a:extLst>
          </p:cNvPr>
          <p:cNvSpPr txBox="1"/>
          <p:nvPr/>
        </p:nvSpPr>
        <p:spPr>
          <a:xfrm>
            <a:off x="8582931" y="2047988"/>
            <a:ext cx="1140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</a:t>
            </a:r>
            <a:endParaRPr lang="en-FR" sz="22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4680F-77F8-45E5-3860-B2900757B609}"/>
              </a:ext>
            </a:extLst>
          </p:cNvPr>
          <p:cNvSpPr txBox="1"/>
          <p:nvPr/>
        </p:nvSpPr>
        <p:spPr>
          <a:xfrm>
            <a:off x="5779556" y="2680096"/>
            <a:ext cx="6494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nd we want to minimize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reconstruction error</a:t>
            </a:r>
            <a:endParaRPr lang="en-FR" sz="2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5B119CB-13D8-C1CE-6938-0225748B2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265" y="3338281"/>
            <a:ext cx="2908300" cy="9652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802F4AB-7BC7-6E3A-2C3E-8E3EF52B9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7067" y="874101"/>
            <a:ext cx="736600" cy="29210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1E9448F5-4601-B8BC-03D3-6E0085C9173C}"/>
              </a:ext>
            </a:extLst>
          </p:cNvPr>
          <p:cNvSpPr txBox="1"/>
          <p:nvPr/>
        </p:nvSpPr>
        <p:spPr>
          <a:xfrm>
            <a:off x="2848562" y="6122728"/>
            <a:ext cx="6494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 do we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minimize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this objective function?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8727B1A5-EBAD-8B3E-B325-CE9D0B49BB4A}"/>
              </a:ext>
            </a:extLst>
          </p:cNvPr>
          <p:cNvSpPr/>
          <p:nvPr/>
        </p:nvSpPr>
        <p:spPr>
          <a:xfrm>
            <a:off x="606371" y="4572038"/>
            <a:ext cx="10979257" cy="131403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EFB7A3-42B1-1A57-87D6-9ADF5F9B0B5D}"/>
              </a:ext>
            </a:extLst>
          </p:cNvPr>
          <p:cNvSpPr txBox="1"/>
          <p:nvPr/>
        </p:nvSpPr>
        <p:spPr>
          <a:xfrm>
            <a:off x="8489335" y="5001577"/>
            <a:ext cx="152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such that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8B23759F-CDA7-7C49-541E-830DB2143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3335" y="5027701"/>
            <a:ext cx="1358900" cy="3175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36EC457-2F54-4C2E-A623-EEC96B05EF77}"/>
              </a:ext>
            </a:extLst>
          </p:cNvPr>
          <p:cNvGrpSpPr/>
          <p:nvPr/>
        </p:nvGrpSpPr>
        <p:grpSpPr>
          <a:xfrm>
            <a:off x="405400" y="1357765"/>
            <a:ext cx="5281244" cy="2373720"/>
            <a:chOff x="410705" y="1357765"/>
            <a:chExt cx="5281244" cy="237372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788A33B-CB01-F2BB-2059-62DB1804A786}"/>
                </a:ext>
              </a:extLst>
            </p:cNvPr>
            <p:cNvGrpSpPr/>
            <p:nvPr/>
          </p:nvGrpSpPr>
          <p:grpSpPr>
            <a:xfrm>
              <a:off x="410705" y="1357765"/>
              <a:ext cx="3140571" cy="1925711"/>
              <a:chOff x="751275" y="1005198"/>
              <a:chExt cx="3140571" cy="1925711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A2E075A-3CC7-E4BB-60C1-69BB4373999B}"/>
                  </a:ext>
                </a:extLst>
              </p:cNvPr>
              <p:cNvSpPr/>
              <p:nvPr/>
            </p:nvSpPr>
            <p:spPr>
              <a:xfrm>
                <a:off x="751275" y="1192206"/>
                <a:ext cx="3140571" cy="1684800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7858743-F8F3-CA04-B85C-D04F1BD2D06E}"/>
                  </a:ext>
                </a:extLst>
              </p:cNvPr>
              <p:cNvSpPr/>
              <p:nvPr/>
            </p:nvSpPr>
            <p:spPr>
              <a:xfrm>
                <a:off x="883011" y="1005198"/>
                <a:ext cx="2874935" cy="1925711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26244C5-8227-80B6-F972-A256139B3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63610" y="3442560"/>
              <a:ext cx="1345565" cy="288925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ECC18C9-C390-26FE-4434-A551B997309D}"/>
                </a:ext>
              </a:extLst>
            </p:cNvPr>
            <p:cNvSpPr/>
            <p:nvPr/>
          </p:nvSpPr>
          <p:spPr>
            <a:xfrm>
              <a:off x="4828631" y="1544772"/>
              <a:ext cx="705841" cy="1684800"/>
            </a:xfrm>
            <a:prstGeom prst="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2A59FBB-5AF0-A3FF-6F33-F8682631C0EC}"/>
                </a:ext>
              </a:extLst>
            </p:cNvPr>
            <p:cNvSpPr/>
            <p:nvPr/>
          </p:nvSpPr>
          <p:spPr>
            <a:xfrm>
              <a:off x="4985029" y="1357765"/>
              <a:ext cx="397225" cy="1980516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4BF4D96-CE39-96C0-39E6-A88EE130ECD3}"/>
                </a:ext>
              </a:extLst>
            </p:cNvPr>
            <p:cNvGrpSpPr/>
            <p:nvPr/>
          </p:nvGrpSpPr>
          <p:grpSpPr>
            <a:xfrm>
              <a:off x="3864224" y="2423838"/>
              <a:ext cx="645720" cy="701168"/>
              <a:chOff x="5396785" y="2694053"/>
              <a:chExt cx="645720" cy="701168"/>
            </a:xfrm>
          </p:grpSpPr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600F4062-918C-F1E4-BC9D-0FE800321B05}"/>
                  </a:ext>
                </a:extLst>
              </p:cNvPr>
              <p:cNvSpPr/>
              <p:nvPr/>
            </p:nvSpPr>
            <p:spPr>
              <a:xfrm>
                <a:off x="5396785" y="2694053"/>
                <a:ext cx="645720" cy="321128"/>
              </a:xfrm>
              <a:custGeom>
                <a:avLst/>
                <a:gdLst>
                  <a:gd name="connsiteX0" fmla="*/ 0 w 974271"/>
                  <a:gd name="connsiteY0" fmla="*/ 0 h 321128"/>
                  <a:gd name="connsiteX1" fmla="*/ 391886 w 974271"/>
                  <a:gd name="connsiteY1" fmla="*/ 321128 h 321128"/>
                  <a:gd name="connsiteX2" fmla="*/ 974271 w 974271"/>
                  <a:gd name="connsiteY2" fmla="*/ 0 h 321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74271" h="321128">
                    <a:moveTo>
                      <a:pt x="0" y="0"/>
                    </a:moveTo>
                    <a:cubicBezTo>
                      <a:pt x="114754" y="160564"/>
                      <a:pt x="229508" y="321128"/>
                      <a:pt x="391886" y="321128"/>
                    </a:cubicBezTo>
                    <a:cubicBezTo>
                      <a:pt x="554264" y="321128"/>
                      <a:pt x="764267" y="160564"/>
                      <a:pt x="974271" y="0"/>
                    </a:cubicBezTo>
                  </a:path>
                </a:pathLst>
              </a:custGeom>
              <a:noFill/>
              <a:ln w="25400">
                <a:solidFill>
                  <a:srgbClr val="363833"/>
                </a:solidFill>
                <a:tailEnd type="stealth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C3CBEF7C-129B-E323-0CB5-346DB0EA25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78584" y="3166621"/>
                <a:ext cx="215900" cy="228600"/>
              </a:xfrm>
              <a:prstGeom prst="rect">
                <a:avLst/>
              </a:prstGeom>
            </p:spPr>
          </p:pic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7477001-3FBF-D13B-150B-78BDB4054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63249" y="3412594"/>
              <a:ext cx="1028700" cy="317500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F2CF3D2-CC08-9A7F-2020-81150FB22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768669" y="1615808"/>
              <a:ext cx="431800" cy="1460500"/>
            </a:xfrm>
            <a:prstGeom prst="rect">
              <a:avLst/>
            </a:prstGeom>
          </p:spPr>
        </p:pic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377D1D2-0E1D-676E-F7AB-6DFD0450FE61}"/>
                </a:ext>
              </a:extLst>
            </p:cNvPr>
            <p:cNvCxnSpPr>
              <a:cxnSpLocks/>
            </p:cNvCxnSpPr>
            <p:nvPr/>
          </p:nvCxnSpPr>
          <p:spPr>
            <a:xfrm>
              <a:off x="2325042" y="1843653"/>
              <a:ext cx="875359" cy="0"/>
            </a:xfrm>
            <a:prstGeom prst="line">
              <a:avLst/>
            </a:prstGeom>
            <a:ln w="25400">
              <a:solidFill>
                <a:srgbClr val="5E5E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3B64437-1B7E-0B2B-654D-5FB483916A53}"/>
                </a:ext>
              </a:extLst>
            </p:cNvPr>
            <p:cNvCxnSpPr>
              <a:cxnSpLocks/>
            </p:cNvCxnSpPr>
            <p:nvPr/>
          </p:nvCxnSpPr>
          <p:spPr>
            <a:xfrm>
              <a:off x="2325042" y="2929922"/>
              <a:ext cx="875359" cy="0"/>
            </a:xfrm>
            <a:prstGeom prst="line">
              <a:avLst/>
            </a:prstGeom>
            <a:ln w="25400">
              <a:solidFill>
                <a:srgbClr val="5E5E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8E641E8-E599-5AA6-01B9-134603A88952}"/>
                </a:ext>
              </a:extLst>
            </p:cNvPr>
            <p:cNvCxnSpPr>
              <a:cxnSpLocks/>
            </p:cNvCxnSpPr>
            <p:nvPr/>
          </p:nvCxnSpPr>
          <p:spPr>
            <a:xfrm>
              <a:off x="726133" y="1839792"/>
              <a:ext cx="875359" cy="0"/>
            </a:xfrm>
            <a:prstGeom prst="line">
              <a:avLst/>
            </a:prstGeom>
            <a:ln w="25400">
              <a:solidFill>
                <a:srgbClr val="5E5E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6CA7830-A7CB-495B-22A9-7D55B5C0CA72}"/>
                </a:ext>
              </a:extLst>
            </p:cNvPr>
            <p:cNvCxnSpPr>
              <a:cxnSpLocks/>
            </p:cNvCxnSpPr>
            <p:nvPr/>
          </p:nvCxnSpPr>
          <p:spPr>
            <a:xfrm>
              <a:off x="726133" y="2926061"/>
              <a:ext cx="875359" cy="0"/>
            </a:xfrm>
            <a:prstGeom prst="line">
              <a:avLst/>
            </a:prstGeom>
            <a:ln w="25400">
              <a:solidFill>
                <a:srgbClr val="5E5E5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FE3F3092-5DC3-E414-3EEA-39086D828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001644" y="1735444"/>
              <a:ext cx="368300" cy="1282700"/>
            </a:xfrm>
            <a:prstGeom prst="rect">
              <a:avLst/>
            </a:prstGeom>
          </p:spPr>
        </p:pic>
      </p:grpSp>
      <p:pic>
        <p:nvPicPr>
          <p:cNvPr id="95" name="Picture 94">
            <a:extLst>
              <a:ext uri="{FF2B5EF4-FFF2-40B4-BE49-F238E27FC236}">
                <a16:creationId xmlns:a16="http://schemas.microsoft.com/office/drawing/2014/main" id="{A9618444-C500-602C-5869-909842EE8F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5719" y="2048767"/>
            <a:ext cx="1384300" cy="393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30334C-8241-11C6-9CA2-223B3D8A5AB9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5D8DC-53A9-8EDD-52F8-08AC16E826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1038" y="4759592"/>
            <a:ext cx="75946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67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5D70DB40-2E41-6B5B-ED1E-06D6C9646C67}"/>
              </a:ext>
            </a:extLst>
          </p:cNvPr>
          <p:cNvSpPr/>
          <p:nvPr/>
        </p:nvSpPr>
        <p:spPr>
          <a:xfrm>
            <a:off x="1929044" y="5071058"/>
            <a:ext cx="7036903" cy="1262077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142E5-63E4-0322-7085-4F917C77904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9448F5-4601-B8BC-03D3-6E0085C9173C}"/>
              </a:ext>
            </a:extLst>
          </p:cNvPr>
          <p:cNvSpPr txBox="1"/>
          <p:nvPr/>
        </p:nvSpPr>
        <p:spPr>
          <a:xfrm>
            <a:off x="213549" y="779320"/>
            <a:ext cx="9400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 do we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minimize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this objective function? First note that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40D6B1-4FC6-43E7-638C-F322A264DCD6}"/>
              </a:ext>
            </a:extLst>
          </p:cNvPr>
          <p:cNvSpPr txBox="1"/>
          <p:nvPr/>
        </p:nvSpPr>
        <p:spPr>
          <a:xfrm>
            <a:off x="240033" y="5471263"/>
            <a:ext cx="15649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Therefore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C1017B0-6783-B6EB-DB1A-081F8B513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046" y="5219497"/>
            <a:ext cx="6692900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4C07FC-6501-5474-E877-F1AA43CEA623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738E0-D6EB-AF86-C2F1-C8D8E73BE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345" y="1493883"/>
            <a:ext cx="74803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098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A142E5-63E4-0322-7085-4F917C77904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03862-9971-F5A6-DA96-FB638D3B5164}"/>
              </a:ext>
            </a:extLst>
          </p:cNvPr>
          <p:cNvSpPr txBox="1"/>
          <p:nvPr/>
        </p:nvSpPr>
        <p:spPr>
          <a:xfrm>
            <a:off x="213549" y="779320"/>
            <a:ext cx="7825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augment the loss function to encode the constraint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45738-86A2-96C1-5322-43EBC7D87E97}"/>
              </a:ext>
            </a:extLst>
          </p:cNvPr>
          <p:cNvSpPr txBox="1"/>
          <p:nvPr/>
        </p:nvSpPr>
        <p:spPr>
          <a:xfrm>
            <a:off x="213548" y="2516452"/>
            <a:ext cx="9171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then take its gradient and equalize to zero. But first, note that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002158-8B71-0348-366E-D6EE14BE2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1361193"/>
            <a:ext cx="10325100" cy="9652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98CB6C4-9042-A5A5-AA79-16A4C6764A75}"/>
              </a:ext>
            </a:extLst>
          </p:cNvPr>
          <p:cNvGrpSpPr/>
          <p:nvPr/>
        </p:nvGrpSpPr>
        <p:grpSpPr>
          <a:xfrm>
            <a:off x="647700" y="3184873"/>
            <a:ext cx="10896600" cy="1522814"/>
            <a:chOff x="647700" y="3064848"/>
            <a:chExt cx="10896600" cy="15228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66AEB9A-1E90-2395-B01F-153491C2F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700" y="3064848"/>
              <a:ext cx="10896600" cy="9652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A28760-9E61-6E9A-7AF4-D4387994BF35}"/>
                </a:ext>
              </a:extLst>
            </p:cNvPr>
            <p:cNvSpPr/>
            <p:nvPr/>
          </p:nvSpPr>
          <p:spPr>
            <a:xfrm>
              <a:off x="8205557" y="4038172"/>
              <a:ext cx="1368000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520DFD-7A0B-8422-CE7F-011C434C1956}"/>
                </a:ext>
              </a:extLst>
            </p:cNvPr>
            <p:cNvSpPr txBox="1"/>
            <p:nvPr/>
          </p:nvSpPr>
          <p:spPr>
            <a:xfrm>
              <a:off x="7919579" y="4125997"/>
              <a:ext cx="19399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FA2743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c</a:t>
              </a:r>
              <a:r>
                <a:rPr lang="en-FR" sz="1400" dirty="0">
                  <a:solidFill>
                    <a:srgbClr val="FA2743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ovariance of the data</a:t>
              </a:r>
            </a:p>
            <a:p>
              <a:pPr algn="ctr"/>
              <a:r>
                <a:rPr lang="en-FR" sz="1000" dirty="0">
                  <a:solidFill>
                    <a:srgbClr val="FA2743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(remember data is zero-mean)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6BE22D1-D77E-33C7-E31B-56AC3EDCECA4}"/>
              </a:ext>
            </a:extLst>
          </p:cNvPr>
          <p:cNvSpPr txBox="1"/>
          <p:nvPr/>
        </p:nvSpPr>
        <p:spPr>
          <a:xfrm>
            <a:off x="213547" y="4356829"/>
            <a:ext cx="7825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 we have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392A4F-979D-1FC9-D0CA-044E2DEC8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8250" y="4810032"/>
            <a:ext cx="7175500" cy="698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7F3677-44E4-99FA-9F6F-E820C78CFCD7}"/>
              </a:ext>
            </a:extLst>
          </p:cNvPr>
          <p:cNvSpPr txBox="1"/>
          <p:nvPr/>
        </p:nvSpPr>
        <p:spPr>
          <a:xfrm>
            <a:off x="240033" y="5960310"/>
            <a:ext cx="1913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Conclusion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613DFF9-A004-C324-1663-3B55EBDD0778}"/>
              </a:ext>
            </a:extLst>
          </p:cNvPr>
          <p:cNvSpPr/>
          <p:nvPr/>
        </p:nvSpPr>
        <p:spPr>
          <a:xfrm>
            <a:off x="1994128" y="5875178"/>
            <a:ext cx="6726525" cy="644055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C1E0DD-8FC9-40E8-0EBE-3BA076A31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363" y="6121006"/>
            <a:ext cx="266700" cy="152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115D6B-A347-AFC1-9053-3E4D8BA2D2F9}"/>
              </a:ext>
            </a:extLst>
          </p:cNvPr>
          <p:cNvSpPr txBox="1"/>
          <p:nvPr/>
        </p:nvSpPr>
        <p:spPr>
          <a:xfrm>
            <a:off x="2464063" y="5960310"/>
            <a:ext cx="58374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 an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eigenvector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the covariance matrix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3079169-C1F8-B742-065D-713DCDBCA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293" y="6082906"/>
            <a:ext cx="241300" cy="228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BED75A-211C-F557-13F0-BDF7AB164A3E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2783225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A142E5-63E4-0322-7085-4F917C77904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03862-9971-F5A6-DA96-FB638D3B5164}"/>
              </a:ext>
            </a:extLst>
          </p:cNvPr>
          <p:cNvSpPr txBox="1"/>
          <p:nvPr/>
        </p:nvSpPr>
        <p:spPr>
          <a:xfrm>
            <a:off x="213549" y="811124"/>
            <a:ext cx="9041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     is a SPSD matrix, so we should take	        since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D910CE-C023-AC27-0168-617E056D9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436" y="931829"/>
            <a:ext cx="241300" cy="228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5E1928-1558-52E0-368E-C501B621D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400" y="968382"/>
            <a:ext cx="1041400" cy="215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5DCD557-5644-7F11-6F28-6BA7CF9B7F96}"/>
              </a:ext>
            </a:extLst>
          </p:cNvPr>
          <p:cNvSpPr txBox="1"/>
          <p:nvPr/>
        </p:nvSpPr>
        <p:spPr>
          <a:xfrm>
            <a:off x="213549" y="1430397"/>
            <a:ext cx="78252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actual value of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reconstruction error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FB5FD62-D9F2-51D0-3114-B32F6C9CC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350" y="2107399"/>
            <a:ext cx="8369300" cy="6858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92CDD77-D1B7-7B08-7A6C-27C8F7638342}"/>
              </a:ext>
            </a:extLst>
          </p:cNvPr>
          <p:cNvSpPr/>
          <p:nvPr/>
        </p:nvSpPr>
        <p:spPr>
          <a:xfrm>
            <a:off x="6193877" y="2917038"/>
            <a:ext cx="1008000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51D39E-6D6D-7E5B-CD28-EEAADAA939D7}"/>
              </a:ext>
            </a:extLst>
          </p:cNvPr>
          <p:cNvSpPr txBox="1"/>
          <p:nvPr/>
        </p:nvSpPr>
        <p:spPr>
          <a:xfrm>
            <a:off x="5355201" y="3086596"/>
            <a:ext cx="2685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total variance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the data</a:t>
            </a:r>
          </a:p>
          <a:p>
            <a:pPr algn="ctr"/>
            <a:r>
              <a:rPr lang="en-FR" sz="10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(remember data is zero-mean)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BAEB739-7F0D-3353-14BA-2A2511A912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4152" y="904882"/>
            <a:ext cx="2921000" cy="3429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C2D7886C-B11A-2335-12F3-56F0706553DF}"/>
              </a:ext>
            </a:extLst>
          </p:cNvPr>
          <p:cNvSpPr txBox="1"/>
          <p:nvPr/>
        </p:nvSpPr>
        <p:spPr>
          <a:xfrm>
            <a:off x="240032" y="3682342"/>
            <a:ext cx="9805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the coordinates (aka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scores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) of the projected data points are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8C6811A-7104-9FF4-CA00-547944967945}"/>
              </a:ext>
            </a:extLst>
          </p:cNvPr>
          <p:cNvGrpSpPr/>
          <p:nvPr/>
        </p:nvGrpSpPr>
        <p:grpSpPr>
          <a:xfrm>
            <a:off x="3325460" y="4335358"/>
            <a:ext cx="5541080" cy="2286395"/>
            <a:chOff x="3184339" y="4462574"/>
            <a:chExt cx="5541080" cy="2286395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0F1223F-F2DA-871C-F764-0B87B6511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4339" y="5358474"/>
              <a:ext cx="1079500" cy="30480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4432D747-838D-72FF-DCC6-6FFFF1C55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25491" y="5258713"/>
              <a:ext cx="2032000" cy="393700"/>
            </a:xfrm>
            <a:prstGeom prst="rect">
              <a:avLst/>
            </a:prstGeom>
          </p:spPr>
        </p:pic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7BA2836-BA32-7F3A-78DA-1B05DABCEE70}"/>
                </a:ext>
              </a:extLst>
            </p:cNvPr>
            <p:cNvSpPr/>
            <p:nvPr/>
          </p:nvSpPr>
          <p:spPr>
            <a:xfrm>
              <a:off x="4460681" y="4523801"/>
              <a:ext cx="532738" cy="2091684"/>
            </a:xfrm>
            <a:prstGeom prst="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F6BD05F-D86A-FDE2-46CD-C2C0300D7E76}"/>
                </a:ext>
              </a:extLst>
            </p:cNvPr>
            <p:cNvSpPr/>
            <p:nvPr/>
          </p:nvSpPr>
          <p:spPr>
            <a:xfrm>
              <a:off x="4542986" y="4462574"/>
              <a:ext cx="358248" cy="2286395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9E398D7-4B62-3B2C-D747-A8825348A417}"/>
                </a:ext>
              </a:extLst>
            </p:cNvPr>
            <p:cNvGrpSpPr/>
            <p:nvPr/>
          </p:nvGrpSpPr>
          <p:grpSpPr>
            <a:xfrm flipH="1">
              <a:off x="4618255" y="4625292"/>
              <a:ext cx="208997" cy="1870092"/>
              <a:chOff x="1813708" y="5177004"/>
              <a:chExt cx="289783" cy="2592956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8B3D910-AC18-E508-D8E6-21BA2E1F5595}"/>
                  </a:ext>
                </a:extLst>
              </p:cNvPr>
              <p:cNvSpPr/>
              <p:nvPr/>
            </p:nvSpPr>
            <p:spPr>
              <a:xfrm>
                <a:off x="1813708" y="5177004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99E35602-FA70-8F41-7172-9E7E8C32685D}"/>
                  </a:ext>
                </a:extLst>
              </p:cNvPr>
              <p:cNvSpPr/>
              <p:nvPr/>
            </p:nvSpPr>
            <p:spPr>
              <a:xfrm>
                <a:off x="1813708" y="5566618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492422A3-182A-F763-0182-54E78D0F115F}"/>
                  </a:ext>
                </a:extLst>
              </p:cNvPr>
              <p:cNvSpPr/>
              <p:nvPr/>
            </p:nvSpPr>
            <p:spPr>
              <a:xfrm>
                <a:off x="1813708" y="5950598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55AB90E-B121-D5CE-95EE-1F5F2FD8A15B}"/>
                  </a:ext>
                </a:extLst>
              </p:cNvPr>
              <p:cNvSpPr/>
              <p:nvPr/>
            </p:nvSpPr>
            <p:spPr>
              <a:xfrm>
                <a:off x="1813708" y="6328208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CB6EDF0-1F31-DAB5-699A-29F22E277D26}"/>
                  </a:ext>
                </a:extLst>
              </p:cNvPr>
              <p:cNvSpPr/>
              <p:nvPr/>
            </p:nvSpPr>
            <p:spPr>
              <a:xfrm>
                <a:off x="1815491" y="6714000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33AB80A-E774-9FB7-4806-A5E4654A6445}"/>
                  </a:ext>
                </a:extLst>
              </p:cNvPr>
              <p:cNvSpPr/>
              <p:nvPr/>
            </p:nvSpPr>
            <p:spPr>
              <a:xfrm>
                <a:off x="1813708" y="7097980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3DEF0109-01B3-85BD-3FE4-978911884C58}"/>
                  </a:ext>
                </a:extLst>
              </p:cNvPr>
              <p:cNvSpPr/>
              <p:nvPr/>
            </p:nvSpPr>
            <p:spPr>
              <a:xfrm>
                <a:off x="1813708" y="7481960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48997B1-781E-B5E7-FDB0-7178D19A551D}"/>
                </a:ext>
              </a:extLst>
            </p:cNvPr>
            <p:cNvSpPr/>
            <p:nvPr/>
          </p:nvSpPr>
          <p:spPr>
            <a:xfrm>
              <a:off x="8298207" y="5257385"/>
              <a:ext cx="427212" cy="430887"/>
            </a:xfrm>
            <a:prstGeom prst="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AB6944C-F7A2-970A-0FE8-B5FBBE42B8F1}"/>
                </a:ext>
              </a:extLst>
            </p:cNvPr>
            <p:cNvSpPr/>
            <p:nvPr/>
          </p:nvSpPr>
          <p:spPr>
            <a:xfrm>
              <a:off x="8384381" y="5134091"/>
              <a:ext cx="241278" cy="77885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6E046D3-A9A5-C51F-F42C-15085018E56C}"/>
                </a:ext>
              </a:extLst>
            </p:cNvPr>
            <p:cNvSpPr/>
            <p:nvPr/>
          </p:nvSpPr>
          <p:spPr>
            <a:xfrm>
              <a:off x="8408234" y="5366262"/>
              <a:ext cx="216117" cy="20774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A8B2F0C3-8E80-BB2E-1B26-CF1C8463F8F6}"/>
                </a:ext>
              </a:extLst>
            </p:cNvPr>
            <p:cNvSpPr/>
            <p:nvPr/>
          </p:nvSpPr>
          <p:spPr>
            <a:xfrm>
              <a:off x="5186595" y="5491849"/>
              <a:ext cx="645720" cy="321128"/>
            </a:xfrm>
            <a:custGeom>
              <a:avLst/>
              <a:gdLst>
                <a:gd name="connsiteX0" fmla="*/ 0 w 974271"/>
                <a:gd name="connsiteY0" fmla="*/ 0 h 321128"/>
                <a:gd name="connsiteX1" fmla="*/ 391886 w 974271"/>
                <a:gd name="connsiteY1" fmla="*/ 321128 h 321128"/>
                <a:gd name="connsiteX2" fmla="*/ 974271 w 974271"/>
                <a:gd name="connsiteY2" fmla="*/ 0 h 32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4271" h="321128">
                  <a:moveTo>
                    <a:pt x="0" y="0"/>
                  </a:moveTo>
                  <a:cubicBezTo>
                    <a:pt x="114754" y="160564"/>
                    <a:pt x="229508" y="321128"/>
                    <a:pt x="391886" y="321128"/>
                  </a:cubicBezTo>
                  <a:cubicBezTo>
                    <a:pt x="554264" y="321128"/>
                    <a:pt x="764267" y="160564"/>
                    <a:pt x="974271" y="0"/>
                  </a:cubicBezTo>
                </a:path>
              </a:pathLst>
            </a:custGeom>
            <a:noFill/>
            <a:ln w="25400">
              <a:solidFill>
                <a:srgbClr val="363833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EBE9B1E-E0B2-A3BC-F65F-8FEA555D5FBF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700424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EF11B3-4ECC-7171-F509-8D6829AF0AB1}"/>
              </a:ext>
            </a:extLst>
          </p:cNvPr>
          <p:cNvSpPr txBox="1"/>
          <p:nvPr/>
        </p:nvSpPr>
        <p:spPr>
          <a:xfrm>
            <a:off x="213549" y="763417"/>
            <a:ext cx="7631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if we want more coordinates to project?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2AC308-3F8E-12AB-4EB2-82674ADA777B}"/>
              </a:ext>
            </a:extLst>
          </p:cNvPr>
          <p:cNvGrpSpPr/>
          <p:nvPr/>
        </p:nvGrpSpPr>
        <p:grpSpPr>
          <a:xfrm>
            <a:off x="2603239" y="1260564"/>
            <a:ext cx="6722381" cy="2373720"/>
            <a:chOff x="1820321" y="1194304"/>
            <a:chExt cx="6722381" cy="23737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24E970-E152-F148-CE43-43B7BB683AA7}"/>
                </a:ext>
              </a:extLst>
            </p:cNvPr>
            <p:cNvGrpSpPr/>
            <p:nvPr/>
          </p:nvGrpSpPr>
          <p:grpSpPr>
            <a:xfrm>
              <a:off x="1820321" y="1194304"/>
              <a:ext cx="3565085" cy="2373720"/>
              <a:chOff x="1704461" y="1627980"/>
              <a:chExt cx="3565085" cy="237372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35482FF-8973-7F30-5EFC-133A875F4AAC}"/>
                  </a:ext>
                </a:extLst>
              </p:cNvPr>
              <p:cNvGrpSpPr/>
              <p:nvPr/>
            </p:nvGrpSpPr>
            <p:grpSpPr>
              <a:xfrm>
                <a:off x="1704461" y="1627980"/>
                <a:ext cx="3565085" cy="1925711"/>
                <a:chOff x="595746" y="1005198"/>
                <a:chExt cx="3565085" cy="1925711"/>
              </a:xfrm>
            </p:grpSpPr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827D07D3-EA86-009B-17E9-50A61BA330E1}"/>
                    </a:ext>
                  </a:extLst>
                </p:cNvPr>
                <p:cNvSpPr/>
                <p:nvPr/>
              </p:nvSpPr>
              <p:spPr>
                <a:xfrm>
                  <a:off x="595746" y="1192206"/>
                  <a:ext cx="3565085" cy="1684800"/>
                </a:xfrm>
                <a:prstGeom prst="rect">
                  <a:avLst/>
                </a:prstGeom>
                <a:noFill/>
                <a:ln w="25400">
                  <a:solidFill>
                    <a:srgbClr val="5E5E5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FR"/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0BAC8A6-E8F4-EDD3-99B3-F00E2F1740FC}"/>
                    </a:ext>
                  </a:extLst>
                </p:cNvPr>
                <p:cNvSpPr/>
                <p:nvPr/>
              </p:nvSpPr>
              <p:spPr>
                <a:xfrm>
                  <a:off x="796636" y="1005198"/>
                  <a:ext cx="3163305" cy="1925711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FR"/>
                </a:p>
              </p:txBody>
            </p:sp>
          </p:grp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182F03B8-67FA-851E-1D93-255707D7A7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2895" y="3712775"/>
                <a:ext cx="1345565" cy="288925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AD9C8D2-EEBB-81D1-8E3E-A43D251B12E6}"/>
                  </a:ext>
                </a:extLst>
              </p:cNvPr>
              <p:cNvSpPr/>
              <p:nvPr/>
            </p:nvSpPr>
            <p:spPr>
              <a:xfrm>
                <a:off x="1928159" y="1915625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CD2E52C-5E1F-A7B2-5246-ECD276FB9ADD}"/>
                  </a:ext>
                </a:extLst>
              </p:cNvPr>
              <p:cNvSpPr/>
              <p:nvPr/>
            </p:nvSpPr>
            <p:spPr>
              <a:xfrm>
                <a:off x="1928159" y="2305418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E20DADD-9E36-48AA-5D56-B7C51351D966}"/>
                  </a:ext>
                </a:extLst>
              </p:cNvPr>
              <p:cNvSpPr/>
              <p:nvPr/>
            </p:nvSpPr>
            <p:spPr>
              <a:xfrm>
                <a:off x="1928159" y="2694054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5C31F5-B645-2CD4-812B-B689AB3BF290}"/>
                  </a:ext>
                </a:extLst>
              </p:cNvPr>
              <p:cNvSpPr/>
              <p:nvPr/>
            </p:nvSpPr>
            <p:spPr>
              <a:xfrm>
                <a:off x="1928159" y="3086440"/>
                <a:ext cx="288000" cy="288000"/>
              </a:xfrm>
              <a:prstGeom prst="rect">
                <a:avLst/>
              </a:prstGeom>
              <a:solidFill>
                <a:srgbClr val="9B52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3BD81EA-DF48-9A18-B34C-EF08C0439050}"/>
                  </a:ext>
                </a:extLst>
              </p:cNvPr>
              <p:cNvSpPr/>
              <p:nvPr/>
            </p:nvSpPr>
            <p:spPr>
              <a:xfrm>
                <a:off x="2400256" y="1915625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8914634-D411-BE30-E2B9-D0E3F874313D}"/>
                  </a:ext>
                </a:extLst>
              </p:cNvPr>
              <p:cNvSpPr/>
              <p:nvPr/>
            </p:nvSpPr>
            <p:spPr>
              <a:xfrm>
                <a:off x="2400256" y="2305418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9C58648-9273-F1E5-B0A1-F307ED8726D3}"/>
                  </a:ext>
                </a:extLst>
              </p:cNvPr>
              <p:cNvSpPr/>
              <p:nvPr/>
            </p:nvSpPr>
            <p:spPr>
              <a:xfrm>
                <a:off x="2400256" y="2694054"/>
                <a:ext cx="288000" cy="288000"/>
              </a:xfrm>
              <a:prstGeom prst="rect">
                <a:avLst/>
              </a:prstGeom>
              <a:solidFill>
                <a:srgbClr val="9B52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00829E8-B928-125B-32B3-174890B36020}"/>
                  </a:ext>
                </a:extLst>
              </p:cNvPr>
              <p:cNvSpPr/>
              <p:nvPr/>
            </p:nvSpPr>
            <p:spPr>
              <a:xfrm>
                <a:off x="2400256" y="3086440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C7CBC8F-3839-727C-DA07-D0CF15527482}"/>
                  </a:ext>
                </a:extLst>
              </p:cNvPr>
              <p:cNvSpPr/>
              <p:nvPr/>
            </p:nvSpPr>
            <p:spPr>
              <a:xfrm>
                <a:off x="2872353" y="1915625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426DBED-2C19-6627-5F9E-816CB89C4EEA}"/>
                  </a:ext>
                </a:extLst>
              </p:cNvPr>
              <p:cNvSpPr/>
              <p:nvPr/>
            </p:nvSpPr>
            <p:spPr>
              <a:xfrm>
                <a:off x="2872353" y="2305418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03781FD-1971-8BC9-5FEB-3478DEA463E0}"/>
                  </a:ext>
                </a:extLst>
              </p:cNvPr>
              <p:cNvSpPr/>
              <p:nvPr/>
            </p:nvSpPr>
            <p:spPr>
              <a:xfrm>
                <a:off x="2872353" y="2694054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39E0FF6-8B2C-FF71-F12E-5FCF652E533E}"/>
                  </a:ext>
                </a:extLst>
              </p:cNvPr>
              <p:cNvSpPr/>
              <p:nvPr/>
            </p:nvSpPr>
            <p:spPr>
              <a:xfrm>
                <a:off x="2872353" y="3086440"/>
                <a:ext cx="288000" cy="288000"/>
              </a:xfrm>
              <a:prstGeom prst="rect">
                <a:avLst/>
              </a:prstGeom>
              <a:solidFill>
                <a:srgbClr val="9B52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0660B91D-F0DF-F0E8-27A1-2748EBA75899}"/>
                  </a:ext>
                </a:extLst>
              </p:cNvPr>
              <p:cNvSpPr/>
              <p:nvPr/>
            </p:nvSpPr>
            <p:spPr>
              <a:xfrm>
                <a:off x="3341678" y="1915625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0436E73-9508-DC1A-6BA6-B0A686F210B9}"/>
                  </a:ext>
                </a:extLst>
              </p:cNvPr>
              <p:cNvSpPr/>
              <p:nvPr/>
            </p:nvSpPr>
            <p:spPr>
              <a:xfrm>
                <a:off x="3341678" y="2305418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767D5E4-87CA-ECEB-BB84-D9E8DB47ACD0}"/>
                  </a:ext>
                </a:extLst>
              </p:cNvPr>
              <p:cNvSpPr/>
              <p:nvPr/>
            </p:nvSpPr>
            <p:spPr>
              <a:xfrm>
                <a:off x="3341678" y="2694054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43CD638-0B66-90DE-161C-148E6AA3D292}"/>
                  </a:ext>
                </a:extLst>
              </p:cNvPr>
              <p:cNvSpPr/>
              <p:nvPr/>
            </p:nvSpPr>
            <p:spPr>
              <a:xfrm>
                <a:off x="3341678" y="3086440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F82A1D7-BDA5-1291-4B9A-4C2609A09B55}"/>
                  </a:ext>
                </a:extLst>
              </p:cNvPr>
              <p:cNvSpPr/>
              <p:nvPr/>
            </p:nvSpPr>
            <p:spPr>
              <a:xfrm>
                <a:off x="3812714" y="1915625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E759EBC-84C2-952D-8FA9-893126A7AF99}"/>
                  </a:ext>
                </a:extLst>
              </p:cNvPr>
              <p:cNvSpPr/>
              <p:nvPr/>
            </p:nvSpPr>
            <p:spPr>
              <a:xfrm>
                <a:off x="3812714" y="2305418"/>
                <a:ext cx="288000" cy="28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4742873-4B96-3A07-0A85-3C579E66E5C5}"/>
                  </a:ext>
                </a:extLst>
              </p:cNvPr>
              <p:cNvSpPr/>
              <p:nvPr/>
            </p:nvSpPr>
            <p:spPr>
              <a:xfrm>
                <a:off x="3812714" y="2694054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1E96ADC-A8FB-B1A5-C152-75DCC1BFC51C}"/>
                  </a:ext>
                </a:extLst>
              </p:cNvPr>
              <p:cNvSpPr/>
              <p:nvPr/>
            </p:nvSpPr>
            <p:spPr>
              <a:xfrm>
                <a:off x="3812714" y="3086440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42DE7B4-CA4B-E7F0-D1D8-FF44E11736EB}"/>
                  </a:ext>
                </a:extLst>
              </p:cNvPr>
              <p:cNvSpPr/>
              <p:nvPr/>
            </p:nvSpPr>
            <p:spPr>
              <a:xfrm>
                <a:off x="4283750" y="1915625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6EC1819-B58C-C00A-1459-7A0430203483}"/>
                  </a:ext>
                </a:extLst>
              </p:cNvPr>
              <p:cNvSpPr/>
              <p:nvPr/>
            </p:nvSpPr>
            <p:spPr>
              <a:xfrm>
                <a:off x="4283750" y="2305418"/>
                <a:ext cx="288000" cy="28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B0BB6C0-132F-56C7-8FD3-A3082ECF9C51}"/>
                  </a:ext>
                </a:extLst>
              </p:cNvPr>
              <p:cNvSpPr/>
              <p:nvPr/>
            </p:nvSpPr>
            <p:spPr>
              <a:xfrm>
                <a:off x="4283750" y="2694054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CF92D98-6969-254A-DB18-E6B2B5467718}"/>
                  </a:ext>
                </a:extLst>
              </p:cNvPr>
              <p:cNvSpPr/>
              <p:nvPr/>
            </p:nvSpPr>
            <p:spPr>
              <a:xfrm>
                <a:off x="4283750" y="3086440"/>
                <a:ext cx="288000" cy="28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4973BB-9FE5-8BD8-F82B-0FE1BAD4DA69}"/>
                  </a:ext>
                </a:extLst>
              </p:cNvPr>
              <p:cNvSpPr/>
              <p:nvPr/>
            </p:nvSpPr>
            <p:spPr>
              <a:xfrm>
                <a:off x="4754786" y="1915625"/>
                <a:ext cx="288000" cy="288000"/>
              </a:xfrm>
              <a:prstGeom prst="rect">
                <a:avLst/>
              </a:prstGeom>
              <a:solidFill>
                <a:srgbClr val="FF871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7AE874A-5E8F-D00A-96E2-692A0AF5581B}"/>
                  </a:ext>
                </a:extLst>
              </p:cNvPr>
              <p:cNvSpPr/>
              <p:nvPr/>
            </p:nvSpPr>
            <p:spPr>
              <a:xfrm>
                <a:off x="4754786" y="2305418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39AD102-7403-B8DD-2435-256FAE0E3E68}"/>
                  </a:ext>
                </a:extLst>
              </p:cNvPr>
              <p:cNvSpPr/>
              <p:nvPr/>
            </p:nvSpPr>
            <p:spPr>
              <a:xfrm>
                <a:off x="4754786" y="2694054"/>
                <a:ext cx="288000" cy="288000"/>
              </a:xfrm>
              <a:prstGeom prst="rect">
                <a:avLst/>
              </a:prstGeom>
              <a:solidFill>
                <a:srgbClr val="F5AE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4F1C9F0-913D-2BAA-34C9-2A3AE387D74E}"/>
                  </a:ext>
                </a:extLst>
              </p:cNvPr>
              <p:cNvSpPr/>
              <p:nvPr/>
            </p:nvSpPr>
            <p:spPr>
              <a:xfrm>
                <a:off x="4754786" y="3086440"/>
                <a:ext cx="288000" cy="288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88E4AC0-9F0E-4EC0-10F4-6E2CFE7F57B4}"/>
                </a:ext>
              </a:extLst>
            </p:cNvPr>
            <p:cNvGrpSpPr/>
            <p:nvPr/>
          </p:nvGrpSpPr>
          <p:grpSpPr>
            <a:xfrm>
              <a:off x="5566731" y="2260377"/>
              <a:ext cx="645720" cy="701168"/>
              <a:chOff x="5396785" y="2694053"/>
              <a:chExt cx="645720" cy="701168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44133F65-E973-F650-DD29-CB0CC1C6ECB0}"/>
                  </a:ext>
                </a:extLst>
              </p:cNvPr>
              <p:cNvSpPr/>
              <p:nvPr/>
            </p:nvSpPr>
            <p:spPr>
              <a:xfrm>
                <a:off x="5396785" y="2694053"/>
                <a:ext cx="645720" cy="321128"/>
              </a:xfrm>
              <a:custGeom>
                <a:avLst/>
                <a:gdLst>
                  <a:gd name="connsiteX0" fmla="*/ 0 w 974271"/>
                  <a:gd name="connsiteY0" fmla="*/ 0 h 321128"/>
                  <a:gd name="connsiteX1" fmla="*/ 391886 w 974271"/>
                  <a:gd name="connsiteY1" fmla="*/ 321128 h 321128"/>
                  <a:gd name="connsiteX2" fmla="*/ 974271 w 974271"/>
                  <a:gd name="connsiteY2" fmla="*/ 0 h 321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74271" h="321128">
                    <a:moveTo>
                      <a:pt x="0" y="0"/>
                    </a:moveTo>
                    <a:cubicBezTo>
                      <a:pt x="114754" y="160564"/>
                      <a:pt x="229508" y="321128"/>
                      <a:pt x="391886" y="321128"/>
                    </a:cubicBezTo>
                    <a:cubicBezTo>
                      <a:pt x="554264" y="321128"/>
                      <a:pt x="764267" y="160564"/>
                      <a:pt x="974271" y="0"/>
                    </a:cubicBezTo>
                  </a:path>
                </a:pathLst>
              </a:custGeom>
              <a:noFill/>
              <a:ln w="25400">
                <a:solidFill>
                  <a:srgbClr val="363833"/>
                </a:solidFill>
                <a:tailEnd type="stealth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84A0CAAD-9255-F07B-5316-4FFD4F6CC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78584" y="3166621"/>
                <a:ext cx="215900" cy="228600"/>
              </a:xfrm>
              <a:prstGeom prst="rect">
                <a:avLst/>
              </a:prstGeom>
            </p:spPr>
          </p:pic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2AC164E-5727-9213-AF53-490F979CED26}"/>
                </a:ext>
              </a:extLst>
            </p:cNvPr>
            <p:cNvGrpSpPr/>
            <p:nvPr/>
          </p:nvGrpSpPr>
          <p:grpSpPr>
            <a:xfrm>
              <a:off x="6393776" y="1194304"/>
              <a:ext cx="2148926" cy="1980516"/>
              <a:chOff x="5597238" y="1005199"/>
              <a:chExt cx="2148926" cy="1980516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F5A4AC7-8D83-6D47-45C5-5FBF24B9130B}"/>
                  </a:ext>
                </a:extLst>
              </p:cNvPr>
              <p:cNvSpPr/>
              <p:nvPr/>
            </p:nvSpPr>
            <p:spPr>
              <a:xfrm>
                <a:off x="5597238" y="1192206"/>
                <a:ext cx="2148926" cy="1684800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F5A3CD9-D024-1E59-A057-CE943F1766CE}"/>
                  </a:ext>
                </a:extLst>
              </p:cNvPr>
              <p:cNvSpPr/>
              <p:nvPr/>
            </p:nvSpPr>
            <p:spPr>
              <a:xfrm>
                <a:off x="5798128" y="1005199"/>
                <a:ext cx="1747146" cy="1980516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5C3E3810-27EF-7D49-D097-5E3328D6D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28476" y="3265846"/>
              <a:ext cx="1279525" cy="288925"/>
            </a:xfrm>
            <a:prstGeom prst="rect">
              <a:avLst/>
            </a:prstGeom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7B1553C-57BE-467D-143D-D1C6399C7938}"/>
                </a:ext>
              </a:extLst>
            </p:cNvPr>
            <p:cNvSpPr/>
            <p:nvPr/>
          </p:nvSpPr>
          <p:spPr>
            <a:xfrm>
              <a:off x="6614685" y="1481948"/>
              <a:ext cx="288000" cy="28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DF07F76-4B1E-EB13-9605-BB54854F3364}"/>
                </a:ext>
              </a:extLst>
            </p:cNvPr>
            <p:cNvSpPr/>
            <p:nvPr/>
          </p:nvSpPr>
          <p:spPr>
            <a:xfrm>
              <a:off x="6614685" y="1871741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95C28C5-863B-4033-F906-7507052C1584}"/>
                </a:ext>
              </a:extLst>
            </p:cNvPr>
            <p:cNvSpPr/>
            <p:nvPr/>
          </p:nvSpPr>
          <p:spPr>
            <a:xfrm>
              <a:off x="6614685" y="2260377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DCCF59B-AB31-B4DB-1598-6B257607C08D}"/>
                </a:ext>
              </a:extLst>
            </p:cNvPr>
            <p:cNvSpPr/>
            <p:nvPr/>
          </p:nvSpPr>
          <p:spPr>
            <a:xfrm>
              <a:off x="6614685" y="2652763"/>
              <a:ext cx="288000" cy="28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AFD5F93-C4EC-1675-9AAF-3C2E9AA8DE2E}"/>
                </a:ext>
              </a:extLst>
            </p:cNvPr>
            <p:cNvSpPr/>
            <p:nvPr/>
          </p:nvSpPr>
          <p:spPr>
            <a:xfrm>
              <a:off x="7085721" y="1481948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780AED4-9ABF-FDCE-A999-BAB6F13D7FED}"/>
                </a:ext>
              </a:extLst>
            </p:cNvPr>
            <p:cNvSpPr/>
            <p:nvPr/>
          </p:nvSpPr>
          <p:spPr>
            <a:xfrm>
              <a:off x="7085721" y="1871741"/>
              <a:ext cx="288000" cy="28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86C392B-D84F-3641-4401-DD2378609237}"/>
                </a:ext>
              </a:extLst>
            </p:cNvPr>
            <p:cNvSpPr/>
            <p:nvPr/>
          </p:nvSpPr>
          <p:spPr>
            <a:xfrm>
              <a:off x="7085721" y="2260377"/>
              <a:ext cx="288000" cy="288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5E7A1EC-7E26-0403-9B49-685E812AE534}"/>
                </a:ext>
              </a:extLst>
            </p:cNvPr>
            <p:cNvSpPr/>
            <p:nvPr/>
          </p:nvSpPr>
          <p:spPr>
            <a:xfrm>
              <a:off x="7085721" y="2652763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AD91C53-B331-391F-FD98-5440C936D46B}"/>
                </a:ext>
              </a:extLst>
            </p:cNvPr>
            <p:cNvSpPr/>
            <p:nvPr/>
          </p:nvSpPr>
          <p:spPr>
            <a:xfrm>
              <a:off x="7556757" y="1481948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9A4C604-3185-0C42-A9F6-4260D4ED607D}"/>
                </a:ext>
              </a:extLst>
            </p:cNvPr>
            <p:cNvSpPr/>
            <p:nvPr/>
          </p:nvSpPr>
          <p:spPr>
            <a:xfrm>
              <a:off x="7556757" y="1871741"/>
              <a:ext cx="288000" cy="288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89EADBB-8D66-79B6-0D6B-397C4156C4DD}"/>
                </a:ext>
              </a:extLst>
            </p:cNvPr>
            <p:cNvSpPr/>
            <p:nvPr/>
          </p:nvSpPr>
          <p:spPr>
            <a:xfrm>
              <a:off x="7556757" y="2260377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28536B2-440E-A7AD-0014-CD77D4B0F63D}"/>
                </a:ext>
              </a:extLst>
            </p:cNvPr>
            <p:cNvSpPr/>
            <p:nvPr/>
          </p:nvSpPr>
          <p:spPr>
            <a:xfrm>
              <a:off x="7556757" y="2652763"/>
              <a:ext cx="288000" cy="28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64E3507-47F7-B14C-4DDB-21F1FDDA986F}"/>
                </a:ext>
              </a:extLst>
            </p:cNvPr>
            <p:cNvSpPr/>
            <p:nvPr/>
          </p:nvSpPr>
          <p:spPr>
            <a:xfrm>
              <a:off x="8027793" y="1481948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CB3E101-11C9-4235-C399-FE9ACE238DC5}"/>
                </a:ext>
              </a:extLst>
            </p:cNvPr>
            <p:cNvSpPr/>
            <p:nvPr/>
          </p:nvSpPr>
          <p:spPr>
            <a:xfrm>
              <a:off x="8027793" y="1871741"/>
              <a:ext cx="288000" cy="28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12AE735-D2ED-52EE-CB9A-27D50361CF1A}"/>
                </a:ext>
              </a:extLst>
            </p:cNvPr>
            <p:cNvSpPr/>
            <p:nvPr/>
          </p:nvSpPr>
          <p:spPr>
            <a:xfrm>
              <a:off x="8027793" y="2260377"/>
              <a:ext cx="288000" cy="288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71EDD5D-3C98-BF61-C290-E79535C0C18D}"/>
                </a:ext>
              </a:extLst>
            </p:cNvPr>
            <p:cNvSpPr/>
            <p:nvPr/>
          </p:nvSpPr>
          <p:spPr>
            <a:xfrm>
              <a:off x="8027793" y="2652763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7AD87173-B4F3-4246-0832-5B2AFAAD242A}"/>
              </a:ext>
            </a:extLst>
          </p:cNvPr>
          <p:cNvSpPr txBox="1"/>
          <p:nvPr/>
        </p:nvSpPr>
        <p:spPr>
          <a:xfrm>
            <a:off x="213549" y="3819943"/>
            <a:ext cx="5882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Coming back to the original loss function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B430D11C-FC76-1253-8F2E-6CDA36F1FE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380" y="4471663"/>
            <a:ext cx="8674100" cy="69850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67C2A524-2CA5-441C-D7F3-6770B6C13CB8}"/>
              </a:ext>
            </a:extLst>
          </p:cNvPr>
          <p:cNvSpPr txBox="1"/>
          <p:nvPr/>
        </p:nvSpPr>
        <p:spPr>
          <a:xfrm>
            <a:off x="240033" y="5697574"/>
            <a:ext cx="7157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nd solving in a similar way as before, we get that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DBF8F4B9-B490-F4F0-6BB7-2579E4241A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6211" y="5361125"/>
            <a:ext cx="3429000" cy="1219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18CE1A-CA84-5359-59A8-B90C7CF6C2D7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2259939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6866038-77F4-D8F5-640A-F5F60812A8D1}"/>
              </a:ext>
            </a:extLst>
          </p:cNvPr>
          <p:cNvSpPr/>
          <p:nvPr/>
        </p:nvSpPr>
        <p:spPr>
          <a:xfrm>
            <a:off x="329999" y="4529638"/>
            <a:ext cx="5148450" cy="622739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067B4FC-3AB6-F44C-CC7A-0EBDE62E6146}"/>
              </a:ext>
            </a:extLst>
          </p:cNvPr>
          <p:cNvSpPr txBox="1"/>
          <p:nvPr/>
        </p:nvSpPr>
        <p:spPr>
          <a:xfrm>
            <a:off x="330000" y="852903"/>
            <a:ext cx="7778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projected data points are, therefore,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1F57EE-6690-628B-AAC5-0942BDFAE55C}"/>
              </a:ext>
            </a:extLst>
          </p:cNvPr>
          <p:cNvSpPr txBox="1"/>
          <p:nvPr/>
        </p:nvSpPr>
        <p:spPr>
          <a:xfrm>
            <a:off x="329999" y="3510921"/>
            <a:ext cx="7778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the error is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A355F2-5C8E-E627-2066-09D51AD99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548016"/>
            <a:ext cx="7010400" cy="1409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5F12C5-5BD9-5F8F-8CEE-BEEB2D86733C}"/>
              </a:ext>
            </a:extLst>
          </p:cNvPr>
          <p:cNvSpPr txBox="1"/>
          <p:nvPr/>
        </p:nvSpPr>
        <p:spPr>
          <a:xfrm>
            <a:off x="438657" y="4602860"/>
            <a:ext cx="5148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would be a good choice for </a:t>
            </a:r>
            <a:r>
              <a:rPr lang="en-US" sz="2400" b="1" i="1" dirty="0">
                <a:solidFill>
                  <a:srgbClr val="5E5E5E"/>
                </a:solidFill>
                <a:latin typeface="Roboto" panose="02000000000000000000" pitchFamily="2" charset="0"/>
                <a:ea typeface="Roboto" panose="02000000000000000000" pitchFamily="2" charset="0"/>
                <a:cs typeface="Lato" panose="020F0502020204030203" pitchFamily="34" charset="0"/>
              </a:rPr>
              <a:t>q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?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2C9B24-A233-C0E8-1424-9417AEA28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046" y="5345329"/>
            <a:ext cx="6172200" cy="876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A7A7F6-F4FD-019E-5700-854614A51A92}"/>
              </a:ext>
            </a:extLst>
          </p:cNvPr>
          <p:cNvSpPr txBox="1"/>
          <p:nvPr/>
        </p:nvSpPr>
        <p:spPr>
          <a:xfrm>
            <a:off x="329998" y="5493986"/>
            <a:ext cx="55804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may want to control the error as in</a:t>
            </a: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7E9056-8740-192A-9EB7-35D4F17C7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6773" y="3305535"/>
            <a:ext cx="7772400" cy="97312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2907E4D-9A11-76D2-C030-57E5CD5785E3}"/>
              </a:ext>
            </a:extLst>
          </p:cNvPr>
          <p:cNvSpPr/>
          <p:nvPr/>
        </p:nvSpPr>
        <p:spPr>
          <a:xfrm>
            <a:off x="6738848" y="4382838"/>
            <a:ext cx="828000" cy="7200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29D029-8C30-7A3E-3CBC-5C04DDC64049}"/>
              </a:ext>
            </a:extLst>
          </p:cNvPr>
          <p:cNvSpPr txBox="1"/>
          <p:nvPr/>
        </p:nvSpPr>
        <p:spPr>
          <a:xfrm>
            <a:off x="6771172" y="4447218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21C26-FB76-CDD1-01A4-EC97C878BBA6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1669268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E47D1C71-5BC9-53E9-555F-1C806231F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515668"/>
            <a:ext cx="10040219" cy="6229598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0FD3C6-3075-0A1E-C7B4-7E350F0A2939}"/>
              </a:ext>
            </a:extLst>
          </p:cNvPr>
          <p:cNvSpPr/>
          <p:nvPr/>
        </p:nvSpPr>
        <p:spPr>
          <a:xfrm>
            <a:off x="7390356" y="901874"/>
            <a:ext cx="3231715" cy="5756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5AE805-2AF8-488D-A3D9-4624FA889F3B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2707400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EAFE1FB6-2BB2-D1F6-D895-CE90F40BE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514800"/>
            <a:ext cx="9975342" cy="618934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65AA60-A7B3-DBFC-9CD1-2BB45CC2CA61}"/>
              </a:ext>
            </a:extLst>
          </p:cNvPr>
          <p:cNvSpPr/>
          <p:nvPr/>
        </p:nvSpPr>
        <p:spPr>
          <a:xfrm>
            <a:off x="7390356" y="3745282"/>
            <a:ext cx="3231715" cy="2913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1A340B-2251-614A-685E-D4004387B230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167097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B5DB88F3-C7D8-6D88-9270-82658E731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514800"/>
            <a:ext cx="9975342" cy="618934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455221-9809-FCE6-2A5F-4464BEBBF659}"/>
              </a:ext>
            </a:extLst>
          </p:cNvPr>
          <p:cNvSpPr/>
          <p:nvPr/>
        </p:nvSpPr>
        <p:spPr>
          <a:xfrm>
            <a:off x="7390356" y="3745282"/>
            <a:ext cx="3231715" cy="2913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09C5A-91CA-889B-9780-8116A49ED40B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23607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1D059569-34D6-875C-97F7-BAFA43957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514800"/>
            <a:ext cx="9975342" cy="618934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E34417-D0D8-4560-3930-1294CB4260E2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1015023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4B1B5936-A698-C710-613A-73A59C3F1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514800"/>
            <a:ext cx="9975342" cy="618934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15B08-8DF1-6EEB-A559-5EF6F642FC28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1910366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400C59B8-6C8E-73FD-88CB-2E08FB99B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514800"/>
            <a:ext cx="9975342" cy="618934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7DAF16-231F-0ABC-76E5-DB0220F734A1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223675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scatter chart&#10;&#10;Description automatically generated">
            <a:extLst>
              <a:ext uri="{FF2B5EF4-FFF2-40B4-BE49-F238E27FC236}">
                <a16:creationId xmlns:a16="http://schemas.microsoft.com/office/drawing/2014/main" id="{068BAF0D-FD92-8D12-D859-80898FA85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514800"/>
            <a:ext cx="9975342" cy="618934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7E0BF7-6818-39F9-E240-8D6736EA836C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1345734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3" name="Picture 12" descr="Chart&#10;&#10;Description automatically generated">
            <a:extLst>
              <a:ext uri="{FF2B5EF4-FFF2-40B4-BE49-F238E27FC236}">
                <a16:creationId xmlns:a16="http://schemas.microsoft.com/office/drawing/2014/main" id="{57814763-84C4-BB96-FD7E-510F0C8F1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99" y="2583982"/>
            <a:ext cx="9638177" cy="41051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D0B259-E745-404F-AA11-F31BFC0DE4BA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B1216-6D11-09F6-BBFA-E4865A52ADB4}"/>
              </a:ext>
            </a:extLst>
          </p:cNvPr>
          <p:cNvSpPr txBox="1"/>
          <p:nvPr/>
        </p:nvSpPr>
        <p:spPr>
          <a:xfrm>
            <a:off x="240032" y="811124"/>
            <a:ext cx="11623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Minimize reconstruction error is the same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maximizing the variance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of the projections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0D17F-9FB4-A216-2800-095D081F6EAF}"/>
              </a:ext>
            </a:extLst>
          </p:cNvPr>
          <p:cNvSpPr txBox="1"/>
          <p:nvPr/>
        </p:nvSpPr>
        <p:spPr>
          <a:xfrm>
            <a:off x="8731621" y="1717768"/>
            <a:ext cx="1917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data is zero-mean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1EAAE0-5417-CD7D-8AA7-6C85A1260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621" y="1496778"/>
            <a:ext cx="69850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70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A5E35-C050-206B-5549-F6CA196F83A9}"/>
              </a:ext>
            </a:extLst>
          </p:cNvPr>
          <p:cNvSpPr txBox="1"/>
          <p:nvPr/>
        </p:nvSpPr>
        <p:spPr>
          <a:xfrm>
            <a:off x="240032" y="811124"/>
            <a:ext cx="11623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Minimize reconstruction error is the same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maximizing the variance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of the projections</a:t>
            </a:r>
          </a:p>
        </p:txBody>
      </p:sp>
      <p:pic>
        <p:nvPicPr>
          <p:cNvPr id="2" name="Picture 1" descr="Chart&#10;&#10;Description automatically generated">
            <a:extLst>
              <a:ext uri="{FF2B5EF4-FFF2-40B4-BE49-F238E27FC236}">
                <a16:creationId xmlns:a16="http://schemas.microsoft.com/office/drawing/2014/main" id="{E0718449-2FD6-C819-411B-110728C02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200" y="2584800"/>
            <a:ext cx="9669780" cy="41186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F4F717-29D9-1E5B-35F6-BDD95C566B5F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E61E0D-3DEE-2FD0-6E41-31ACDDEBA6F5}"/>
              </a:ext>
            </a:extLst>
          </p:cNvPr>
          <p:cNvSpPr txBox="1"/>
          <p:nvPr/>
        </p:nvSpPr>
        <p:spPr>
          <a:xfrm>
            <a:off x="8731621" y="1717768"/>
            <a:ext cx="1917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data is zero-mean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293E47-357A-57C4-A644-A5177B72F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621" y="1496778"/>
            <a:ext cx="69850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8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D570601A-F85D-1A2C-AE23-75948980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200" y="2584800"/>
            <a:ext cx="9669780" cy="41186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06CD51-08A6-9C47-123E-5FE9A1AE107F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EB50D-7E04-5A02-1904-FDE968E47D06}"/>
              </a:ext>
            </a:extLst>
          </p:cNvPr>
          <p:cNvSpPr txBox="1"/>
          <p:nvPr/>
        </p:nvSpPr>
        <p:spPr>
          <a:xfrm>
            <a:off x="240032" y="811124"/>
            <a:ext cx="11623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Minimize reconstruction error is the same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maximizing the variance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of the projections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D2B18-A408-A607-90E8-560E2FA8E0EA}"/>
              </a:ext>
            </a:extLst>
          </p:cNvPr>
          <p:cNvSpPr txBox="1"/>
          <p:nvPr/>
        </p:nvSpPr>
        <p:spPr>
          <a:xfrm>
            <a:off x="8731621" y="1717768"/>
            <a:ext cx="1917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FR" sz="1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data is zero-mean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29E794-6D9A-1EE7-F9C6-461EF4A4D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621" y="1496778"/>
            <a:ext cx="69850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67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406202-1093-0D47-9174-F7557D2F2B5D}"/>
              </a:ext>
            </a:extLst>
          </p:cNvPr>
          <p:cNvSpPr txBox="1"/>
          <p:nvPr/>
        </p:nvSpPr>
        <p:spPr>
          <a:xfrm>
            <a:off x="240031" y="1465065"/>
            <a:ext cx="11845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“Economics”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dataset describes 12 countries with 6 economic indicators from 1991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1795DF-0145-964C-AE3C-87EA4CD5ACD5}"/>
              </a:ext>
            </a:extLst>
          </p:cNvPr>
          <p:cNvSpPr/>
          <p:nvPr/>
        </p:nvSpPr>
        <p:spPr>
          <a:xfrm>
            <a:off x="5150720" y="1926731"/>
            <a:ext cx="1572126" cy="948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EE2AA1-DC97-E245-8360-A48847C723E4}"/>
              </a:ext>
            </a:extLst>
          </p:cNvPr>
          <p:cNvSpPr/>
          <p:nvPr/>
        </p:nvSpPr>
        <p:spPr>
          <a:xfrm>
            <a:off x="7445699" y="1926731"/>
            <a:ext cx="1572127" cy="948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DD5AD-89E1-3942-B85B-115905A5DB87}"/>
              </a:ext>
            </a:extLst>
          </p:cNvPr>
          <p:cNvSpPr txBox="1"/>
          <p:nvPr/>
        </p:nvSpPr>
        <p:spPr>
          <a:xfrm>
            <a:off x="7086600" y="13134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EDE428-FEF9-9948-899F-57F7B64F7E8D}"/>
              </a:ext>
            </a:extLst>
          </p:cNvPr>
          <p:cNvSpPr txBox="1"/>
          <p:nvPr/>
        </p:nvSpPr>
        <p:spPr>
          <a:xfrm>
            <a:off x="7607560" y="2025078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03197-350E-1A47-869E-44465AF41FA6}"/>
              </a:ext>
            </a:extLst>
          </p:cNvPr>
          <p:cNvSpPr txBox="1"/>
          <p:nvPr/>
        </p:nvSpPr>
        <p:spPr>
          <a:xfrm>
            <a:off x="5182711" y="2021552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observations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88471B-AA79-62FC-BA58-2BECCCF293E7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0AD8F2-9ADD-22A8-9570-C3816366704D}"/>
              </a:ext>
            </a:extLst>
          </p:cNvPr>
          <p:cNvSpPr txBox="1"/>
          <p:nvPr/>
        </p:nvSpPr>
        <p:spPr>
          <a:xfrm>
            <a:off x="240032" y="828458"/>
            <a:ext cx="9922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PCA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often used as a tool for </a:t>
            </a:r>
            <a:r>
              <a:rPr lang="en-GB" sz="2400" dirty="0">
                <a:solidFill>
                  <a:srgbClr val="0070C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visualizing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 with many predictors. 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4" name="Picture 13" descr="A table of numbers with text&#10;&#10;Description automatically generated">
            <a:extLst>
              <a:ext uri="{FF2B5EF4-FFF2-40B4-BE49-F238E27FC236}">
                <a16:creationId xmlns:a16="http://schemas.microsoft.com/office/drawing/2014/main" id="{91ABFAA2-7C66-154D-AE50-9626DC0B4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71" y="2390884"/>
            <a:ext cx="10032858" cy="39378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8F7F3A-6DB1-19B4-025D-35E6F8383FE0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</p:spTree>
    <p:extLst>
      <p:ext uri="{BB962C8B-B14F-4D97-AF65-F5344CB8AC3E}">
        <p14:creationId xmlns:p14="http://schemas.microsoft.com/office/powerpoint/2010/main" val="3193383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CDD5AD-89E1-3942-B85B-115905A5DB87}"/>
              </a:ext>
            </a:extLst>
          </p:cNvPr>
          <p:cNvSpPr txBox="1"/>
          <p:nvPr/>
        </p:nvSpPr>
        <p:spPr>
          <a:xfrm>
            <a:off x="7086600" y="12469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90E02-D249-9529-DFD9-4496BFFEB982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7ADB7-C68F-F931-3712-D4AA749EC7B3}"/>
              </a:ext>
            </a:extLst>
          </p:cNvPr>
          <p:cNvSpPr txBox="1"/>
          <p:nvPr/>
        </p:nvSpPr>
        <p:spPr>
          <a:xfrm>
            <a:off x="240032" y="748337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plot on a 2D plane the coordinates of the projections on the first two PC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36F9A7-E5C8-994E-6512-4CC93172DD56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E673ED-D2A0-22EA-330B-C6398395AD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7" t="10861" r="7590" b="3356"/>
          <a:stretch/>
        </p:blipFill>
        <p:spPr>
          <a:xfrm>
            <a:off x="3147861" y="1337221"/>
            <a:ext cx="5896277" cy="527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25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B51AF-7425-3CF0-0547-F2C2FDC1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3736F2-27C5-938D-0975-36660BE97EFF}"/>
              </a:ext>
            </a:extLst>
          </p:cNvPr>
          <p:cNvSpPr txBox="1"/>
          <p:nvPr/>
        </p:nvSpPr>
        <p:spPr>
          <a:xfrm>
            <a:off x="7086600" y="12469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5C030-EFD2-4CFB-9113-CD84E1F3489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878B83-BB65-5273-7608-AEAF198B62B4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399BCA7F-7832-4DCB-5A37-ED5EEF008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5" y="1335601"/>
            <a:ext cx="11257330" cy="50119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97BDFA-19D1-1B46-4838-81C22EB110CB}"/>
              </a:ext>
            </a:extLst>
          </p:cNvPr>
          <p:cNvSpPr txBox="1"/>
          <p:nvPr/>
        </p:nvSpPr>
        <p:spPr>
          <a:xfrm>
            <a:off x="240032" y="748337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can be </a:t>
            </a:r>
            <a:r>
              <a:rPr lang="en-US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very easily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done using scikit-learn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63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67F44-BED2-A5FD-4E42-98832609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AAB949-1BF8-1633-AABE-927CC7A4801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670E3-FB82-DAD4-844A-35ED4C8062D0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76571-3D73-8914-22F5-24896D02205A}"/>
              </a:ext>
            </a:extLst>
          </p:cNvPr>
          <p:cNvSpPr txBox="1"/>
          <p:nvPr/>
        </p:nvSpPr>
        <p:spPr>
          <a:xfrm>
            <a:off x="240032" y="748337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This can be </a:t>
            </a:r>
            <a:r>
              <a:rPr lang="en-US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very easily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done using scikit-learn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994281-6802-C6B8-39AA-A6740F10A882}"/>
              </a:ext>
            </a:extLst>
          </p:cNvPr>
          <p:cNvGrpSpPr/>
          <p:nvPr/>
        </p:nvGrpSpPr>
        <p:grpSpPr>
          <a:xfrm>
            <a:off x="4188999" y="1429594"/>
            <a:ext cx="3814001" cy="1651809"/>
            <a:chOff x="3197169" y="1392016"/>
            <a:chExt cx="3814001" cy="165180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F9E898-1AC6-719E-E60D-9802485E0238}"/>
                </a:ext>
              </a:extLst>
            </p:cNvPr>
            <p:cNvSpPr/>
            <p:nvPr/>
          </p:nvSpPr>
          <p:spPr>
            <a:xfrm>
              <a:off x="3197169" y="1392016"/>
              <a:ext cx="3814001" cy="1651809"/>
            </a:xfrm>
            <a:prstGeom prst="rect">
              <a:avLst/>
            </a:prstGeom>
            <a:noFill/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17293BE-7AB6-BA70-6D64-492289E77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843" b="13443"/>
            <a:stretch/>
          </p:blipFill>
          <p:spPr>
            <a:xfrm>
              <a:off x="3259800" y="1442120"/>
              <a:ext cx="3629270" cy="1463918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3480A74-3946-F4CF-D464-0775F1421F8D}"/>
              </a:ext>
            </a:extLst>
          </p:cNvPr>
          <p:cNvSpPr txBox="1"/>
          <p:nvPr/>
        </p:nvSpPr>
        <p:spPr>
          <a:xfrm>
            <a:off x="240032" y="3300995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also get the values of the </a:t>
            </a:r>
            <a:r>
              <a:rPr lang="en-US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projection matrix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the PCA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6" name="Picture 15" descr="A number and numbers on a white background&#10;&#10;Description automatically generated">
            <a:extLst>
              <a:ext uri="{FF2B5EF4-FFF2-40B4-BE49-F238E27FC236}">
                <a16:creationId xmlns:a16="http://schemas.microsoft.com/office/drawing/2014/main" id="{4FD1E5A6-10B5-FFA4-7542-21AA74FB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46" y="3829458"/>
            <a:ext cx="10131908" cy="271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37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58C13-E6AF-7E99-04BF-1E17F50E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B083A2-8FB9-9030-C821-08354D030B2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2D7D4E-BCC7-5FF0-E096-D8D5CCCBE86F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822E0B-7A91-7DBF-4754-6730D0635A23}"/>
              </a:ext>
            </a:extLst>
          </p:cNvPr>
          <p:cNvSpPr txBox="1"/>
          <p:nvPr/>
        </p:nvSpPr>
        <p:spPr>
          <a:xfrm>
            <a:off x="240032" y="696586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that the components are unit vectors, i.e. directions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6" name="Picture 5" descr="A number and a numb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BE96ED6C-2858-17F8-3B3A-526E71986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71" y="1440881"/>
            <a:ext cx="4361405" cy="2156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388A93-E0DF-C44C-C54A-B2C38D944E3C}"/>
              </a:ext>
            </a:extLst>
          </p:cNvPr>
          <p:cNvSpPr txBox="1"/>
          <p:nvPr/>
        </p:nvSpPr>
        <p:spPr>
          <a:xfrm>
            <a:off x="240032" y="3880424"/>
            <a:ext cx="49582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inspect </a:t>
            </a:r>
            <a:r>
              <a:rPr lang="en-US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 each feature decomposes</a:t>
            </a:r>
            <a:r>
              <a:rPr lang="en-US" sz="2400" dirty="0">
                <a:solidFill>
                  <a:srgbClr val="FF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along the principal components 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4222C0-8C1F-0578-99A7-4C6005580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3" t="10515" r="8928" b="3213"/>
          <a:stretch/>
        </p:blipFill>
        <p:spPr>
          <a:xfrm>
            <a:off x="6089788" y="1232099"/>
            <a:ext cx="5862180" cy="5296653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1C006456-E7D3-949F-4BBA-6E0198859DAA}"/>
              </a:ext>
            </a:extLst>
          </p:cNvPr>
          <p:cNvSpPr/>
          <p:nvPr/>
        </p:nvSpPr>
        <p:spPr>
          <a:xfrm>
            <a:off x="3056351" y="4384110"/>
            <a:ext cx="3018772" cy="1555715"/>
          </a:xfrm>
          <a:custGeom>
            <a:avLst/>
            <a:gdLst>
              <a:gd name="connsiteX0" fmla="*/ 0 w 3018772"/>
              <a:gd name="connsiteY0" fmla="*/ 651353 h 1555715"/>
              <a:gd name="connsiteX1" fmla="*/ 638827 w 3018772"/>
              <a:gd name="connsiteY1" fmla="*/ 1540701 h 1555715"/>
              <a:gd name="connsiteX2" fmla="*/ 3018772 w 3018772"/>
              <a:gd name="connsiteY2" fmla="*/ 0 h 1555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8772" h="1555715">
                <a:moveTo>
                  <a:pt x="0" y="651353"/>
                </a:moveTo>
                <a:cubicBezTo>
                  <a:pt x="67849" y="1150306"/>
                  <a:pt x="135698" y="1649260"/>
                  <a:pt x="638827" y="1540701"/>
                </a:cubicBezTo>
                <a:cubicBezTo>
                  <a:pt x="1141956" y="1432142"/>
                  <a:pt x="2080364" y="716071"/>
                  <a:pt x="3018772" y="0"/>
                </a:cubicBezTo>
              </a:path>
            </a:pathLst>
          </a:custGeom>
          <a:noFill/>
          <a:ln w="12700"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45E065-F624-62F5-899D-F0CFD49D8279}"/>
              </a:ext>
            </a:extLst>
          </p:cNvPr>
          <p:cNvSpPr/>
          <p:nvPr/>
        </p:nvSpPr>
        <p:spPr>
          <a:xfrm>
            <a:off x="3894126" y="1938104"/>
            <a:ext cx="537965" cy="360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93C486-A2F3-2D9A-E4E2-ED497D9AC253}"/>
              </a:ext>
            </a:extLst>
          </p:cNvPr>
          <p:cNvSpPr/>
          <p:nvPr/>
        </p:nvSpPr>
        <p:spPr>
          <a:xfrm>
            <a:off x="3894127" y="2795715"/>
            <a:ext cx="563080" cy="360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32F83-A976-C23F-A3B8-15A17E5C8A04}"/>
              </a:ext>
            </a:extLst>
          </p:cNvPr>
          <p:cNvSpPr/>
          <p:nvPr/>
        </p:nvSpPr>
        <p:spPr>
          <a:xfrm>
            <a:off x="1743039" y="1443242"/>
            <a:ext cx="164140" cy="360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5F65E-AF2D-7E6F-F688-7D4F0C46F188}"/>
              </a:ext>
            </a:extLst>
          </p:cNvPr>
          <p:cNvSpPr txBox="1"/>
          <p:nvPr/>
        </p:nvSpPr>
        <p:spPr>
          <a:xfrm>
            <a:off x="3871316" y="2819273"/>
            <a:ext cx="674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latin typeface="Roboto ExtraBold" panose="02000000000000000000" pitchFamily="2" charset="0"/>
                <a:ea typeface="Roboto ExtraBold" panose="02000000000000000000" pitchFamily="2" charset="0"/>
              </a:rPr>
              <a:t>W[1]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00142-6800-AF67-E223-64AC221F71CA}"/>
              </a:ext>
            </a:extLst>
          </p:cNvPr>
          <p:cNvSpPr txBox="1"/>
          <p:nvPr/>
        </p:nvSpPr>
        <p:spPr>
          <a:xfrm>
            <a:off x="3871316" y="1988252"/>
            <a:ext cx="674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latin typeface="Roboto ExtraBold" panose="02000000000000000000" pitchFamily="2" charset="0"/>
                <a:ea typeface="Roboto ExtraBold" panose="02000000000000000000" pitchFamily="2" charset="0"/>
              </a:rPr>
              <a:t>W[0]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9E3C84-0429-41C7-DD23-0113B5538084}"/>
              </a:ext>
            </a:extLst>
          </p:cNvPr>
          <p:cNvSpPr txBox="1"/>
          <p:nvPr/>
        </p:nvSpPr>
        <p:spPr>
          <a:xfrm>
            <a:off x="1653401" y="1445435"/>
            <a:ext cx="39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latin typeface="Roboto ExtraBold" panose="02000000000000000000" pitchFamily="2" charset="0"/>
                <a:ea typeface="Roboto ExtraBold" panose="02000000000000000000" pitchFamily="2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858651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484F-2E76-597C-A692-1D17CA9B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0F9941-F1CA-58C4-0048-56720264E15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B311E9-0F68-B497-DDBB-5CC5A1C93C61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DA9EF-6C15-A66C-F919-5870D595B291}"/>
              </a:ext>
            </a:extLst>
          </p:cNvPr>
          <p:cNvSpPr txBox="1"/>
          <p:nvPr/>
        </p:nvSpPr>
        <p:spPr>
          <a:xfrm>
            <a:off x="240032" y="696586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Remember that the components are unit vectors, i.e. directions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7099A-4C8B-77AF-3FC2-B878B9E3DDAE}"/>
              </a:ext>
            </a:extLst>
          </p:cNvPr>
          <p:cNvSpPr txBox="1"/>
          <p:nvPr/>
        </p:nvSpPr>
        <p:spPr>
          <a:xfrm>
            <a:off x="240032" y="3880424"/>
            <a:ext cx="49582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inspect </a:t>
            </a:r>
            <a:r>
              <a:rPr lang="en-US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 each feature decomposes</a:t>
            </a:r>
            <a:r>
              <a:rPr lang="en-US" sz="2400" dirty="0">
                <a:solidFill>
                  <a:srgbClr val="FF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along the principal components</a:t>
            </a:r>
          </a:p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However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 matrix </a:t>
            </a:r>
            <a:r>
              <a:rPr lang="en-US" sz="24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W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only conveys direction information. How to include the importance of each PC?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5FFB3C-255D-626A-91F7-3743C1AA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3" t="10515" r="8928" b="3213"/>
          <a:stretch/>
        </p:blipFill>
        <p:spPr>
          <a:xfrm>
            <a:off x="6089788" y="1232099"/>
            <a:ext cx="5862180" cy="5296653"/>
          </a:xfrm>
          <a:prstGeom prst="rect">
            <a:avLst/>
          </a:prstGeom>
        </p:spPr>
      </p:pic>
      <p:pic>
        <p:nvPicPr>
          <p:cNvPr id="4" name="Picture 3" descr="A number and a number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03874379-D49B-44E0-852B-B060395D7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71" y="1440881"/>
            <a:ext cx="4361405" cy="21569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00B6A4-BBF2-CB4B-40A6-8C9782650F60}"/>
              </a:ext>
            </a:extLst>
          </p:cNvPr>
          <p:cNvSpPr/>
          <p:nvPr/>
        </p:nvSpPr>
        <p:spPr>
          <a:xfrm>
            <a:off x="3894126" y="1938104"/>
            <a:ext cx="537965" cy="360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EEE284-6C1C-686F-D7F4-4D333E318823}"/>
              </a:ext>
            </a:extLst>
          </p:cNvPr>
          <p:cNvSpPr/>
          <p:nvPr/>
        </p:nvSpPr>
        <p:spPr>
          <a:xfrm>
            <a:off x="3894127" y="2795715"/>
            <a:ext cx="563080" cy="360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CF8BDE-1AD8-A24F-EA57-52DA32C0B3B4}"/>
              </a:ext>
            </a:extLst>
          </p:cNvPr>
          <p:cNvSpPr/>
          <p:nvPr/>
        </p:nvSpPr>
        <p:spPr>
          <a:xfrm>
            <a:off x="1743039" y="1443242"/>
            <a:ext cx="164140" cy="360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47DAD-7207-F53D-632F-D4D683926202}"/>
              </a:ext>
            </a:extLst>
          </p:cNvPr>
          <p:cNvSpPr txBox="1"/>
          <p:nvPr/>
        </p:nvSpPr>
        <p:spPr>
          <a:xfrm>
            <a:off x="3871316" y="2819273"/>
            <a:ext cx="674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latin typeface="Roboto ExtraBold" panose="02000000000000000000" pitchFamily="2" charset="0"/>
                <a:ea typeface="Roboto ExtraBold" panose="02000000000000000000" pitchFamily="2" charset="0"/>
              </a:rPr>
              <a:t>W[1]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2ACDC-67DC-6DA7-0452-A1758E603F3B}"/>
              </a:ext>
            </a:extLst>
          </p:cNvPr>
          <p:cNvSpPr txBox="1"/>
          <p:nvPr/>
        </p:nvSpPr>
        <p:spPr>
          <a:xfrm>
            <a:off x="3871316" y="1988252"/>
            <a:ext cx="674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latin typeface="Roboto ExtraBold" panose="02000000000000000000" pitchFamily="2" charset="0"/>
                <a:ea typeface="Roboto ExtraBold" panose="02000000000000000000" pitchFamily="2" charset="0"/>
              </a:rPr>
              <a:t>W[0]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ADAAE-EB86-3C12-D317-CD98F9C52B6A}"/>
              </a:ext>
            </a:extLst>
          </p:cNvPr>
          <p:cNvSpPr txBox="1"/>
          <p:nvPr/>
        </p:nvSpPr>
        <p:spPr>
          <a:xfrm>
            <a:off x="1653401" y="1445435"/>
            <a:ext cx="39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latin typeface="Roboto ExtraBold" panose="02000000000000000000" pitchFamily="2" charset="0"/>
                <a:ea typeface="Roboto ExtraBold" panose="02000000000000000000" pitchFamily="2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415310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EB31-495B-7E5A-38F7-246B9D3B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F5264C-7A5A-AD4E-BF71-E60F7A851782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5B1B33-7C51-FFA3-CC6A-5EF28A749A12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 : the correlation 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9454F-76F1-F1DF-7FC9-7D92175F8A4F}"/>
              </a:ext>
            </a:extLst>
          </p:cNvPr>
          <p:cNvSpPr txBox="1"/>
          <p:nvPr/>
        </p:nvSpPr>
        <p:spPr>
          <a:xfrm>
            <a:off x="240032" y="696586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It is common to define the notion of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loadings</a:t>
            </a:r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of the PCA as 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166C2-1778-4174-C771-B7062DA2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372869"/>
            <a:ext cx="5829300" cy="1003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E1EE0D-41D6-0256-2728-0E76359B9545}"/>
              </a:ext>
            </a:extLst>
          </p:cNvPr>
          <p:cNvSpPr txBox="1"/>
          <p:nvPr/>
        </p:nvSpPr>
        <p:spPr>
          <a:xfrm>
            <a:off x="240031" y="2590787"/>
            <a:ext cx="11699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which describes how</a:t>
            </a:r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much the variable </a:t>
            </a:r>
            <a:r>
              <a:rPr lang="en-GB" sz="24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</a:t>
            </a:r>
            <a:r>
              <a:rPr lang="en-GB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is 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correlated</a:t>
            </a:r>
            <a:r>
              <a:rPr lang="en-GB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to the principal component </a:t>
            </a:r>
            <a:r>
              <a:rPr lang="en-GB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j</a:t>
            </a:r>
            <a:endParaRPr lang="en-FR" sz="24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224AE4-2109-347A-CED9-50375B5D7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276" y="3291188"/>
            <a:ext cx="3149600" cy="2387600"/>
          </a:xfrm>
          <a:prstGeom prst="rect">
            <a:avLst/>
          </a:prstGeom>
        </p:spPr>
      </p:pic>
      <p:sp>
        <p:nvSpPr>
          <p:cNvPr id="16" name="Right Brace 15">
            <a:extLst>
              <a:ext uri="{FF2B5EF4-FFF2-40B4-BE49-F238E27FC236}">
                <a16:creationId xmlns:a16="http://schemas.microsoft.com/office/drawing/2014/main" id="{1949D2B9-E4E2-B7F6-AD24-84B889EA5D27}"/>
              </a:ext>
            </a:extLst>
          </p:cNvPr>
          <p:cNvSpPr/>
          <p:nvPr/>
        </p:nvSpPr>
        <p:spPr>
          <a:xfrm>
            <a:off x="7245578" y="3291188"/>
            <a:ext cx="333103" cy="23876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63A22BAE-0B50-9872-9136-E493C4082184}"/>
              </a:ext>
            </a:extLst>
          </p:cNvPr>
          <p:cNvSpPr/>
          <p:nvPr/>
        </p:nvSpPr>
        <p:spPr>
          <a:xfrm rot="5400000">
            <a:off x="5700651" y="4898190"/>
            <a:ext cx="333103" cy="2193346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80AFFB-56DE-8A98-027B-486A44F4B492}"/>
              </a:ext>
            </a:extLst>
          </p:cNvPr>
          <p:cNvSpPr txBox="1"/>
          <p:nvPr/>
        </p:nvSpPr>
        <p:spPr>
          <a:xfrm>
            <a:off x="4589448" y="6181007"/>
            <a:ext cx="255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q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principal components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78FD4B-EBB8-1764-4A77-929AE4C78B35}"/>
              </a:ext>
            </a:extLst>
          </p:cNvPr>
          <p:cNvSpPr txBox="1"/>
          <p:nvPr/>
        </p:nvSpPr>
        <p:spPr>
          <a:xfrm>
            <a:off x="7578681" y="4255715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27202641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5404A-919C-CB0A-7CDD-218B0B56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B27D2B-A048-6565-9FE8-8A011262A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789" y="2830939"/>
            <a:ext cx="4040777" cy="37345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4D537A-EB9C-59B1-9669-72F672AA7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019" y="2830940"/>
            <a:ext cx="4040777" cy="37345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C6FCBF3-4DE2-D7B3-1A88-58CA1A8F86A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893C2-F9CD-66B7-25B7-5FF79B803795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 : the correlation 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C10ECD-2B2F-0EA1-1C11-A25312251CFF}"/>
              </a:ext>
            </a:extLst>
          </p:cNvPr>
          <p:cNvSpPr txBox="1"/>
          <p:nvPr/>
        </p:nvSpPr>
        <p:spPr>
          <a:xfrm>
            <a:off x="240032" y="696586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It is common to define the notion of </a:t>
            </a:r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loadings</a:t>
            </a:r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of the PCA as 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92B0D-C46F-C271-4B8F-6F36AB7D8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350" y="1372869"/>
            <a:ext cx="5829300" cy="1003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58A424-C342-DFAF-F807-EF4A57AD9582}"/>
              </a:ext>
            </a:extLst>
          </p:cNvPr>
          <p:cNvSpPr txBox="1"/>
          <p:nvPr/>
        </p:nvSpPr>
        <p:spPr>
          <a:xfrm>
            <a:off x="240031" y="2590787"/>
            <a:ext cx="11699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which describes how</a:t>
            </a:r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much the variable </a:t>
            </a:r>
            <a:r>
              <a:rPr lang="en-GB" sz="24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</a:t>
            </a:r>
            <a:r>
              <a:rPr lang="en-GB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is </a:t>
            </a:r>
            <a:r>
              <a:rPr lang="en-GB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correlated</a:t>
            </a:r>
            <a:r>
              <a:rPr lang="en-GB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to the principal component </a:t>
            </a:r>
            <a:r>
              <a:rPr lang="en-GB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j</a:t>
            </a:r>
            <a:endParaRPr lang="en-FR" sz="2400" b="1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42D35-48CE-0BD0-AC42-D37419E811CD}"/>
              </a:ext>
            </a:extLst>
          </p:cNvPr>
          <p:cNvSpPr txBox="1"/>
          <p:nvPr/>
        </p:nvSpPr>
        <p:spPr>
          <a:xfrm>
            <a:off x="2391012" y="3292605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0E1737-D760-4A90-FCA5-F11534F49E18}"/>
              </a:ext>
            </a:extLst>
          </p:cNvPr>
          <p:cNvSpPr txBox="1"/>
          <p:nvPr/>
        </p:nvSpPr>
        <p:spPr>
          <a:xfrm>
            <a:off x="6971980" y="329260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latin typeface="Roboto Black" panose="02000000000000000000" pitchFamily="2" charset="0"/>
                <a:ea typeface="Roboto Black" panose="02000000000000000000" pitchFamily="2" charset="0"/>
              </a:rPr>
              <a:t>L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B13869BE-ABBF-9F4A-D2A8-93079D5FAFF4}"/>
              </a:ext>
            </a:extLst>
          </p:cNvPr>
          <p:cNvSpPr/>
          <p:nvPr/>
        </p:nvSpPr>
        <p:spPr>
          <a:xfrm>
            <a:off x="5646186" y="4645343"/>
            <a:ext cx="711925" cy="156755"/>
          </a:xfrm>
          <a:prstGeom prst="rightArrow">
            <a:avLst/>
          </a:prstGeom>
          <a:noFill/>
          <a:ln w="1016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13158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CDD5AD-89E1-3942-B85B-115905A5DB87}"/>
              </a:ext>
            </a:extLst>
          </p:cNvPr>
          <p:cNvSpPr txBox="1"/>
          <p:nvPr/>
        </p:nvSpPr>
        <p:spPr>
          <a:xfrm>
            <a:off x="7086600" y="12469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90E02-D249-9529-DFD9-4496BFFEB982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17900-BC44-60D0-1812-EE384355188D}"/>
              </a:ext>
            </a:extLst>
          </p:cNvPr>
          <p:cNvSpPr txBox="1"/>
          <p:nvPr/>
        </p:nvSpPr>
        <p:spPr>
          <a:xfrm>
            <a:off x="871965" y="5001331"/>
            <a:ext cx="10770346" cy="1699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solidFill>
                  <a:srgbClr val="757575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🇧🇷   Brazil is a large country (big area and big population) with a very high inflation (especially in 1991)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rgbClr val="757575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🇺🇸   USA is also a large country but with controlled inflation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rgbClr val="757575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🇪🇺   The European countries are small and have a high GNB per capita 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solidFill>
                  <a:srgbClr val="757575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🇺🇸   USA has a very negative external trade, so is on the opposite direction to EXTTR </a:t>
            </a:r>
            <a:endParaRPr lang="en-GB" dirty="0">
              <a:effectLst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0E8B6-1279-C8FA-C2BB-42034CBE820B}"/>
              </a:ext>
            </a:extLst>
          </p:cNvPr>
          <p:cNvSpPr txBox="1"/>
          <p:nvPr/>
        </p:nvSpPr>
        <p:spPr>
          <a:xfrm>
            <a:off x="240032" y="828458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use both plots to make </a:t>
            </a:r>
            <a:r>
              <a:rPr lang="en-US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qualitative observations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about the data: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95361-74D6-AE02-E780-18177681F06F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607721-FB81-7CBF-4C14-35A322B270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7" t="10861" r="7590" b="3356"/>
          <a:stretch/>
        </p:blipFill>
        <p:spPr>
          <a:xfrm>
            <a:off x="1973212" y="1444733"/>
            <a:ext cx="3906083" cy="3493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68B8B4-3C83-1B2E-3F7E-45ECB3E74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64188"/>
            <a:ext cx="4190492" cy="34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73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389F-D783-0AD3-3077-478364A0C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C53AB-2957-DB89-8D7E-0479C280AB7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38B974-F66F-4AC6-5790-74DFE32581DF}"/>
              </a:ext>
            </a:extLst>
          </p:cNvPr>
          <p:cNvSpPr txBox="1"/>
          <p:nvPr/>
        </p:nvSpPr>
        <p:spPr>
          <a:xfrm>
            <a:off x="240032" y="828458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Suppose we had a dataset with all photos from a class </a:t>
            </a:r>
            <a:r>
              <a:rPr lang="en-US" sz="2400" dirty="0" err="1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trombinoscope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: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AFC638-91A6-F981-0F12-FDEAD0D12ACD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 practical example : Eigenfaces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275C0C5-04BF-4A49-7054-A0B612AD471F}"/>
              </a:ext>
            </a:extLst>
          </p:cNvPr>
          <p:cNvGrpSpPr/>
          <p:nvPr/>
        </p:nvGrpSpPr>
        <p:grpSpPr>
          <a:xfrm>
            <a:off x="1275978" y="1246909"/>
            <a:ext cx="9433310" cy="1252234"/>
            <a:chOff x="320979" y="1246909"/>
            <a:chExt cx="9433310" cy="125223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D286877-25E8-2284-3BCD-1ABF2FF23FA2}"/>
                </a:ext>
              </a:extLst>
            </p:cNvPr>
            <p:cNvSpPr txBox="1"/>
            <p:nvPr/>
          </p:nvSpPr>
          <p:spPr>
            <a:xfrm>
              <a:off x="7086600" y="124690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FR" dirty="0"/>
            </a:p>
          </p:txBody>
        </p:sp>
        <p:pic>
          <p:nvPicPr>
            <p:cNvPr id="11" name="Picture 10" descr="A close up of a person's face&#10;&#10;AI-generated content may be incorrect.">
              <a:extLst>
                <a:ext uri="{FF2B5EF4-FFF2-40B4-BE49-F238E27FC236}">
                  <a16:creationId xmlns:a16="http://schemas.microsoft.com/office/drawing/2014/main" id="{5D76BAE4-2A87-76A2-DA46-00B0B7F0E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0852" y="1524939"/>
              <a:ext cx="945101" cy="945101"/>
            </a:xfrm>
            <a:prstGeom prst="rect">
              <a:avLst/>
            </a:prstGeom>
          </p:spPr>
        </p:pic>
        <p:pic>
          <p:nvPicPr>
            <p:cNvPr id="14" name="Picture 13" descr="A person taking a selfie&#10;&#10;AI-generated content may be incorrect.">
              <a:extLst>
                <a:ext uri="{FF2B5EF4-FFF2-40B4-BE49-F238E27FC236}">
                  <a16:creationId xmlns:a16="http://schemas.microsoft.com/office/drawing/2014/main" id="{F96F187E-92F1-69D5-6E84-8518BB2D7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3061" y="1524940"/>
              <a:ext cx="945101" cy="945101"/>
            </a:xfrm>
            <a:prstGeom prst="rect">
              <a:avLst/>
            </a:prstGeom>
          </p:spPr>
        </p:pic>
        <p:pic>
          <p:nvPicPr>
            <p:cNvPr id="16" name="Picture 15" descr="A close up of a person's face&#10;&#10;AI-generated content may be incorrect.">
              <a:extLst>
                <a:ext uri="{FF2B5EF4-FFF2-40B4-BE49-F238E27FC236}">
                  <a16:creationId xmlns:a16="http://schemas.microsoft.com/office/drawing/2014/main" id="{124B95F1-A349-391F-425D-88B6FF87E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5270" y="1524940"/>
              <a:ext cx="945101" cy="945101"/>
            </a:xfrm>
            <a:prstGeom prst="rect">
              <a:avLst/>
            </a:prstGeom>
          </p:spPr>
        </p:pic>
        <p:pic>
          <p:nvPicPr>
            <p:cNvPr id="18" name="Picture 17" descr="A person with a beard&#10;&#10;AI-generated content may be incorrect.">
              <a:extLst>
                <a:ext uri="{FF2B5EF4-FFF2-40B4-BE49-F238E27FC236}">
                  <a16:creationId xmlns:a16="http://schemas.microsoft.com/office/drawing/2014/main" id="{866A568A-AE63-34A8-7D9B-725E8ABAC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49688" y="1524942"/>
              <a:ext cx="945101" cy="945101"/>
            </a:xfrm>
            <a:prstGeom prst="rect">
              <a:avLst/>
            </a:prstGeom>
          </p:spPr>
        </p:pic>
        <p:pic>
          <p:nvPicPr>
            <p:cNvPr id="20" name="Picture 19" descr="A close up of a person's face&#10;&#10;AI-generated content may be incorrect.">
              <a:extLst>
                <a:ext uri="{FF2B5EF4-FFF2-40B4-BE49-F238E27FC236}">
                  <a16:creationId xmlns:a16="http://schemas.microsoft.com/office/drawing/2014/main" id="{879610FC-91D9-2431-EE92-489062C44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17479" y="1524941"/>
              <a:ext cx="945101" cy="94510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3451623-A066-50F7-0891-8F1A92E27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0979" y="1495843"/>
              <a:ext cx="927100" cy="10033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4A0AF55-43E3-FA9F-2D4D-747B2A68A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76489" y="1495843"/>
              <a:ext cx="177800" cy="10033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0512ED0-7BB6-BB9D-0EB8-982161AD2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99771" y="1997489"/>
              <a:ext cx="342900" cy="50800"/>
            </a:xfrm>
            <a:prstGeom prst="rect">
              <a:avLst/>
            </a:prstGeom>
          </p:spPr>
        </p:pic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F71767-C226-9AAF-56E9-ABBA8821870D}"/>
              </a:ext>
            </a:extLst>
          </p:cNvPr>
          <p:cNvCxnSpPr/>
          <p:nvPr/>
        </p:nvCxnSpPr>
        <p:spPr>
          <a:xfrm>
            <a:off x="8775851" y="2631882"/>
            <a:ext cx="9451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F474DBD-1787-3150-BC00-478D2C9332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86648" y="2706334"/>
            <a:ext cx="438923" cy="302717"/>
          </a:xfrm>
          <a:prstGeom prst="bentConnector3">
            <a:avLst>
              <a:gd name="adj1" fmla="val 100723"/>
            </a:avLst>
          </a:prstGeom>
          <a:ln w="38100">
            <a:solidFill>
              <a:srgbClr val="FA27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DBC5466-A2E5-0D4A-1195-D0627DAC3283}"/>
              </a:ext>
            </a:extLst>
          </p:cNvPr>
          <p:cNvSpPr txBox="1"/>
          <p:nvPr/>
        </p:nvSpPr>
        <p:spPr>
          <a:xfrm>
            <a:off x="9605174" y="2892488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solidFill>
                  <a:srgbClr val="FF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128x128 pixels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63A28B-66EE-5B44-82B9-7F1783385E39}"/>
              </a:ext>
            </a:extLst>
          </p:cNvPr>
          <p:cNvSpPr txBox="1"/>
          <p:nvPr/>
        </p:nvSpPr>
        <p:spPr>
          <a:xfrm>
            <a:off x="240032" y="2730645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Flattening the matrices, we end up with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D21816A-B351-417A-8DD8-8C86502BF1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00361" y="2759654"/>
            <a:ext cx="2032000" cy="31750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3F26D05-383F-B511-EAA4-B38FAF102DFD}"/>
              </a:ext>
            </a:extLst>
          </p:cNvPr>
          <p:cNvGrpSpPr/>
          <p:nvPr/>
        </p:nvGrpSpPr>
        <p:grpSpPr>
          <a:xfrm>
            <a:off x="635671" y="3452912"/>
            <a:ext cx="10920658" cy="726581"/>
            <a:chOff x="-15301" y="3488811"/>
            <a:chExt cx="10920658" cy="726581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6B6EB90-351C-32A0-A31E-323FFBB49FA0}"/>
                </a:ext>
              </a:extLst>
            </p:cNvPr>
            <p:cNvSpPr/>
            <p:nvPr/>
          </p:nvSpPr>
          <p:spPr>
            <a:xfrm>
              <a:off x="365927" y="3488811"/>
              <a:ext cx="10165561" cy="726581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92EF41-DAD9-C275-CFD0-686279B0E0D3}"/>
                </a:ext>
              </a:extLst>
            </p:cNvPr>
            <p:cNvSpPr txBox="1"/>
            <p:nvPr/>
          </p:nvSpPr>
          <p:spPr>
            <a:xfrm>
              <a:off x="-15301" y="3621268"/>
              <a:ext cx="1092065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Can we use PCA to get lower-dimensional representations of the photos?</a:t>
              </a:r>
              <a:endParaRPr lang="en-FR" sz="2400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C778BD6-A5F7-1AD5-AACC-C7547EDE4B8E}"/>
              </a:ext>
            </a:extLst>
          </p:cNvPr>
          <p:cNvSpPr txBox="1"/>
          <p:nvPr/>
        </p:nvSpPr>
        <p:spPr>
          <a:xfrm>
            <a:off x="195126" y="4437338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calculate the covariance matrix and get its eigenvectors, which are “eigenfaces”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18CB4B7-C055-BD13-7B10-5CC8FDCB071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22672"/>
          <a:stretch/>
        </p:blipFill>
        <p:spPr>
          <a:xfrm>
            <a:off x="3090890" y="5155061"/>
            <a:ext cx="6010220" cy="1495307"/>
          </a:xfrm>
          <a:prstGeom prst="rect">
            <a:avLst/>
          </a:prstGeom>
        </p:spPr>
      </p:pic>
      <p:pic>
        <p:nvPicPr>
          <p:cNvPr id="8" name="Picture 7" descr="A person with a beard&#10;&#10;AI-generated content may be incorrect.">
            <a:extLst>
              <a:ext uri="{FF2B5EF4-FFF2-40B4-BE49-F238E27FC236}">
                <a16:creationId xmlns:a16="http://schemas.microsoft.com/office/drawing/2014/main" id="{4038B29E-3BA1-33DD-FA6A-D28A854F7B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6896" y="1509992"/>
            <a:ext cx="960048" cy="96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081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E7D9-368B-6982-A228-F89D1DB9C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0C3376-E5D7-AB3B-7B85-469720DC6CA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D852A-049A-A891-6402-4A18F8E711E8}"/>
              </a:ext>
            </a:extLst>
          </p:cNvPr>
          <p:cNvSpPr txBox="1"/>
          <p:nvPr/>
        </p:nvSpPr>
        <p:spPr>
          <a:xfrm>
            <a:off x="240032" y="828458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Then, we would like to check if we can write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0236D-5056-1AD7-6A5D-795756761BE3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 practical example : Eigenfaces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A47C1-0286-5C13-B33F-1BDDB23A297F}"/>
              </a:ext>
            </a:extLst>
          </p:cNvPr>
          <p:cNvSpPr txBox="1"/>
          <p:nvPr/>
        </p:nvSpPr>
        <p:spPr>
          <a:xfrm>
            <a:off x="8041599" y="12469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17495C-D93F-A4DF-093C-DE96C3E83057}"/>
              </a:ext>
            </a:extLst>
          </p:cNvPr>
          <p:cNvSpPr txBox="1"/>
          <p:nvPr/>
        </p:nvSpPr>
        <p:spPr>
          <a:xfrm>
            <a:off x="240032" y="345751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what would be the </a:t>
            </a:r>
            <a:r>
              <a:rPr lang="en-US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most appropriate values </a:t>
            </a:r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for these weights? The projection!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255B5-DAA9-F949-0626-1E1605FB73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75" t="9744" r="60625" b="7091"/>
          <a:stretch/>
        </p:blipFill>
        <p:spPr>
          <a:xfrm>
            <a:off x="2926399" y="1495843"/>
            <a:ext cx="1319917" cy="1319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093A96-AFC3-60ED-0572-B71210F60E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580" t="10231" r="23675" b="6541"/>
          <a:stretch/>
        </p:blipFill>
        <p:spPr>
          <a:xfrm>
            <a:off x="7735902" y="1495843"/>
            <a:ext cx="1298893" cy="13209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44C23A-8903-9DF7-DF26-4DC52FC03D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58" t="11390" r="41942" b="10858"/>
          <a:stretch/>
        </p:blipFill>
        <p:spPr>
          <a:xfrm>
            <a:off x="5271114" y="1523903"/>
            <a:ext cx="1319917" cy="12340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28C0C8-3A03-F79B-23D3-1A6D6F8076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973" t="10596" r="4834" b="10109"/>
          <a:stretch/>
        </p:blipFill>
        <p:spPr>
          <a:xfrm>
            <a:off x="10249869" y="1526544"/>
            <a:ext cx="1335819" cy="12585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3E65A8-0899-EA7D-70A3-6A8E4CDFFE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562" y="2058055"/>
            <a:ext cx="228600" cy="152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F0732B-9F48-D8B4-4229-C781710A02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7834" y="2013605"/>
            <a:ext cx="228600" cy="2413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B09DF1-D169-7B98-5CBD-3EE20D7152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8051" y="2014636"/>
            <a:ext cx="228600" cy="2413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782510C-10F1-9C8E-7D7B-9B05083F31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4653" y="2019955"/>
            <a:ext cx="228600" cy="2413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9C4B1FE-4D09-2F2D-5FB1-80A3D6606D83}"/>
              </a:ext>
            </a:extLst>
          </p:cNvPr>
          <p:cNvSpPr txBox="1"/>
          <p:nvPr/>
        </p:nvSpPr>
        <p:spPr>
          <a:xfrm>
            <a:off x="2444046" y="3001021"/>
            <a:ext cx="8311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Note that if this turns out to be a good approximation, then it means that each photo can be encoded with just 4 numbers (i.e., the weights) instead of 16384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BF346D93-F71A-AEFF-FBF0-32D54B6D9FDD}"/>
              </a:ext>
            </a:extLst>
          </p:cNvPr>
          <p:cNvCxnSpPr>
            <a:cxnSpLocks/>
          </p:cNvCxnSpPr>
          <p:nvPr/>
        </p:nvCxnSpPr>
        <p:spPr>
          <a:xfrm>
            <a:off x="2054805" y="3101853"/>
            <a:ext cx="321986" cy="222333"/>
          </a:xfrm>
          <a:prstGeom prst="bentConnector3">
            <a:avLst>
              <a:gd name="adj1" fmla="val -7371"/>
            </a:avLst>
          </a:prstGeom>
          <a:ln w="508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48D528B0-7FA3-7C44-B5BF-75F996777E2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4781"/>
          <a:stretch/>
        </p:blipFill>
        <p:spPr>
          <a:xfrm>
            <a:off x="5417506" y="4535707"/>
            <a:ext cx="3878105" cy="12192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8920EC5-56EE-A79C-FC46-3E97239B6130}"/>
              </a:ext>
            </a:extLst>
          </p:cNvPr>
          <p:cNvSpPr txBox="1"/>
          <p:nvPr/>
        </p:nvSpPr>
        <p:spPr>
          <a:xfrm>
            <a:off x="240032" y="565113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should then compare the reconstruction based on 4 eigenfaces vs original photo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6" name="Picture 15" descr="A person with a beard&#10;&#10;AI-generated content may be incorrect.">
            <a:extLst>
              <a:ext uri="{FF2B5EF4-FFF2-40B4-BE49-F238E27FC236}">
                <a16:creationId xmlns:a16="http://schemas.microsoft.com/office/drawing/2014/main" id="{C78354D8-BF82-4CC1-C2FC-E0599E297E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523" y="1523903"/>
            <a:ext cx="1219200" cy="121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37B192-A041-6E45-D1B6-BCEF520111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6901" y="2034000"/>
            <a:ext cx="508000" cy="228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068B29-1BC5-ACB2-D341-AFCA80C14D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2124" y="2034000"/>
            <a:ext cx="5080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68ACF3-7185-CE8C-577B-C8754C79A2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2000" y="2034000"/>
            <a:ext cx="508000" cy="228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198F5DA-8F5F-A353-5DD6-735D59D7245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09200" y="2034000"/>
            <a:ext cx="5080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2D7684-3CE2-0122-0C6E-7BE4289FFE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50090" y="4925315"/>
            <a:ext cx="2679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75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BAAB-9606-EC22-2493-8E9B0903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75A9D8-49B6-E588-A670-502BFBA05F3C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5947B-EE9A-33BB-F9B8-293A7AA2B77D}"/>
              </a:ext>
            </a:extLst>
          </p:cNvPr>
          <p:cNvSpPr txBox="1"/>
          <p:nvPr/>
        </p:nvSpPr>
        <p:spPr>
          <a:xfrm>
            <a:off x="240032" y="828458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result with only four eigenfaces is disappointing…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5049E7-4B82-2BDF-95D9-0AA5F61378C4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 practical example : Eigenfaces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E12292-53D6-258C-D8EE-7DC2E86F4DF6}"/>
              </a:ext>
            </a:extLst>
          </p:cNvPr>
          <p:cNvSpPr txBox="1"/>
          <p:nvPr/>
        </p:nvSpPr>
        <p:spPr>
          <a:xfrm>
            <a:off x="8041599" y="12469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CBCDBC-075A-061A-15B2-25865473B571}"/>
              </a:ext>
            </a:extLst>
          </p:cNvPr>
          <p:cNvSpPr txBox="1"/>
          <p:nvPr/>
        </p:nvSpPr>
        <p:spPr>
          <a:xfrm>
            <a:off x="240032" y="6029542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But what if we tested with more?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A6905D-B8D7-90FB-153C-896FBC9D30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26" t="9629" r="8199" b="12376"/>
          <a:stretch/>
        </p:blipFill>
        <p:spPr>
          <a:xfrm>
            <a:off x="1795157" y="1509036"/>
            <a:ext cx="8601685" cy="419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27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4F15B-3F4B-2506-A540-AB715282D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1CE44F-B545-A8CA-D55B-E45D2A445055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0060A-0B94-53C5-5F40-D4F08BE236E6}"/>
              </a:ext>
            </a:extLst>
          </p:cNvPr>
          <p:cNvSpPr txBox="1"/>
          <p:nvPr/>
        </p:nvSpPr>
        <p:spPr>
          <a:xfrm>
            <a:off x="240032" y="828458"/>
            <a:ext cx="10920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result with only four eigenfaces is disappointing… but what if had more?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8BECD-0065-4F18-12AB-5F71A0D226A0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 practical example : Eigenfaces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58FB52-007E-F02F-68F3-B34F60EF58BE}"/>
              </a:ext>
            </a:extLst>
          </p:cNvPr>
          <p:cNvSpPr txBox="1"/>
          <p:nvPr/>
        </p:nvSpPr>
        <p:spPr>
          <a:xfrm>
            <a:off x="8041599" y="12469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70E2F0-F09D-8883-FAE4-5ECC9CB2BD86}"/>
              </a:ext>
            </a:extLst>
          </p:cNvPr>
          <p:cNvSpPr txBox="1"/>
          <p:nvPr/>
        </p:nvSpPr>
        <p:spPr>
          <a:xfrm>
            <a:off x="240031" y="4392661"/>
            <a:ext cx="502623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It is interesting to note that although the eigenvalues decay very quickly, we need to add many components in the decomposition to get a good visible result</a:t>
            </a:r>
            <a:endParaRPr lang="en-F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C2981F-5401-7A46-6AAB-972E288456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15" t="7061" r="8535"/>
          <a:stretch/>
        </p:blipFill>
        <p:spPr>
          <a:xfrm>
            <a:off x="5532116" y="4217296"/>
            <a:ext cx="5551715" cy="25100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A723A6-A05B-63A2-6CFA-D4D47616E8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65" t="29236" r="8933" b="31704"/>
          <a:stretch/>
        </p:blipFill>
        <p:spPr>
          <a:xfrm>
            <a:off x="1310092" y="1495843"/>
            <a:ext cx="9571815" cy="235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99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CD46-D4BD-C9BB-859E-8E59CDBE9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0348C8-7BC3-1D98-5508-1BA8E93357B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B7897334-4450-FAE7-77C4-5DC57A09D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3996889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6EABC8-029B-B0CD-493D-A0D2818BE9A2}"/>
              </a:ext>
            </a:extLst>
          </p:cNvPr>
          <p:cNvSpPr txBox="1"/>
          <p:nvPr/>
        </p:nvSpPr>
        <p:spPr>
          <a:xfrm>
            <a:off x="1865622" y="1580886"/>
            <a:ext cx="96808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important mathematical tools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Principal Component Analysis (PCA)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Principal Component Regression (PCR)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3027230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F5FE903-5C23-5C47-CC05-5A264FB4D636}"/>
              </a:ext>
            </a:extLst>
          </p:cNvPr>
          <p:cNvSpPr/>
          <p:nvPr/>
        </p:nvSpPr>
        <p:spPr>
          <a:xfrm>
            <a:off x="6909058" y="5719778"/>
            <a:ext cx="2487459" cy="789140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5BD547-A167-8B6E-BC93-18E27B2D9E0C}"/>
              </a:ext>
            </a:extLst>
          </p:cNvPr>
          <p:cNvGrpSpPr/>
          <p:nvPr/>
        </p:nvGrpSpPr>
        <p:grpSpPr>
          <a:xfrm>
            <a:off x="1564465" y="1487972"/>
            <a:ext cx="8855994" cy="2361152"/>
            <a:chOff x="457352" y="1497718"/>
            <a:chExt cx="8996019" cy="239848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E756D64-2FA4-52FB-E47B-2826EBF17F6F}"/>
                </a:ext>
              </a:extLst>
            </p:cNvPr>
            <p:cNvGrpSpPr/>
            <p:nvPr/>
          </p:nvGrpSpPr>
          <p:grpSpPr>
            <a:xfrm>
              <a:off x="1510497" y="1497718"/>
              <a:ext cx="3565085" cy="1925711"/>
              <a:chOff x="595746" y="1005198"/>
              <a:chExt cx="3565085" cy="1925711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BE7DC8-1E43-DBC6-81F6-0251CC10883D}"/>
                  </a:ext>
                </a:extLst>
              </p:cNvPr>
              <p:cNvSpPr/>
              <p:nvPr/>
            </p:nvSpPr>
            <p:spPr>
              <a:xfrm>
                <a:off x="595746" y="1192206"/>
                <a:ext cx="3565085" cy="1684800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04C4ACF-4344-9A50-3F70-1145937C7260}"/>
                  </a:ext>
                </a:extLst>
              </p:cNvPr>
              <p:cNvSpPr/>
              <p:nvPr/>
            </p:nvSpPr>
            <p:spPr>
              <a:xfrm>
                <a:off x="796636" y="1005198"/>
                <a:ext cx="3163305" cy="1925711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97191D5-AE5C-727B-CB03-1DEB3D75171B}"/>
                </a:ext>
              </a:extLst>
            </p:cNvPr>
            <p:cNvGrpSpPr/>
            <p:nvPr/>
          </p:nvGrpSpPr>
          <p:grpSpPr>
            <a:xfrm>
              <a:off x="7304445" y="1510971"/>
              <a:ext cx="2148926" cy="1980516"/>
              <a:chOff x="5597238" y="1005199"/>
              <a:chExt cx="2148926" cy="198051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1DBAC1B-11A2-7E2A-1A5A-8CD24D5F538C}"/>
                  </a:ext>
                </a:extLst>
              </p:cNvPr>
              <p:cNvSpPr/>
              <p:nvPr/>
            </p:nvSpPr>
            <p:spPr>
              <a:xfrm>
                <a:off x="5597238" y="1192206"/>
                <a:ext cx="2148926" cy="1684800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992CD49-94A7-3085-867C-1988172DC32A}"/>
                  </a:ext>
                </a:extLst>
              </p:cNvPr>
              <p:cNvSpPr/>
              <p:nvPr/>
            </p:nvSpPr>
            <p:spPr>
              <a:xfrm>
                <a:off x="5798128" y="1005199"/>
                <a:ext cx="1747146" cy="1980516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9472AF4-300D-9BAB-DF70-C0CDFB97F7CA}"/>
                </a:ext>
              </a:extLst>
            </p:cNvPr>
            <p:cNvSpPr/>
            <p:nvPr/>
          </p:nvSpPr>
          <p:spPr>
            <a:xfrm>
              <a:off x="5390857" y="2285560"/>
              <a:ext cx="645720" cy="321128"/>
            </a:xfrm>
            <a:custGeom>
              <a:avLst/>
              <a:gdLst>
                <a:gd name="connsiteX0" fmla="*/ 0 w 974271"/>
                <a:gd name="connsiteY0" fmla="*/ 0 h 321128"/>
                <a:gd name="connsiteX1" fmla="*/ 391886 w 974271"/>
                <a:gd name="connsiteY1" fmla="*/ 321128 h 321128"/>
                <a:gd name="connsiteX2" fmla="*/ 974271 w 974271"/>
                <a:gd name="connsiteY2" fmla="*/ 0 h 321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4271" h="321128">
                  <a:moveTo>
                    <a:pt x="0" y="0"/>
                  </a:moveTo>
                  <a:cubicBezTo>
                    <a:pt x="114754" y="160564"/>
                    <a:pt x="229508" y="321128"/>
                    <a:pt x="391886" y="321128"/>
                  </a:cubicBezTo>
                  <a:cubicBezTo>
                    <a:pt x="554264" y="321128"/>
                    <a:pt x="764267" y="160564"/>
                    <a:pt x="974271" y="0"/>
                  </a:cubicBezTo>
                </a:path>
              </a:pathLst>
            </a:custGeom>
            <a:noFill/>
            <a:ln w="25400">
              <a:solidFill>
                <a:srgbClr val="363833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4903855-35D9-4F1A-DCDD-7EA454040F58}"/>
                </a:ext>
              </a:extLst>
            </p:cNvPr>
            <p:cNvGrpSpPr/>
            <p:nvPr/>
          </p:nvGrpSpPr>
          <p:grpSpPr>
            <a:xfrm>
              <a:off x="606345" y="1510971"/>
              <a:ext cx="671945" cy="1980516"/>
              <a:chOff x="5597238" y="2875505"/>
              <a:chExt cx="671945" cy="198051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7169489-54E0-BCC3-8DD7-F970A947365B}"/>
                  </a:ext>
                </a:extLst>
              </p:cNvPr>
              <p:cNvSpPr/>
              <p:nvPr/>
            </p:nvSpPr>
            <p:spPr>
              <a:xfrm>
                <a:off x="5597238" y="3049725"/>
                <a:ext cx="671945" cy="1683298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5C66587-0C89-3FFA-0D15-72B41B36A51B}"/>
                  </a:ext>
                </a:extLst>
              </p:cNvPr>
              <p:cNvSpPr/>
              <p:nvPr/>
            </p:nvSpPr>
            <p:spPr>
              <a:xfrm>
                <a:off x="5782227" y="2875505"/>
                <a:ext cx="297872" cy="1980516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A3C2B5A-98B8-DBE1-9A7A-840037C75798}"/>
                </a:ext>
              </a:extLst>
            </p:cNvPr>
            <p:cNvGrpSpPr/>
            <p:nvPr/>
          </p:nvGrpSpPr>
          <p:grpSpPr>
            <a:xfrm>
              <a:off x="6388619" y="1510970"/>
              <a:ext cx="671945" cy="1980517"/>
              <a:chOff x="5597238" y="2875504"/>
              <a:chExt cx="671945" cy="198051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B172FB0-4618-D5FB-0D92-CF5B538E9A3F}"/>
                  </a:ext>
                </a:extLst>
              </p:cNvPr>
              <p:cNvSpPr/>
              <p:nvPr/>
            </p:nvSpPr>
            <p:spPr>
              <a:xfrm>
                <a:off x="5597238" y="3062512"/>
                <a:ext cx="671945" cy="1684800"/>
              </a:xfrm>
              <a:prstGeom prst="rect">
                <a:avLst/>
              </a:prstGeom>
              <a:noFill/>
              <a:ln w="25400">
                <a:solidFill>
                  <a:srgbClr val="5E5E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B5DBEF9-3365-DF44-1451-6536BB4C5BFF}"/>
                  </a:ext>
                </a:extLst>
              </p:cNvPr>
              <p:cNvSpPr/>
              <p:nvPr/>
            </p:nvSpPr>
            <p:spPr>
              <a:xfrm>
                <a:off x="5782227" y="2875504"/>
                <a:ext cx="297872" cy="1980517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FR"/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8BC6918-64AA-70BE-8CBD-5B969216A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9145" y="3582513"/>
              <a:ext cx="1279525" cy="28892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3E3B862-BF79-DC80-F7B5-047DB756C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18931" y="3582513"/>
              <a:ext cx="1345565" cy="28892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DE8616A-D26D-64E4-C647-42ACD3491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352" y="3557748"/>
              <a:ext cx="965835" cy="33845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6F9E9F5-853B-94A9-3AEF-A58CE75A8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9626" y="3557748"/>
              <a:ext cx="965835" cy="338455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80DEE7A-CCD5-9960-E065-0BC38ACB0E4C}"/>
                </a:ext>
              </a:extLst>
            </p:cNvPr>
            <p:cNvSpPr/>
            <p:nvPr/>
          </p:nvSpPr>
          <p:spPr>
            <a:xfrm>
              <a:off x="796306" y="1798615"/>
              <a:ext cx="288000" cy="288000"/>
            </a:xfrm>
            <a:prstGeom prst="rect">
              <a:avLst/>
            </a:prstGeom>
            <a:solidFill>
              <a:srgbClr val="548F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F1A591-D652-8B5D-76EE-B485AA51CF8C}"/>
                </a:ext>
              </a:extLst>
            </p:cNvPr>
            <p:cNvSpPr/>
            <p:nvPr/>
          </p:nvSpPr>
          <p:spPr>
            <a:xfrm>
              <a:off x="796306" y="2188408"/>
              <a:ext cx="288000" cy="2880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D984C6D-0E9C-3C52-0021-63068FB13E94}"/>
                </a:ext>
              </a:extLst>
            </p:cNvPr>
            <p:cNvSpPr/>
            <p:nvPr/>
          </p:nvSpPr>
          <p:spPr>
            <a:xfrm>
              <a:off x="796306" y="2577044"/>
              <a:ext cx="288000" cy="288000"/>
            </a:xfrm>
            <a:prstGeom prst="rect">
              <a:avLst/>
            </a:prstGeom>
            <a:solidFill>
              <a:srgbClr val="BBD5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63F319F-0A5A-6FD6-6771-33D9046AEC2D}"/>
                </a:ext>
              </a:extLst>
            </p:cNvPr>
            <p:cNvSpPr/>
            <p:nvPr/>
          </p:nvSpPr>
          <p:spPr>
            <a:xfrm>
              <a:off x="796306" y="2969430"/>
              <a:ext cx="288000" cy="28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7446714-0554-5153-E4C6-D079EC484B43}"/>
                </a:ext>
              </a:extLst>
            </p:cNvPr>
            <p:cNvSpPr/>
            <p:nvPr/>
          </p:nvSpPr>
          <p:spPr>
            <a:xfrm>
              <a:off x="1734195" y="1785363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F01F068-593E-2919-A97D-F48AE1E809B4}"/>
                </a:ext>
              </a:extLst>
            </p:cNvPr>
            <p:cNvSpPr/>
            <p:nvPr/>
          </p:nvSpPr>
          <p:spPr>
            <a:xfrm>
              <a:off x="1734195" y="2175156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8121A10-5DB2-0ACF-7363-3D47FF3B07A0}"/>
                </a:ext>
              </a:extLst>
            </p:cNvPr>
            <p:cNvSpPr/>
            <p:nvPr/>
          </p:nvSpPr>
          <p:spPr>
            <a:xfrm>
              <a:off x="1734195" y="2563792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98B35FC-8B04-C4D1-3952-2655DDACB2F9}"/>
                </a:ext>
              </a:extLst>
            </p:cNvPr>
            <p:cNvSpPr/>
            <p:nvPr/>
          </p:nvSpPr>
          <p:spPr>
            <a:xfrm>
              <a:off x="1734195" y="2956178"/>
              <a:ext cx="288000" cy="288000"/>
            </a:xfrm>
            <a:prstGeom prst="rect">
              <a:avLst/>
            </a:prstGeom>
            <a:solidFill>
              <a:srgbClr val="9B5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E12A2DD-9942-16DF-A293-9B3CE50EEE16}"/>
                </a:ext>
              </a:extLst>
            </p:cNvPr>
            <p:cNvSpPr/>
            <p:nvPr/>
          </p:nvSpPr>
          <p:spPr>
            <a:xfrm>
              <a:off x="2206292" y="1785363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DC1E911-3906-31BD-ECC7-C6CB1219A935}"/>
                </a:ext>
              </a:extLst>
            </p:cNvPr>
            <p:cNvSpPr/>
            <p:nvPr/>
          </p:nvSpPr>
          <p:spPr>
            <a:xfrm>
              <a:off x="2206292" y="2175156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D9127C7-0710-8205-5EFD-0EDAFCA0C6C1}"/>
                </a:ext>
              </a:extLst>
            </p:cNvPr>
            <p:cNvSpPr/>
            <p:nvPr/>
          </p:nvSpPr>
          <p:spPr>
            <a:xfrm>
              <a:off x="2206292" y="2563792"/>
              <a:ext cx="288000" cy="288000"/>
            </a:xfrm>
            <a:prstGeom prst="rect">
              <a:avLst/>
            </a:prstGeom>
            <a:solidFill>
              <a:srgbClr val="9B5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0A5F704-F13E-AD72-1791-3BD2BEF5FA16}"/>
                </a:ext>
              </a:extLst>
            </p:cNvPr>
            <p:cNvSpPr/>
            <p:nvPr/>
          </p:nvSpPr>
          <p:spPr>
            <a:xfrm>
              <a:off x="2206292" y="2956178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55DAC3E-5F14-3238-89EA-8DE619ED0862}"/>
                </a:ext>
              </a:extLst>
            </p:cNvPr>
            <p:cNvSpPr/>
            <p:nvPr/>
          </p:nvSpPr>
          <p:spPr>
            <a:xfrm>
              <a:off x="2678389" y="1785363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7F29335-C8C6-F24A-892D-67A67BF85EB6}"/>
                </a:ext>
              </a:extLst>
            </p:cNvPr>
            <p:cNvSpPr/>
            <p:nvPr/>
          </p:nvSpPr>
          <p:spPr>
            <a:xfrm>
              <a:off x="2678389" y="2175156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BEA7E56-C762-81A1-A56C-D18C4E3E5AF3}"/>
                </a:ext>
              </a:extLst>
            </p:cNvPr>
            <p:cNvSpPr/>
            <p:nvPr/>
          </p:nvSpPr>
          <p:spPr>
            <a:xfrm>
              <a:off x="2678389" y="2563792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7B5EA0-8918-1260-CE7C-73F52B34B845}"/>
                </a:ext>
              </a:extLst>
            </p:cNvPr>
            <p:cNvSpPr/>
            <p:nvPr/>
          </p:nvSpPr>
          <p:spPr>
            <a:xfrm>
              <a:off x="2678389" y="2956178"/>
              <a:ext cx="288000" cy="288000"/>
            </a:xfrm>
            <a:prstGeom prst="rect">
              <a:avLst/>
            </a:prstGeom>
            <a:solidFill>
              <a:srgbClr val="9B5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E86D02D-790D-0918-ACEB-8DE49C9429D0}"/>
                </a:ext>
              </a:extLst>
            </p:cNvPr>
            <p:cNvSpPr/>
            <p:nvPr/>
          </p:nvSpPr>
          <p:spPr>
            <a:xfrm>
              <a:off x="3147714" y="1785363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9BCFD7A-4261-B58E-F6B8-9CB5E9C40C4D}"/>
                </a:ext>
              </a:extLst>
            </p:cNvPr>
            <p:cNvSpPr/>
            <p:nvPr/>
          </p:nvSpPr>
          <p:spPr>
            <a:xfrm>
              <a:off x="3147714" y="2175156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F110702-97B2-5749-0B0A-32EC86F8400B}"/>
                </a:ext>
              </a:extLst>
            </p:cNvPr>
            <p:cNvSpPr/>
            <p:nvPr/>
          </p:nvSpPr>
          <p:spPr>
            <a:xfrm>
              <a:off x="3147714" y="2563792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71A305B-B00C-DBF5-CC0D-643908988206}"/>
                </a:ext>
              </a:extLst>
            </p:cNvPr>
            <p:cNvSpPr/>
            <p:nvPr/>
          </p:nvSpPr>
          <p:spPr>
            <a:xfrm>
              <a:off x="3147714" y="2956178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8F21C5B-F1A9-6A76-FFC9-93A76FD54F8F}"/>
                </a:ext>
              </a:extLst>
            </p:cNvPr>
            <p:cNvSpPr/>
            <p:nvPr/>
          </p:nvSpPr>
          <p:spPr>
            <a:xfrm>
              <a:off x="3618750" y="1785363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486E1021-289C-EF1C-B935-9899A4DC46EF}"/>
                </a:ext>
              </a:extLst>
            </p:cNvPr>
            <p:cNvSpPr/>
            <p:nvPr/>
          </p:nvSpPr>
          <p:spPr>
            <a:xfrm>
              <a:off x="3618750" y="2175156"/>
              <a:ext cx="288000" cy="28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33D3C82-F447-0A41-D3A7-4FBF5A63853C}"/>
                </a:ext>
              </a:extLst>
            </p:cNvPr>
            <p:cNvSpPr/>
            <p:nvPr/>
          </p:nvSpPr>
          <p:spPr>
            <a:xfrm>
              <a:off x="3618750" y="2563792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36BFB9A-E13D-EE60-6FA2-AD955521D036}"/>
                </a:ext>
              </a:extLst>
            </p:cNvPr>
            <p:cNvSpPr/>
            <p:nvPr/>
          </p:nvSpPr>
          <p:spPr>
            <a:xfrm>
              <a:off x="3618750" y="2956178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12A01F0-A7F2-B7F6-DB5A-4EDEB94CDBE5}"/>
                </a:ext>
              </a:extLst>
            </p:cNvPr>
            <p:cNvSpPr/>
            <p:nvPr/>
          </p:nvSpPr>
          <p:spPr>
            <a:xfrm>
              <a:off x="4089786" y="1785363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3073E11-07A0-5384-BADE-460F94119ECA}"/>
                </a:ext>
              </a:extLst>
            </p:cNvPr>
            <p:cNvSpPr/>
            <p:nvPr/>
          </p:nvSpPr>
          <p:spPr>
            <a:xfrm>
              <a:off x="4089786" y="2175156"/>
              <a:ext cx="288000" cy="28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38BA80A-2DBB-9A75-08B3-45FC3AE6A3D6}"/>
                </a:ext>
              </a:extLst>
            </p:cNvPr>
            <p:cNvSpPr/>
            <p:nvPr/>
          </p:nvSpPr>
          <p:spPr>
            <a:xfrm>
              <a:off x="4089786" y="2563792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03CC0E1-377D-2535-C960-C90A35B04AD7}"/>
                </a:ext>
              </a:extLst>
            </p:cNvPr>
            <p:cNvSpPr/>
            <p:nvPr/>
          </p:nvSpPr>
          <p:spPr>
            <a:xfrm>
              <a:off x="4089786" y="2956178"/>
              <a:ext cx="288000" cy="288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E31594C-C798-001C-C16A-E148577C170E}"/>
                </a:ext>
              </a:extLst>
            </p:cNvPr>
            <p:cNvSpPr/>
            <p:nvPr/>
          </p:nvSpPr>
          <p:spPr>
            <a:xfrm>
              <a:off x="4560822" y="1785363"/>
              <a:ext cx="288000" cy="288000"/>
            </a:xfrm>
            <a:prstGeom prst="rect">
              <a:avLst/>
            </a:prstGeom>
            <a:solidFill>
              <a:srgbClr val="FF87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91ED002-2623-04F9-A41A-97832DE7199E}"/>
                </a:ext>
              </a:extLst>
            </p:cNvPr>
            <p:cNvSpPr/>
            <p:nvPr/>
          </p:nvSpPr>
          <p:spPr>
            <a:xfrm>
              <a:off x="4560822" y="2175156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C13A27F-2613-B55C-B2D9-3BE0210FDB42}"/>
                </a:ext>
              </a:extLst>
            </p:cNvPr>
            <p:cNvSpPr/>
            <p:nvPr/>
          </p:nvSpPr>
          <p:spPr>
            <a:xfrm>
              <a:off x="4560822" y="2563792"/>
              <a:ext cx="288000" cy="288000"/>
            </a:xfrm>
            <a:prstGeom prst="rect">
              <a:avLst/>
            </a:prstGeom>
            <a:solidFill>
              <a:srgbClr val="F5A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C431D12-36DF-CC73-0D97-4E8C5C35B7C6}"/>
                </a:ext>
              </a:extLst>
            </p:cNvPr>
            <p:cNvSpPr/>
            <p:nvPr/>
          </p:nvSpPr>
          <p:spPr>
            <a:xfrm>
              <a:off x="4560822" y="2956178"/>
              <a:ext cx="288000" cy="288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071065E-89CB-684E-332A-CC770E8A6755}"/>
                </a:ext>
              </a:extLst>
            </p:cNvPr>
            <p:cNvSpPr/>
            <p:nvPr/>
          </p:nvSpPr>
          <p:spPr>
            <a:xfrm>
              <a:off x="6583480" y="1798615"/>
              <a:ext cx="288000" cy="288000"/>
            </a:xfrm>
            <a:prstGeom prst="rect">
              <a:avLst/>
            </a:prstGeom>
            <a:solidFill>
              <a:srgbClr val="548F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1BDEEF8-9019-F5A0-529C-61D72EF5A310}"/>
                </a:ext>
              </a:extLst>
            </p:cNvPr>
            <p:cNvSpPr/>
            <p:nvPr/>
          </p:nvSpPr>
          <p:spPr>
            <a:xfrm>
              <a:off x="6583480" y="2188408"/>
              <a:ext cx="288000" cy="2880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E81D141-EA7C-43CC-7D58-B2C90CE571C3}"/>
                </a:ext>
              </a:extLst>
            </p:cNvPr>
            <p:cNvSpPr/>
            <p:nvPr/>
          </p:nvSpPr>
          <p:spPr>
            <a:xfrm>
              <a:off x="6583480" y="2577044"/>
              <a:ext cx="288000" cy="288000"/>
            </a:xfrm>
            <a:prstGeom prst="rect">
              <a:avLst/>
            </a:prstGeom>
            <a:solidFill>
              <a:srgbClr val="BBD5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CC71A65-5744-3CED-B743-15719899929E}"/>
                </a:ext>
              </a:extLst>
            </p:cNvPr>
            <p:cNvSpPr/>
            <p:nvPr/>
          </p:nvSpPr>
          <p:spPr>
            <a:xfrm>
              <a:off x="6583480" y="2969430"/>
              <a:ext cx="288000" cy="28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872B559-FA5D-9EA1-611F-573E2768F80D}"/>
                </a:ext>
              </a:extLst>
            </p:cNvPr>
            <p:cNvSpPr/>
            <p:nvPr/>
          </p:nvSpPr>
          <p:spPr>
            <a:xfrm>
              <a:off x="7525354" y="1798615"/>
              <a:ext cx="288000" cy="28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4F40456-F679-2461-630A-4222CAD8A090}"/>
                </a:ext>
              </a:extLst>
            </p:cNvPr>
            <p:cNvSpPr/>
            <p:nvPr/>
          </p:nvSpPr>
          <p:spPr>
            <a:xfrm>
              <a:off x="7525354" y="2188408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53316C6-4211-D03E-C75E-5BDEC6995DBF}"/>
                </a:ext>
              </a:extLst>
            </p:cNvPr>
            <p:cNvSpPr/>
            <p:nvPr/>
          </p:nvSpPr>
          <p:spPr>
            <a:xfrm>
              <a:off x="7525354" y="2577044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3157C70-B9AE-1D0A-4ED7-5C6C367AA962}"/>
                </a:ext>
              </a:extLst>
            </p:cNvPr>
            <p:cNvSpPr/>
            <p:nvPr/>
          </p:nvSpPr>
          <p:spPr>
            <a:xfrm>
              <a:off x="7525354" y="2969430"/>
              <a:ext cx="288000" cy="28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51D202A-D50F-31A9-A667-B712EEFEEE30}"/>
                </a:ext>
              </a:extLst>
            </p:cNvPr>
            <p:cNvSpPr/>
            <p:nvPr/>
          </p:nvSpPr>
          <p:spPr>
            <a:xfrm>
              <a:off x="7996390" y="1798615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1E38D16-DF6E-E2FC-B855-F63F97720C29}"/>
                </a:ext>
              </a:extLst>
            </p:cNvPr>
            <p:cNvSpPr/>
            <p:nvPr/>
          </p:nvSpPr>
          <p:spPr>
            <a:xfrm>
              <a:off x="7996390" y="2188408"/>
              <a:ext cx="288000" cy="28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6B84774-1487-A1D0-4946-1BC96F3CEC76}"/>
                </a:ext>
              </a:extLst>
            </p:cNvPr>
            <p:cNvSpPr/>
            <p:nvPr/>
          </p:nvSpPr>
          <p:spPr>
            <a:xfrm>
              <a:off x="7996390" y="2577044"/>
              <a:ext cx="288000" cy="288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E887777-2133-5280-CF26-37E388234E61}"/>
                </a:ext>
              </a:extLst>
            </p:cNvPr>
            <p:cNvSpPr/>
            <p:nvPr/>
          </p:nvSpPr>
          <p:spPr>
            <a:xfrm>
              <a:off x="7996390" y="2969430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990E758-129A-0162-D31F-A8CFB846E4C4}"/>
                </a:ext>
              </a:extLst>
            </p:cNvPr>
            <p:cNvSpPr/>
            <p:nvPr/>
          </p:nvSpPr>
          <p:spPr>
            <a:xfrm>
              <a:off x="8467426" y="1798615"/>
              <a:ext cx="288000" cy="28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3F8633C-23C5-E9EF-69C1-0DC0C48B6671}"/>
                </a:ext>
              </a:extLst>
            </p:cNvPr>
            <p:cNvSpPr/>
            <p:nvPr/>
          </p:nvSpPr>
          <p:spPr>
            <a:xfrm>
              <a:off x="8467426" y="2188408"/>
              <a:ext cx="288000" cy="288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AA4A1DE-A63E-27D5-9327-310F8769697F}"/>
                </a:ext>
              </a:extLst>
            </p:cNvPr>
            <p:cNvSpPr/>
            <p:nvPr/>
          </p:nvSpPr>
          <p:spPr>
            <a:xfrm>
              <a:off x="8467426" y="2577044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F66D8A1-5F74-AAEA-C1BC-A5C75DBCF694}"/>
                </a:ext>
              </a:extLst>
            </p:cNvPr>
            <p:cNvSpPr/>
            <p:nvPr/>
          </p:nvSpPr>
          <p:spPr>
            <a:xfrm>
              <a:off x="8467426" y="2969430"/>
              <a:ext cx="288000" cy="28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8D6FECB-3469-4204-C2C0-E2498928FDB4}"/>
                </a:ext>
              </a:extLst>
            </p:cNvPr>
            <p:cNvSpPr/>
            <p:nvPr/>
          </p:nvSpPr>
          <p:spPr>
            <a:xfrm>
              <a:off x="8938462" y="1798615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ECCD5B5-4CD8-6B28-C929-E7EEE1C2694A}"/>
                </a:ext>
              </a:extLst>
            </p:cNvPr>
            <p:cNvSpPr/>
            <p:nvPr/>
          </p:nvSpPr>
          <p:spPr>
            <a:xfrm>
              <a:off x="8938462" y="2188408"/>
              <a:ext cx="288000" cy="28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88E9E4A-E6C5-EF24-FB35-F8C577F6EEFB}"/>
                </a:ext>
              </a:extLst>
            </p:cNvPr>
            <p:cNvSpPr/>
            <p:nvPr/>
          </p:nvSpPr>
          <p:spPr>
            <a:xfrm>
              <a:off x="8938462" y="2577044"/>
              <a:ext cx="288000" cy="288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5D396E2-6785-7AB8-71FE-060622600F82}"/>
                </a:ext>
              </a:extLst>
            </p:cNvPr>
            <p:cNvSpPr/>
            <p:nvPr/>
          </p:nvSpPr>
          <p:spPr>
            <a:xfrm>
              <a:off x="8938462" y="2969430"/>
              <a:ext cx="288000" cy="28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711C573C-E5EC-815F-9C03-C3B18DA924C0}"/>
              </a:ext>
            </a:extLst>
          </p:cNvPr>
          <p:cNvSpPr txBox="1"/>
          <p:nvPr/>
        </p:nvSpPr>
        <p:spPr>
          <a:xfrm>
            <a:off x="292618" y="719114"/>
            <a:ext cx="117824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will also suppose     has been re-centered so that the </a:t>
            </a:r>
            <a:r>
              <a:rPr lang="en-FR" sz="2400" b="1" dirty="0">
                <a:solidFill>
                  <a:srgbClr val="00B05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intercept is zero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(why?)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7654BA-FB4B-63FE-2707-8F4C1A5BACF1}"/>
              </a:ext>
            </a:extLst>
          </p:cNvPr>
          <p:cNvSpPr txBox="1"/>
          <p:nvPr/>
        </p:nvSpPr>
        <p:spPr>
          <a:xfrm>
            <a:off x="299940" y="4225507"/>
            <a:ext cx="10247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can do linear regression using a few principal components as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837C27-C866-1A52-D972-F25631E80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4958165"/>
            <a:ext cx="7772400" cy="4421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328255-3E63-6C01-2269-A350BC37A1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619" y="5903861"/>
            <a:ext cx="18796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D27ECE-1364-7800-15BC-9F59B7CDCFDE}"/>
              </a:ext>
            </a:extLst>
          </p:cNvPr>
          <p:cNvSpPr txBox="1"/>
          <p:nvPr/>
        </p:nvSpPr>
        <p:spPr>
          <a:xfrm>
            <a:off x="292618" y="5860387"/>
            <a:ext cx="6671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nd can relate the parameters of each model: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4EE59A-DE68-E4CC-5BCB-7182043D8D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7232" y="989482"/>
            <a:ext cx="203200" cy="215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6F9FCB-2375-6E46-612B-6E133752FC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8673" y="5776861"/>
            <a:ext cx="965200" cy="711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721C05-9D3C-5F71-B12C-2AC60124B1D1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components regression</a:t>
            </a:r>
          </a:p>
        </p:txBody>
      </p:sp>
    </p:spTree>
    <p:extLst>
      <p:ext uri="{BB962C8B-B14F-4D97-AF65-F5344CB8AC3E}">
        <p14:creationId xmlns:p14="http://schemas.microsoft.com/office/powerpoint/2010/main" val="21584637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7CE979-B7A7-9219-58E4-4381507DF99B}"/>
              </a:ext>
            </a:extLst>
          </p:cNvPr>
          <p:cNvSpPr txBox="1"/>
          <p:nvPr/>
        </p:nvSpPr>
        <p:spPr>
          <a:xfrm>
            <a:off x="405352" y="1687588"/>
            <a:ext cx="112689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Choose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dimension q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the subspace to project the datapoints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F20F0-2AD3-ACCD-9558-6F2200C70CC5}"/>
              </a:ext>
            </a:extLst>
          </p:cNvPr>
          <p:cNvSpPr txBox="1"/>
          <p:nvPr/>
        </p:nvSpPr>
        <p:spPr>
          <a:xfrm>
            <a:off x="405351" y="2220876"/>
            <a:ext cx="9953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Re-center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 points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764946-E80B-37DB-6068-3A5D457416E9}"/>
              </a:ext>
            </a:extLst>
          </p:cNvPr>
          <p:cNvGrpSpPr/>
          <p:nvPr/>
        </p:nvGrpSpPr>
        <p:grpSpPr>
          <a:xfrm>
            <a:off x="292617" y="862280"/>
            <a:ext cx="11268905" cy="698500"/>
            <a:chOff x="292617" y="862280"/>
            <a:chExt cx="11268905" cy="69850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84FE354-01BC-331D-19E9-599927B3C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8345" y="862280"/>
              <a:ext cx="2641600" cy="6985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CF4DCF-F43C-B070-9BF8-19229012D8E7}"/>
                </a:ext>
              </a:extLst>
            </p:cNvPr>
            <p:cNvSpPr txBox="1"/>
            <p:nvPr/>
          </p:nvSpPr>
          <p:spPr>
            <a:xfrm>
              <a:off x="292617" y="862280"/>
              <a:ext cx="1126890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Workflow for doing PCR on a dataset	                                 with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CC5ECF-CE20-6093-B624-255A349E9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15555" y="1074569"/>
              <a:ext cx="1079500" cy="304800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410FE73-84C2-2F71-0BCB-0B5D7BBB058F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components regression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64278E-4D75-8043-31B0-204B868B8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3014062"/>
            <a:ext cx="7772400" cy="93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164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86D4-7F36-EB7D-74D8-EE1F6D1A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7D5976-E2ED-78BC-D05E-58A78D6E3CDA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DE3C8-E8BC-1A1D-BCE4-D6C7223A9314}"/>
              </a:ext>
            </a:extLst>
          </p:cNvPr>
          <p:cNvSpPr txBox="1"/>
          <p:nvPr/>
        </p:nvSpPr>
        <p:spPr>
          <a:xfrm>
            <a:off x="405352" y="1687588"/>
            <a:ext cx="112689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Choose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dimension q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the subspace to project the datapoints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BDD5D-2CB6-59FB-D2FD-9C1B933BC6DF}"/>
              </a:ext>
            </a:extLst>
          </p:cNvPr>
          <p:cNvSpPr txBox="1"/>
          <p:nvPr/>
        </p:nvSpPr>
        <p:spPr>
          <a:xfrm>
            <a:off x="405351" y="2220876"/>
            <a:ext cx="9953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Re-center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 points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3BC962-D849-2FF8-C490-181C53B95683}"/>
              </a:ext>
            </a:extLst>
          </p:cNvPr>
          <p:cNvGrpSpPr/>
          <p:nvPr/>
        </p:nvGrpSpPr>
        <p:grpSpPr>
          <a:xfrm>
            <a:off x="3283634" y="4299625"/>
            <a:ext cx="5512340" cy="1453268"/>
            <a:chOff x="2369759" y="4520118"/>
            <a:chExt cx="5512340" cy="145326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FE4C906-23E2-66DA-F413-BA288256CB74}"/>
                </a:ext>
              </a:extLst>
            </p:cNvPr>
            <p:cNvSpPr txBox="1"/>
            <p:nvPr/>
          </p:nvSpPr>
          <p:spPr>
            <a:xfrm>
              <a:off x="2535915" y="4764235"/>
              <a:ext cx="59503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FR" sz="7200" dirty="0"/>
                <a:t>⚠️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DA7431-FF0C-76A0-E196-E5D10DB6B6AD}"/>
                </a:ext>
              </a:extLst>
            </p:cNvPr>
            <p:cNvSpPr txBox="1"/>
            <p:nvPr/>
          </p:nvSpPr>
          <p:spPr>
            <a:xfrm>
              <a:off x="3741906" y="4886318"/>
              <a:ext cx="315182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3200" b="1" dirty="0">
                  <a:solidFill>
                    <a:srgbClr val="FA2743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DATA LEAKAGE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01AC24-65AF-3A83-534A-2ECFD639653E}"/>
                </a:ext>
              </a:extLst>
            </p:cNvPr>
            <p:cNvSpPr txBox="1"/>
            <p:nvPr/>
          </p:nvSpPr>
          <p:spPr>
            <a:xfrm>
              <a:off x="6622072" y="4773057"/>
              <a:ext cx="110799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7200" dirty="0"/>
                <a:t>🚰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D1D1BEB-17C3-C219-1A40-4F5A487F7CE0}"/>
                </a:ext>
              </a:extLst>
            </p:cNvPr>
            <p:cNvSpPr/>
            <p:nvPr/>
          </p:nvSpPr>
          <p:spPr>
            <a:xfrm>
              <a:off x="2369759" y="4520118"/>
              <a:ext cx="5512340" cy="1317176"/>
            </a:xfrm>
            <a:prstGeom prst="roundRect">
              <a:avLst/>
            </a:prstGeom>
            <a:noFill/>
            <a:ln w="63500">
              <a:solidFill>
                <a:srgbClr val="FA27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EFA8B34-ED2F-B308-18A5-CA9877995579}"/>
              </a:ext>
            </a:extLst>
          </p:cNvPr>
          <p:cNvSpPr txBox="1"/>
          <p:nvPr/>
        </p:nvSpPr>
        <p:spPr>
          <a:xfrm>
            <a:off x="3426054" y="5730062"/>
            <a:ext cx="5272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You’re using information from the whole dataset!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D586F4-1408-311E-4FF6-BD1F86F0519B}"/>
              </a:ext>
            </a:extLst>
          </p:cNvPr>
          <p:cNvGrpSpPr/>
          <p:nvPr/>
        </p:nvGrpSpPr>
        <p:grpSpPr>
          <a:xfrm>
            <a:off x="292617" y="862280"/>
            <a:ext cx="11268905" cy="698500"/>
            <a:chOff x="292617" y="862280"/>
            <a:chExt cx="11268905" cy="69850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7062DB5-D6A2-A4AA-AFA9-90A392069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8345" y="862280"/>
              <a:ext cx="2641600" cy="6985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5CC839-BAEA-0F07-E5BC-C71912DC3D8B}"/>
                </a:ext>
              </a:extLst>
            </p:cNvPr>
            <p:cNvSpPr txBox="1"/>
            <p:nvPr/>
          </p:nvSpPr>
          <p:spPr>
            <a:xfrm>
              <a:off x="292617" y="862280"/>
              <a:ext cx="1126890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Workflow for doing PCR on a dataset	                                 with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8617EEC-C326-E8D2-8FE2-1D474954A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15555" y="1074569"/>
              <a:ext cx="1079500" cy="304800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4791D0C-EC2A-141B-DE1C-019BB50EF86A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components regression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EDE58A-DCD2-788B-AC20-E9CE02C928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3014062"/>
            <a:ext cx="7772400" cy="93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93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28AC1-34CA-1EB5-C5D1-70E1C2ACE806}"/>
              </a:ext>
            </a:extLst>
          </p:cNvPr>
          <p:cNvSpPr txBox="1"/>
          <p:nvPr/>
        </p:nvSpPr>
        <p:spPr>
          <a:xfrm>
            <a:off x="405352" y="2243796"/>
            <a:ext cx="7784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Split the dataset into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training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and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test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partitions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0887EB-2F30-10E3-040B-AC51E0577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972" y="2459932"/>
            <a:ext cx="2565400" cy="292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FF20F0-2AD3-ACCD-9558-6F2200C70CC5}"/>
              </a:ext>
            </a:extLst>
          </p:cNvPr>
          <p:cNvSpPr txBox="1"/>
          <p:nvPr/>
        </p:nvSpPr>
        <p:spPr>
          <a:xfrm>
            <a:off x="405351" y="2826639"/>
            <a:ext cx="9953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Learn to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re-center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 points using only the training 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F511A-3B94-C967-C0D0-10C7B2256FC5}"/>
              </a:ext>
            </a:extLst>
          </p:cNvPr>
          <p:cNvSpPr txBox="1"/>
          <p:nvPr/>
        </p:nvSpPr>
        <p:spPr>
          <a:xfrm>
            <a:off x="227507" y="290782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200" dirty="0"/>
              <a:t>⚠️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11998C-A46C-5D11-A556-A8D3558D1F4C}"/>
              </a:ext>
            </a:extLst>
          </p:cNvPr>
          <p:cNvSpPr txBox="1"/>
          <p:nvPr/>
        </p:nvSpPr>
        <p:spPr>
          <a:xfrm>
            <a:off x="3268525" y="5951018"/>
            <a:ext cx="2058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(By definition)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5EE859-68E2-915D-6479-023830AA2494}"/>
              </a:ext>
            </a:extLst>
          </p:cNvPr>
          <p:cNvSpPr txBox="1"/>
          <p:nvPr/>
        </p:nvSpPr>
        <p:spPr>
          <a:xfrm>
            <a:off x="6645066" y="5966408"/>
            <a:ext cx="22092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(By assumption)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626D5E-205A-6CCB-51A2-F192E74B6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050" y="3709187"/>
            <a:ext cx="7581900" cy="88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3166D5-F0FB-3A9D-1E67-1A0F7C298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2414" y="4947448"/>
            <a:ext cx="2590800" cy="88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26CF3B-B6E3-B4C3-175F-0BD86AEAB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125" y="4947448"/>
            <a:ext cx="2362200" cy="88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355EA1-1B44-3DCD-634C-F389C1EC6829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components regression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F4662E-5BA6-AF41-3C14-698D2C92AC33}"/>
              </a:ext>
            </a:extLst>
          </p:cNvPr>
          <p:cNvGrpSpPr/>
          <p:nvPr/>
        </p:nvGrpSpPr>
        <p:grpSpPr>
          <a:xfrm>
            <a:off x="292617" y="862280"/>
            <a:ext cx="11268905" cy="698500"/>
            <a:chOff x="292617" y="862280"/>
            <a:chExt cx="11268905" cy="69850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BB9783C-1C5D-C05F-CB66-BC5658C95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48345" y="862280"/>
              <a:ext cx="2641600" cy="698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E4A4D4-C7B1-D361-D4C7-70573502A574}"/>
                </a:ext>
              </a:extLst>
            </p:cNvPr>
            <p:cNvSpPr txBox="1"/>
            <p:nvPr/>
          </p:nvSpPr>
          <p:spPr>
            <a:xfrm>
              <a:off x="292617" y="862280"/>
              <a:ext cx="1126890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Workflow for doing PCR on a dataset	                                 with 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0D02F2D-CBF9-D52F-BE0E-836A5F049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15555" y="1074569"/>
              <a:ext cx="1079500" cy="304800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EE31FE2-4618-B912-B69E-3C4B8EFEB4C7}"/>
              </a:ext>
            </a:extLst>
          </p:cNvPr>
          <p:cNvSpPr txBox="1"/>
          <p:nvPr/>
        </p:nvSpPr>
        <p:spPr>
          <a:xfrm>
            <a:off x="405352" y="1687588"/>
            <a:ext cx="112689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Choose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dimension q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the subspace to project the datapoints</a:t>
            </a:r>
          </a:p>
        </p:txBody>
      </p:sp>
    </p:spTree>
    <p:extLst>
      <p:ext uri="{BB962C8B-B14F-4D97-AF65-F5344CB8AC3E}">
        <p14:creationId xmlns:p14="http://schemas.microsoft.com/office/powerpoint/2010/main" val="2897236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ACC09D-70EB-3283-6529-916879A9C01F}"/>
              </a:ext>
            </a:extLst>
          </p:cNvPr>
          <p:cNvSpPr txBox="1"/>
          <p:nvPr/>
        </p:nvSpPr>
        <p:spPr>
          <a:xfrm>
            <a:off x="405351" y="3409482"/>
            <a:ext cx="115591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Estimate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covariance matrix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             of the re-centered samples from 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8F4281E-590D-81F6-FD8C-13842B42C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832" y="3617200"/>
            <a:ext cx="812800" cy="2921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3DC177E-3C04-2F4A-382C-8F31643ACBEE}"/>
              </a:ext>
            </a:extLst>
          </p:cNvPr>
          <p:cNvSpPr txBox="1"/>
          <p:nvPr/>
        </p:nvSpPr>
        <p:spPr>
          <a:xfrm>
            <a:off x="405350" y="4032612"/>
            <a:ext cx="11657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Get q-top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eigenvectors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            and use to define the projector matrix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21DE62-59FF-EB5E-E66F-C0D48E38E7BA}"/>
              </a:ext>
            </a:extLst>
          </p:cNvPr>
          <p:cNvSpPr txBox="1"/>
          <p:nvPr/>
        </p:nvSpPr>
        <p:spPr>
          <a:xfrm>
            <a:off x="405350" y="4660908"/>
            <a:ext cx="10429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Project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 points from	             to get the corresponding  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9A3E0790-CCEA-AE59-4FAA-C2D8B0F59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836" y="4863348"/>
            <a:ext cx="812800" cy="2921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D5C68E8-5FD3-D962-13D9-6ED8FBA93E2B}"/>
              </a:ext>
            </a:extLst>
          </p:cNvPr>
          <p:cNvSpPr txBox="1"/>
          <p:nvPr/>
        </p:nvSpPr>
        <p:spPr>
          <a:xfrm>
            <a:off x="405350" y="6035836"/>
            <a:ext cx="10429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Regress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on the observations to get     and then the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C589535F-192D-30E5-08DD-96143DC04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814" y="6276676"/>
            <a:ext cx="177800" cy="31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B1239C-BD6F-B962-BE4A-FE21CC59C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8769" y="5388578"/>
            <a:ext cx="5816600" cy="596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B06D94-861B-5F2A-6E8B-56394593A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474" y="3525611"/>
            <a:ext cx="81280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1DD2A7-BC29-84C8-C7BE-0E41D8D502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0421" y="4166920"/>
            <a:ext cx="812800" cy="381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08A2E0-8650-4499-5182-A59EDE50BE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0995" y="4118056"/>
            <a:ext cx="9398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CF9A0C-686F-04B5-4094-EE5803B69F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5526" y="4617076"/>
            <a:ext cx="2565400" cy="685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A5564D-ACD2-9BD2-73CC-0BDF0099EC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542" y="6131670"/>
            <a:ext cx="179070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EDFD79-9038-256C-9FDA-151A1C1184E1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components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0BECB-3545-E572-66BC-BDC33E130FDB}"/>
              </a:ext>
            </a:extLst>
          </p:cNvPr>
          <p:cNvSpPr txBox="1"/>
          <p:nvPr/>
        </p:nvSpPr>
        <p:spPr>
          <a:xfrm>
            <a:off x="405352" y="2243796"/>
            <a:ext cx="7784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Split the dataset into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training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and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test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partitions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286770-6E0F-3362-16B0-D984F972CA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3972" y="2459932"/>
            <a:ext cx="2565400" cy="292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3B40EB-02BD-C901-6F6B-040901830887}"/>
              </a:ext>
            </a:extLst>
          </p:cNvPr>
          <p:cNvSpPr txBox="1"/>
          <p:nvPr/>
        </p:nvSpPr>
        <p:spPr>
          <a:xfrm>
            <a:off x="405351" y="2826639"/>
            <a:ext cx="9953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Learn to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re-center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data points using only the training 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6AEBD-94CE-8896-AE16-387E0E541383}"/>
              </a:ext>
            </a:extLst>
          </p:cNvPr>
          <p:cNvSpPr txBox="1"/>
          <p:nvPr/>
        </p:nvSpPr>
        <p:spPr>
          <a:xfrm>
            <a:off x="227507" y="290782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200" dirty="0"/>
              <a:t>⚠️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0CEBFD-3CF8-35B0-CCB7-A64E07DFF337}"/>
              </a:ext>
            </a:extLst>
          </p:cNvPr>
          <p:cNvGrpSpPr/>
          <p:nvPr/>
        </p:nvGrpSpPr>
        <p:grpSpPr>
          <a:xfrm>
            <a:off x="292617" y="862280"/>
            <a:ext cx="11268905" cy="698500"/>
            <a:chOff x="292617" y="862280"/>
            <a:chExt cx="11268905" cy="6985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BBD7A78-1CA0-C6A8-E82D-085F17967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48345" y="862280"/>
              <a:ext cx="2641600" cy="6985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43908D-3997-0033-F671-1C288C4F2C5E}"/>
                </a:ext>
              </a:extLst>
            </p:cNvPr>
            <p:cNvSpPr txBox="1"/>
            <p:nvPr/>
          </p:nvSpPr>
          <p:spPr>
            <a:xfrm>
              <a:off x="292617" y="862280"/>
              <a:ext cx="1126890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Workflow for doing PCR on a dataset	                                 with 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8A8CE69-C03C-ECE4-F237-FA99DE9D5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115555" y="1074569"/>
              <a:ext cx="1079500" cy="3048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3A6B712-5004-4FCA-912E-A5E04F2A9C8E}"/>
              </a:ext>
            </a:extLst>
          </p:cNvPr>
          <p:cNvSpPr txBox="1"/>
          <p:nvPr/>
        </p:nvSpPr>
        <p:spPr>
          <a:xfrm>
            <a:off x="405352" y="1687588"/>
            <a:ext cx="112689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Choose 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dimension q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of the subspace to project the datapoints</a:t>
            </a:r>
          </a:p>
        </p:txBody>
      </p:sp>
    </p:spTree>
    <p:extLst>
      <p:ext uri="{BB962C8B-B14F-4D97-AF65-F5344CB8AC3E}">
        <p14:creationId xmlns:p14="http://schemas.microsoft.com/office/powerpoint/2010/main" val="14075995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DAF323-FAD1-DE30-4AFD-BDD8B28B0720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7CCFFE4-C011-A722-871B-EE6A9428F092}"/>
              </a:ext>
            </a:extLst>
          </p:cNvPr>
          <p:cNvSpPr txBox="1"/>
          <p:nvPr/>
        </p:nvSpPr>
        <p:spPr>
          <a:xfrm>
            <a:off x="405349" y="1682474"/>
            <a:ext cx="11569533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FR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Evaluate the </a:t>
            </a:r>
            <a:r>
              <a:rPr lang="en-FR" sz="22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MSE</a:t>
            </a:r>
            <a:r>
              <a:rPr lang="en-FR" sz="22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on             being careful to use the pre-processing learned in training set 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D5024D22-20A6-1E03-68CE-59BEDDFFE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351" y="1886084"/>
            <a:ext cx="673100" cy="292100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A1609F01-AA93-1A6B-213A-C3258BFB94CD}"/>
              </a:ext>
            </a:extLst>
          </p:cNvPr>
          <p:cNvSpPr txBox="1"/>
          <p:nvPr/>
        </p:nvSpPr>
        <p:spPr>
          <a:xfrm>
            <a:off x="232023" y="178414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3200" dirty="0"/>
              <a:t>⚠️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A66776-3C89-8DFB-D36D-708812BB5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650" y="4370156"/>
            <a:ext cx="4838700" cy="1016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072AE1-12D3-6AF9-43D9-EAC6857094B1}"/>
              </a:ext>
            </a:extLst>
          </p:cNvPr>
          <p:cNvSpPr/>
          <p:nvPr/>
        </p:nvSpPr>
        <p:spPr>
          <a:xfrm>
            <a:off x="4914517" y="3019028"/>
            <a:ext cx="828000" cy="7200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D8A2D-DF92-1325-CE51-3E934998B05A}"/>
              </a:ext>
            </a:extLst>
          </p:cNvPr>
          <p:cNvSpPr txBox="1"/>
          <p:nvPr/>
        </p:nvSpPr>
        <p:spPr>
          <a:xfrm>
            <a:off x="4625557" y="3680988"/>
            <a:ext cx="364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both learned from training dataset</a:t>
            </a:r>
            <a:endParaRPr lang="en-FR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09DDDA-763F-4C80-969C-FEC3DE9D7EDB}"/>
              </a:ext>
            </a:extLst>
          </p:cNvPr>
          <p:cNvSpPr/>
          <p:nvPr/>
        </p:nvSpPr>
        <p:spPr>
          <a:xfrm>
            <a:off x="7090482" y="3019028"/>
            <a:ext cx="792000" cy="72000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457B75-A7F7-9A24-0412-3242062935F8}"/>
              </a:ext>
            </a:extLst>
          </p:cNvPr>
          <p:cNvCxnSpPr/>
          <p:nvPr/>
        </p:nvCxnSpPr>
        <p:spPr>
          <a:xfrm flipV="1">
            <a:off x="7062937" y="3294698"/>
            <a:ext cx="468645" cy="298156"/>
          </a:xfrm>
          <a:prstGeom prst="straightConnector1">
            <a:avLst/>
          </a:prstGeom>
          <a:ln w="12700">
            <a:solidFill>
              <a:srgbClr val="FA27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3C83D1-8C9C-FDEA-1AE2-2098F09D2CF8}"/>
              </a:ext>
            </a:extLst>
          </p:cNvPr>
          <p:cNvCxnSpPr>
            <a:cxnSpLocks/>
          </p:cNvCxnSpPr>
          <p:nvPr/>
        </p:nvCxnSpPr>
        <p:spPr>
          <a:xfrm flipH="1" flipV="1">
            <a:off x="5412577" y="3294698"/>
            <a:ext cx="468645" cy="298156"/>
          </a:xfrm>
          <a:prstGeom prst="straightConnector1">
            <a:avLst/>
          </a:prstGeom>
          <a:ln w="12700">
            <a:solidFill>
              <a:srgbClr val="FA27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086A631-EEC1-BC1F-B19C-80D4293FF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9020" y="2304048"/>
            <a:ext cx="8413959" cy="62669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D2B95CC-AB4F-4337-6D43-D842190ABD50}"/>
              </a:ext>
            </a:extLst>
          </p:cNvPr>
          <p:cNvGrpSpPr/>
          <p:nvPr/>
        </p:nvGrpSpPr>
        <p:grpSpPr>
          <a:xfrm>
            <a:off x="499718" y="5768622"/>
            <a:ext cx="11192560" cy="584775"/>
            <a:chOff x="1569218" y="5762937"/>
            <a:chExt cx="11192560" cy="584775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3510F13-8786-A24F-99BE-86688AE5599E}"/>
                </a:ext>
              </a:extLst>
            </p:cNvPr>
            <p:cNvSpPr/>
            <p:nvPr/>
          </p:nvSpPr>
          <p:spPr>
            <a:xfrm>
              <a:off x="1569218" y="5762937"/>
              <a:ext cx="11192560" cy="584775"/>
            </a:xfrm>
            <a:prstGeom prst="roundRect">
              <a:avLst/>
            </a:prstGeom>
            <a:noFill/>
            <a:ln w="25400">
              <a:solidFill>
                <a:srgbClr val="FA27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A916DE-4A6F-5BE0-E1C6-D1403717B4B0}"/>
                </a:ext>
              </a:extLst>
            </p:cNvPr>
            <p:cNvSpPr txBox="1"/>
            <p:nvPr/>
          </p:nvSpPr>
          <p:spPr>
            <a:xfrm>
              <a:off x="1654214" y="5833164"/>
              <a:ext cx="1102256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200" dirty="0"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Be sure to follow this procedure, otherwise you risk having </a:t>
              </a:r>
              <a:r>
                <a:rPr lang="en-GB" sz="2200" dirty="0">
                  <a:solidFill>
                    <a:srgbClr val="202124"/>
                  </a:solidFill>
                  <a:effectLst/>
                  <a:latin typeface="Roboto Light" panose="02000000000000000000" pitchFamily="2" charset="0"/>
                  <a:ea typeface="Roboto Light" panose="02000000000000000000" pitchFamily="2" charset="0"/>
                </a:rPr>
                <a:t>exceedingly</a:t>
              </a:r>
              <a:r>
                <a:rPr lang="en-FR" sz="2200" dirty="0"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</a:t>
              </a:r>
              <a:r>
                <a:rPr lang="en-FR" sz="2200" dirty="0">
                  <a:solidFill>
                    <a:srgbClr val="FA2743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optimistic</a:t>
              </a:r>
              <a:r>
                <a:rPr lang="en-FR" sz="2200" dirty="0"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 results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00A0ED1-3004-4E98-B134-0D5493526B2D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components regression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59E75C-EE59-A431-881A-716F67963D97}"/>
              </a:ext>
            </a:extLst>
          </p:cNvPr>
          <p:cNvGrpSpPr/>
          <p:nvPr/>
        </p:nvGrpSpPr>
        <p:grpSpPr>
          <a:xfrm>
            <a:off x="292617" y="862280"/>
            <a:ext cx="11268905" cy="698500"/>
            <a:chOff x="292617" y="862280"/>
            <a:chExt cx="11268905" cy="6985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54153-B05E-807C-4DC8-B6C71C722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48345" y="862280"/>
              <a:ext cx="2641600" cy="6985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50B610-F60C-F12B-AFD0-5BDE93CBAFBF}"/>
                </a:ext>
              </a:extLst>
            </p:cNvPr>
            <p:cNvSpPr txBox="1"/>
            <p:nvPr/>
          </p:nvSpPr>
          <p:spPr>
            <a:xfrm>
              <a:off x="292617" y="862280"/>
              <a:ext cx="1126890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Workflow for doing PCR on a dataset	                                 with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D4BBC38-BE48-DBB4-D52A-FA88D236E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15555" y="1074569"/>
              <a:ext cx="1079500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90322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35DDE-9B47-7509-3B54-A16E7883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E06673-BD7A-4158-6616-E16C1DAE298B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80760C-F162-5B82-5C28-1749DC23D31C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components regression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5DF922-0FF5-B114-C4D0-A24D4A0E0105}"/>
              </a:ext>
            </a:extLst>
          </p:cNvPr>
          <p:cNvSpPr txBox="1"/>
          <p:nvPr/>
        </p:nvSpPr>
        <p:spPr>
          <a:xfrm>
            <a:off x="292617" y="720000"/>
            <a:ext cx="112689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Example of a PCR with </a:t>
            </a:r>
            <a:r>
              <a:rPr lang="en-FR" sz="2400" b="1" dirty="0">
                <a:solidFill>
                  <a:srgbClr val="FA2743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data leakage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83F7DF-98CD-2E64-EE22-AADA0E43FD34}"/>
              </a:ext>
            </a:extLst>
          </p:cNvPr>
          <p:cNvSpPr/>
          <p:nvPr/>
        </p:nvSpPr>
        <p:spPr>
          <a:xfrm>
            <a:off x="392825" y="1473654"/>
            <a:ext cx="7620000" cy="5115037"/>
          </a:xfrm>
          <a:prstGeom prst="rect">
            <a:avLst/>
          </a:prstGeom>
          <a:noFill/>
          <a:ln w="25400">
            <a:solidFill>
              <a:srgbClr val="5E5E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584A94-73F0-53B5-8209-18189C23BECE}"/>
              </a:ext>
            </a:extLst>
          </p:cNvPr>
          <p:cNvSpPr txBox="1"/>
          <p:nvPr/>
        </p:nvSpPr>
        <p:spPr>
          <a:xfrm>
            <a:off x="8012825" y="3693921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</a:rPr>
              <a:t>0.97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0A5D1C-A638-D3B0-9217-94595426F730}"/>
              </a:ext>
            </a:extLst>
          </p:cNvPr>
          <p:cNvSpPr txBox="1"/>
          <p:nvPr/>
        </p:nvSpPr>
        <p:spPr>
          <a:xfrm>
            <a:off x="8012825" y="6027652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</a:rPr>
              <a:t>0.01</a:t>
            </a:r>
          </a:p>
        </p:txBody>
      </p:sp>
      <p:pic>
        <p:nvPicPr>
          <p:cNvPr id="32" name="Picture 3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C464563-F04C-7188-F3A8-573EF46C9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75" y="1554222"/>
            <a:ext cx="7480300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280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56785-2F2D-1122-6C71-AF386E8A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E47774-5759-E6C0-ED93-31F05A5BF9D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BC3419-5A04-3A4C-74FC-51A287D0F300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components regression : in practice</a:t>
            </a:r>
          </a:p>
        </p:txBody>
      </p:sp>
      <p:pic>
        <p:nvPicPr>
          <p:cNvPr id="18" name="Picture 17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F035862-EFFC-D406-A19E-06BC727AC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42" y="824702"/>
            <a:ext cx="5519311" cy="5780066"/>
          </a:xfrm>
          <a:prstGeom prst="rect">
            <a:avLst/>
          </a:prstGeom>
        </p:spPr>
      </p:pic>
      <p:pic>
        <p:nvPicPr>
          <p:cNvPr id="31" name="Picture 30" descr="A diagram of a model&#10;&#10;Description automatically generated">
            <a:extLst>
              <a:ext uri="{FF2B5EF4-FFF2-40B4-BE49-F238E27FC236}">
                <a16:creationId xmlns:a16="http://schemas.microsoft.com/office/drawing/2014/main" id="{344F5B33-05A2-F63D-8A92-3B2C0C1B4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260" y="1488331"/>
            <a:ext cx="5367198" cy="390570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ADC1043-C030-EE53-199F-4E56245353D8}"/>
              </a:ext>
            </a:extLst>
          </p:cNvPr>
          <p:cNvSpPr txBox="1"/>
          <p:nvPr/>
        </p:nvSpPr>
        <p:spPr>
          <a:xfrm>
            <a:off x="6096000" y="822686"/>
            <a:ext cx="5696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The transformer API in scikit-learn</a:t>
            </a:r>
          </a:p>
        </p:txBody>
      </p:sp>
    </p:spTree>
    <p:extLst>
      <p:ext uri="{BB962C8B-B14F-4D97-AF65-F5344CB8AC3E}">
        <p14:creationId xmlns:p14="http://schemas.microsoft.com/office/powerpoint/2010/main" val="17354635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EEB4A-4E40-4554-588F-44FAAB47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10B320-66C4-E98E-596D-60C4889CF0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22C20D-8E74-C5AF-306A-A88BCD9EA157}"/>
              </a:ext>
            </a:extLst>
          </p:cNvPr>
          <p:cNvSpPr txBox="1"/>
          <p:nvPr/>
        </p:nvSpPr>
        <p:spPr>
          <a:xfrm>
            <a:off x="240033" y="-73848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Principal components regression : in practice</a:t>
            </a:r>
          </a:p>
        </p:txBody>
      </p:sp>
      <p:pic>
        <p:nvPicPr>
          <p:cNvPr id="25" name="Picture 2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39702C6F-B86B-20FB-EDB0-3CAFB2373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023" y="3366370"/>
            <a:ext cx="5384546" cy="33530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F36CF65-3D52-B3E0-6E53-78F86C93048B}"/>
              </a:ext>
            </a:extLst>
          </p:cNvPr>
          <p:cNvSpPr txBox="1"/>
          <p:nvPr/>
        </p:nvSpPr>
        <p:spPr>
          <a:xfrm>
            <a:off x="8317283" y="1258434"/>
            <a:ext cx="3219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Pipelines make things much less error prone!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F0C44EB-2C24-EA2D-1258-9CF930064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42" y="824702"/>
            <a:ext cx="5519311" cy="5780066"/>
          </a:xfrm>
          <a:prstGeom prst="rect">
            <a:avLst/>
          </a:prstGeom>
        </p:spPr>
      </p:pic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5346BA8A-E802-DA3D-3BCE-5B62B5E2199F}"/>
              </a:ext>
            </a:extLst>
          </p:cNvPr>
          <p:cNvCxnSpPr>
            <a:cxnSpLocks/>
          </p:cNvCxnSpPr>
          <p:nvPr/>
        </p:nvCxnSpPr>
        <p:spPr>
          <a:xfrm>
            <a:off x="3607004" y="1309019"/>
            <a:ext cx="4271867" cy="1922696"/>
          </a:xfrm>
          <a:prstGeom prst="bentConnector3">
            <a:avLst>
              <a:gd name="adj1" fmla="val 100141"/>
            </a:avLst>
          </a:prstGeom>
          <a:ln w="50800">
            <a:solidFill>
              <a:srgbClr val="5E5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B76AC2-A55D-9325-A0C1-2C35D1B05D30}"/>
              </a:ext>
            </a:extLst>
          </p:cNvPr>
          <p:cNvSpPr txBox="1"/>
          <p:nvPr/>
        </p:nvSpPr>
        <p:spPr>
          <a:xfrm>
            <a:off x="9526767" y="2179578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4800" dirty="0"/>
              <a:t>🙏</a:t>
            </a:r>
          </a:p>
        </p:txBody>
      </p:sp>
    </p:spTree>
    <p:extLst>
      <p:ext uri="{BB962C8B-B14F-4D97-AF65-F5344CB8AC3E}">
        <p14:creationId xmlns:p14="http://schemas.microsoft.com/office/powerpoint/2010/main" val="1966209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85638-604D-6BE9-8FF4-B9B0E3C1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00DF9F-B3EA-864D-629B-177EAADB866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Graphic 4" descr="Right pointing backhand index outline">
            <a:extLst>
              <a:ext uri="{FF2B5EF4-FFF2-40B4-BE49-F238E27FC236}">
                <a16:creationId xmlns:a16="http://schemas.microsoft.com/office/drawing/2014/main" id="{8F1E3E02-A057-46FB-45DE-906724118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769" y="5202837"/>
            <a:ext cx="1083311" cy="10833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5A29CB-D309-516F-1871-391C92C2F28E}"/>
              </a:ext>
            </a:extLst>
          </p:cNvPr>
          <p:cNvSpPr txBox="1"/>
          <p:nvPr/>
        </p:nvSpPr>
        <p:spPr>
          <a:xfrm>
            <a:off x="1865622" y="1580886"/>
            <a:ext cx="96808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important mathematical tools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Principal Component Analysis (PCA)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Principal Component Regression (PCR)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endParaRPr lang="en-FR" sz="40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en-FR" sz="40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15672967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AED37E-4F2F-5757-B400-CB30617B8637}"/>
              </a:ext>
            </a:extLst>
          </p:cNvPr>
          <p:cNvSpPr/>
          <p:nvPr/>
        </p:nvSpPr>
        <p:spPr>
          <a:xfrm>
            <a:off x="564442" y="953440"/>
            <a:ext cx="10972028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C79F5F-E5E2-65FD-265A-D952DD5A680A}"/>
              </a:ext>
            </a:extLst>
          </p:cNvPr>
          <p:cNvSpPr txBox="1"/>
          <p:nvPr/>
        </p:nvSpPr>
        <p:spPr>
          <a:xfrm>
            <a:off x="857637" y="1101288"/>
            <a:ext cx="10591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happens when 	  ? i.e. when we have less samples than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DDA82-F555-77E3-F8A7-1A84419A08CC}"/>
              </a:ext>
            </a:extLst>
          </p:cNvPr>
          <p:cNvSpPr txBox="1"/>
          <p:nvPr/>
        </p:nvSpPr>
        <p:spPr>
          <a:xfrm>
            <a:off x="394175" y="2648629"/>
            <a:ext cx="832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rank of a matrix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is the dimension of the column space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4F3D51-5456-1F3A-6096-01DA3F7C6C95}"/>
              </a:ext>
            </a:extLst>
          </p:cNvPr>
          <p:cNvGrpSpPr/>
          <p:nvPr/>
        </p:nvGrpSpPr>
        <p:grpSpPr>
          <a:xfrm>
            <a:off x="394175" y="3329892"/>
            <a:ext cx="6761899" cy="461665"/>
            <a:chOff x="644695" y="2552012"/>
            <a:chExt cx="6761899" cy="46166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BE050EC-399C-2588-5823-0D5478D1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4594" y="2573933"/>
              <a:ext cx="3302000" cy="3937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935E65-781B-021A-6180-E0AE6335C321}"/>
                </a:ext>
              </a:extLst>
            </p:cNvPr>
            <p:cNvSpPr txBox="1"/>
            <p:nvPr/>
          </p:nvSpPr>
          <p:spPr>
            <a:xfrm>
              <a:off x="644695" y="2552012"/>
              <a:ext cx="34724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It is easy to show that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D9370C7-FE77-C7C2-C826-226E2D6E09DB}"/>
              </a:ext>
            </a:extLst>
          </p:cNvPr>
          <p:cNvGrpSpPr/>
          <p:nvPr/>
        </p:nvGrpSpPr>
        <p:grpSpPr>
          <a:xfrm>
            <a:off x="385245" y="4011156"/>
            <a:ext cx="9998250" cy="461665"/>
            <a:chOff x="635765" y="3160897"/>
            <a:chExt cx="9998250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700A56-5C81-872E-68C2-58923B949847}"/>
                </a:ext>
              </a:extLst>
            </p:cNvPr>
            <p:cNvSpPr txBox="1"/>
            <p:nvPr/>
          </p:nvSpPr>
          <p:spPr>
            <a:xfrm>
              <a:off x="635765" y="3160897"/>
              <a:ext cx="99982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Courier New" panose="02070309020205020404" pitchFamily="49" charset="0"/>
                <a:buChar char="o"/>
              </a:pPr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We have that		    is p minus the number of </a:t>
              </a:r>
              <a:r>
                <a:rPr lang="en-FR" sz="2400" dirty="0">
                  <a:solidFill>
                    <a:srgbClr val="FA2743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zero eigenvalues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743301-0573-63C1-CEC5-7BBDAEDB9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02610" y="3167160"/>
              <a:ext cx="1663700" cy="39370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30DE31A-8881-B5CB-3677-DA8A522AF9A0}"/>
              </a:ext>
            </a:extLst>
          </p:cNvPr>
          <p:cNvSpPr txBox="1"/>
          <p:nvPr/>
        </p:nvSpPr>
        <p:spPr>
          <a:xfrm>
            <a:off x="7156074" y="3421423"/>
            <a:ext cx="2818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-- use the null space to show this!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11345-06D4-F513-45D1-7EB0C76796EF}"/>
              </a:ext>
            </a:extLst>
          </p:cNvPr>
          <p:cNvSpPr txBox="1"/>
          <p:nvPr/>
        </p:nvSpPr>
        <p:spPr>
          <a:xfrm>
            <a:off x="394175" y="4731573"/>
            <a:ext cx="10472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Therefore, if               then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41FCCB-E93E-3F30-E200-3F0F2A2E1AAC}"/>
              </a:ext>
            </a:extLst>
          </p:cNvPr>
          <p:cNvSpPr txBox="1"/>
          <p:nvPr/>
        </p:nvSpPr>
        <p:spPr>
          <a:xfrm>
            <a:off x="321880" y="1945171"/>
            <a:ext cx="4237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Some information we can use: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5B184C2-CE64-1FE8-E51F-7B43FE924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5929" y="1178492"/>
            <a:ext cx="901700" cy="292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1EE38F-B89D-2733-C413-D2BEF7BFE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2" y="4833289"/>
            <a:ext cx="901700" cy="292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479179-B3F1-44FB-0443-E1AB5F5DD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8375" y="4737971"/>
            <a:ext cx="4064000" cy="3937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4BF480-98FF-848B-47F2-6299CF8AB193}"/>
              </a:ext>
            </a:extLst>
          </p:cNvPr>
          <p:cNvSpPr txBox="1"/>
          <p:nvPr/>
        </p:nvSpPr>
        <p:spPr>
          <a:xfrm>
            <a:off x="394175" y="5458388"/>
            <a:ext cx="10472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And there are at least               zero eigenvalues in the covariance matrix!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5783B36-9A73-2813-F5B1-2E8DCF12D6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9490" y="5568222"/>
            <a:ext cx="876300" cy="292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4B7045-FA94-DC0D-EF38-555EEF923879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21998113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CCF994-01CF-1340-5922-24FE64AFD9AA}"/>
              </a:ext>
            </a:extLst>
          </p:cNvPr>
          <p:cNvGrpSpPr/>
          <p:nvPr/>
        </p:nvGrpSpPr>
        <p:grpSpPr>
          <a:xfrm>
            <a:off x="564442" y="953440"/>
            <a:ext cx="10972028" cy="726581"/>
            <a:chOff x="324326" y="953440"/>
            <a:chExt cx="10972028" cy="72658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7F1425B8-7A0E-8EA0-8E05-0761E4A76ED8}"/>
                </a:ext>
              </a:extLst>
            </p:cNvPr>
            <p:cNvSpPr/>
            <p:nvPr/>
          </p:nvSpPr>
          <p:spPr>
            <a:xfrm>
              <a:off x="324326" y="953440"/>
              <a:ext cx="10972028" cy="726581"/>
            </a:xfrm>
            <a:prstGeom prst="roundRect">
              <a:avLst/>
            </a:prstGeom>
            <a:solidFill>
              <a:srgbClr val="E8EBE4"/>
            </a:solidFill>
            <a:ln w="25400">
              <a:solidFill>
                <a:srgbClr val="5E5E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R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FC79F5F-E5E2-65FD-265A-D952DD5A680A}"/>
                </a:ext>
              </a:extLst>
            </p:cNvPr>
            <p:cNvSpPr txBox="1"/>
            <p:nvPr/>
          </p:nvSpPr>
          <p:spPr>
            <a:xfrm>
              <a:off x="807533" y="1101288"/>
              <a:ext cx="102595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R" sz="2400" dirty="0">
                  <a:solidFill>
                    <a:srgbClr val="5E5E5E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Lato" panose="020F0502020204030203" pitchFamily="34" charset="0"/>
                </a:rPr>
                <a:t>What happens if the features have different scales? i.e. different variances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AD40223-1E6B-4F98-2F16-483C43EB719C}"/>
              </a:ext>
            </a:extLst>
          </p:cNvPr>
          <p:cNvSpPr txBox="1"/>
          <p:nvPr/>
        </p:nvSpPr>
        <p:spPr>
          <a:xfrm>
            <a:off x="462086" y="1866741"/>
            <a:ext cx="11267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know that the total variance of the data is split along the different eigenvalues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5AD40B4-D1B0-348A-AC0E-EBE0EFC6A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2515126"/>
            <a:ext cx="4165600" cy="9779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E6F82AD-38A2-7934-5062-BC5066CBC008}"/>
              </a:ext>
            </a:extLst>
          </p:cNvPr>
          <p:cNvSpPr txBox="1"/>
          <p:nvPr/>
        </p:nvSpPr>
        <p:spPr>
          <a:xfrm>
            <a:off x="462086" y="3679746"/>
            <a:ext cx="10350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If feature F have much more variance than the others, then: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4F5552-2F52-BE00-2C86-70EF099EF297}"/>
              </a:ext>
            </a:extLst>
          </p:cNvPr>
          <p:cNvSpPr txBox="1"/>
          <p:nvPr/>
        </p:nvSpPr>
        <p:spPr>
          <a:xfrm>
            <a:off x="564441" y="5199387"/>
            <a:ext cx="103509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Therefore, PC1 will have nearly zero loadings on all of its coordinates except the one for 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9D5161-9E64-EAB4-0DA1-1A020F458114}"/>
              </a:ext>
            </a:extLst>
          </p:cNvPr>
          <p:cNvSpPr txBox="1"/>
          <p:nvPr/>
        </p:nvSpPr>
        <p:spPr>
          <a:xfrm>
            <a:off x="564441" y="4277984"/>
            <a:ext cx="109720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first component of PCA will be mostly aligned with the values of F, since it contains most of the total variance from the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5E3FC-3149-8ABB-AE2B-4009E7EEED72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16261691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8B4B930-1644-B5AA-5472-02C45F691C35}"/>
              </a:ext>
            </a:extLst>
          </p:cNvPr>
          <p:cNvSpPr/>
          <p:nvPr/>
        </p:nvSpPr>
        <p:spPr>
          <a:xfrm>
            <a:off x="564442" y="953440"/>
            <a:ext cx="10972028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589F1D3A-BB41-8CE7-9ED8-C236638E0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548" y="1766950"/>
            <a:ext cx="3818287" cy="5091050"/>
          </a:xfrm>
          <a:prstGeom prst="rect">
            <a:avLst/>
          </a:prstGeom>
        </p:spPr>
      </p:pic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0A63336-B678-0B7D-32C6-50A26A0FF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99" y="1877972"/>
            <a:ext cx="4220945" cy="4520657"/>
          </a:xfrm>
          <a:prstGeom prst="rect">
            <a:avLst/>
          </a:prstGeom>
        </p:spPr>
      </p:pic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4AC90FF7-1568-7D39-F6C2-BC75CE868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044" y="1887648"/>
            <a:ext cx="3119643" cy="24916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43F212-2802-5766-8B34-3E7DACB768EC}"/>
              </a:ext>
            </a:extLst>
          </p:cNvPr>
          <p:cNvSpPr txBox="1"/>
          <p:nvPr/>
        </p:nvSpPr>
        <p:spPr>
          <a:xfrm>
            <a:off x="505217" y="6442691"/>
            <a:ext cx="2735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Source: </a:t>
            </a:r>
            <a:r>
              <a:rPr lang="en-FR" sz="1400" b="1" dirty="0">
                <a:solidFill>
                  <a:srgbClr val="FA274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sklearn</a:t>
            </a:r>
            <a:r>
              <a:rPr lang="en-FR" sz="1400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’s documentation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EE1C02-AFEB-98F4-3945-7920D019A0A8}"/>
              </a:ext>
            </a:extLst>
          </p:cNvPr>
          <p:cNvSpPr/>
          <p:nvPr/>
        </p:nvSpPr>
        <p:spPr>
          <a:xfrm>
            <a:off x="4822521" y="4379266"/>
            <a:ext cx="2868460" cy="45719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A2005A-C47A-E53C-82DC-9B264C871643}"/>
              </a:ext>
            </a:extLst>
          </p:cNvPr>
          <p:cNvSpPr txBox="1"/>
          <p:nvPr/>
        </p:nvSpPr>
        <p:spPr>
          <a:xfrm>
            <a:off x="4967406" y="4465617"/>
            <a:ext cx="2651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200" dirty="0">
                <a:solidFill>
                  <a:srgbClr val="FA274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 the difference in scale among the features for this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264A2-D39E-2F89-83D3-81E45F3F6113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8215BC-67C0-F1A5-D32F-A8A4A3DB1C4A}"/>
              </a:ext>
            </a:extLst>
          </p:cNvPr>
          <p:cNvSpPr txBox="1"/>
          <p:nvPr/>
        </p:nvSpPr>
        <p:spPr>
          <a:xfrm>
            <a:off x="1047649" y="1101288"/>
            <a:ext cx="10259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happens if the features have different scales? i.e. different variances </a:t>
            </a:r>
          </a:p>
        </p:txBody>
      </p:sp>
    </p:spTree>
    <p:extLst>
      <p:ext uri="{BB962C8B-B14F-4D97-AF65-F5344CB8AC3E}">
        <p14:creationId xmlns:p14="http://schemas.microsoft.com/office/powerpoint/2010/main" val="5810361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8240E0-A6FD-9699-C8DC-C163E6A9CD5D}"/>
              </a:ext>
            </a:extLst>
          </p:cNvPr>
          <p:cNvSpPr/>
          <p:nvPr/>
        </p:nvSpPr>
        <p:spPr>
          <a:xfrm>
            <a:off x="564442" y="953440"/>
            <a:ext cx="10972028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4AC90FF7-1568-7D39-F6C2-BC75CE868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87" y="1887648"/>
            <a:ext cx="3119643" cy="24916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43F212-2802-5766-8B34-3E7DACB768EC}"/>
              </a:ext>
            </a:extLst>
          </p:cNvPr>
          <p:cNvSpPr txBox="1"/>
          <p:nvPr/>
        </p:nvSpPr>
        <p:spPr>
          <a:xfrm>
            <a:off x="492691" y="6442691"/>
            <a:ext cx="27350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400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Source: </a:t>
            </a:r>
            <a:r>
              <a:rPr lang="en-FR" sz="1400" b="1" dirty="0">
                <a:solidFill>
                  <a:srgbClr val="FA274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sklearn</a:t>
            </a:r>
            <a:r>
              <a:rPr lang="en-FR" sz="1400" dirty="0">
                <a:solidFill>
                  <a:srgbClr val="5E5E5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’s documentation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EE1C02-AFEB-98F4-3945-7920D019A0A8}"/>
              </a:ext>
            </a:extLst>
          </p:cNvPr>
          <p:cNvSpPr/>
          <p:nvPr/>
        </p:nvSpPr>
        <p:spPr>
          <a:xfrm>
            <a:off x="670078" y="4379266"/>
            <a:ext cx="2868460" cy="45719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A2005A-C47A-E53C-82DC-9B264C871643}"/>
              </a:ext>
            </a:extLst>
          </p:cNvPr>
          <p:cNvSpPr txBox="1"/>
          <p:nvPr/>
        </p:nvSpPr>
        <p:spPr>
          <a:xfrm>
            <a:off x="818849" y="4465617"/>
            <a:ext cx="2651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200" dirty="0">
                <a:solidFill>
                  <a:srgbClr val="FA274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 the difference in scale among the features for this dataset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12D0B9F5-9A14-1E66-DCBD-4A520C7B6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721" y="1888631"/>
            <a:ext cx="7772400" cy="3886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F33B40-EE8B-E459-3808-47D51D56E3C1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EBFF6-10BE-5116-F8AD-E20AA00CCC9E}"/>
              </a:ext>
            </a:extLst>
          </p:cNvPr>
          <p:cNvSpPr txBox="1"/>
          <p:nvPr/>
        </p:nvSpPr>
        <p:spPr>
          <a:xfrm>
            <a:off x="1047649" y="1101288"/>
            <a:ext cx="10259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happens if the features have different scales? i.e. different variances </a:t>
            </a:r>
          </a:p>
        </p:txBody>
      </p:sp>
    </p:spTree>
    <p:extLst>
      <p:ext uri="{BB962C8B-B14F-4D97-AF65-F5344CB8AC3E}">
        <p14:creationId xmlns:p14="http://schemas.microsoft.com/office/powerpoint/2010/main" val="18704007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DD5D9-10BB-6330-F4E5-E5AD6BB36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12E8D15-5C5F-0635-A271-08E1BE978E71}"/>
              </a:ext>
            </a:extLst>
          </p:cNvPr>
          <p:cNvSpPr/>
          <p:nvPr/>
        </p:nvSpPr>
        <p:spPr>
          <a:xfrm>
            <a:off x="564442" y="953440"/>
            <a:ext cx="10972028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EFE4CFC-F458-73A5-590B-007980DF5948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B9B14-6DBC-AE26-6531-5CF7CC6BE407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1C17A-08AD-FDB3-3761-922B58DAF3F5}"/>
              </a:ext>
            </a:extLst>
          </p:cNvPr>
          <p:cNvSpPr txBox="1"/>
          <p:nvPr/>
        </p:nvSpPr>
        <p:spPr>
          <a:xfrm>
            <a:off x="1047649" y="1101288"/>
            <a:ext cx="10259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What happens if the features have different scales? i.e. different variances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F68511-2A6F-2E01-2114-E7DB5A917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49" y="2345622"/>
            <a:ext cx="4777740" cy="42519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99560F-3F2E-ACC4-39F2-42D4CE9A6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111" y="2357052"/>
            <a:ext cx="4640580" cy="42405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AD8241F-1C6E-C822-6573-3F9F6319F7B9}"/>
              </a:ext>
            </a:extLst>
          </p:cNvPr>
          <p:cNvSpPr txBox="1"/>
          <p:nvPr/>
        </p:nvSpPr>
        <p:spPr>
          <a:xfrm>
            <a:off x="2627109" y="1779890"/>
            <a:ext cx="2270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Without scaling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C1F67B-7B4E-0CD5-6FA6-BA8AA4A2B114}"/>
              </a:ext>
            </a:extLst>
          </p:cNvPr>
          <p:cNvSpPr txBox="1"/>
          <p:nvPr/>
        </p:nvSpPr>
        <p:spPr>
          <a:xfrm>
            <a:off x="7957717" y="1810670"/>
            <a:ext cx="1827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00B05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With scaling</a:t>
            </a:r>
          </a:p>
        </p:txBody>
      </p:sp>
    </p:spTree>
    <p:extLst>
      <p:ext uri="{BB962C8B-B14F-4D97-AF65-F5344CB8AC3E}">
        <p14:creationId xmlns:p14="http://schemas.microsoft.com/office/powerpoint/2010/main" val="14183889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C79F5F-E5E2-65FD-265A-D952DD5A680A}"/>
              </a:ext>
            </a:extLst>
          </p:cNvPr>
          <p:cNvSpPr txBox="1"/>
          <p:nvPr/>
        </p:nvSpPr>
        <p:spPr>
          <a:xfrm>
            <a:off x="7104399" y="1085897"/>
            <a:ext cx="4785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Use </a:t>
            </a:r>
            <a:r>
              <a:rPr lang="en-FR" sz="2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singular value decomposition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!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E56EC5-9D66-0A90-9478-E30A2FBE091B}"/>
              </a:ext>
            </a:extLst>
          </p:cNvPr>
          <p:cNvSpPr/>
          <p:nvPr/>
        </p:nvSpPr>
        <p:spPr>
          <a:xfrm>
            <a:off x="302316" y="953440"/>
            <a:ext cx="6161113" cy="726581"/>
          </a:xfrm>
          <a:prstGeom prst="roundRect">
            <a:avLst/>
          </a:prstGeom>
          <a:solidFill>
            <a:srgbClr val="E8EBE4"/>
          </a:solidFill>
          <a:ln w="25400">
            <a:solidFill>
              <a:srgbClr val="5E5E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01AD4-355F-D6D3-C567-37DB9352BB64}"/>
              </a:ext>
            </a:extLst>
          </p:cNvPr>
          <p:cNvSpPr txBox="1"/>
          <p:nvPr/>
        </p:nvSpPr>
        <p:spPr>
          <a:xfrm>
            <a:off x="492703" y="1101288"/>
            <a:ext cx="5830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How do we calculate the PCA in practice?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82D30-A214-4573-A4A6-B126208C463F}"/>
              </a:ext>
            </a:extLst>
          </p:cNvPr>
          <p:cNvSpPr txBox="1"/>
          <p:nvPr/>
        </p:nvSpPr>
        <p:spPr>
          <a:xfrm>
            <a:off x="402525" y="2042892"/>
            <a:ext cx="5097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Every matrix can be decomposed as: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1A50D-71CC-6107-93B9-1F084C077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548" y="2010721"/>
            <a:ext cx="4774828" cy="7987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42E3D0-4375-FFC3-1A66-AC9D2C99547B}"/>
              </a:ext>
            </a:extLst>
          </p:cNvPr>
          <p:cNvSpPr txBox="1"/>
          <p:nvPr/>
        </p:nvSpPr>
        <p:spPr>
          <a:xfrm>
            <a:off x="966629" y="3163452"/>
            <a:ext cx="68178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Where                                           with 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Matrices      and      have orthonormal columns.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C6BE60-BD99-FB3C-51B5-DB5A99A23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677" y="3238913"/>
            <a:ext cx="2921000" cy="342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FD8642-E8EA-BEF6-D213-15F2A7FAA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888" y="3235835"/>
            <a:ext cx="2489200" cy="342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D57CEF-E73F-FF87-8103-92BC1DE1D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749" y="4014547"/>
            <a:ext cx="279400" cy="241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06B187-C8FE-B24C-3527-D5866357EB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3888" y="4014547"/>
            <a:ext cx="279400" cy="241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05EC82-75F5-C7F0-80A5-19CBA7723F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827" y="4674864"/>
            <a:ext cx="3187700" cy="1219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35E3649-F5E7-1F18-879F-3DBA7771FF67}"/>
              </a:ext>
            </a:extLst>
          </p:cNvPr>
          <p:cNvSpPr/>
          <p:nvPr/>
        </p:nvSpPr>
        <p:spPr>
          <a:xfrm>
            <a:off x="1893991" y="5999967"/>
            <a:ext cx="1771867" cy="45719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BB980-8F65-BCA2-651E-B916CEC04CC2}"/>
              </a:ext>
            </a:extLst>
          </p:cNvPr>
          <p:cNvSpPr txBox="1"/>
          <p:nvPr/>
        </p:nvSpPr>
        <p:spPr>
          <a:xfrm>
            <a:off x="1601556" y="6151589"/>
            <a:ext cx="235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rincipal components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1BA9E2-8E9E-2462-7BAF-CB44292A39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5876" y="4669207"/>
            <a:ext cx="3200400" cy="12192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85ED2B6-3E75-5781-3943-DBF400BC2977}"/>
              </a:ext>
            </a:extLst>
          </p:cNvPr>
          <p:cNvSpPr/>
          <p:nvPr/>
        </p:nvSpPr>
        <p:spPr>
          <a:xfrm>
            <a:off x="5731976" y="5999967"/>
            <a:ext cx="1771867" cy="45719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828617-39C6-EC88-6764-7EE8AAD6ABD1}"/>
              </a:ext>
            </a:extLst>
          </p:cNvPr>
          <p:cNvSpPr txBox="1"/>
          <p:nvPr/>
        </p:nvSpPr>
        <p:spPr>
          <a:xfrm>
            <a:off x="5159016" y="615158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normalized principal scores</a:t>
            </a:r>
            <a:endParaRPr lang="en-FR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A64C6E-D492-1096-0B09-BF55CFD6BC2B}"/>
              </a:ext>
            </a:extLst>
          </p:cNvPr>
          <p:cNvSpPr txBox="1"/>
          <p:nvPr/>
        </p:nvSpPr>
        <p:spPr>
          <a:xfrm>
            <a:off x="9530694" y="4974218"/>
            <a:ext cx="1643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the v</a:t>
            </a:r>
            <a:r>
              <a:rPr lang="en-FR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ariance explained by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10E45A-C4FB-0EF1-6B59-4E24D009C7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4625" y="4951419"/>
            <a:ext cx="985610" cy="6691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0627851-E986-19EC-7B3D-BC9D844F7C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45938" y="5402155"/>
            <a:ext cx="228696" cy="16967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47B0B2C-66D5-50C8-E46F-16EA8B73031A}"/>
              </a:ext>
            </a:extLst>
          </p:cNvPr>
          <p:cNvSpPr txBox="1"/>
          <p:nvPr/>
        </p:nvSpPr>
        <p:spPr>
          <a:xfrm>
            <a:off x="9277528" y="5999770"/>
            <a:ext cx="2158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(always remember to re-center the data matrix!)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3A564-D930-FE89-3452-0DE8E82F8215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</p:spTree>
    <p:extLst>
      <p:ext uri="{BB962C8B-B14F-4D97-AF65-F5344CB8AC3E}">
        <p14:creationId xmlns:p14="http://schemas.microsoft.com/office/powerpoint/2010/main" val="2800808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317D5-B40B-F316-3D5F-A7FD328B6A29}"/>
              </a:ext>
            </a:extLst>
          </p:cNvPr>
          <p:cNvSpPr txBox="1"/>
          <p:nvPr/>
        </p:nvSpPr>
        <p:spPr>
          <a:xfrm>
            <a:off x="240033" y="709838"/>
            <a:ext cx="1163446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Three cooking websites were </a:t>
            </a:r>
            <a:r>
              <a:rPr lang="en-FR" sz="2400" dirty="0">
                <a:solidFill>
                  <a:srgbClr val="FF000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scraped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to form a database with ~13k recipes</a:t>
            </a: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Each row contains the ingredients of a recipe</a:t>
            </a:r>
          </a:p>
        </p:txBody>
      </p:sp>
      <p:pic>
        <p:nvPicPr>
          <p:cNvPr id="23" name="Picture 22" descr="A close-up of a recipe&#10;&#10;Description automatically generated">
            <a:extLst>
              <a:ext uri="{FF2B5EF4-FFF2-40B4-BE49-F238E27FC236}">
                <a16:creationId xmlns:a16="http://schemas.microsoft.com/office/drawing/2014/main" id="{7F24CB85-72D9-749B-1AF6-26A23FFB0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72" y="2649842"/>
            <a:ext cx="10625255" cy="36111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359B16-E858-50D4-BC65-9F106C6E0FBF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Another practical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6D313-0C7C-F3F0-6DF2-16ED6FF9209E}"/>
              </a:ext>
            </a:extLst>
          </p:cNvPr>
          <p:cNvSpPr txBox="1"/>
          <p:nvPr/>
        </p:nvSpPr>
        <p:spPr>
          <a:xfrm>
            <a:off x="240033" y="663936"/>
            <a:ext cx="116344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</a:t>
            </a:r>
            <a: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foodOfTheWorld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8846471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EC84E33-FA22-3FA4-E9DB-53469A3599CF}"/>
              </a:ext>
            </a:extLst>
          </p:cNvPr>
          <p:cNvSpPr txBox="1"/>
          <p:nvPr/>
        </p:nvSpPr>
        <p:spPr>
          <a:xfrm>
            <a:off x="240033" y="701514"/>
            <a:ext cx="1163446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FR" sz="2400" dirty="0">
              <a:solidFill>
                <a:srgbClr val="5E5E5E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We get a contingency table with 26 rows (country) and 22 columns (ingredients)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204CDC-E138-FD90-7352-DC36C28FAED2}"/>
              </a:ext>
            </a:extLst>
          </p:cNvPr>
          <p:cNvSpPr/>
          <p:nvPr/>
        </p:nvSpPr>
        <p:spPr>
          <a:xfrm>
            <a:off x="1543450" y="1803998"/>
            <a:ext cx="2392446" cy="82978"/>
          </a:xfrm>
          <a:prstGeom prst="rect">
            <a:avLst/>
          </a:prstGeom>
          <a:solidFill>
            <a:srgbClr val="FA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7" name="Picture 6" descr="A table of numbers with black text&#10;&#10;Description automatically generated">
            <a:extLst>
              <a:ext uri="{FF2B5EF4-FFF2-40B4-BE49-F238E27FC236}">
                <a16:creationId xmlns:a16="http://schemas.microsoft.com/office/drawing/2014/main" id="{8C59B6CB-5021-C0FE-CA22-ADFC3C74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1" y="2439201"/>
            <a:ext cx="11526998" cy="409802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E6BE2E-644F-C78C-D94B-B9F20E1A8EC1}"/>
              </a:ext>
            </a:extLst>
          </p:cNvPr>
          <p:cNvSpPr txBox="1"/>
          <p:nvPr/>
        </p:nvSpPr>
        <p:spPr>
          <a:xfrm>
            <a:off x="1463937" y="1926732"/>
            <a:ext cx="6195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position (</a:t>
            </a:r>
            <a:r>
              <a:rPr lang="en-US" sz="1400" dirty="0" err="1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US" sz="1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, j) indicates how many recipes of the country </a:t>
            </a:r>
            <a:r>
              <a:rPr lang="en-US" sz="1400" dirty="0" err="1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</a:t>
            </a:r>
            <a:r>
              <a:rPr lang="en-US" sz="1400" dirty="0">
                <a:solidFill>
                  <a:srgbClr val="FA274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had the ingredient j</a:t>
            </a:r>
            <a:endParaRPr lang="en-FR" sz="1400" dirty="0">
              <a:solidFill>
                <a:srgbClr val="FA2743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AE9D7-ABBD-B993-21EA-BD1A77052889}"/>
              </a:ext>
            </a:extLst>
          </p:cNvPr>
          <p:cNvSpPr txBox="1"/>
          <p:nvPr/>
        </p:nvSpPr>
        <p:spPr>
          <a:xfrm>
            <a:off x="240033" y="663936"/>
            <a:ext cx="116344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</a:t>
            </a:r>
            <a: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foodOfTheWorld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9C4A2-DE8F-9DFE-C3A3-8BCB91A10837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Another </a:t>
            </a:r>
            <a:r>
              <a:rPr lang="en-GB" sz="26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practical example</a:t>
            </a:r>
            <a:endParaRPr lang="en-GB" sz="26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2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409DE-3471-8862-57CF-15F09C82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381D7663-E998-C7BA-D3DD-D8A1E7C9252D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08968-2D41-7E71-D6AE-7722FECD3A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84" t="8109" r="9442"/>
          <a:stretch/>
        </p:blipFill>
        <p:spPr>
          <a:xfrm>
            <a:off x="342492" y="1292772"/>
            <a:ext cx="11624846" cy="3870543"/>
          </a:xfrm>
          <a:prstGeom prst="rect">
            <a:avLst/>
          </a:prstGeom>
        </p:spPr>
      </p:pic>
      <p:pic>
        <p:nvPicPr>
          <p:cNvPr id="6" name="Picture 5" descr="A close-up of a word&#10;&#10;Description automatically generated">
            <a:extLst>
              <a:ext uri="{FF2B5EF4-FFF2-40B4-BE49-F238E27FC236}">
                <a16:creationId xmlns:a16="http://schemas.microsoft.com/office/drawing/2014/main" id="{BDC288FB-5E4B-95DA-3528-F40D80574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30" y="5118809"/>
            <a:ext cx="2832100" cy="711200"/>
          </a:xfrm>
          <a:prstGeom prst="rect">
            <a:avLst/>
          </a:prstGeom>
        </p:spPr>
      </p:pic>
      <p:pic>
        <p:nvPicPr>
          <p:cNvPr id="8" name="Picture 7" descr="A black text with black letters&#10;&#10;Description automatically generated with medium confidence">
            <a:extLst>
              <a:ext uri="{FF2B5EF4-FFF2-40B4-BE49-F238E27FC236}">
                <a16:creationId xmlns:a16="http://schemas.microsoft.com/office/drawing/2014/main" id="{7F4020CD-FDFC-5DED-AA5E-525EE80DD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629" y="5118809"/>
            <a:ext cx="3479800" cy="1003300"/>
          </a:xfrm>
          <a:prstGeom prst="rect">
            <a:avLst/>
          </a:prstGeom>
        </p:spPr>
      </p:pic>
      <p:pic>
        <p:nvPicPr>
          <p:cNvPr id="9" name="Picture 8" descr="A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C18744C2-2B61-4A2A-0F98-FAC233016E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203" y="5163315"/>
            <a:ext cx="3543300" cy="147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1525BAA-183A-C8E2-E180-4934A5090C4E}"/>
              </a:ext>
            </a:extLst>
          </p:cNvPr>
          <p:cNvSpPr/>
          <p:nvPr/>
        </p:nvSpPr>
        <p:spPr>
          <a:xfrm>
            <a:off x="4308953" y="1301678"/>
            <a:ext cx="7722550" cy="5334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10BF38-ACAB-6881-8D61-6F69F62B7A41}"/>
              </a:ext>
            </a:extLst>
          </p:cNvPr>
          <p:cNvSpPr txBox="1"/>
          <p:nvPr/>
        </p:nvSpPr>
        <p:spPr>
          <a:xfrm>
            <a:off x="240033" y="663936"/>
            <a:ext cx="116344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</a:t>
            </a:r>
            <a: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foodOfTheWorld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D9800-7492-1A64-93A7-3DA1B5DDFB2E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Another </a:t>
            </a:r>
            <a:r>
              <a:rPr lang="en-GB" sz="26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practical example</a:t>
            </a:r>
            <a:endParaRPr lang="en-GB" sz="26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9023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39D63-B1A3-43E6-452E-D3769E80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948DEBA-054C-2D37-2C35-B3D8CC1339E3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D5B83-FF18-1FB6-D4B3-954E9449FC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84" t="8109" r="9442"/>
          <a:stretch/>
        </p:blipFill>
        <p:spPr>
          <a:xfrm>
            <a:off x="342492" y="1292772"/>
            <a:ext cx="11624846" cy="3870543"/>
          </a:xfrm>
          <a:prstGeom prst="rect">
            <a:avLst/>
          </a:prstGeom>
        </p:spPr>
      </p:pic>
      <p:pic>
        <p:nvPicPr>
          <p:cNvPr id="6" name="Picture 5" descr="A close-up of a word&#10;&#10;Description automatically generated">
            <a:extLst>
              <a:ext uri="{FF2B5EF4-FFF2-40B4-BE49-F238E27FC236}">
                <a16:creationId xmlns:a16="http://schemas.microsoft.com/office/drawing/2014/main" id="{0850F730-FE0C-53FA-05E7-629EB08A9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30" y="5118809"/>
            <a:ext cx="2832100" cy="711200"/>
          </a:xfrm>
          <a:prstGeom prst="rect">
            <a:avLst/>
          </a:prstGeom>
        </p:spPr>
      </p:pic>
      <p:pic>
        <p:nvPicPr>
          <p:cNvPr id="8" name="Picture 7" descr="A black text with black letters&#10;&#10;Description automatically generated with medium confidence">
            <a:extLst>
              <a:ext uri="{FF2B5EF4-FFF2-40B4-BE49-F238E27FC236}">
                <a16:creationId xmlns:a16="http://schemas.microsoft.com/office/drawing/2014/main" id="{98D6118B-E483-18F1-7BF4-70C753AFC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629" y="5118809"/>
            <a:ext cx="3479800" cy="1003300"/>
          </a:xfrm>
          <a:prstGeom prst="rect">
            <a:avLst/>
          </a:prstGeom>
        </p:spPr>
      </p:pic>
      <p:pic>
        <p:nvPicPr>
          <p:cNvPr id="9" name="Picture 8" descr="A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E954D1F4-F6B9-C37D-B14A-42E181952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203" y="5163315"/>
            <a:ext cx="3543300" cy="1473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BF5308-19B6-B316-0AB2-8DFE45182E3A}"/>
              </a:ext>
            </a:extLst>
          </p:cNvPr>
          <p:cNvSpPr/>
          <p:nvPr/>
        </p:nvSpPr>
        <p:spPr>
          <a:xfrm>
            <a:off x="8199471" y="1301678"/>
            <a:ext cx="3832031" cy="5334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3B11A-2B10-76AC-6601-90C09B7E1CC6}"/>
              </a:ext>
            </a:extLst>
          </p:cNvPr>
          <p:cNvSpPr txBox="1"/>
          <p:nvPr/>
        </p:nvSpPr>
        <p:spPr>
          <a:xfrm>
            <a:off x="240033" y="663936"/>
            <a:ext cx="116344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</a:t>
            </a:r>
            <a: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foodOfTheWorld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EA7D45-1AAF-AB56-9BC3-867B4A4C7827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Another </a:t>
            </a:r>
            <a:r>
              <a:rPr lang="en-GB" sz="26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practical example</a:t>
            </a:r>
            <a:endParaRPr lang="en-GB" sz="26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1623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3FBD-C174-61B8-9662-2810D9A0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7712532-7074-1FDB-3D91-CE31306E4F24}"/>
              </a:ext>
            </a:extLst>
          </p:cNvPr>
          <p:cNvSpPr txBox="1"/>
          <p:nvPr/>
        </p:nvSpPr>
        <p:spPr>
          <a:xfrm>
            <a:off x="240033" y="663936"/>
            <a:ext cx="116344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</a:t>
            </a:r>
            <a: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foodOfTheWorld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dataset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A45C0FA-5736-5348-D0D5-39097E6380E6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F3AF8-55F5-3DE2-AFC8-9575F4D3B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84" t="8109" r="9442"/>
          <a:stretch/>
        </p:blipFill>
        <p:spPr>
          <a:xfrm>
            <a:off x="342492" y="1292772"/>
            <a:ext cx="11624846" cy="3870543"/>
          </a:xfrm>
          <a:prstGeom prst="rect">
            <a:avLst/>
          </a:prstGeom>
        </p:spPr>
      </p:pic>
      <p:pic>
        <p:nvPicPr>
          <p:cNvPr id="6" name="Picture 5" descr="A close-up of a word&#10;&#10;Description automatically generated">
            <a:extLst>
              <a:ext uri="{FF2B5EF4-FFF2-40B4-BE49-F238E27FC236}">
                <a16:creationId xmlns:a16="http://schemas.microsoft.com/office/drawing/2014/main" id="{D5EAE4CB-B52D-6217-BC1A-A46DD44F5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30" y="5118809"/>
            <a:ext cx="2832100" cy="711200"/>
          </a:xfrm>
          <a:prstGeom prst="rect">
            <a:avLst/>
          </a:prstGeom>
        </p:spPr>
      </p:pic>
      <p:pic>
        <p:nvPicPr>
          <p:cNvPr id="8" name="Picture 7" descr="A black text with black letters&#10;&#10;Description automatically generated with medium confidence">
            <a:extLst>
              <a:ext uri="{FF2B5EF4-FFF2-40B4-BE49-F238E27FC236}">
                <a16:creationId xmlns:a16="http://schemas.microsoft.com/office/drawing/2014/main" id="{515CF4CE-BF38-FFC3-E0C1-E4A5FC72E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629" y="5118809"/>
            <a:ext cx="3479800" cy="1003300"/>
          </a:xfrm>
          <a:prstGeom prst="rect">
            <a:avLst/>
          </a:prstGeom>
        </p:spPr>
      </p:pic>
      <p:pic>
        <p:nvPicPr>
          <p:cNvPr id="9" name="Picture 8" descr="A black and white text&#10;&#10;Description automatically generated with medium confidence">
            <a:extLst>
              <a:ext uri="{FF2B5EF4-FFF2-40B4-BE49-F238E27FC236}">
                <a16:creationId xmlns:a16="http://schemas.microsoft.com/office/drawing/2014/main" id="{053A85DF-2473-653D-9141-F6D972F42F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203" y="5163315"/>
            <a:ext cx="3543300" cy="1473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02C4CF-75D5-274E-1FE7-903FE5FF3866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Another </a:t>
            </a:r>
            <a:r>
              <a:rPr lang="en-GB" sz="26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practical example</a:t>
            </a:r>
            <a:endParaRPr lang="en-GB" sz="26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2478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FC2AC-049F-8442-ADFC-65518E11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B8640A7C-4068-221D-2409-6EFEA250CFF9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28EE7-FAD8-B009-D1A9-8638BDE41A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9" r="1182"/>
          <a:stretch/>
        </p:blipFill>
        <p:spPr>
          <a:xfrm>
            <a:off x="2952559" y="722364"/>
            <a:ext cx="6161621" cy="5793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9C97F0-225A-7310-069C-804C9B0E2C88}"/>
              </a:ext>
            </a:extLst>
          </p:cNvPr>
          <p:cNvSpPr txBox="1"/>
          <p:nvPr/>
        </p:nvSpPr>
        <p:spPr>
          <a:xfrm>
            <a:off x="5731042" y="6468807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</a:rPr>
              <a:t>PC1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33981-9ADE-C9FF-D791-1FE3482F5027}"/>
              </a:ext>
            </a:extLst>
          </p:cNvPr>
          <p:cNvSpPr txBox="1"/>
          <p:nvPr/>
        </p:nvSpPr>
        <p:spPr>
          <a:xfrm rot="16200000">
            <a:off x="2549223" y="3306964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>
                <a:latin typeface="Roboto Light" panose="02000000000000000000" pitchFamily="2" charset="0"/>
                <a:ea typeface="Roboto Light" panose="02000000000000000000" pitchFamily="2" charset="0"/>
              </a:rPr>
              <a:t>PC2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8F88EB-EA93-BA23-10B8-E882D4C970AE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Another </a:t>
            </a:r>
            <a:r>
              <a:rPr lang="en-GB" sz="2600" b="1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practical example</a:t>
            </a:r>
            <a:endParaRPr lang="en-GB" sz="2600" b="1" dirty="0">
              <a:solidFill>
                <a:srgbClr val="5E5E5E"/>
              </a:solidFill>
              <a:latin typeface="Roboto Black" panose="02000000000000000000" pitchFamily="2" charset="0"/>
              <a:ea typeface="Roboto Black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2229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DAAB186-BCBE-A839-37D8-947B34F0AC0E}"/>
              </a:ext>
            </a:extLst>
          </p:cNvPr>
          <p:cNvSpPr/>
          <p:nvPr/>
        </p:nvSpPr>
        <p:spPr>
          <a:xfrm>
            <a:off x="0" y="0"/>
            <a:ext cx="12192000" cy="622738"/>
          </a:xfrm>
          <a:prstGeom prst="rect">
            <a:avLst/>
          </a:prstGeom>
          <a:solidFill>
            <a:srgbClr val="E8EB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AB9F1B-F323-D75E-6741-DF3053CC2764}"/>
              </a:ext>
            </a:extLst>
          </p:cNvPr>
          <p:cNvSpPr txBox="1"/>
          <p:nvPr/>
        </p:nvSpPr>
        <p:spPr>
          <a:xfrm>
            <a:off x="240033" y="-87100"/>
            <a:ext cx="8414360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b="1" dirty="0">
                <a:solidFill>
                  <a:srgbClr val="5E5E5E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Lato" panose="020F0502020204030203" pitchFamily="34" charset="0"/>
              </a:rPr>
              <a:t>Some practical issues</a:t>
            </a:r>
          </a:p>
        </p:txBody>
      </p:sp>
      <p:pic>
        <p:nvPicPr>
          <p:cNvPr id="11" name="Picture 10" descr="A network diagram of different colored circles and lines&#10;&#10;Description automatically generated">
            <a:extLst>
              <a:ext uri="{FF2B5EF4-FFF2-40B4-BE49-F238E27FC236}">
                <a16:creationId xmlns:a16="http://schemas.microsoft.com/office/drawing/2014/main" id="{ABB98D66-A9E1-CF79-BBA9-5361EA08B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012" y="3087016"/>
            <a:ext cx="5845724" cy="3693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C84E33-FA22-3FA4-E9DB-53469A3599CF}"/>
              </a:ext>
            </a:extLst>
          </p:cNvPr>
          <p:cNvSpPr txBox="1"/>
          <p:nvPr/>
        </p:nvSpPr>
        <p:spPr>
          <a:xfrm>
            <a:off x="240033" y="847286"/>
            <a:ext cx="119519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Consider the </a:t>
            </a:r>
            <a:r>
              <a:rPr lang="en-FR" sz="2400" dirty="0">
                <a:solidFill>
                  <a:srgbClr val="5E5E5E"/>
                </a:solidFill>
                <a:latin typeface="Courier New" panose="02070309020205020404" pitchFamily="49" charset="0"/>
                <a:ea typeface="Roboto Light" panose="02000000000000000000" pitchFamily="2" charset="0"/>
                <a:cs typeface="Courier New" panose="02070309020205020404" pitchFamily="49" charset="0"/>
              </a:rPr>
              <a:t>foodOfTheWorld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dataset available here:</a:t>
            </a:r>
          </a:p>
          <a:p>
            <a:r>
              <a:rPr lang="en-GB" dirty="0">
                <a:solidFill>
                  <a:srgbClr val="548FF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https://github.com/HerveAbdi/data4PCCAR/blob/master/data/foodOfTheWorld.rda</a:t>
            </a:r>
            <a:endParaRPr lang="en-FR" dirty="0">
              <a:solidFill>
                <a:srgbClr val="548FF7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FR" sz="2200" dirty="0">
              <a:solidFill>
                <a:srgbClr val="5E5E5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If you want to delve further in this dataset, see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blog post using 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Courier New" panose="02070309020205020404" pitchFamily="49" charset="0"/>
              </a:rPr>
              <a:t>R</a:t>
            </a:r>
            <a:r>
              <a:rPr lang="en-GB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to explore the dataset</a:t>
            </a:r>
          </a:p>
          <a:p>
            <a:r>
              <a:rPr lang="en-GB" dirty="0">
                <a:solidFill>
                  <a:srgbClr val="548FF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https://</a:t>
            </a:r>
            <a:r>
              <a:rPr lang="en-GB" dirty="0" err="1">
                <a:solidFill>
                  <a:srgbClr val="548FF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www.r-bloggers.com</a:t>
            </a:r>
            <a:r>
              <a:rPr lang="en-GB" dirty="0">
                <a:solidFill>
                  <a:srgbClr val="548FF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/2015/12/a-visualization-of-world-cuisines/</a:t>
            </a:r>
            <a:endParaRPr lang="en-GB" dirty="0">
              <a:solidFill>
                <a:srgbClr val="5E5E5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FR" dirty="0">
              <a:solidFill>
                <a:srgbClr val="548FF7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FR" sz="2400" dirty="0">
                <a:solidFill>
                  <a:srgbClr val="5E5E5E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Or even this article studying how similar flavors combine</a:t>
            </a:r>
          </a:p>
          <a:p>
            <a:r>
              <a:rPr lang="en-FR" dirty="0">
                <a:solidFill>
                  <a:srgbClr val="548FF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Ahn et al. </a:t>
            </a:r>
            <a:r>
              <a:rPr lang="en-FR" i="1" dirty="0">
                <a:solidFill>
                  <a:srgbClr val="548FF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</a:t>
            </a:r>
            <a:r>
              <a:rPr lang="en-GB" i="1" dirty="0" err="1">
                <a:solidFill>
                  <a:srgbClr val="548FF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Flavor</a:t>
            </a:r>
            <a:r>
              <a:rPr lang="en-GB" i="1" dirty="0">
                <a:solidFill>
                  <a:srgbClr val="548FF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network and the principles of food pairing</a:t>
            </a:r>
            <a:r>
              <a:rPr lang="en-GB" dirty="0">
                <a:solidFill>
                  <a:srgbClr val="548FF7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” (2011)</a:t>
            </a:r>
          </a:p>
        </p:txBody>
      </p:sp>
    </p:spTree>
    <p:extLst>
      <p:ext uri="{BB962C8B-B14F-4D97-AF65-F5344CB8AC3E}">
        <p14:creationId xmlns:p14="http://schemas.microsoft.com/office/powerpoint/2010/main" val="3418645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49582</TotalTime>
  <Words>2241</Words>
  <Application>Microsoft Macintosh PowerPoint</Application>
  <PresentationFormat>Widescreen</PresentationFormat>
  <Paragraphs>409</Paragraphs>
  <Slides>63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3" baseType="lpstr">
      <vt:lpstr>Arial</vt:lpstr>
      <vt:lpstr>Calibri</vt:lpstr>
      <vt:lpstr>Calibri Light</vt:lpstr>
      <vt:lpstr>Courier New</vt:lpstr>
      <vt:lpstr>Lato</vt:lpstr>
      <vt:lpstr>Roboto</vt:lpstr>
      <vt:lpstr>Roboto Black</vt:lpstr>
      <vt:lpstr>Roboto ExtraBold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 Rodrigues</dc:creator>
  <cp:lastModifiedBy>Pedro Rodrigues</cp:lastModifiedBy>
  <cp:revision>1239</cp:revision>
  <dcterms:created xsi:type="dcterms:W3CDTF">2022-01-14T10:39:20Z</dcterms:created>
  <dcterms:modified xsi:type="dcterms:W3CDTF">2026-03-02T14:06:36Z</dcterms:modified>
</cp:coreProperties>
</file>