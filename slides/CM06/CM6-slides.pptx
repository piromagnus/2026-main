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382" r:id="rId2"/>
    <p:sldId id="475" r:id="rId3"/>
    <p:sldId id="508" r:id="rId4"/>
    <p:sldId id="632" r:id="rId5"/>
    <p:sldId id="633" r:id="rId6"/>
    <p:sldId id="634" r:id="rId7"/>
    <p:sldId id="635" r:id="rId8"/>
    <p:sldId id="487" r:id="rId9"/>
    <p:sldId id="622" r:id="rId10"/>
    <p:sldId id="624" r:id="rId11"/>
    <p:sldId id="491" r:id="rId12"/>
    <p:sldId id="540" r:id="rId13"/>
    <p:sldId id="623" r:id="rId14"/>
    <p:sldId id="638" r:id="rId15"/>
    <p:sldId id="523" r:id="rId16"/>
    <p:sldId id="625" r:id="rId17"/>
    <p:sldId id="626" r:id="rId18"/>
    <p:sldId id="627" r:id="rId19"/>
    <p:sldId id="628" r:id="rId20"/>
    <p:sldId id="629" r:id="rId21"/>
    <p:sldId id="630" r:id="rId22"/>
    <p:sldId id="631" r:id="rId23"/>
    <p:sldId id="641" r:id="rId24"/>
    <p:sldId id="645" r:id="rId25"/>
    <p:sldId id="639" r:id="rId26"/>
    <p:sldId id="526" r:id="rId27"/>
    <p:sldId id="527" r:id="rId28"/>
    <p:sldId id="524" r:id="rId29"/>
    <p:sldId id="529" r:id="rId30"/>
    <p:sldId id="528" r:id="rId31"/>
    <p:sldId id="532" r:id="rId32"/>
    <p:sldId id="533" r:id="rId33"/>
    <p:sldId id="525" r:id="rId34"/>
    <p:sldId id="534" r:id="rId35"/>
    <p:sldId id="536" r:id="rId36"/>
    <p:sldId id="537" r:id="rId37"/>
    <p:sldId id="640" r:id="rId38"/>
    <p:sldId id="541" r:id="rId39"/>
    <p:sldId id="539" r:id="rId40"/>
    <p:sldId id="637" r:id="rId41"/>
    <p:sldId id="618" r:id="rId42"/>
    <p:sldId id="619" r:id="rId43"/>
    <p:sldId id="642" r:id="rId44"/>
    <p:sldId id="643" r:id="rId45"/>
    <p:sldId id="620" r:id="rId46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E5E"/>
    <a:srgbClr val="FA2743"/>
    <a:srgbClr val="E8EBE4"/>
    <a:srgbClr val="1E77B4"/>
    <a:srgbClr val="FF7F0F"/>
    <a:srgbClr val="F5AE00"/>
    <a:srgbClr val="9B5222"/>
    <a:srgbClr val="FF871B"/>
    <a:srgbClr val="BBD5E8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97"/>
    <p:restoredTop sz="94910"/>
  </p:normalViewPr>
  <p:slideViewPr>
    <p:cSldViewPr snapToGrid="0" snapToObjects="1">
      <p:cViewPr>
        <p:scale>
          <a:sx n="81" d="100"/>
          <a:sy n="81" d="100"/>
        </p:scale>
        <p:origin x="2288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FE6C1-AB26-3F44-9C87-C500B9817AF1}" type="datetimeFigureOut">
              <a:rPr lang="en-FR" smtClean="0"/>
              <a:t>16/03/2026</a:t>
            </a:fld>
            <a:endParaRPr lang="en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D39096-BE51-9C45-B82B-FA0E89D4584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85374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49930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522765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809000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3978730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918974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029077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3307179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6186286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0057855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994941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280150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3EC9B-787C-824C-894C-857B659FB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034B8-C425-C946-83B5-386EB7480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38366-FA73-7C40-9D66-F01278D97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16/03/2026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613DA-3627-824F-B630-E29488734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35195-A057-A740-ABFD-A4428E7E0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14469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87FAB-44BF-AB48-8D73-DA1AEA67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5A5C9-E435-904F-9A50-ED9242E28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B2556-21DE-C043-BE7B-9E2A54973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16/03/2026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DE1C2-7A56-054D-A23E-DD2241BED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48906-A5FE-FF4D-A27E-550C59904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25651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C4E8A-2B0D-EB42-A978-1FE768A3F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DEB75-EBFD-8E42-82F0-A331F604D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81795-369A-C94E-9F66-0A208AF18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16/03/2026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FBA02-0FCB-EA44-B7B5-96861116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CF71C-9EF7-0C4B-BDDD-FB6BA964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18604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8381-A6CF-6F47-A7A3-14C7831DB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E1EC3-D19C-DC4D-A5B9-9460AD4AAA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A3376-5078-194F-9992-6B02E62E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51E5D-D454-0943-B25A-DA182891A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16/03/2026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67DE1-3EE7-D943-B7FD-A51C83BA6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BA756-9D8E-C845-B692-3873FF00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608771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3190A-2F02-BD4E-9E22-FE2A2CC91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7E7DD-D354-C048-8942-567BCCBE7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92036-8FA2-734D-A0A4-540FA63FA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DEAE85-DEC4-6042-A589-63117EF752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0B7604-EC7A-9F4B-8B40-82D381275A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845EAB-187C-284A-B3CB-5EC78439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16/03/2026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7DA07A-26C9-CA4B-8592-EA2C357C0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29D14B-3E77-C64E-BBF4-00C096EE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26156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EED17-FBEF-0040-96E6-994DBD521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C2881A-CF7D-8C45-9008-E61A46B5E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16/03/2026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05F0EE-BDC6-3E43-BEAC-A339A9728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E1059-D3D9-064E-BFD5-C588BE342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5753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0CF8FB-7AEB-7147-A83A-4DF08A93E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16/03/2026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F6FAA-2A77-D645-B7D9-87AF35941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85873-66FC-0E4A-A249-F6FA16584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910419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EE7F8-26AB-8045-9C68-095EB3F35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C37C8-7D1E-D745-A650-7BE338722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3687F2-0361-5E48-9242-1481CECC57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96C55-C72A-6346-9F4D-E7EBB9536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16/03/2026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2A30C-17EA-D843-AB84-DCC67550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58998-8FCD-4A48-8077-41D395F14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58731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E4506-CC8C-3948-98A1-3618A657C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E23419-833F-ED48-BCFF-3529729044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F7541E-9161-9845-900C-0B7F4D6B4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F6B3E-FD83-2742-B704-CAA2A3EB7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16/03/2026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2EB9A-F8B6-4F40-A237-D183B7FAB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D7B30-1A12-B54A-9EC7-A21A90204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489466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BF93D-B2C2-7048-94E6-5B0A39376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B1939D-3520-5A4E-AC60-F1060FE9B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3D6DC-E506-5049-B0CD-01E32D738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16/03/2026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69E02-B2EF-CC4E-A982-1A0F31306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DBA1F-361D-CF4C-A4FB-8D2BD097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10766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58988E-5C51-134D-8C79-867D44453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D2FE0-5CF2-8544-A5E3-F37FBDD35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776C2-05A5-5A4B-9AA6-732FC73A5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16/03/2026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24220-F883-2A4C-82CA-C524A70A3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0F099-3857-6B40-AE2C-2127FDED9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472570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95531-CC31-C242-807F-85E2E673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368A4-CCF7-2A40-831F-1C89AC50A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0E3EE-7349-1747-80AE-DCDB34EFE7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05F58-0AA8-724B-8DBF-E28AC2D343FC}" type="datetimeFigureOut">
              <a:rPr lang="en-FR" smtClean="0"/>
              <a:t>16/03/2026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ED396-5C82-A643-8632-51B3DE0CC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D28E0-1C6E-1140-BACB-EBB4D140C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82825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1.emf"/><Relationship Id="rId7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image" Target="../media/image4.emf"/><Relationship Id="rId4" Type="http://schemas.openxmlformats.org/officeDocument/2006/relationships/image" Target="../media/image12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4.emf"/><Relationship Id="rId7" Type="http://schemas.openxmlformats.org/officeDocument/2006/relationships/image" Target="../media/image5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image" Target="../media/image4.emf"/><Relationship Id="rId4" Type="http://schemas.openxmlformats.org/officeDocument/2006/relationships/image" Target="../media/image15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4.emf"/><Relationship Id="rId7" Type="http://schemas.openxmlformats.org/officeDocument/2006/relationships/image" Target="../media/image5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1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7" Type="http://schemas.openxmlformats.org/officeDocument/2006/relationships/image" Target="../media/image21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jpg"/><Relationship Id="rId4" Type="http://schemas.openxmlformats.org/officeDocument/2006/relationships/image" Target="../media/image25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jpg"/><Relationship Id="rId4" Type="http://schemas.openxmlformats.org/officeDocument/2006/relationships/image" Target="../media/image25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image" Target="../media/image30.emf"/><Relationship Id="rId7" Type="http://schemas.openxmlformats.org/officeDocument/2006/relationships/image" Target="../media/image3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Relationship Id="rId9" Type="http://schemas.openxmlformats.org/officeDocument/2006/relationships/image" Target="../media/image36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jpg"/><Relationship Id="rId4" Type="http://schemas.openxmlformats.org/officeDocument/2006/relationships/image" Target="../media/image2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emf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emf"/><Relationship Id="rId5" Type="http://schemas.openxmlformats.org/officeDocument/2006/relationships/image" Target="../media/image42.emf"/><Relationship Id="rId4" Type="http://schemas.openxmlformats.org/officeDocument/2006/relationships/image" Target="../media/image49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emf"/><Relationship Id="rId4" Type="http://schemas.openxmlformats.org/officeDocument/2006/relationships/image" Target="../media/image54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7" Type="http://schemas.openxmlformats.org/officeDocument/2006/relationships/image" Target="../media/image62.jpg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jpg"/><Relationship Id="rId5" Type="http://schemas.openxmlformats.org/officeDocument/2006/relationships/image" Target="../media/image60.jpg"/><Relationship Id="rId4" Type="http://schemas.openxmlformats.org/officeDocument/2006/relationships/image" Target="../media/image59.jp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3" Type="http://schemas.openxmlformats.org/officeDocument/2006/relationships/image" Target="../media/image57.emf"/><Relationship Id="rId7" Type="http://schemas.openxmlformats.org/officeDocument/2006/relationships/image" Target="../media/image6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emf"/><Relationship Id="rId5" Type="http://schemas.openxmlformats.org/officeDocument/2006/relationships/image" Target="../media/image64.emf"/><Relationship Id="rId10" Type="http://schemas.openxmlformats.org/officeDocument/2006/relationships/image" Target="../media/image68.jpg"/><Relationship Id="rId4" Type="http://schemas.openxmlformats.org/officeDocument/2006/relationships/image" Target="../media/image63.emf"/><Relationship Id="rId9" Type="http://schemas.openxmlformats.org/officeDocument/2006/relationships/image" Target="../media/image67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emf"/><Relationship Id="rId4" Type="http://schemas.openxmlformats.org/officeDocument/2006/relationships/image" Target="../media/image76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86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9.emf"/><Relationship Id="rId4" Type="http://schemas.openxmlformats.org/officeDocument/2006/relationships/image" Target="../media/image88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emf"/><Relationship Id="rId7" Type="http://schemas.openxmlformats.org/officeDocument/2006/relationships/image" Target="../media/image95.svg"/><Relationship Id="rId2" Type="http://schemas.openxmlformats.org/officeDocument/2006/relationships/image" Target="../media/image9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B30E4DC-5BA1-4A88-3549-39BB252362F9}"/>
              </a:ext>
            </a:extLst>
          </p:cNvPr>
          <p:cNvSpPr/>
          <p:nvPr/>
        </p:nvSpPr>
        <p:spPr>
          <a:xfrm>
            <a:off x="0" y="5801193"/>
            <a:ext cx="12192000" cy="1056807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49F4F4-12FE-580B-E00C-CFCF2FCF9F40}"/>
              </a:ext>
            </a:extLst>
          </p:cNvPr>
          <p:cNvSpPr txBox="1"/>
          <p:nvPr/>
        </p:nvSpPr>
        <p:spPr>
          <a:xfrm>
            <a:off x="6742386" y="5960264"/>
            <a:ext cx="531908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42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Pedro L. C. Rodrigues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6537CB7-C4BB-7CE0-0825-9715A7575578}"/>
              </a:ext>
            </a:extLst>
          </p:cNvPr>
          <p:cNvSpPr/>
          <p:nvPr/>
        </p:nvSpPr>
        <p:spPr>
          <a:xfrm>
            <a:off x="1006145" y="663992"/>
            <a:ext cx="10179710" cy="2511684"/>
          </a:xfrm>
          <a:prstGeom prst="round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C973D-E8B9-CA36-F0E5-BE9D3B33A408}"/>
              </a:ext>
            </a:extLst>
          </p:cNvPr>
          <p:cNvSpPr txBox="1"/>
          <p:nvPr/>
        </p:nvSpPr>
        <p:spPr>
          <a:xfrm>
            <a:off x="945537" y="950338"/>
            <a:ext cx="103009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60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 to Statistical Learning with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F8D681-85A3-D3D9-0655-46D9193F23C1}"/>
              </a:ext>
            </a:extLst>
          </p:cNvPr>
          <p:cNvSpPr txBox="1"/>
          <p:nvPr/>
        </p:nvSpPr>
        <p:spPr>
          <a:xfrm>
            <a:off x="581859" y="3968671"/>
            <a:ext cx="11028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CM6: Linear classifiers – Part 2</a:t>
            </a:r>
            <a:endParaRPr lang="en-FR" sz="48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990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Graphic 4" descr="Right pointing backhand index outline">
            <a:extLst>
              <a:ext uri="{FF2B5EF4-FFF2-40B4-BE49-F238E27FC236}">
                <a16:creationId xmlns:a16="http://schemas.microsoft.com/office/drawing/2014/main" id="{8538E42E-F69C-00BB-E335-14D530B8A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769" y="1450257"/>
            <a:ext cx="1083311" cy="10833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F3F278-B1A0-E02B-5FB1-832131E89666}"/>
              </a:ext>
            </a:extLst>
          </p:cNvPr>
          <p:cNvSpPr txBox="1"/>
          <p:nvPr/>
        </p:nvSpPr>
        <p:spPr>
          <a:xfrm>
            <a:off x="1865622" y="1480237"/>
            <a:ext cx="9089348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Review from last lecture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Generative approach to classification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Comparisons between methods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Final remarks on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345156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3D9EC4-CEC7-36AE-5DDA-258033964660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The Bayes classifier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D97BE0-1E43-7C08-EA2C-2E078AF6CEE7}"/>
              </a:ext>
            </a:extLst>
          </p:cNvPr>
          <p:cNvSpPr txBox="1"/>
          <p:nvPr/>
        </p:nvSpPr>
        <p:spPr>
          <a:xfrm>
            <a:off x="240033" y="929391"/>
            <a:ext cx="3905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want to find a function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B0D221-BC48-840A-8124-FF7F0EBC0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727" y="973384"/>
            <a:ext cx="2146300" cy="342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689AC4-D42E-B6A0-3212-6ED8E3B8ADDC}"/>
              </a:ext>
            </a:extLst>
          </p:cNvPr>
          <p:cNvSpPr txBox="1"/>
          <p:nvPr/>
        </p:nvSpPr>
        <p:spPr>
          <a:xfrm>
            <a:off x="6075897" y="910574"/>
            <a:ext cx="59522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uch that it minimizes 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probability error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D22074-F755-A158-791B-C784C2498FA3}"/>
              </a:ext>
            </a:extLst>
          </p:cNvPr>
          <p:cNvSpPr txBox="1"/>
          <p:nvPr/>
        </p:nvSpPr>
        <p:spPr>
          <a:xfrm>
            <a:off x="240033" y="2502315"/>
            <a:ext cx="11144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optimal discriminant function for a test observation       is 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Bayes classifier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1081D9-2EB0-8DE4-3C6B-3D1BE6E06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022" y="2643862"/>
            <a:ext cx="317500" cy="215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1C26AA-55E2-C1DA-B4FA-1CD0AB502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7417" y="1612850"/>
            <a:ext cx="6286500" cy="5969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966A88E-8821-F582-D9F7-38E599E96740}"/>
              </a:ext>
            </a:extLst>
          </p:cNvPr>
          <p:cNvGrpSpPr/>
          <p:nvPr/>
        </p:nvGrpSpPr>
        <p:grpSpPr>
          <a:xfrm>
            <a:off x="2669415" y="3225767"/>
            <a:ext cx="6853170" cy="1019052"/>
            <a:chOff x="2669415" y="5056628"/>
            <a:chExt cx="6853170" cy="1019052"/>
          </a:xfrm>
        </p:grpSpPr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D2B872E8-A6ED-4E98-DBC8-B64944B93893}"/>
                </a:ext>
              </a:extLst>
            </p:cNvPr>
            <p:cNvSpPr/>
            <p:nvPr/>
          </p:nvSpPr>
          <p:spPr>
            <a:xfrm>
              <a:off x="2669415" y="5056628"/>
              <a:ext cx="6853170" cy="1019052"/>
            </a:xfrm>
            <a:prstGeom prst="roundRect">
              <a:avLst/>
            </a:prstGeom>
            <a:solidFill>
              <a:srgbClr val="E8EBE4"/>
            </a:solidFill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F59E273-B50D-E1CA-236C-7DE815EC89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40050" y="5192009"/>
              <a:ext cx="6311900" cy="736600"/>
            </a:xfrm>
            <a:prstGeom prst="rect">
              <a:avLst/>
            </a:prstGeom>
          </p:spPr>
        </p:pic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ACE130CF-4204-E5FB-BF76-10420096DB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0400" y="5086800"/>
            <a:ext cx="5029200" cy="5969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E8E5FBC-A6FF-BBC2-D407-9741BFE498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1303" y="5886000"/>
            <a:ext cx="5029200" cy="5969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578DE63-6EAF-8F3D-32A3-539D01F7D5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3600" y="5605200"/>
            <a:ext cx="1473200" cy="3429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BBE3FE9-4199-51B2-273F-96116A21F0AB}"/>
              </a:ext>
            </a:extLst>
          </p:cNvPr>
          <p:cNvSpPr txBox="1"/>
          <p:nvPr/>
        </p:nvSpPr>
        <p:spPr>
          <a:xfrm>
            <a:off x="240033" y="4453314"/>
            <a:ext cx="1923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example,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0696ED4-1565-34B3-4065-2D20B9BE9BA1}"/>
              </a:ext>
            </a:extLst>
          </p:cNvPr>
          <p:cNvSpPr/>
          <p:nvPr/>
        </p:nvSpPr>
        <p:spPr>
          <a:xfrm>
            <a:off x="629920" y="5364480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849836A-A354-B2B5-1AC0-A16E91692775}"/>
              </a:ext>
            </a:extLst>
          </p:cNvPr>
          <p:cNvSpPr/>
          <p:nvPr/>
        </p:nvSpPr>
        <p:spPr>
          <a:xfrm>
            <a:off x="1180760" y="5432747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E6B5861-477A-1297-D57F-C089734CBF44}"/>
              </a:ext>
            </a:extLst>
          </p:cNvPr>
          <p:cNvSpPr/>
          <p:nvPr/>
        </p:nvSpPr>
        <p:spPr>
          <a:xfrm>
            <a:off x="904240" y="5723440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4B8764C-076B-9300-2DBB-F2121F59A297}"/>
              </a:ext>
            </a:extLst>
          </p:cNvPr>
          <p:cNvSpPr/>
          <p:nvPr/>
        </p:nvSpPr>
        <p:spPr>
          <a:xfrm>
            <a:off x="1142608" y="6181330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A3EAA94-5458-4846-5BC0-512FD351C02D}"/>
              </a:ext>
            </a:extLst>
          </p:cNvPr>
          <p:cNvSpPr/>
          <p:nvPr/>
        </p:nvSpPr>
        <p:spPr>
          <a:xfrm>
            <a:off x="1262040" y="5754119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2073D67-F296-AB88-086A-5BC0D68716DE}"/>
              </a:ext>
            </a:extLst>
          </p:cNvPr>
          <p:cNvSpPr/>
          <p:nvPr/>
        </p:nvSpPr>
        <p:spPr>
          <a:xfrm>
            <a:off x="2424853" y="5192027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7D8D20F-33B5-C536-CBA4-7E85ED9DA6F0}"/>
              </a:ext>
            </a:extLst>
          </p:cNvPr>
          <p:cNvSpPr/>
          <p:nvPr/>
        </p:nvSpPr>
        <p:spPr>
          <a:xfrm>
            <a:off x="1877987" y="6103703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23E6844-9174-6A82-F8BC-174F79063320}"/>
              </a:ext>
            </a:extLst>
          </p:cNvPr>
          <p:cNvSpPr/>
          <p:nvPr/>
        </p:nvSpPr>
        <p:spPr>
          <a:xfrm>
            <a:off x="1694520" y="5138374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33F7046-1373-88D3-BDFC-7A3BE5E8DEB5}"/>
              </a:ext>
            </a:extLst>
          </p:cNvPr>
          <p:cNvSpPr/>
          <p:nvPr/>
        </p:nvSpPr>
        <p:spPr>
          <a:xfrm>
            <a:off x="2008880" y="5158119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9ECA946-960E-F95C-DB4E-FDCF8B690CB4}"/>
              </a:ext>
            </a:extLst>
          </p:cNvPr>
          <p:cNvSpPr/>
          <p:nvPr/>
        </p:nvSpPr>
        <p:spPr>
          <a:xfrm>
            <a:off x="1837697" y="5781044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B937144-CEE6-45B1-4F66-D58148E7F68B}"/>
              </a:ext>
            </a:extLst>
          </p:cNvPr>
          <p:cNvSpPr/>
          <p:nvPr/>
        </p:nvSpPr>
        <p:spPr>
          <a:xfrm>
            <a:off x="2235027" y="5439437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42B161A-FEDE-B835-105D-0667554565D9}"/>
              </a:ext>
            </a:extLst>
          </p:cNvPr>
          <p:cNvSpPr/>
          <p:nvPr/>
        </p:nvSpPr>
        <p:spPr>
          <a:xfrm>
            <a:off x="770269" y="6048560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497AC74-9C5D-22EA-EFC9-6CE73174C203}"/>
              </a:ext>
            </a:extLst>
          </p:cNvPr>
          <p:cNvSpPr/>
          <p:nvPr/>
        </p:nvSpPr>
        <p:spPr>
          <a:xfrm>
            <a:off x="899160" y="5358493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21747AF-81B5-0040-FD76-6772743E8B50}"/>
              </a:ext>
            </a:extLst>
          </p:cNvPr>
          <p:cNvSpPr/>
          <p:nvPr/>
        </p:nvSpPr>
        <p:spPr>
          <a:xfrm>
            <a:off x="2169383" y="5747107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204628E-52F4-3489-2DCC-FCF1C21735C2}"/>
              </a:ext>
            </a:extLst>
          </p:cNvPr>
          <p:cNvSpPr/>
          <p:nvPr/>
        </p:nvSpPr>
        <p:spPr>
          <a:xfrm>
            <a:off x="2192947" y="6130176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147195C-6E36-EEE7-1FBD-3441C526FA52}"/>
              </a:ext>
            </a:extLst>
          </p:cNvPr>
          <p:cNvSpPr/>
          <p:nvPr/>
        </p:nvSpPr>
        <p:spPr>
          <a:xfrm>
            <a:off x="2490800" y="5754119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35BFFFF-54C2-B580-B667-B30AEBD73A05}"/>
              </a:ext>
            </a:extLst>
          </p:cNvPr>
          <p:cNvSpPr/>
          <p:nvPr/>
        </p:nvSpPr>
        <p:spPr>
          <a:xfrm>
            <a:off x="1065489" y="5948100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DADC57B-3B30-DDD9-369B-1F5278DE6D63}"/>
              </a:ext>
            </a:extLst>
          </p:cNvPr>
          <p:cNvSpPr/>
          <p:nvPr/>
        </p:nvSpPr>
        <p:spPr>
          <a:xfrm>
            <a:off x="1424600" y="6374052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8617E1B-4D1D-D7AF-5261-2696A52981FE}"/>
              </a:ext>
            </a:extLst>
          </p:cNvPr>
          <p:cNvSpPr/>
          <p:nvPr/>
        </p:nvSpPr>
        <p:spPr>
          <a:xfrm>
            <a:off x="546440" y="5804720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7ECEFE30-0E3F-F90F-1080-324639533E40}"/>
              </a:ext>
            </a:extLst>
          </p:cNvPr>
          <p:cNvSpPr/>
          <p:nvPr/>
        </p:nvSpPr>
        <p:spPr>
          <a:xfrm>
            <a:off x="1850626" y="5422531"/>
            <a:ext cx="251437" cy="25143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C1C908B8-C236-1647-E333-52EACEEE59C3}"/>
              </a:ext>
            </a:extLst>
          </p:cNvPr>
          <p:cNvSpPr/>
          <p:nvPr/>
        </p:nvSpPr>
        <p:spPr>
          <a:xfrm>
            <a:off x="1694520" y="5263665"/>
            <a:ext cx="555046" cy="555046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8E8A44DC-021C-879E-3015-86DAE2D89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106" y="5502269"/>
            <a:ext cx="162560" cy="11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527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A9CEA75-D8C7-0C40-71BF-DF2459C6C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3600" y="5605200"/>
            <a:ext cx="1473200" cy="342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14F39D3-35DC-4693-C9A2-C08B10FE1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303" y="5886000"/>
            <a:ext cx="5029200" cy="5969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12FA667-3D24-796E-89A3-21584A1629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0400" y="5086800"/>
            <a:ext cx="5029200" cy="596900"/>
          </a:xfrm>
          <a:prstGeom prst="rect">
            <a:avLst/>
          </a:prstGeom>
        </p:spPr>
      </p:pic>
      <p:sp>
        <p:nvSpPr>
          <p:cNvPr id="46" name="Oval 45">
            <a:extLst>
              <a:ext uri="{FF2B5EF4-FFF2-40B4-BE49-F238E27FC236}">
                <a16:creationId xmlns:a16="http://schemas.microsoft.com/office/drawing/2014/main" id="{B331905D-59F8-E951-E5FD-DA20B1A2B584}"/>
              </a:ext>
            </a:extLst>
          </p:cNvPr>
          <p:cNvSpPr/>
          <p:nvPr/>
        </p:nvSpPr>
        <p:spPr>
          <a:xfrm>
            <a:off x="629920" y="5364480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F4570ED-B3FB-6ABA-3810-210F17EB7779}"/>
              </a:ext>
            </a:extLst>
          </p:cNvPr>
          <p:cNvSpPr/>
          <p:nvPr/>
        </p:nvSpPr>
        <p:spPr>
          <a:xfrm>
            <a:off x="1180760" y="5432747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A63961E-F90D-7C0A-B08D-4ED3094FCEC9}"/>
              </a:ext>
            </a:extLst>
          </p:cNvPr>
          <p:cNvSpPr/>
          <p:nvPr/>
        </p:nvSpPr>
        <p:spPr>
          <a:xfrm>
            <a:off x="904240" y="5723440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D9FA791-BEEB-7FCE-CD0D-0DCC522A4FB7}"/>
              </a:ext>
            </a:extLst>
          </p:cNvPr>
          <p:cNvSpPr/>
          <p:nvPr/>
        </p:nvSpPr>
        <p:spPr>
          <a:xfrm>
            <a:off x="1142608" y="6181330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1D0D10F-A063-240B-CD61-991960F639AE}"/>
              </a:ext>
            </a:extLst>
          </p:cNvPr>
          <p:cNvSpPr/>
          <p:nvPr/>
        </p:nvSpPr>
        <p:spPr>
          <a:xfrm>
            <a:off x="1262040" y="5754119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D54C3C7-6C7E-DB91-4A14-C9ABC5C98601}"/>
              </a:ext>
            </a:extLst>
          </p:cNvPr>
          <p:cNvSpPr/>
          <p:nvPr/>
        </p:nvSpPr>
        <p:spPr>
          <a:xfrm>
            <a:off x="2424853" y="5192027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B3B4CE5-816B-7D64-46F6-F0D2EF450A6B}"/>
              </a:ext>
            </a:extLst>
          </p:cNvPr>
          <p:cNvSpPr/>
          <p:nvPr/>
        </p:nvSpPr>
        <p:spPr>
          <a:xfrm>
            <a:off x="1877987" y="6103703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EC78F07-EFC3-DBA0-0D81-68F0897E9775}"/>
              </a:ext>
            </a:extLst>
          </p:cNvPr>
          <p:cNvSpPr/>
          <p:nvPr/>
        </p:nvSpPr>
        <p:spPr>
          <a:xfrm>
            <a:off x="1694520" y="5138374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DD9A75D-626B-CE23-8EC7-A7AC1B4DA523}"/>
              </a:ext>
            </a:extLst>
          </p:cNvPr>
          <p:cNvSpPr/>
          <p:nvPr/>
        </p:nvSpPr>
        <p:spPr>
          <a:xfrm>
            <a:off x="2008880" y="5158119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895E0E4-5C47-7D97-C374-ACA325DC72CC}"/>
              </a:ext>
            </a:extLst>
          </p:cNvPr>
          <p:cNvSpPr/>
          <p:nvPr/>
        </p:nvSpPr>
        <p:spPr>
          <a:xfrm>
            <a:off x="1837697" y="5781044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9D63340-0F6F-384D-0D4B-19906C2F5205}"/>
              </a:ext>
            </a:extLst>
          </p:cNvPr>
          <p:cNvSpPr/>
          <p:nvPr/>
        </p:nvSpPr>
        <p:spPr>
          <a:xfrm>
            <a:off x="2235027" y="5439437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CE2A43A-C830-7F93-0393-448FE959FB31}"/>
              </a:ext>
            </a:extLst>
          </p:cNvPr>
          <p:cNvSpPr/>
          <p:nvPr/>
        </p:nvSpPr>
        <p:spPr>
          <a:xfrm>
            <a:off x="770269" y="6048560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7962230-2424-C478-7ED7-EA3644DD9D4D}"/>
              </a:ext>
            </a:extLst>
          </p:cNvPr>
          <p:cNvSpPr/>
          <p:nvPr/>
        </p:nvSpPr>
        <p:spPr>
          <a:xfrm>
            <a:off x="899160" y="5358493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5F3FE8D-3F81-12A3-FA60-026B8127A29C}"/>
              </a:ext>
            </a:extLst>
          </p:cNvPr>
          <p:cNvSpPr/>
          <p:nvPr/>
        </p:nvSpPr>
        <p:spPr>
          <a:xfrm>
            <a:off x="2169383" y="5747107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83A641B8-C67F-B950-71F4-FD46CDDB7859}"/>
              </a:ext>
            </a:extLst>
          </p:cNvPr>
          <p:cNvSpPr/>
          <p:nvPr/>
        </p:nvSpPr>
        <p:spPr>
          <a:xfrm>
            <a:off x="2192947" y="6130176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9E768F4-F7E9-92B8-48A1-EC335D30FD17}"/>
              </a:ext>
            </a:extLst>
          </p:cNvPr>
          <p:cNvSpPr/>
          <p:nvPr/>
        </p:nvSpPr>
        <p:spPr>
          <a:xfrm>
            <a:off x="2490800" y="5754119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0BE9454-35DF-35B7-E472-0F8755357FF8}"/>
              </a:ext>
            </a:extLst>
          </p:cNvPr>
          <p:cNvSpPr/>
          <p:nvPr/>
        </p:nvSpPr>
        <p:spPr>
          <a:xfrm>
            <a:off x="1065489" y="5948100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4C92104B-6F45-FF66-C8CB-223CCFA621E6}"/>
              </a:ext>
            </a:extLst>
          </p:cNvPr>
          <p:cNvSpPr/>
          <p:nvPr/>
        </p:nvSpPr>
        <p:spPr>
          <a:xfrm>
            <a:off x="1424600" y="6374052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45A6965-1897-FD9A-6F50-44D607794863}"/>
              </a:ext>
            </a:extLst>
          </p:cNvPr>
          <p:cNvSpPr/>
          <p:nvPr/>
        </p:nvSpPr>
        <p:spPr>
          <a:xfrm>
            <a:off x="546440" y="5804720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DB588B8D-67FE-ECCB-B3AA-DF5526C9A444}"/>
              </a:ext>
            </a:extLst>
          </p:cNvPr>
          <p:cNvSpPr/>
          <p:nvPr/>
        </p:nvSpPr>
        <p:spPr>
          <a:xfrm>
            <a:off x="1288230" y="5975651"/>
            <a:ext cx="251437" cy="25143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34E81EF-8E8F-2969-C679-A85A93A0F323}"/>
              </a:ext>
            </a:extLst>
          </p:cNvPr>
          <p:cNvSpPr/>
          <p:nvPr/>
        </p:nvSpPr>
        <p:spPr>
          <a:xfrm>
            <a:off x="1132124" y="5816785"/>
            <a:ext cx="555046" cy="555046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C366707F-E012-5189-F0D4-C13F9F6AD6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7710" y="6055389"/>
            <a:ext cx="162560" cy="1105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E0E7D9-1582-0C74-B709-7CA8E86B463C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The Bayes classifier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83A906-1FCA-738C-F663-4C39346CE225}"/>
              </a:ext>
            </a:extLst>
          </p:cNvPr>
          <p:cNvSpPr txBox="1"/>
          <p:nvPr/>
        </p:nvSpPr>
        <p:spPr>
          <a:xfrm>
            <a:off x="240033" y="929391"/>
            <a:ext cx="3905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want to find a function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3EE385-8687-C24C-D945-36230A83CE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7727" y="973384"/>
            <a:ext cx="2146300" cy="3429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4BB334F-061C-32CB-40F6-2DB04B6CC635}"/>
              </a:ext>
            </a:extLst>
          </p:cNvPr>
          <p:cNvSpPr txBox="1"/>
          <p:nvPr/>
        </p:nvSpPr>
        <p:spPr>
          <a:xfrm>
            <a:off x="6075897" y="910574"/>
            <a:ext cx="59522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uch that it minimizes 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probability error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DC3BBF-D243-8EF6-EEE6-4490415E695B}"/>
              </a:ext>
            </a:extLst>
          </p:cNvPr>
          <p:cNvSpPr txBox="1"/>
          <p:nvPr/>
        </p:nvSpPr>
        <p:spPr>
          <a:xfrm>
            <a:off x="240033" y="2502315"/>
            <a:ext cx="11144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optimal discriminant function for a test observation       is 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Bayes classifier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D316FF7-D82B-2E93-EEA0-C0E7AEC64C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6022" y="2643862"/>
            <a:ext cx="317500" cy="2159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1214434-B4C4-2E11-EDCC-E5E30C88EB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7417" y="1612850"/>
            <a:ext cx="6286500" cy="59690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EDDFF7A-20F0-234D-EBFD-6E8BD9401649}"/>
              </a:ext>
            </a:extLst>
          </p:cNvPr>
          <p:cNvGrpSpPr/>
          <p:nvPr/>
        </p:nvGrpSpPr>
        <p:grpSpPr>
          <a:xfrm>
            <a:off x="2669415" y="3225767"/>
            <a:ext cx="6853170" cy="1019052"/>
            <a:chOff x="2669415" y="5056628"/>
            <a:chExt cx="6853170" cy="1019052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E2B36EF7-9853-9A0F-64CF-15E806B34C3D}"/>
                </a:ext>
              </a:extLst>
            </p:cNvPr>
            <p:cNvSpPr/>
            <p:nvPr/>
          </p:nvSpPr>
          <p:spPr>
            <a:xfrm>
              <a:off x="2669415" y="5056628"/>
              <a:ext cx="6853170" cy="1019052"/>
            </a:xfrm>
            <a:prstGeom prst="roundRect">
              <a:avLst/>
            </a:prstGeom>
            <a:solidFill>
              <a:srgbClr val="E8EBE4"/>
            </a:solidFill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6F497E34-49C8-C319-D46B-DD53A157A09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940050" y="5192009"/>
              <a:ext cx="6311900" cy="736600"/>
            </a:xfrm>
            <a:prstGeom prst="rect">
              <a:avLst/>
            </a:prstGeom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18710A2-5DAB-396A-EA6C-CBD22D5E6802}"/>
              </a:ext>
            </a:extLst>
          </p:cNvPr>
          <p:cNvSpPr txBox="1"/>
          <p:nvPr/>
        </p:nvSpPr>
        <p:spPr>
          <a:xfrm>
            <a:off x="240033" y="4453314"/>
            <a:ext cx="1923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example,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140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>
            <a:extLst>
              <a:ext uri="{FF2B5EF4-FFF2-40B4-BE49-F238E27FC236}">
                <a16:creationId xmlns:a16="http://schemas.microsoft.com/office/drawing/2014/main" id="{6FDBF15A-CB5A-48E4-A5A7-38C9378650AB}"/>
              </a:ext>
            </a:extLst>
          </p:cNvPr>
          <p:cNvSpPr/>
          <p:nvPr/>
        </p:nvSpPr>
        <p:spPr>
          <a:xfrm>
            <a:off x="1370274" y="5335693"/>
            <a:ext cx="555046" cy="555046"/>
          </a:xfrm>
          <a:prstGeom prst="ellipse">
            <a:avLst/>
          </a:prstGeom>
          <a:solidFill>
            <a:schemeClr val="bg1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E26B34F-0A8F-D041-86F5-6455F347F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400" y="5086800"/>
            <a:ext cx="5029200" cy="5969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10C0ECE-7A74-E204-234B-2CA37B055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303" y="5886000"/>
            <a:ext cx="5029200" cy="5969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DE6AF6-DA30-424B-9D8F-3B23D1DDC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3600" y="5604526"/>
            <a:ext cx="1282700" cy="342900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06272B64-0DE1-D452-CE73-51A8848717DD}"/>
              </a:ext>
            </a:extLst>
          </p:cNvPr>
          <p:cNvSpPr/>
          <p:nvPr/>
        </p:nvSpPr>
        <p:spPr>
          <a:xfrm>
            <a:off x="629920" y="5364480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83E2278-40B4-59CF-11EF-E8E8CCFC09AE}"/>
              </a:ext>
            </a:extLst>
          </p:cNvPr>
          <p:cNvSpPr/>
          <p:nvPr/>
        </p:nvSpPr>
        <p:spPr>
          <a:xfrm>
            <a:off x="1180760" y="5432747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414FD76-F262-2512-E80D-AF2DD7290D4E}"/>
              </a:ext>
            </a:extLst>
          </p:cNvPr>
          <p:cNvSpPr/>
          <p:nvPr/>
        </p:nvSpPr>
        <p:spPr>
          <a:xfrm>
            <a:off x="904240" y="5723440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2E2B2D5-D0E9-EFFF-10FD-F4CFA88367F7}"/>
              </a:ext>
            </a:extLst>
          </p:cNvPr>
          <p:cNvSpPr/>
          <p:nvPr/>
        </p:nvSpPr>
        <p:spPr>
          <a:xfrm>
            <a:off x="1142608" y="6181330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9B60008-C3E6-59DF-C49D-FB7E56815661}"/>
              </a:ext>
            </a:extLst>
          </p:cNvPr>
          <p:cNvSpPr/>
          <p:nvPr/>
        </p:nvSpPr>
        <p:spPr>
          <a:xfrm>
            <a:off x="1262040" y="5754119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3F658A7-7E91-5C6A-88C3-1C74F7887C83}"/>
              </a:ext>
            </a:extLst>
          </p:cNvPr>
          <p:cNvSpPr/>
          <p:nvPr/>
        </p:nvSpPr>
        <p:spPr>
          <a:xfrm>
            <a:off x="2424853" y="5192027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EB8C265-CCED-57B6-397C-50E2BFC8889C}"/>
              </a:ext>
            </a:extLst>
          </p:cNvPr>
          <p:cNvSpPr/>
          <p:nvPr/>
        </p:nvSpPr>
        <p:spPr>
          <a:xfrm>
            <a:off x="1877987" y="6103703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8B1E8FA-DE59-7ED6-3A1F-C72123B92E70}"/>
              </a:ext>
            </a:extLst>
          </p:cNvPr>
          <p:cNvSpPr/>
          <p:nvPr/>
        </p:nvSpPr>
        <p:spPr>
          <a:xfrm>
            <a:off x="1694520" y="5138374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765D165-28B7-572C-16CD-64AC44C995C4}"/>
              </a:ext>
            </a:extLst>
          </p:cNvPr>
          <p:cNvSpPr/>
          <p:nvPr/>
        </p:nvSpPr>
        <p:spPr>
          <a:xfrm>
            <a:off x="2008880" y="5158119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9002AE3-D729-5934-D2E1-123601D4CCCD}"/>
              </a:ext>
            </a:extLst>
          </p:cNvPr>
          <p:cNvSpPr/>
          <p:nvPr/>
        </p:nvSpPr>
        <p:spPr>
          <a:xfrm>
            <a:off x="1837697" y="5781044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C77DA7F-A219-6075-42C3-FCAA2E1744D7}"/>
              </a:ext>
            </a:extLst>
          </p:cNvPr>
          <p:cNvSpPr/>
          <p:nvPr/>
        </p:nvSpPr>
        <p:spPr>
          <a:xfrm>
            <a:off x="2235027" y="5439437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C510055-C3EE-B6E8-56A7-DF8B818B22D9}"/>
              </a:ext>
            </a:extLst>
          </p:cNvPr>
          <p:cNvSpPr/>
          <p:nvPr/>
        </p:nvSpPr>
        <p:spPr>
          <a:xfrm>
            <a:off x="770269" y="6048560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7C1EC9D-F17C-73E7-8858-BBD5701E352A}"/>
              </a:ext>
            </a:extLst>
          </p:cNvPr>
          <p:cNvSpPr/>
          <p:nvPr/>
        </p:nvSpPr>
        <p:spPr>
          <a:xfrm>
            <a:off x="899160" y="5358493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C8EEEE2-AEA6-A846-AE91-778BB1D9DFF7}"/>
              </a:ext>
            </a:extLst>
          </p:cNvPr>
          <p:cNvSpPr/>
          <p:nvPr/>
        </p:nvSpPr>
        <p:spPr>
          <a:xfrm>
            <a:off x="2169383" y="5747107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E4A8A00-DC11-1733-491C-68D64A279DF7}"/>
              </a:ext>
            </a:extLst>
          </p:cNvPr>
          <p:cNvSpPr/>
          <p:nvPr/>
        </p:nvSpPr>
        <p:spPr>
          <a:xfrm>
            <a:off x="2192947" y="6130176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D8EE505-503B-6331-1627-D30DDD2D6311}"/>
              </a:ext>
            </a:extLst>
          </p:cNvPr>
          <p:cNvSpPr/>
          <p:nvPr/>
        </p:nvSpPr>
        <p:spPr>
          <a:xfrm>
            <a:off x="2490800" y="5754119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6322D2C-5A45-AECB-8BFA-0B381F7017EA}"/>
              </a:ext>
            </a:extLst>
          </p:cNvPr>
          <p:cNvSpPr/>
          <p:nvPr/>
        </p:nvSpPr>
        <p:spPr>
          <a:xfrm>
            <a:off x="1065489" y="5948100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7BB737A-F028-7111-1DE2-873217CF9CB1}"/>
              </a:ext>
            </a:extLst>
          </p:cNvPr>
          <p:cNvSpPr/>
          <p:nvPr/>
        </p:nvSpPr>
        <p:spPr>
          <a:xfrm>
            <a:off x="1424600" y="6374052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999C09A-DCDC-0274-B3E1-EB991666A2E1}"/>
              </a:ext>
            </a:extLst>
          </p:cNvPr>
          <p:cNvSpPr/>
          <p:nvPr/>
        </p:nvSpPr>
        <p:spPr>
          <a:xfrm>
            <a:off x="546440" y="5804720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B7FF86D-C6DB-384C-E12F-A7C90E90F6FA}"/>
              </a:ext>
            </a:extLst>
          </p:cNvPr>
          <p:cNvSpPr/>
          <p:nvPr/>
        </p:nvSpPr>
        <p:spPr>
          <a:xfrm>
            <a:off x="1526380" y="5494559"/>
            <a:ext cx="251437" cy="25143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5697DBA9-4481-A8F2-0BBA-29758B4B63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5860" y="5574297"/>
            <a:ext cx="162560" cy="1105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44B6B0-4D23-81EF-0216-30DB9D266725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The Bayes classifier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60E350-EAD2-9462-070C-03409E6F1EC4}"/>
              </a:ext>
            </a:extLst>
          </p:cNvPr>
          <p:cNvSpPr txBox="1"/>
          <p:nvPr/>
        </p:nvSpPr>
        <p:spPr>
          <a:xfrm>
            <a:off x="240033" y="929391"/>
            <a:ext cx="3905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want to find a function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1C8C814-1574-E2CB-957A-EE3E74A5D1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7727" y="973384"/>
            <a:ext cx="2146300" cy="3429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EC5E5BF-8D46-D081-E644-6FFDB964C248}"/>
              </a:ext>
            </a:extLst>
          </p:cNvPr>
          <p:cNvSpPr txBox="1"/>
          <p:nvPr/>
        </p:nvSpPr>
        <p:spPr>
          <a:xfrm>
            <a:off x="6075897" y="910574"/>
            <a:ext cx="59522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uch that it minimizes 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probability error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31F16F-BAC7-70C4-3AFE-C85E5F15EED4}"/>
              </a:ext>
            </a:extLst>
          </p:cNvPr>
          <p:cNvSpPr txBox="1"/>
          <p:nvPr/>
        </p:nvSpPr>
        <p:spPr>
          <a:xfrm>
            <a:off x="240033" y="2502315"/>
            <a:ext cx="11144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optimal discriminant function for a test observation       is 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Bayes classifier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FC3F31A-9DD4-7FE9-B5E6-DC1EEFEC04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6022" y="2643862"/>
            <a:ext cx="317500" cy="2159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FDC0D3D-218F-5CF8-9624-E86D26A479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7417" y="1612850"/>
            <a:ext cx="6286500" cy="596900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7C7997AC-57B2-8D00-0983-FF8D8BCD3486}"/>
              </a:ext>
            </a:extLst>
          </p:cNvPr>
          <p:cNvGrpSpPr/>
          <p:nvPr/>
        </p:nvGrpSpPr>
        <p:grpSpPr>
          <a:xfrm>
            <a:off x="2669415" y="3225767"/>
            <a:ext cx="6853170" cy="1019052"/>
            <a:chOff x="2669415" y="5056628"/>
            <a:chExt cx="6853170" cy="1019052"/>
          </a:xfrm>
        </p:grpSpPr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090DA431-CC51-A17A-F837-4633F187E892}"/>
                </a:ext>
              </a:extLst>
            </p:cNvPr>
            <p:cNvSpPr/>
            <p:nvPr/>
          </p:nvSpPr>
          <p:spPr>
            <a:xfrm>
              <a:off x="2669415" y="5056628"/>
              <a:ext cx="6853170" cy="1019052"/>
            </a:xfrm>
            <a:prstGeom prst="roundRect">
              <a:avLst/>
            </a:prstGeom>
            <a:solidFill>
              <a:srgbClr val="E8EBE4"/>
            </a:solidFill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00C0FFDA-3864-0461-8B22-F6882FA97F0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940050" y="5192009"/>
              <a:ext cx="6311900" cy="736600"/>
            </a:xfrm>
            <a:prstGeom prst="rect">
              <a:avLst/>
            </a:prstGeom>
          </p:spPr>
        </p:pic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1E9FDD97-3E66-4A6A-AF24-A47366537499}"/>
              </a:ext>
            </a:extLst>
          </p:cNvPr>
          <p:cNvSpPr txBox="1"/>
          <p:nvPr/>
        </p:nvSpPr>
        <p:spPr>
          <a:xfrm>
            <a:off x="240033" y="4453314"/>
            <a:ext cx="1923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example,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139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E26B34F-0A8F-D041-86F5-6455F347F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400" y="5086800"/>
            <a:ext cx="5029200" cy="5969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10C0ECE-7A74-E204-234B-2CA37B055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303" y="5886000"/>
            <a:ext cx="5029200" cy="5969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DE6AF6-DA30-424B-9D8F-3B23D1DDC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3600" y="5604526"/>
            <a:ext cx="1282700" cy="342900"/>
          </a:xfrm>
          <a:prstGeom prst="rect">
            <a:avLst/>
          </a:prstGeom>
        </p:spPr>
      </p:pic>
      <p:sp>
        <p:nvSpPr>
          <p:cNvPr id="19" name="Freeform 18">
            <a:extLst>
              <a:ext uri="{FF2B5EF4-FFF2-40B4-BE49-F238E27FC236}">
                <a16:creationId xmlns:a16="http://schemas.microsoft.com/office/drawing/2014/main" id="{B9603D03-E410-7DDB-E983-4970D396E9D9}"/>
              </a:ext>
            </a:extLst>
          </p:cNvPr>
          <p:cNvSpPr/>
          <p:nvPr/>
        </p:nvSpPr>
        <p:spPr>
          <a:xfrm>
            <a:off x="1056640" y="5201920"/>
            <a:ext cx="1402080" cy="1314027"/>
          </a:xfrm>
          <a:custGeom>
            <a:avLst/>
            <a:gdLst>
              <a:gd name="connsiteX0" fmla="*/ 0 w 1402080"/>
              <a:gd name="connsiteY0" fmla="*/ 0 h 1314027"/>
              <a:gd name="connsiteX1" fmla="*/ 717973 w 1402080"/>
              <a:gd name="connsiteY1" fmla="*/ 304800 h 1314027"/>
              <a:gd name="connsiteX2" fmla="*/ 508000 w 1402080"/>
              <a:gd name="connsiteY2" fmla="*/ 961813 h 1314027"/>
              <a:gd name="connsiteX3" fmla="*/ 1402080 w 1402080"/>
              <a:gd name="connsiteY3" fmla="*/ 1314027 h 1314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2080" h="1314027">
                <a:moveTo>
                  <a:pt x="0" y="0"/>
                </a:moveTo>
                <a:cubicBezTo>
                  <a:pt x="316653" y="72249"/>
                  <a:pt x="633306" y="144498"/>
                  <a:pt x="717973" y="304800"/>
                </a:cubicBezTo>
                <a:cubicBezTo>
                  <a:pt x="802640" y="465102"/>
                  <a:pt x="393982" y="793609"/>
                  <a:pt x="508000" y="961813"/>
                </a:cubicBezTo>
                <a:cubicBezTo>
                  <a:pt x="622018" y="1130018"/>
                  <a:pt x="1012049" y="1222022"/>
                  <a:pt x="1402080" y="1314027"/>
                </a:cubicBez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6272B64-0DE1-D452-CE73-51A8848717DD}"/>
              </a:ext>
            </a:extLst>
          </p:cNvPr>
          <p:cNvSpPr/>
          <p:nvPr/>
        </p:nvSpPr>
        <p:spPr>
          <a:xfrm>
            <a:off x="629920" y="5364480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83E2278-40B4-59CF-11EF-E8E8CCFC09AE}"/>
              </a:ext>
            </a:extLst>
          </p:cNvPr>
          <p:cNvSpPr/>
          <p:nvPr/>
        </p:nvSpPr>
        <p:spPr>
          <a:xfrm>
            <a:off x="1180760" y="5432747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414FD76-F262-2512-E80D-AF2DD7290D4E}"/>
              </a:ext>
            </a:extLst>
          </p:cNvPr>
          <p:cNvSpPr/>
          <p:nvPr/>
        </p:nvSpPr>
        <p:spPr>
          <a:xfrm>
            <a:off x="904240" y="5723440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2E2B2D5-D0E9-EFFF-10FD-F4CFA88367F7}"/>
              </a:ext>
            </a:extLst>
          </p:cNvPr>
          <p:cNvSpPr/>
          <p:nvPr/>
        </p:nvSpPr>
        <p:spPr>
          <a:xfrm>
            <a:off x="1142608" y="6181330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9B60008-C3E6-59DF-C49D-FB7E56815661}"/>
              </a:ext>
            </a:extLst>
          </p:cNvPr>
          <p:cNvSpPr/>
          <p:nvPr/>
        </p:nvSpPr>
        <p:spPr>
          <a:xfrm>
            <a:off x="1262040" y="5754119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3F658A7-7E91-5C6A-88C3-1C74F7887C83}"/>
              </a:ext>
            </a:extLst>
          </p:cNvPr>
          <p:cNvSpPr/>
          <p:nvPr/>
        </p:nvSpPr>
        <p:spPr>
          <a:xfrm>
            <a:off x="2424853" y="5192027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EB8C265-CCED-57B6-397C-50E2BFC8889C}"/>
              </a:ext>
            </a:extLst>
          </p:cNvPr>
          <p:cNvSpPr/>
          <p:nvPr/>
        </p:nvSpPr>
        <p:spPr>
          <a:xfrm>
            <a:off x="1877987" y="6103703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8B1E8FA-DE59-7ED6-3A1F-C72123B92E70}"/>
              </a:ext>
            </a:extLst>
          </p:cNvPr>
          <p:cNvSpPr/>
          <p:nvPr/>
        </p:nvSpPr>
        <p:spPr>
          <a:xfrm>
            <a:off x="1694520" y="5138374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765D165-28B7-572C-16CD-64AC44C995C4}"/>
              </a:ext>
            </a:extLst>
          </p:cNvPr>
          <p:cNvSpPr/>
          <p:nvPr/>
        </p:nvSpPr>
        <p:spPr>
          <a:xfrm>
            <a:off x="2008880" y="5158119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9002AE3-D729-5934-D2E1-123601D4CCCD}"/>
              </a:ext>
            </a:extLst>
          </p:cNvPr>
          <p:cNvSpPr/>
          <p:nvPr/>
        </p:nvSpPr>
        <p:spPr>
          <a:xfrm>
            <a:off x="1837697" y="5781044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C77DA7F-A219-6075-42C3-FCAA2E1744D7}"/>
              </a:ext>
            </a:extLst>
          </p:cNvPr>
          <p:cNvSpPr/>
          <p:nvPr/>
        </p:nvSpPr>
        <p:spPr>
          <a:xfrm>
            <a:off x="2235027" y="5439437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C510055-C3EE-B6E8-56A7-DF8B818B22D9}"/>
              </a:ext>
            </a:extLst>
          </p:cNvPr>
          <p:cNvSpPr/>
          <p:nvPr/>
        </p:nvSpPr>
        <p:spPr>
          <a:xfrm>
            <a:off x="770269" y="6048560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7C1EC9D-F17C-73E7-8858-BBD5701E352A}"/>
              </a:ext>
            </a:extLst>
          </p:cNvPr>
          <p:cNvSpPr/>
          <p:nvPr/>
        </p:nvSpPr>
        <p:spPr>
          <a:xfrm>
            <a:off x="899160" y="5358493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C8EEEE2-AEA6-A846-AE91-778BB1D9DFF7}"/>
              </a:ext>
            </a:extLst>
          </p:cNvPr>
          <p:cNvSpPr/>
          <p:nvPr/>
        </p:nvSpPr>
        <p:spPr>
          <a:xfrm>
            <a:off x="2169383" y="5747107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E4A8A00-DC11-1733-491C-68D64A279DF7}"/>
              </a:ext>
            </a:extLst>
          </p:cNvPr>
          <p:cNvSpPr/>
          <p:nvPr/>
        </p:nvSpPr>
        <p:spPr>
          <a:xfrm>
            <a:off x="2192947" y="6130176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D8EE505-503B-6331-1627-D30DDD2D6311}"/>
              </a:ext>
            </a:extLst>
          </p:cNvPr>
          <p:cNvSpPr/>
          <p:nvPr/>
        </p:nvSpPr>
        <p:spPr>
          <a:xfrm>
            <a:off x="2490800" y="5754119"/>
            <a:ext cx="162560" cy="162560"/>
          </a:xfrm>
          <a:prstGeom prst="ellipse">
            <a:avLst/>
          </a:prstGeom>
          <a:solidFill>
            <a:srgbClr val="FA27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6322D2C-5A45-AECB-8BFA-0B381F7017EA}"/>
              </a:ext>
            </a:extLst>
          </p:cNvPr>
          <p:cNvSpPr/>
          <p:nvPr/>
        </p:nvSpPr>
        <p:spPr>
          <a:xfrm>
            <a:off x="1065489" y="5948100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7BB737A-F028-7111-1DE2-873217CF9CB1}"/>
              </a:ext>
            </a:extLst>
          </p:cNvPr>
          <p:cNvSpPr/>
          <p:nvPr/>
        </p:nvSpPr>
        <p:spPr>
          <a:xfrm>
            <a:off x="1424600" y="6374052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999C09A-DCDC-0274-B3E1-EB991666A2E1}"/>
              </a:ext>
            </a:extLst>
          </p:cNvPr>
          <p:cNvSpPr/>
          <p:nvPr/>
        </p:nvSpPr>
        <p:spPr>
          <a:xfrm>
            <a:off x="546440" y="5804720"/>
            <a:ext cx="162560" cy="1625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AFA1C7-31A5-386F-EEF9-CBC122ECBF8D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The Bayes classifier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C0255C-C491-DD56-B227-AAAFE4725A2B}"/>
              </a:ext>
            </a:extLst>
          </p:cNvPr>
          <p:cNvSpPr txBox="1"/>
          <p:nvPr/>
        </p:nvSpPr>
        <p:spPr>
          <a:xfrm>
            <a:off x="240033" y="929391"/>
            <a:ext cx="3905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want to find a function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8DEEE6D-A86A-7F86-79E9-258F1EA471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27" y="973384"/>
            <a:ext cx="2146300" cy="3429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A0FE4B5-84FD-BBC6-5A63-77A722C1AEA6}"/>
              </a:ext>
            </a:extLst>
          </p:cNvPr>
          <p:cNvSpPr txBox="1"/>
          <p:nvPr/>
        </p:nvSpPr>
        <p:spPr>
          <a:xfrm>
            <a:off x="6075897" y="910574"/>
            <a:ext cx="59522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uch that it minimizes 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probability error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892C93-DBE6-A124-117F-D92583BDDA1A}"/>
              </a:ext>
            </a:extLst>
          </p:cNvPr>
          <p:cNvSpPr txBox="1"/>
          <p:nvPr/>
        </p:nvSpPr>
        <p:spPr>
          <a:xfrm>
            <a:off x="240033" y="2502315"/>
            <a:ext cx="11144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optimal discriminant function for a test observation       is 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Bayes classifier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D640038-B5E3-73C4-2806-549A6FB26B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6022" y="2643862"/>
            <a:ext cx="317500" cy="2159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665BF38-E3C9-C2C3-F9BF-41AA66D16E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7417" y="1612850"/>
            <a:ext cx="6286500" cy="596900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1A927AD1-412F-70EF-3F1E-2C20D0D47D60}"/>
              </a:ext>
            </a:extLst>
          </p:cNvPr>
          <p:cNvGrpSpPr/>
          <p:nvPr/>
        </p:nvGrpSpPr>
        <p:grpSpPr>
          <a:xfrm>
            <a:off x="2669415" y="3225767"/>
            <a:ext cx="6853170" cy="1019052"/>
            <a:chOff x="2669415" y="5056628"/>
            <a:chExt cx="6853170" cy="1019052"/>
          </a:xfrm>
        </p:grpSpPr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66C078C7-9BB7-D491-58C5-236C625D12B7}"/>
                </a:ext>
              </a:extLst>
            </p:cNvPr>
            <p:cNvSpPr/>
            <p:nvPr/>
          </p:nvSpPr>
          <p:spPr>
            <a:xfrm>
              <a:off x="2669415" y="5056628"/>
              <a:ext cx="6853170" cy="1019052"/>
            </a:xfrm>
            <a:prstGeom prst="roundRect">
              <a:avLst/>
            </a:prstGeom>
            <a:solidFill>
              <a:srgbClr val="E8EBE4"/>
            </a:solidFill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21221C70-FA4C-A52E-DD80-E62DF2769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940050" y="5192009"/>
              <a:ext cx="6311900" cy="736600"/>
            </a:xfrm>
            <a:prstGeom prst="rect">
              <a:avLst/>
            </a:prstGeom>
          </p:spPr>
        </p:pic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C65BA352-BBBC-C977-8D88-48C8E4FCD888}"/>
              </a:ext>
            </a:extLst>
          </p:cNvPr>
          <p:cNvSpPr txBox="1"/>
          <p:nvPr/>
        </p:nvSpPr>
        <p:spPr>
          <a:xfrm>
            <a:off x="240033" y="4453314"/>
            <a:ext cx="1923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example,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085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D97BE0-1E43-7C08-EA2C-2E078AF6CEE7}"/>
              </a:ext>
            </a:extLst>
          </p:cNvPr>
          <p:cNvSpPr txBox="1"/>
          <p:nvPr/>
        </p:nvSpPr>
        <p:spPr>
          <a:xfrm>
            <a:off x="240033" y="929391"/>
            <a:ext cx="61093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Example: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Consider the simple case in which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F98970-9E45-8AF0-D575-650C6D2ED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01" y="1666932"/>
            <a:ext cx="6411680" cy="7012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66B1725-9086-37F9-1F61-FFE6FDD6A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01" y="2773685"/>
            <a:ext cx="6411680" cy="7012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0669C9F-8471-A4FD-7A03-058359379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600" y="3880437"/>
            <a:ext cx="4140877" cy="60109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93B1E03-C3D9-C8D3-5EAB-E0956CBE248C}"/>
              </a:ext>
            </a:extLst>
          </p:cNvPr>
          <p:cNvSpPr txBox="1"/>
          <p:nvPr/>
        </p:nvSpPr>
        <p:spPr>
          <a:xfrm>
            <a:off x="240033" y="4950004"/>
            <a:ext cx="4540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Show that 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Bayes classifier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1DA614F-DB7A-E6BE-CEE1-B4C80FD7EA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058" y="5037991"/>
            <a:ext cx="2032000" cy="3556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4CAD552-A77E-9E3A-E689-D1A603D99E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7532" y="4872890"/>
            <a:ext cx="2324100" cy="6858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987743F1-42D6-59FB-6E8F-DC86E8ACD573}"/>
              </a:ext>
            </a:extLst>
          </p:cNvPr>
          <p:cNvSpPr txBox="1"/>
          <p:nvPr/>
        </p:nvSpPr>
        <p:spPr>
          <a:xfrm>
            <a:off x="6841596" y="5000347"/>
            <a:ext cx="1027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where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F6F35AEF-CAF9-F1B8-B0A0-B92FC8C747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1108" y="1043965"/>
            <a:ext cx="4565511" cy="33366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C6EC38-214A-9C89-9A5E-83603A1C41AE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The Bayes classifier</a:t>
            </a:r>
          </a:p>
        </p:txBody>
      </p:sp>
    </p:spTree>
    <p:extLst>
      <p:ext uri="{BB962C8B-B14F-4D97-AF65-F5344CB8AC3E}">
        <p14:creationId xmlns:p14="http://schemas.microsoft.com/office/powerpoint/2010/main" val="2416361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41E2808-127D-CB36-E864-78DA27569110}"/>
              </a:ext>
            </a:extLst>
          </p:cNvPr>
          <p:cNvSpPr/>
          <p:nvPr/>
        </p:nvSpPr>
        <p:spPr>
          <a:xfrm>
            <a:off x="2610918" y="1031835"/>
            <a:ext cx="6970163" cy="945728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7AC831-8F7C-9792-A847-B4F630CA8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049" y="1171151"/>
            <a:ext cx="6311900" cy="673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CC080FF-5F98-F32F-E285-3C74EEA860C8}"/>
              </a:ext>
            </a:extLst>
          </p:cNvPr>
          <p:cNvSpPr txBox="1"/>
          <p:nvPr/>
        </p:nvSpPr>
        <p:spPr>
          <a:xfrm>
            <a:off x="1589797" y="2245621"/>
            <a:ext cx="90124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problem of classification can be split into two separate stages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7A581B9-68F0-8469-FD47-11347D89D13C}"/>
              </a:ext>
            </a:extLst>
          </p:cNvPr>
          <p:cNvSpPr/>
          <p:nvPr/>
        </p:nvSpPr>
        <p:spPr>
          <a:xfrm>
            <a:off x="2681278" y="3097594"/>
            <a:ext cx="2041071" cy="751114"/>
          </a:xfrm>
          <a:prstGeom prst="roundRect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799791-F256-6F9E-5877-F2CB8B16EBA9}"/>
              </a:ext>
            </a:extLst>
          </p:cNvPr>
          <p:cNvSpPr txBox="1"/>
          <p:nvPr/>
        </p:nvSpPr>
        <p:spPr>
          <a:xfrm>
            <a:off x="2841025" y="3242954"/>
            <a:ext cx="18485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solidFill>
                  <a:srgbClr val="E8EBE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INFERENCE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AB4DB37-3E5A-D0A2-D944-E0C1690774C7}"/>
              </a:ext>
            </a:extLst>
          </p:cNvPr>
          <p:cNvGrpSpPr/>
          <p:nvPr/>
        </p:nvGrpSpPr>
        <p:grpSpPr>
          <a:xfrm>
            <a:off x="1691487" y="4008820"/>
            <a:ext cx="4020652" cy="855556"/>
            <a:chOff x="1377852" y="4340226"/>
            <a:chExt cx="4020652" cy="855556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C946A76-FF88-332E-2634-5A729A5CBC30}"/>
                </a:ext>
              </a:extLst>
            </p:cNvPr>
            <p:cNvSpPr txBox="1"/>
            <p:nvPr/>
          </p:nvSpPr>
          <p:spPr>
            <a:xfrm>
              <a:off x="1377852" y="4340226"/>
              <a:ext cx="40206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Use training data to </a:t>
              </a:r>
              <a:r>
                <a:rPr lang="en-FR" dirty="0">
                  <a:solidFill>
                    <a:srgbClr val="FA2743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learn a model </a:t>
              </a:r>
              <a:r>
                <a:rPr lang="en-FR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for 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F1CC890-E1B3-EB76-DA7C-612F1E904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11828" y="4776682"/>
              <a:ext cx="2552700" cy="419100"/>
            </a:xfrm>
            <a:prstGeom prst="rect">
              <a:avLst/>
            </a:prstGeom>
          </p:spPr>
        </p:pic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DDEC2F2-08E4-6734-F4AA-5172E1C6DE20}"/>
              </a:ext>
            </a:extLst>
          </p:cNvPr>
          <p:cNvSpPr/>
          <p:nvPr/>
        </p:nvSpPr>
        <p:spPr>
          <a:xfrm>
            <a:off x="7430283" y="3097594"/>
            <a:ext cx="2041071" cy="751114"/>
          </a:xfrm>
          <a:prstGeom prst="roundRect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41F988-FA95-BAC5-0563-021FC1B92F44}"/>
              </a:ext>
            </a:extLst>
          </p:cNvPr>
          <p:cNvSpPr txBox="1"/>
          <p:nvPr/>
        </p:nvSpPr>
        <p:spPr>
          <a:xfrm>
            <a:off x="7677290" y="3227227"/>
            <a:ext cx="1624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solidFill>
                  <a:srgbClr val="E8EBE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68C684-705B-D178-FA3A-A9C2E78A28C2}"/>
              </a:ext>
            </a:extLst>
          </p:cNvPr>
          <p:cNvSpPr txBox="1"/>
          <p:nvPr/>
        </p:nvSpPr>
        <p:spPr>
          <a:xfrm>
            <a:off x="6793156" y="4008820"/>
            <a:ext cx="3707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Use the learned posterior to make optimal </a:t>
            </a:r>
            <a:r>
              <a:rPr lang="en-FR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class assignments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308F75-DE73-84EF-F974-E05D396AF9B7}"/>
              </a:ext>
            </a:extLst>
          </p:cNvPr>
          <p:cNvSpPr txBox="1"/>
          <p:nvPr/>
        </p:nvSpPr>
        <p:spPr>
          <a:xfrm>
            <a:off x="516633" y="5285463"/>
            <a:ext cx="111043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00B0F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Discriminative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approaches to classification approximate the posterior distribution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11F2AE-05BC-ADC6-F14A-92840156A363}"/>
              </a:ext>
            </a:extLst>
          </p:cNvPr>
          <p:cNvSpPr txBox="1"/>
          <p:nvPr/>
        </p:nvSpPr>
        <p:spPr>
          <a:xfrm>
            <a:off x="516633" y="5852676"/>
            <a:ext cx="112806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Generative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approaches aim at modeling the full probability distribution of the data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6716FE4-6362-C3ED-A445-83E28FC96F1D}"/>
              </a:ext>
            </a:extLst>
          </p:cNvPr>
          <p:cNvSpPr/>
          <p:nvPr/>
        </p:nvSpPr>
        <p:spPr>
          <a:xfrm>
            <a:off x="1129617" y="3307448"/>
            <a:ext cx="331406" cy="331406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EF432D3-A48A-2C9B-5C13-9FEC9F207B90}"/>
              </a:ext>
            </a:extLst>
          </p:cNvPr>
          <p:cNvSpPr/>
          <p:nvPr/>
        </p:nvSpPr>
        <p:spPr>
          <a:xfrm>
            <a:off x="10691609" y="3307447"/>
            <a:ext cx="331406" cy="331406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ACB8841-1ED9-A490-BB2B-1A87187A0344}"/>
              </a:ext>
            </a:extLst>
          </p:cNvPr>
          <p:cNvCxnSpPr>
            <a:stCxn id="36" idx="6"/>
            <a:endCxn id="13" idx="1"/>
          </p:cNvCxnSpPr>
          <p:nvPr/>
        </p:nvCxnSpPr>
        <p:spPr>
          <a:xfrm>
            <a:off x="1461023" y="3473151"/>
            <a:ext cx="1220255" cy="0"/>
          </a:xfrm>
          <a:prstGeom prst="line">
            <a:avLst/>
          </a:prstGeom>
          <a:ln w="38100">
            <a:solidFill>
              <a:srgbClr val="FA2743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6797F20-2E5F-C159-B322-5B4A55161F00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>
            <a:off x="4722349" y="3473151"/>
            <a:ext cx="2707934" cy="0"/>
          </a:xfrm>
          <a:prstGeom prst="line">
            <a:avLst/>
          </a:prstGeom>
          <a:ln w="38100">
            <a:solidFill>
              <a:srgbClr val="FA2743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A4DC0D7-BB4E-00BE-BEF4-7DFD2C332A0B}"/>
              </a:ext>
            </a:extLst>
          </p:cNvPr>
          <p:cNvCxnSpPr/>
          <p:nvPr/>
        </p:nvCxnSpPr>
        <p:spPr>
          <a:xfrm>
            <a:off x="9471354" y="3473150"/>
            <a:ext cx="1220255" cy="0"/>
          </a:xfrm>
          <a:prstGeom prst="line">
            <a:avLst/>
          </a:prstGeom>
          <a:ln w="38100">
            <a:solidFill>
              <a:srgbClr val="FA2743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A4CEA1A-2172-E42A-6607-E9A766AB353A}"/>
              </a:ext>
            </a:extLst>
          </p:cNvPr>
          <p:cNvSpPr txBox="1"/>
          <p:nvPr/>
        </p:nvSpPr>
        <p:spPr>
          <a:xfrm>
            <a:off x="663576" y="2854948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</a:t>
            </a:r>
            <a:r>
              <a:rPr lang="en-FR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ata point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57AEC42-7418-2BB4-F55D-50A845D7BDD7}"/>
              </a:ext>
            </a:extLst>
          </p:cNvPr>
          <p:cNvSpPr txBox="1"/>
          <p:nvPr/>
        </p:nvSpPr>
        <p:spPr>
          <a:xfrm>
            <a:off x="10225568" y="2858796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Prediction</a:t>
            </a:r>
            <a:endParaRPr lang="en-FR" b="1" dirty="0">
              <a:solidFill>
                <a:srgbClr val="FA2743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3AF153-23BC-C09C-4876-A8ACA1E95857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The Bayes classifier</a:t>
            </a:r>
          </a:p>
        </p:txBody>
      </p:sp>
    </p:spTree>
    <p:extLst>
      <p:ext uri="{BB962C8B-B14F-4D97-AF65-F5344CB8AC3E}">
        <p14:creationId xmlns:p14="http://schemas.microsoft.com/office/powerpoint/2010/main" val="4251408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0641C8F-2D42-CB0D-3788-CF942AB23426}"/>
              </a:ext>
            </a:extLst>
          </p:cNvPr>
          <p:cNvGrpSpPr/>
          <p:nvPr/>
        </p:nvGrpSpPr>
        <p:grpSpPr>
          <a:xfrm>
            <a:off x="1124114" y="2039595"/>
            <a:ext cx="3828899" cy="3412403"/>
            <a:chOff x="1542386" y="2708379"/>
            <a:chExt cx="3828899" cy="3412403"/>
          </a:xfrm>
        </p:grpSpPr>
        <p:pic>
          <p:nvPicPr>
            <p:cNvPr id="9" name="Picture 8" descr="A picture containing dog, outdoor, sitting, laying&#10;&#10;Description automatically generated">
              <a:extLst>
                <a:ext uri="{FF2B5EF4-FFF2-40B4-BE49-F238E27FC236}">
                  <a16:creationId xmlns:a16="http://schemas.microsoft.com/office/drawing/2014/main" id="{9A799B64-90E6-F803-3D1F-C304DCB52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93663" y="2708379"/>
              <a:ext cx="1861944" cy="1861944"/>
            </a:xfrm>
            <a:prstGeom prst="rect">
              <a:avLst/>
            </a:prstGeom>
          </p:spPr>
        </p:pic>
        <p:pic>
          <p:nvPicPr>
            <p:cNvPr id="4" name="Picture 3" descr="A picture containing dog, sitting, wearing, mammal&#10;&#10;Description automatically generated">
              <a:extLst>
                <a:ext uri="{FF2B5EF4-FFF2-40B4-BE49-F238E27FC236}">
                  <a16:creationId xmlns:a16="http://schemas.microsoft.com/office/drawing/2014/main" id="{EB5FFDEA-91FD-DFBE-96A9-AA0E51796A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6382" t="6523" r="9228" b="840"/>
            <a:stretch/>
          </p:blipFill>
          <p:spPr>
            <a:xfrm>
              <a:off x="3154947" y="4282617"/>
              <a:ext cx="2216338" cy="1838165"/>
            </a:xfrm>
            <a:prstGeom prst="rect">
              <a:avLst/>
            </a:prstGeom>
          </p:spPr>
        </p:pic>
        <p:pic>
          <p:nvPicPr>
            <p:cNvPr id="7" name="Picture 6" descr="A couple of puppies running in a field of grass&#10;&#10;Description automatically generated with low confidence">
              <a:extLst>
                <a:ext uri="{FF2B5EF4-FFF2-40B4-BE49-F238E27FC236}">
                  <a16:creationId xmlns:a16="http://schemas.microsoft.com/office/drawing/2014/main" id="{4926F302-DE5A-944A-B1E9-BE6ACE2512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9644" t="15152" r="16210" b="10243"/>
            <a:stretch/>
          </p:blipFill>
          <p:spPr>
            <a:xfrm>
              <a:off x="1542386" y="3339756"/>
              <a:ext cx="2134537" cy="1861944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E44FC54-A759-BF12-21FA-9F160A27F08D}"/>
              </a:ext>
            </a:extLst>
          </p:cNvPr>
          <p:cNvGrpSpPr/>
          <p:nvPr/>
        </p:nvGrpSpPr>
        <p:grpSpPr>
          <a:xfrm>
            <a:off x="6288612" y="2555557"/>
            <a:ext cx="4181436" cy="3493762"/>
            <a:chOff x="6468178" y="2220552"/>
            <a:chExt cx="4181436" cy="3493762"/>
          </a:xfrm>
        </p:grpSpPr>
        <p:pic>
          <p:nvPicPr>
            <p:cNvPr id="19" name="Picture 18" descr="A couple of elephants stand in a grassy field&#10;&#10;Description automatically generated with low confidence">
              <a:extLst>
                <a:ext uri="{FF2B5EF4-FFF2-40B4-BE49-F238E27FC236}">
                  <a16:creationId xmlns:a16="http://schemas.microsoft.com/office/drawing/2014/main" id="{BE456204-8902-4D8E-D1FF-893279172F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6924"/>
            <a:stretch/>
          </p:blipFill>
          <p:spPr>
            <a:xfrm>
              <a:off x="8288852" y="2220552"/>
              <a:ext cx="2360762" cy="1989189"/>
            </a:xfrm>
            <a:prstGeom prst="rect">
              <a:avLst/>
            </a:prstGeom>
          </p:spPr>
        </p:pic>
        <p:pic>
          <p:nvPicPr>
            <p:cNvPr id="22" name="Picture 21" descr="An elephant in the wild&#10;&#10;Description automatically generated with low confidence">
              <a:extLst>
                <a:ext uri="{FF2B5EF4-FFF2-40B4-BE49-F238E27FC236}">
                  <a16:creationId xmlns:a16="http://schemas.microsoft.com/office/drawing/2014/main" id="{F83C7F17-F023-81E6-CE7A-3CC786DA0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33276" y="3856362"/>
              <a:ext cx="2216338" cy="1857952"/>
            </a:xfrm>
            <a:prstGeom prst="rect">
              <a:avLst/>
            </a:prstGeom>
          </p:spPr>
        </p:pic>
        <p:pic>
          <p:nvPicPr>
            <p:cNvPr id="14" name="Picture 13" descr="A picture containing outdoor, grass, elephant, tree&#10;&#10;Description automatically generated">
              <a:extLst>
                <a:ext uri="{FF2B5EF4-FFF2-40B4-BE49-F238E27FC236}">
                  <a16:creationId xmlns:a16="http://schemas.microsoft.com/office/drawing/2014/main" id="{0A4B2038-C697-B8F9-31D9-4F5C9FB69D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1073"/>
            <a:stretch/>
          </p:blipFill>
          <p:spPr>
            <a:xfrm>
              <a:off x="6468178" y="3089787"/>
              <a:ext cx="2360762" cy="1989189"/>
            </a:xfrm>
            <a:prstGeom prst="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0F86FBA-9CBF-E698-C9A6-D3B5806C9394}"/>
              </a:ext>
            </a:extLst>
          </p:cNvPr>
          <p:cNvSpPr txBox="1"/>
          <p:nvPr/>
        </p:nvSpPr>
        <p:spPr>
          <a:xfrm>
            <a:off x="240033" y="830810"/>
            <a:ext cx="10208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Suppose we want to learn how to classify photos of dogs versus elephants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5F8BA-57E7-5B8E-FA4B-2D772231337C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448204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0641C8F-2D42-CB0D-3788-CF942AB23426}"/>
              </a:ext>
            </a:extLst>
          </p:cNvPr>
          <p:cNvGrpSpPr/>
          <p:nvPr/>
        </p:nvGrpSpPr>
        <p:grpSpPr>
          <a:xfrm>
            <a:off x="1124114" y="2039595"/>
            <a:ext cx="3828899" cy="3412403"/>
            <a:chOff x="1542386" y="2708379"/>
            <a:chExt cx="3828899" cy="3412403"/>
          </a:xfrm>
        </p:grpSpPr>
        <p:pic>
          <p:nvPicPr>
            <p:cNvPr id="9" name="Picture 8" descr="A picture containing dog, outdoor, sitting, laying&#10;&#10;Description automatically generated">
              <a:extLst>
                <a:ext uri="{FF2B5EF4-FFF2-40B4-BE49-F238E27FC236}">
                  <a16:creationId xmlns:a16="http://schemas.microsoft.com/office/drawing/2014/main" id="{9A799B64-90E6-F803-3D1F-C304DCB52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93663" y="2708379"/>
              <a:ext cx="1861944" cy="1861944"/>
            </a:xfrm>
            <a:prstGeom prst="rect">
              <a:avLst/>
            </a:prstGeom>
          </p:spPr>
        </p:pic>
        <p:pic>
          <p:nvPicPr>
            <p:cNvPr id="4" name="Picture 3" descr="A picture containing dog, sitting, wearing, mammal&#10;&#10;Description automatically generated">
              <a:extLst>
                <a:ext uri="{FF2B5EF4-FFF2-40B4-BE49-F238E27FC236}">
                  <a16:creationId xmlns:a16="http://schemas.microsoft.com/office/drawing/2014/main" id="{EB5FFDEA-91FD-DFBE-96A9-AA0E51796A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6382" t="6523" r="9228" b="840"/>
            <a:stretch/>
          </p:blipFill>
          <p:spPr>
            <a:xfrm>
              <a:off x="3154947" y="4282617"/>
              <a:ext cx="2216338" cy="1838165"/>
            </a:xfrm>
            <a:prstGeom prst="rect">
              <a:avLst/>
            </a:prstGeom>
          </p:spPr>
        </p:pic>
        <p:pic>
          <p:nvPicPr>
            <p:cNvPr id="7" name="Picture 6" descr="A couple of puppies running in a field of grass&#10;&#10;Description automatically generated with low confidence">
              <a:extLst>
                <a:ext uri="{FF2B5EF4-FFF2-40B4-BE49-F238E27FC236}">
                  <a16:creationId xmlns:a16="http://schemas.microsoft.com/office/drawing/2014/main" id="{4926F302-DE5A-944A-B1E9-BE6ACE2512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9644" t="15152" r="16210" b="10243"/>
            <a:stretch/>
          </p:blipFill>
          <p:spPr>
            <a:xfrm>
              <a:off x="1542386" y="3339756"/>
              <a:ext cx="2134537" cy="1861944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E44FC54-A759-BF12-21FA-9F160A27F08D}"/>
              </a:ext>
            </a:extLst>
          </p:cNvPr>
          <p:cNvGrpSpPr/>
          <p:nvPr/>
        </p:nvGrpSpPr>
        <p:grpSpPr>
          <a:xfrm>
            <a:off x="6288612" y="2555557"/>
            <a:ext cx="4181436" cy="3493762"/>
            <a:chOff x="6468178" y="2220552"/>
            <a:chExt cx="4181436" cy="3493762"/>
          </a:xfrm>
        </p:grpSpPr>
        <p:pic>
          <p:nvPicPr>
            <p:cNvPr id="19" name="Picture 18" descr="A couple of elephants stand in a grassy field&#10;&#10;Description automatically generated with low confidence">
              <a:extLst>
                <a:ext uri="{FF2B5EF4-FFF2-40B4-BE49-F238E27FC236}">
                  <a16:creationId xmlns:a16="http://schemas.microsoft.com/office/drawing/2014/main" id="{BE456204-8902-4D8E-D1FF-893279172F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6924"/>
            <a:stretch/>
          </p:blipFill>
          <p:spPr>
            <a:xfrm>
              <a:off x="8288852" y="2220552"/>
              <a:ext cx="2360762" cy="1989189"/>
            </a:xfrm>
            <a:prstGeom prst="rect">
              <a:avLst/>
            </a:prstGeom>
          </p:spPr>
        </p:pic>
        <p:pic>
          <p:nvPicPr>
            <p:cNvPr id="22" name="Picture 21" descr="An elephant in the wild&#10;&#10;Description automatically generated with low confidence">
              <a:extLst>
                <a:ext uri="{FF2B5EF4-FFF2-40B4-BE49-F238E27FC236}">
                  <a16:creationId xmlns:a16="http://schemas.microsoft.com/office/drawing/2014/main" id="{F83C7F17-F023-81E6-CE7A-3CC786DA0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33276" y="3856362"/>
              <a:ext cx="2216338" cy="1857952"/>
            </a:xfrm>
            <a:prstGeom prst="rect">
              <a:avLst/>
            </a:prstGeom>
          </p:spPr>
        </p:pic>
        <p:pic>
          <p:nvPicPr>
            <p:cNvPr id="14" name="Picture 13" descr="A picture containing outdoor, grass, elephant, tree&#10;&#10;Description automatically generated">
              <a:extLst>
                <a:ext uri="{FF2B5EF4-FFF2-40B4-BE49-F238E27FC236}">
                  <a16:creationId xmlns:a16="http://schemas.microsoft.com/office/drawing/2014/main" id="{0A4B2038-C697-B8F9-31D9-4F5C9FB69D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1073"/>
            <a:stretch/>
          </p:blipFill>
          <p:spPr>
            <a:xfrm>
              <a:off x="6468178" y="3089787"/>
              <a:ext cx="2360762" cy="1989189"/>
            </a:xfrm>
            <a:prstGeom prst="rect">
              <a:avLst/>
            </a:prstGeom>
          </p:spPr>
        </p:pic>
      </p:grpSp>
      <p:sp>
        <p:nvSpPr>
          <p:cNvPr id="33" name="Freeform 32">
            <a:extLst>
              <a:ext uri="{FF2B5EF4-FFF2-40B4-BE49-F238E27FC236}">
                <a16:creationId xmlns:a16="http://schemas.microsoft.com/office/drawing/2014/main" id="{9755117F-D181-EEB2-5887-ADC9E9098D79}"/>
              </a:ext>
            </a:extLst>
          </p:cNvPr>
          <p:cNvSpPr/>
          <p:nvPr/>
        </p:nvSpPr>
        <p:spPr>
          <a:xfrm>
            <a:off x="5642133" y="1955255"/>
            <a:ext cx="1039681" cy="4321277"/>
          </a:xfrm>
          <a:custGeom>
            <a:avLst/>
            <a:gdLst>
              <a:gd name="connsiteX0" fmla="*/ 1039681 w 1039681"/>
              <a:gd name="connsiteY0" fmla="*/ 0 h 4321277"/>
              <a:gd name="connsiteX1" fmla="*/ 51539 w 1039681"/>
              <a:gd name="connsiteY1" fmla="*/ 1253612 h 4321277"/>
              <a:gd name="connsiteX2" fmla="*/ 228520 w 1039681"/>
              <a:gd name="connsiteY2" fmla="*/ 4321277 h 4321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9681" h="4321277">
                <a:moveTo>
                  <a:pt x="1039681" y="0"/>
                </a:moveTo>
                <a:cubicBezTo>
                  <a:pt x="613206" y="266699"/>
                  <a:pt x="186732" y="533399"/>
                  <a:pt x="51539" y="1253612"/>
                </a:cubicBezTo>
                <a:cubicBezTo>
                  <a:pt x="-83655" y="1973825"/>
                  <a:pt x="72432" y="3147551"/>
                  <a:pt x="228520" y="4321277"/>
                </a:cubicBezTo>
              </a:path>
            </a:pathLst>
          </a:custGeom>
          <a:noFill/>
          <a:ln w="635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97E2A0-2E3C-E329-2423-0DBC47206FBF}"/>
              </a:ext>
            </a:extLst>
          </p:cNvPr>
          <p:cNvSpPr txBox="1"/>
          <p:nvPr/>
        </p:nvSpPr>
        <p:spPr>
          <a:xfrm>
            <a:off x="6622027" y="1495845"/>
            <a:ext cx="4922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B0F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</a:t>
            </a:r>
            <a:r>
              <a:rPr lang="en-FR" sz="1400" b="1" dirty="0">
                <a:solidFill>
                  <a:srgbClr val="00B0F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iscriminative approaches learn how to build the boundary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CE090F-0016-D1B1-C6E3-A59026E7D3C2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Classification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8F6AFF-1507-9B82-2FAD-65892955F769}"/>
              </a:ext>
            </a:extLst>
          </p:cNvPr>
          <p:cNvSpPr txBox="1"/>
          <p:nvPr/>
        </p:nvSpPr>
        <p:spPr>
          <a:xfrm>
            <a:off x="240033" y="830810"/>
            <a:ext cx="10208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Suppose we want to learn how to classify photos of dogs versus elephants</a:t>
            </a:r>
          </a:p>
        </p:txBody>
      </p:sp>
    </p:spTree>
    <p:extLst>
      <p:ext uri="{BB962C8B-B14F-4D97-AF65-F5344CB8AC3E}">
        <p14:creationId xmlns:p14="http://schemas.microsoft.com/office/powerpoint/2010/main" val="3196896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C68DF09-2747-180C-4AFF-5D401EA9F9D4}"/>
              </a:ext>
            </a:extLst>
          </p:cNvPr>
          <p:cNvSpPr/>
          <p:nvPr/>
        </p:nvSpPr>
        <p:spPr>
          <a:xfrm>
            <a:off x="323534" y="987062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383527-A36B-F229-E5A4-2FDC22346A22}"/>
              </a:ext>
            </a:extLst>
          </p:cNvPr>
          <p:cNvSpPr txBox="1"/>
          <p:nvPr/>
        </p:nvSpPr>
        <p:spPr>
          <a:xfrm>
            <a:off x="323534" y="1585087"/>
            <a:ext cx="115179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</a:t>
            </a:r>
            <a:r>
              <a:rPr lang="en-GB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kNN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we approximate			     i.e. the set of K nearest neighbours of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90E641-27B1-784D-6B17-B71CD28B4D0B}"/>
              </a:ext>
            </a:extLst>
          </p:cNvPr>
          <p:cNvSpPr txBox="1"/>
          <p:nvPr/>
        </p:nvSpPr>
        <p:spPr>
          <a:xfrm>
            <a:off x="515824" y="855062"/>
            <a:ext cx="4669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k-nearest neighbours (</a:t>
            </a:r>
            <a:r>
              <a:rPr lang="en-GB" sz="2400" b="1" dirty="0" err="1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kNN</a:t>
            </a:r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EA568A-AF93-2EBF-88F7-B80337609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5060" y="1629216"/>
            <a:ext cx="2501900" cy="355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B79E83-BC93-2F43-1B8F-319001AD9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3950" y="2313855"/>
            <a:ext cx="7404100" cy="9144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86E8324C-26A6-60ED-E8C2-EE0FB4AACDBC}"/>
              </a:ext>
            </a:extLst>
          </p:cNvPr>
          <p:cNvGrpSpPr/>
          <p:nvPr/>
        </p:nvGrpSpPr>
        <p:grpSpPr>
          <a:xfrm>
            <a:off x="323534" y="3526136"/>
            <a:ext cx="3867467" cy="461665"/>
            <a:chOff x="323534" y="3629746"/>
            <a:chExt cx="3867467" cy="461665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D2CD2A6-7038-A401-2FBA-308142AF064D}"/>
                </a:ext>
              </a:extLst>
            </p:cNvPr>
            <p:cNvSpPr txBox="1"/>
            <p:nvPr/>
          </p:nvSpPr>
          <p:spPr>
            <a:xfrm>
              <a:off x="515824" y="3629746"/>
              <a:ext cx="367517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400" b="1" dirty="0">
                  <a:solidFill>
                    <a:srgbClr val="FA2743"/>
                  </a:solidFill>
                  <a:latin typeface="Roboto Black" panose="02000000000000000000" pitchFamily="2" charset="0"/>
                  <a:ea typeface="Roboto Black" panose="02000000000000000000" pitchFamily="2" charset="0"/>
                  <a:cs typeface="Lato" panose="020F0502020204030203" pitchFamily="34" charset="0"/>
                </a:rPr>
                <a:t>Logistic regression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1F2AA52-6D82-29FE-853F-C561928CA1C9}"/>
                </a:ext>
              </a:extLst>
            </p:cNvPr>
            <p:cNvSpPr/>
            <p:nvPr/>
          </p:nvSpPr>
          <p:spPr>
            <a:xfrm>
              <a:off x="323534" y="3761746"/>
              <a:ext cx="166889" cy="166889"/>
            </a:xfrm>
            <a:prstGeom prst="ellipse">
              <a:avLst/>
            </a:prstGeom>
            <a:solidFill>
              <a:srgbClr val="FA27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FB1EA6F-E08B-C495-F64D-595B9BD293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4500" y="4116117"/>
            <a:ext cx="6223000" cy="622300"/>
          </a:xfrm>
          <a:prstGeom prst="rect">
            <a:avLst/>
          </a:prstGeom>
        </p:spPr>
      </p:pic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66481D6C-2E18-2F79-C23D-93A4720F10CC}"/>
              </a:ext>
            </a:extLst>
          </p:cNvPr>
          <p:cNvCxnSpPr>
            <a:cxnSpLocks/>
          </p:cNvCxnSpPr>
          <p:nvPr/>
        </p:nvCxnSpPr>
        <p:spPr>
          <a:xfrm rot="16200000" flipH="1">
            <a:off x="8983927" y="4754950"/>
            <a:ext cx="240106" cy="207040"/>
          </a:xfrm>
          <a:prstGeom prst="bentConnector3">
            <a:avLst>
              <a:gd name="adj1" fmla="val 98711"/>
            </a:avLst>
          </a:prstGeom>
          <a:ln w="25400">
            <a:solidFill>
              <a:srgbClr val="FA27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CD4C6CD-6E18-8035-50AE-2E8C90AE2EDD}"/>
              </a:ext>
            </a:extLst>
          </p:cNvPr>
          <p:cNvSpPr txBox="1"/>
          <p:nvPr/>
        </p:nvSpPr>
        <p:spPr>
          <a:xfrm>
            <a:off x="9164972" y="4788541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bias</a:t>
            </a:r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3D3BB0A1-5009-12CD-C58D-115D5D41A132}"/>
              </a:ext>
            </a:extLst>
          </p:cNvPr>
          <p:cNvCxnSpPr>
            <a:cxnSpLocks/>
          </p:cNvCxnSpPr>
          <p:nvPr/>
        </p:nvCxnSpPr>
        <p:spPr>
          <a:xfrm rot="16200000" flipH="1">
            <a:off x="7638982" y="4848614"/>
            <a:ext cx="605011" cy="199950"/>
          </a:xfrm>
          <a:prstGeom prst="bentConnector3">
            <a:avLst>
              <a:gd name="adj1" fmla="val 100086"/>
            </a:avLst>
          </a:prstGeom>
          <a:ln w="25400">
            <a:solidFill>
              <a:srgbClr val="FA27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78294CC-00C1-D39A-F225-A2427EF04EE4}"/>
              </a:ext>
            </a:extLst>
          </p:cNvPr>
          <p:cNvSpPr txBox="1"/>
          <p:nvPr/>
        </p:nvSpPr>
        <p:spPr>
          <a:xfrm>
            <a:off x="8001889" y="5045165"/>
            <a:ext cx="875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weight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760EAF3-FE96-AD04-3510-8D6A1D32FC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83" y="4921467"/>
            <a:ext cx="520700" cy="3429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A8B17F9-E18E-171B-A327-C95CD96311A1}"/>
              </a:ext>
            </a:extLst>
          </p:cNvPr>
          <p:cNvSpPr txBox="1"/>
          <p:nvPr/>
        </p:nvSpPr>
        <p:spPr>
          <a:xfrm>
            <a:off x="1112150" y="4897080"/>
            <a:ext cx="4072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</a:t>
            </a:r>
            <a:r>
              <a:rPr lang="en-FR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 a </a:t>
            </a:r>
            <a:r>
              <a:rPr lang="en-FR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nonlinear</a:t>
            </a:r>
            <a:r>
              <a:rPr lang="en-FR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activation function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43E3959-5188-5251-48B4-ED0824AE4D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0451" y="5373645"/>
            <a:ext cx="1446997" cy="135655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8AC1297-CBB0-C1E6-A333-EFE3235676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8026" y="5733087"/>
            <a:ext cx="2423160" cy="6376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D76EDC-5DA2-8EB1-D8D5-FCA89EAEE062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Discriminative approaches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F904DF-04E2-6CEE-0220-BFB3680F38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16970" y="1753676"/>
            <a:ext cx="3175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39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3B6077-9E82-537C-0EDB-21245A5F4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93" y="793750"/>
            <a:ext cx="5524500" cy="5270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4C268F-B262-0C72-B63B-28506E928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93750"/>
            <a:ext cx="5524500" cy="527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8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0641C8F-2D42-CB0D-3788-CF942AB23426}"/>
              </a:ext>
            </a:extLst>
          </p:cNvPr>
          <p:cNvGrpSpPr/>
          <p:nvPr/>
        </p:nvGrpSpPr>
        <p:grpSpPr>
          <a:xfrm>
            <a:off x="1124114" y="2039595"/>
            <a:ext cx="3828899" cy="3412403"/>
            <a:chOff x="1542386" y="2708379"/>
            <a:chExt cx="3828899" cy="3412403"/>
          </a:xfrm>
        </p:grpSpPr>
        <p:pic>
          <p:nvPicPr>
            <p:cNvPr id="9" name="Picture 8" descr="A picture containing dog, outdoor, sitting, laying&#10;&#10;Description automatically generated">
              <a:extLst>
                <a:ext uri="{FF2B5EF4-FFF2-40B4-BE49-F238E27FC236}">
                  <a16:creationId xmlns:a16="http://schemas.microsoft.com/office/drawing/2014/main" id="{9A799B64-90E6-F803-3D1F-C304DCB52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93663" y="2708379"/>
              <a:ext cx="1861944" cy="1861944"/>
            </a:xfrm>
            <a:prstGeom prst="rect">
              <a:avLst/>
            </a:prstGeom>
          </p:spPr>
        </p:pic>
        <p:pic>
          <p:nvPicPr>
            <p:cNvPr id="4" name="Picture 3" descr="A picture containing dog, sitting, wearing, mammal&#10;&#10;Description automatically generated">
              <a:extLst>
                <a:ext uri="{FF2B5EF4-FFF2-40B4-BE49-F238E27FC236}">
                  <a16:creationId xmlns:a16="http://schemas.microsoft.com/office/drawing/2014/main" id="{EB5FFDEA-91FD-DFBE-96A9-AA0E51796A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6382" t="6523" r="9228" b="840"/>
            <a:stretch/>
          </p:blipFill>
          <p:spPr>
            <a:xfrm>
              <a:off x="3154947" y="4282617"/>
              <a:ext cx="2216338" cy="1838165"/>
            </a:xfrm>
            <a:prstGeom prst="rect">
              <a:avLst/>
            </a:prstGeom>
          </p:spPr>
        </p:pic>
        <p:pic>
          <p:nvPicPr>
            <p:cNvPr id="7" name="Picture 6" descr="A couple of puppies running in a field of grass&#10;&#10;Description automatically generated with low confidence">
              <a:extLst>
                <a:ext uri="{FF2B5EF4-FFF2-40B4-BE49-F238E27FC236}">
                  <a16:creationId xmlns:a16="http://schemas.microsoft.com/office/drawing/2014/main" id="{4926F302-DE5A-944A-B1E9-BE6ACE2512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9644" t="15152" r="16210" b="10243"/>
            <a:stretch/>
          </p:blipFill>
          <p:spPr>
            <a:xfrm>
              <a:off x="1542386" y="3339756"/>
              <a:ext cx="2134537" cy="1861944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E44FC54-A759-BF12-21FA-9F160A27F08D}"/>
              </a:ext>
            </a:extLst>
          </p:cNvPr>
          <p:cNvGrpSpPr/>
          <p:nvPr/>
        </p:nvGrpSpPr>
        <p:grpSpPr>
          <a:xfrm>
            <a:off x="6288612" y="2555557"/>
            <a:ext cx="4181436" cy="3493762"/>
            <a:chOff x="6468178" y="2220552"/>
            <a:chExt cx="4181436" cy="3493762"/>
          </a:xfrm>
        </p:grpSpPr>
        <p:pic>
          <p:nvPicPr>
            <p:cNvPr id="19" name="Picture 18" descr="A couple of elephants stand in a grassy field&#10;&#10;Description automatically generated with low confidence">
              <a:extLst>
                <a:ext uri="{FF2B5EF4-FFF2-40B4-BE49-F238E27FC236}">
                  <a16:creationId xmlns:a16="http://schemas.microsoft.com/office/drawing/2014/main" id="{BE456204-8902-4D8E-D1FF-893279172F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6924"/>
            <a:stretch/>
          </p:blipFill>
          <p:spPr>
            <a:xfrm>
              <a:off x="8288852" y="2220552"/>
              <a:ext cx="2360762" cy="1989189"/>
            </a:xfrm>
            <a:prstGeom prst="rect">
              <a:avLst/>
            </a:prstGeom>
          </p:spPr>
        </p:pic>
        <p:pic>
          <p:nvPicPr>
            <p:cNvPr id="22" name="Picture 21" descr="An elephant in the wild&#10;&#10;Description automatically generated with low confidence">
              <a:extLst>
                <a:ext uri="{FF2B5EF4-FFF2-40B4-BE49-F238E27FC236}">
                  <a16:creationId xmlns:a16="http://schemas.microsoft.com/office/drawing/2014/main" id="{F83C7F17-F023-81E6-CE7A-3CC786DA0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33276" y="3856362"/>
              <a:ext cx="2216338" cy="1857952"/>
            </a:xfrm>
            <a:prstGeom prst="rect">
              <a:avLst/>
            </a:prstGeom>
          </p:spPr>
        </p:pic>
        <p:pic>
          <p:nvPicPr>
            <p:cNvPr id="14" name="Picture 13" descr="A picture containing outdoor, grass, elephant, tree&#10;&#10;Description automatically generated">
              <a:extLst>
                <a:ext uri="{FF2B5EF4-FFF2-40B4-BE49-F238E27FC236}">
                  <a16:creationId xmlns:a16="http://schemas.microsoft.com/office/drawing/2014/main" id="{0A4B2038-C697-B8F9-31D9-4F5C9FB69D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1073"/>
            <a:stretch/>
          </p:blipFill>
          <p:spPr>
            <a:xfrm>
              <a:off x="6468178" y="3089787"/>
              <a:ext cx="2360762" cy="1989189"/>
            </a:xfrm>
            <a:prstGeom prst="rect">
              <a:avLst/>
            </a:prstGeom>
          </p:spPr>
        </p:pic>
      </p:grpSp>
      <p:sp>
        <p:nvSpPr>
          <p:cNvPr id="33" name="Freeform 32">
            <a:extLst>
              <a:ext uri="{FF2B5EF4-FFF2-40B4-BE49-F238E27FC236}">
                <a16:creationId xmlns:a16="http://schemas.microsoft.com/office/drawing/2014/main" id="{9755117F-D181-EEB2-5887-ADC9E9098D79}"/>
              </a:ext>
            </a:extLst>
          </p:cNvPr>
          <p:cNvSpPr/>
          <p:nvPr/>
        </p:nvSpPr>
        <p:spPr>
          <a:xfrm>
            <a:off x="5642133" y="1955255"/>
            <a:ext cx="1039681" cy="4321277"/>
          </a:xfrm>
          <a:custGeom>
            <a:avLst/>
            <a:gdLst>
              <a:gd name="connsiteX0" fmla="*/ 1039681 w 1039681"/>
              <a:gd name="connsiteY0" fmla="*/ 0 h 4321277"/>
              <a:gd name="connsiteX1" fmla="*/ 51539 w 1039681"/>
              <a:gd name="connsiteY1" fmla="*/ 1253612 h 4321277"/>
              <a:gd name="connsiteX2" fmla="*/ 228520 w 1039681"/>
              <a:gd name="connsiteY2" fmla="*/ 4321277 h 4321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9681" h="4321277">
                <a:moveTo>
                  <a:pt x="1039681" y="0"/>
                </a:moveTo>
                <a:cubicBezTo>
                  <a:pt x="613206" y="266699"/>
                  <a:pt x="186732" y="533399"/>
                  <a:pt x="51539" y="1253612"/>
                </a:cubicBezTo>
                <a:cubicBezTo>
                  <a:pt x="-83655" y="1973825"/>
                  <a:pt x="72432" y="3147551"/>
                  <a:pt x="228520" y="4321277"/>
                </a:cubicBezTo>
              </a:path>
            </a:pathLst>
          </a:custGeom>
          <a:noFill/>
          <a:ln w="635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97E2A0-2E3C-E329-2423-0DBC47206FBF}"/>
              </a:ext>
            </a:extLst>
          </p:cNvPr>
          <p:cNvSpPr txBox="1"/>
          <p:nvPr/>
        </p:nvSpPr>
        <p:spPr>
          <a:xfrm>
            <a:off x="6622027" y="1495845"/>
            <a:ext cx="4922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B0F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</a:t>
            </a:r>
            <a:r>
              <a:rPr lang="en-FR" sz="1400" b="1" dirty="0">
                <a:solidFill>
                  <a:srgbClr val="00B0F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iscriminative approaches learn how to build the boundary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CD0F6D2-3157-050A-CE7A-F59A5F69C408}"/>
              </a:ext>
            </a:extLst>
          </p:cNvPr>
          <p:cNvSpPr/>
          <p:nvPr/>
        </p:nvSpPr>
        <p:spPr>
          <a:xfrm>
            <a:off x="951506" y="1591735"/>
            <a:ext cx="4260038" cy="4464951"/>
          </a:xfrm>
          <a:prstGeom prst="ellipse">
            <a:avLst/>
          </a:prstGeom>
          <a:noFill/>
          <a:ln w="635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B151D45-9714-87A1-F26A-E8FF46E41BA5}"/>
              </a:ext>
            </a:extLst>
          </p:cNvPr>
          <p:cNvSpPr/>
          <p:nvPr/>
        </p:nvSpPr>
        <p:spPr>
          <a:xfrm>
            <a:off x="6453032" y="2186910"/>
            <a:ext cx="4260038" cy="4464951"/>
          </a:xfrm>
          <a:prstGeom prst="ellipse">
            <a:avLst/>
          </a:prstGeom>
          <a:noFill/>
          <a:ln w="635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546501-E1C5-C568-72AA-4D37839FE272}"/>
              </a:ext>
            </a:extLst>
          </p:cNvPr>
          <p:cNvSpPr txBox="1"/>
          <p:nvPr/>
        </p:nvSpPr>
        <p:spPr>
          <a:xfrm>
            <a:off x="620105" y="6276532"/>
            <a:ext cx="4922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Generative approaches learn the distribution of each class</a:t>
            </a:r>
            <a:endParaRPr lang="en-FR" sz="1400" b="1" dirty="0">
              <a:solidFill>
                <a:srgbClr val="00B050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F41C95-CD21-0BFA-3EBC-A6FDD5CB1CAA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Generative approaches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FA9978-A309-C84F-CAC6-72EB330E27D3}"/>
              </a:ext>
            </a:extLst>
          </p:cNvPr>
          <p:cNvSpPr txBox="1"/>
          <p:nvPr/>
        </p:nvSpPr>
        <p:spPr>
          <a:xfrm>
            <a:off x="240033" y="830810"/>
            <a:ext cx="10208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Suppose we want to learn how to classify photos of dogs versus elephants</a:t>
            </a:r>
          </a:p>
        </p:txBody>
      </p:sp>
    </p:spTree>
    <p:extLst>
      <p:ext uri="{BB962C8B-B14F-4D97-AF65-F5344CB8AC3E}">
        <p14:creationId xmlns:p14="http://schemas.microsoft.com/office/powerpoint/2010/main" val="1084504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304D3-FB2A-E4F4-6F36-8F0B6D480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011F60B-17FC-2558-8F30-4962059023D4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Graphic 4" descr="Right pointing backhand index outline">
            <a:extLst>
              <a:ext uri="{FF2B5EF4-FFF2-40B4-BE49-F238E27FC236}">
                <a16:creationId xmlns:a16="http://schemas.microsoft.com/office/drawing/2014/main" id="{A0A9E3C4-7DDD-1D02-BACF-888D5DD12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769" y="2709431"/>
            <a:ext cx="1083311" cy="10833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6126EB-1E85-1611-F235-D3E2991C68F0}"/>
              </a:ext>
            </a:extLst>
          </p:cNvPr>
          <p:cNvSpPr txBox="1"/>
          <p:nvPr/>
        </p:nvSpPr>
        <p:spPr>
          <a:xfrm>
            <a:off x="1865622" y="1480237"/>
            <a:ext cx="9089348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Review from last lecture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Generative approach to classification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Comparisons between methods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Final remarks on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978572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9E34C2F-E2C4-4B56-0CDA-CE4E6CE34C2D}"/>
              </a:ext>
            </a:extLst>
          </p:cNvPr>
          <p:cNvSpPr/>
          <p:nvPr/>
        </p:nvSpPr>
        <p:spPr>
          <a:xfrm>
            <a:off x="2487644" y="3821572"/>
            <a:ext cx="7216709" cy="911346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C405B9-967A-4340-A577-7CD0FF3CCE35}"/>
              </a:ext>
            </a:extLst>
          </p:cNvPr>
          <p:cNvSpPr txBox="1"/>
          <p:nvPr/>
        </p:nvSpPr>
        <p:spPr>
          <a:xfrm>
            <a:off x="240033" y="929391"/>
            <a:ext cx="116365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Instead of modeling the posterior distribution of the classes, we could model both the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06499-0EDB-9801-AD90-45EE587E3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819" y="1754918"/>
            <a:ext cx="1803400" cy="3429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96B623F1-D839-EC80-1DD3-0C954194F688}"/>
              </a:ext>
            </a:extLst>
          </p:cNvPr>
          <p:cNvSpPr/>
          <p:nvPr/>
        </p:nvSpPr>
        <p:spPr>
          <a:xfrm>
            <a:off x="352411" y="1798931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1BA0B6-FFE8-3A06-1107-BDAEC6FC0704}"/>
              </a:ext>
            </a:extLst>
          </p:cNvPr>
          <p:cNvSpPr txBox="1"/>
          <p:nvPr/>
        </p:nvSpPr>
        <p:spPr>
          <a:xfrm>
            <a:off x="605928" y="1666931"/>
            <a:ext cx="49552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prior distribution for each class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27F60A5-064D-E7C9-AAFF-FBCF31668B81}"/>
              </a:ext>
            </a:extLst>
          </p:cNvPr>
          <p:cNvSpPr/>
          <p:nvPr/>
        </p:nvSpPr>
        <p:spPr>
          <a:xfrm>
            <a:off x="352411" y="2484946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194428-8803-DA9F-5760-8D01977CABFA}"/>
              </a:ext>
            </a:extLst>
          </p:cNvPr>
          <p:cNvSpPr txBox="1"/>
          <p:nvPr/>
        </p:nvSpPr>
        <p:spPr>
          <a:xfrm>
            <a:off x="605928" y="2352946"/>
            <a:ext cx="6891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conditional pdf of the predictors in each class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EB04041-EF93-1E28-5499-00182EDBB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0554" y="2396939"/>
            <a:ext cx="1778000" cy="3429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51E8317-2D90-750B-1CE3-45046A1A09C2}"/>
              </a:ext>
            </a:extLst>
          </p:cNvPr>
          <p:cNvSpPr txBox="1"/>
          <p:nvPr/>
        </p:nvSpPr>
        <p:spPr>
          <a:xfrm>
            <a:off x="240033" y="3035712"/>
            <a:ext cx="88697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can then use these quantities to define a classifier as follows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3ACFA56-DBD3-150B-B326-A10658E13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1322" y="4017999"/>
            <a:ext cx="6604000" cy="5715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D73C660-B9F0-83D3-42FF-AD894AE230C0}"/>
              </a:ext>
            </a:extLst>
          </p:cNvPr>
          <p:cNvSpPr txBox="1"/>
          <p:nvPr/>
        </p:nvSpPr>
        <p:spPr>
          <a:xfrm>
            <a:off x="3813804" y="4808647"/>
            <a:ext cx="4439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(note that it’s the same thing as the Bayes classifier)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7B9296-4BAF-1EA3-350B-3CA1513D6BAA}"/>
              </a:ext>
            </a:extLst>
          </p:cNvPr>
          <p:cNvSpPr txBox="1"/>
          <p:nvPr/>
        </p:nvSpPr>
        <p:spPr>
          <a:xfrm>
            <a:off x="240033" y="5340881"/>
            <a:ext cx="10525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Different generative methods will model the </a:t>
            </a:r>
            <a:r>
              <a:rPr lang="en-FR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conditional pdf in a distinct way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086247-4EBB-08B4-3016-BF2AFD024D70}"/>
              </a:ext>
            </a:extLst>
          </p:cNvPr>
          <p:cNvSpPr txBox="1"/>
          <p:nvPr/>
        </p:nvSpPr>
        <p:spPr>
          <a:xfrm>
            <a:off x="240032" y="5990351"/>
            <a:ext cx="114425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will consider Gaussian discriminant analysis and the na</a:t>
            </a:r>
            <a:r>
              <a:rPr lang="en-GB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ï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ve Bayes classifier today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6D09F6-5F80-ED4C-11EE-345149E7AE1F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Generative approaches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5F60795A-29CF-FA45-5FD4-1E955061DF55}"/>
              </a:ext>
            </a:extLst>
          </p:cNvPr>
          <p:cNvCxnSpPr>
            <a:cxnSpLocks/>
          </p:cNvCxnSpPr>
          <p:nvPr/>
        </p:nvCxnSpPr>
        <p:spPr>
          <a:xfrm rot="16200000" flipV="1">
            <a:off x="9546079" y="4530214"/>
            <a:ext cx="1099321" cy="445061"/>
          </a:xfrm>
          <a:prstGeom prst="bentConnector3">
            <a:avLst>
              <a:gd name="adj1" fmla="val 99486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791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C56093A-EC0F-3DB0-59E4-5219FB94240E}"/>
              </a:ext>
            </a:extLst>
          </p:cNvPr>
          <p:cNvSpPr/>
          <p:nvPr/>
        </p:nvSpPr>
        <p:spPr>
          <a:xfrm>
            <a:off x="323534" y="987062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3C3D11-12D6-E806-EB70-EEEE6F36622D}"/>
              </a:ext>
            </a:extLst>
          </p:cNvPr>
          <p:cNvSpPr txBox="1"/>
          <p:nvPr/>
        </p:nvSpPr>
        <p:spPr>
          <a:xfrm>
            <a:off x="515824" y="855062"/>
            <a:ext cx="5580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Gaussian discriminant 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E8A3C9-CB29-1894-9374-E11CFD4574CE}"/>
              </a:ext>
            </a:extLst>
          </p:cNvPr>
          <p:cNvSpPr txBox="1"/>
          <p:nvPr/>
        </p:nvSpPr>
        <p:spPr>
          <a:xfrm>
            <a:off x="323534" y="1434829"/>
            <a:ext cx="112741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GDA, we suppose that the data from each class follows a Gaussian distribution 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DAB123D-9D9A-F6B2-F73E-AFA908DA9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" y="2098040"/>
            <a:ext cx="9804400" cy="8128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B6ACF44-DAD1-70AF-ADF4-50482C8ACF41}"/>
              </a:ext>
            </a:extLst>
          </p:cNvPr>
          <p:cNvSpPr txBox="1"/>
          <p:nvPr/>
        </p:nvSpPr>
        <p:spPr>
          <a:xfrm>
            <a:off x="323533" y="3143164"/>
            <a:ext cx="10410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Focusing on the two-class case and assuming that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C7EBD88-C2C7-D5DA-8C23-0C12A9BEA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418" y="3842990"/>
            <a:ext cx="8255000" cy="609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296FE30-7CCC-F60D-E065-B7E64CA1C0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386" y="3237737"/>
            <a:ext cx="1866900" cy="2921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3EB7682-4B16-D50C-9C85-5F71C4AD1103}"/>
              </a:ext>
            </a:extLst>
          </p:cNvPr>
          <p:cNvSpPr txBox="1"/>
          <p:nvPr/>
        </p:nvSpPr>
        <p:spPr>
          <a:xfrm>
            <a:off x="9340598" y="3158552"/>
            <a:ext cx="2464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(shared covariance)</a:t>
            </a:r>
            <a:endParaRPr lang="en-FR" sz="2000" dirty="0">
              <a:solidFill>
                <a:srgbClr val="5E5E5E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9DE181A-6D6B-23AD-D701-8E6E92CBEF27}"/>
              </a:ext>
            </a:extLst>
          </p:cNvPr>
          <p:cNvGrpSpPr/>
          <p:nvPr/>
        </p:nvGrpSpPr>
        <p:grpSpPr>
          <a:xfrm>
            <a:off x="2847418" y="4721530"/>
            <a:ext cx="7330661" cy="1450248"/>
            <a:chOff x="2617856" y="4723602"/>
            <a:chExt cx="7330661" cy="1450248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98493595-6C94-B698-4A53-F360B78DF2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17856" y="4723602"/>
              <a:ext cx="2692400" cy="38100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C51E410-26D8-2316-1F5F-2B4075072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33317" y="5373750"/>
              <a:ext cx="7315200" cy="800100"/>
            </a:xfrm>
            <a:prstGeom prst="rect">
              <a:avLst/>
            </a:prstGeom>
          </p:spPr>
        </p:pic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6B3AECAF-603B-1436-56DF-704DECD9ED34}"/>
              </a:ext>
            </a:extLst>
          </p:cNvPr>
          <p:cNvSpPr/>
          <p:nvPr/>
        </p:nvSpPr>
        <p:spPr>
          <a:xfrm>
            <a:off x="2504519" y="3842991"/>
            <a:ext cx="85587" cy="2328788"/>
          </a:xfrm>
          <a:prstGeom prst="rect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93077B-647D-140D-2192-16E50D439775}"/>
              </a:ext>
            </a:extLst>
          </p:cNvPr>
          <p:cNvSpPr txBox="1"/>
          <p:nvPr/>
        </p:nvSpPr>
        <p:spPr>
          <a:xfrm>
            <a:off x="240033" y="4364185"/>
            <a:ext cx="2203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Linear discriminant analysis (LDA)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3AC883-7ECD-CBEE-DD32-BA844144380A}"/>
              </a:ext>
            </a:extLst>
          </p:cNvPr>
          <p:cNvSpPr txBox="1"/>
          <p:nvPr/>
        </p:nvSpPr>
        <p:spPr>
          <a:xfrm>
            <a:off x="592662" y="5117548"/>
            <a:ext cx="1497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Two classes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646231-6688-47DD-56A2-F1476E28931C}"/>
              </a:ext>
            </a:extLst>
          </p:cNvPr>
          <p:cNvSpPr/>
          <p:nvPr/>
        </p:nvSpPr>
        <p:spPr>
          <a:xfrm>
            <a:off x="9065795" y="3759868"/>
            <a:ext cx="2177716" cy="7332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B05690-0E2C-05D8-5D14-93991FB1A8F8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Generative approaches</a:t>
            </a:r>
          </a:p>
        </p:txBody>
      </p:sp>
    </p:spTree>
    <p:extLst>
      <p:ext uri="{BB962C8B-B14F-4D97-AF65-F5344CB8AC3E}">
        <p14:creationId xmlns:p14="http://schemas.microsoft.com/office/powerpoint/2010/main" val="2627481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3AECAF-603B-1436-56DF-704DECD9ED34}"/>
              </a:ext>
            </a:extLst>
          </p:cNvPr>
          <p:cNvSpPr/>
          <p:nvPr/>
        </p:nvSpPr>
        <p:spPr>
          <a:xfrm>
            <a:off x="2504519" y="3842991"/>
            <a:ext cx="85587" cy="2328788"/>
          </a:xfrm>
          <a:prstGeom prst="rect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D21860-DFFE-AA23-C87C-15C2A0A60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432" y="3736975"/>
            <a:ext cx="8699500" cy="876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D42793-B835-D03B-6F0E-6793C7A62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676" y="4807943"/>
            <a:ext cx="2603500" cy="393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AEDC6D-77BB-DC72-A4ED-9FAEC5621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676" y="5486880"/>
            <a:ext cx="7772400" cy="6359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D2A607-B2F2-9F4E-DF04-7FB220F09FF8}"/>
              </a:ext>
            </a:extLst>
          </p:cNvPr>
          <p:cNvSpPr txBox="1"/>
          <p:nvPr/>
        </p:nvSpPr>
        <p:spPr>
          <a:xfrm>
            <a:off x="240033" y="4364185"/>
            <a:ext cx="2203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Linear discriminant analysis (LDA)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4F60DA-FB3E-FE4D-3E9B-AB7AAD434D7A}"/>
              </a:ext>
            </a:extLst>
          </p:cNvPr>
          <p:cNvSpPr txBox="1"/>
          <p:nvPr/>
        </p:nvSpPr>
        <p:spPr>
          <a:xfrm>
            <a:off x="592662" y="5117548"/>
            <a:ext cx="1497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 classes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3822AA-0A5F-72D7-2CE6-EF932369AB32}"/>
              </a:ext>
            </a:extLst>
          </p:cNvPr>
          <p:cNvSpPr/>
          <p:nvPr/>
        </p:nvSpPr>
        <p:spPr>
          <a:xfrm>
            <a:off x="9553074" y="3784445"/>
            <a:ext cx="2177716" cy="7332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A1339C-FF6D-DDB7-B4A6-CE6CBD1A6499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Generative approaches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FC964AB-144B-FCBB-1E26-93EC1ADB5526}"/>
              </a:ext>
            </a:extLst>
          </p:cNvPr>
          <p:cNvSpPr/>
          <p:nvPr/>
        </p:nvSpPr>
        <p:spPr>
          <a:xfrm>
            <a:off x="323534" y="987062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76EB38-3381-7C91-2C80-A7ED537DAD06}"/>
              </a:ext>
            </a:extLst>
          </p:cNvPr>
          <p:cNvSpPr txBox="1"/>
          <p:nvPr/>
        </p:nvSpPr>
        <p:spPr>
          <a:xfrm>
            <a:off x="515824" y="855062"/>
            <a:ext cx="5580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Gaussian discriminant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3D7337-2731-CDDC-6893-1C21C43185CE}"/>
              </a:ext>
            </a:extLst>
          </p:cNvPr>
          <p:cNvSpPr txBox="1"/>
          <p:nvPr/>
        </p:nvSpPr>
        <p:spPr>
          <a:xfrm>
            <a:off x="323534" y="1434829"/>
            <a:ext cx="112741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GDA, we suppose that the data from each class follows a Gaussian distribution 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CE1920E-1719-2D9C-B5D9-655F8B45A0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800" y="2098040"/>
            <a:ext cx="9804400" cy="8128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C34A109-34E2-17B2-313D-540E153F5269}"/>
              </a:ext>
            </a:extLst>
          </p:cNvPr>
          <p:cNvSpPr txBox="1"/>
          <p:nvPr/>
        </p:nvSpPr>
        <p:spPr>
          <a:xfrm>
            <a:off x="323533" y="3143164"/>
            <a:ext cx="10410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Focusing on the two-class case and assuming that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3A0BA82-2778-4DD9-B03E-0946100445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386" y="3237737"/>
            <a:ext cx="1866900" cy="2921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F2459C-68E1-64E6-3998-50ABE13DC285}"/>
              </a:ext>
            </a:extLst>
          </p:cNvPr>
          <p:cNvSpPr txBox="1"/>
          <p:nvPr/>
        </p:nvSpPr>
        <p:spPr>
          <a:xfrm>
            <a:off x="9340598" y="3158552"/>
            <a:ext cx="2464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(shared covariance)</a:t>
            </a:r>
            <a:endParaRPr lang="en-FR" sz="2000" dirty="0">
              <a:solidFill>
                <a:srgbClr val="5E5E5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831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C56093A-EC0F-3DB0-59E4-5219FB94240E}"/>
              </a:ext>
            </a:extLst>
          </p:cNvPr>
          <p:cNvSpPr/>
          <p:nvPr/>
        </p:nvSpPr>
        <p:spPr>
          <a:xfrm>
            <a:off x="323534" y="987062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3C3D11-12D6-E806-EB70-EEEE6F36622D}"/>
              </a:ext>
            </a:extLst>
          </p:cNvPr>
          <p:cNvSpPr txBox="1"/>
          <p:nvPr/>
        </p:nvSpPr>
        <p:spPr>
          <a:xfrm>
            <a:off x="515824" y="855062"/>
            <a:ext cx="59914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Gaussian discriminant analysis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CFD37C-8FB0-F224-E514-0CBA38F01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47" y="1299201"/>
            <a:ext cx="10337706" cy="46799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A43CC9-82FF-CAD1-0B8A-2FE4E7CE8E11}"/>
              </a:ext>
            </a:extLst>
          </p:cNvPr>
          <p:cNvSpPr txBox="1"/>
          <p:nvPr/>
        </p:nvSpPr>
        <p:spPr>
          <a:xfrm>
            <a:off x="161767" y="6101666"/>
            <a:ext cx="118684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Relaxing the shared covariance assumption gives </a:t>
            </a:r>
            <a:r>
              <a:rPr lang="en-GB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quadratic discriminant analysis (QDA)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802CC7-B331-2D48-5C02-DD03CE88F640}"/>
              </a:ext>
            </a:extLst>
          </p:cNvPr>
          <p:cNvSpPr txBox="1"/>
          <p:nvPr/>
        </p:nvSpPr>
        <p:spPr>
          <a:xfrm>
            <a:off x="7381462" y="1235615"/>
            <a:ext cx="3009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Posterior distribution for each class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D001D8-561C-E778-C72D-619189019FD8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Generative approaches</a:t>
            </a:r>
          </a:p>
        </p:txBody>
      </p:sp>
    </p:spTree>
    <p:extLst>
      <p:ext uri="{BB962C8B-B14F-4D97-AF65-F5344CB8AC3E}">
        <p14:creationId xmlns:p14="http://schemas.microsoft.com/office/powerpoint/2010/main" val="2766686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C56093A-EC0F-3DB0-59E4-5219FB94240E}"/>
              </a:ext>
            </a:extLst>
          </p:cNvPr>
          <p:cNvSpPr/>
          <p:nvPr/>
        </p:nvSpPr>
        <p:spPr>
          <a:xfrm>
            <a:off x="323534" y="987062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278476-5EEC-168A-0C18-2361DC75662C}"/>
              </a:ext>
            </a:extLst>
          </p:cNvPr>
          <p:cNvSpPr txBox="1"/>
          <p:nvPr/>
        </p:nvSpPr>
        <p:spPr>
          <a:xfrm>
            <a:off x="240032" y="1549051"/>
            <a:ext cx="114351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LDA and logistic regression are similar but different: They both yield a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linear boundary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between classes, but LDA leverages information from the prior distribution, which is not available for the logistic regression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5AE89F-067F-6970-C0F7-8E79093C3D64}"/>
              </a:ext>
            </a:extLst>
          </p:cNvPr>
          <p:cNvSpPr txBox="1"/>
          <p:nvPr/>
        </p:nvSpPr>
        <p:spPr>
          <a:xfrm>
            <a:off x="318672" y="2751020"/>
            <a:ext cx="11435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Helvetica Neue" panose="02000503000000020004" pitchFamily="2" charset="0"/>
              <a:buChar char="⮑"/>
            </a:pPr>
            <a:r>
              <a:rPr lang="en-FR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Note that when the data is truly Gaussian in each class, the classifiers are equivalent </a:t>
            </a:r>
            <a:endParaRPr lang="en-FR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BA6AE7-6337-AA22-D154-257DB09F50D2}"/>
              </a:ext>
            </a:extLst>
          </p:cNvPr>
          <p:cNvSpPr txBox="1"/>
          <p:nvPr/>
        </p:nvSpPr>
        <p:spPr>
          <a:xfrm>
            <a:off x="240031" y="3433493"/>
            <a:ext cx="11711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Making assumptions over the structure of           can serve as a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regularization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in LDA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8BFEC4-6CAF-A954-EEAC-9AF2AEA00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537" y="3490738"/>
            <a:ext cx="609600" cy="3429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48D67AB-8596-A8EF-3C9F-3D6F1A596998}"/>
              </a:ext>
            </a:extLst>
          </p:cNvPr>
          <p:cNvSpPr txBox="1"/>
          <p:nvPr/>
        </p:nvSpPr>
        <p:spPr>
          <a:xfrm>
            <a:off x="240030" y="4208299"/>
            <a:ext cx="11951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Gaussian discriminant analysis is, by definition, not adapted to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qualitative predictors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F959E7-2521-0E72-F92B-D4B2AE26D460}"/>
              </a:ext>
            </a:extLst>
          </p:cNvPr>
          <p:cNvSpPr txBox="1"/>
          <p:nvPr/>
        </p:nvSpPr>
        <p:spPr>
          <a:xfrm>
            <a:off x="318671" y="4671604"/>
            <a:ext cx="11435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Helvetica Neue" panose="02000503000000020004" pitchFamily="2" charset="0"/>
              <a:buChar char="⮑"/>
            </a:pPr>
            <a:r>
              <a:rPr lang="en-FR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could, however, use Bernoulli or other discrete random variable to model the conditional pdfs as well</a:t>
            </a:r>
            <a:endParaRPr lang="en-FR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3CE2AB-F3A5-EB13-6711-6ABBF51E391B}"/>
              </a:ext>
            </a:extLst>
          </p:cNvPr>
          <p:cNvSpPr txBox="1"/>
          <p:nvPr/>
        </p:nvSpPr>
        <p:spPr>
          <a:xfrm>
            <a:off x="240030" y="5354077"/>
            <a:ext cx="117119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parameters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of logistic regression are estimated using an iterative optimization procedure based on MLE, whereas for LDA/QDA we can estimate directly from data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F8D86E-4AA9-BFF9-9DB6-20B1CD261356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Generative approaches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C28FD3-1DA0-28B6-820A-43BABC32B6A6}"/>
              </a:ext>
            </a:extLst>
          </p:cNvPr>
          <p:cNvSpPr txBox="1"/>
          <p:nvPr/>
        </p:nvSpPr>
        <p:spPr>
          <a:xfrm>
            <a:off x="515824" y="855062"/>
            <a:ext cx="5580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Gaussian discriminant analysis</a:t>
            </a:r>
          </a:p>
        </p:txBody>
      </p:sp>
    </p:spTree>
    <p:extLst>
      <p:ext uri="{BB962C8B-B14F-4D97-AF65-F5344CB8AC3E}">
        <p14:creationId xmlns:p14="http://schemas.microsoft.com/office/powerpoint/2010/main" val="12592213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C56093A-EC0F-3DB0-59E4-5219FB94240E}"/>
              </a:ext>
            </a:extLst>
          </p:cNvPr>
          <p:cNvSpPr/>
          <p:nvPr/>
        </p:nvSpPr>
        <p:spPr>
          <a:xfrm>
            <a:off x="323534" y="987062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EB36D5-A34A-D347-4717-681D345980CC}"/>
              </a:ext>
            </a:extLst>
          </p:cNvPr>
          <p:cNvGrpSpPr/>
          <p:nvPr/>
        </p:nvGrpSpPr>
        <p:grpSpPr>
          <a:xfrm>
            <a:off x="2580412" y="1518273"/>
            <a:ext cx="7400626" cy="911346"/>
            <a:chOff x="2391120" y="2181484"/>
            <a:chExt cx="7400626" cy="91134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57F08817-64BF-5C42-689B-37705B62E294}"/>
                </a:ext>
              </a:extLst>
            </p:cNvPr>
            <p:cNvSpPr/>
            <p:nvPr/>
          </p:nvSpPr>
          <p:spPr>
            <a:xfrm>
              <a:off x="2391120" y="2181484"/>
              <a:ext cx="7400626" cy="911346"/>
            </a:xfrm>
            <a:prstGeom prst="roundRect">
              <a:avLst/>
            </a:prstGeom>
            <a:solidFill>
              <a:srgbClr val="E8EBE4"/>
            </a:solidFill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B6D7061-97B6-0A7B-7D27-C3982CF642CA}"/>
                </a:ext>
              </a:extLst>
            </p:cNvPr>
            <p:cNvSpPr txBox="1"/>
            <p:nvPr/>
          </p:nvSpPr>
          <p:spPr>
            <a:xfrm>
              <a:off x="2497340" y="2420942"/>
              <a:ext cx="71881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When should we choose LDA or logistic regression?</a:t>
              </a:r>
              <a:endPara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1239DC0-C19D-E6BE-FFF6-05E3197592E2}"/>
              </a:ext>
            </a:extLst>
          </p:cNvPr>
          <p:cNvSpPr txBox="1"/>
          <p:nvPr/>
        </p:nvSpPr>
        <p:spPr>
          <a:xfrm>
            <a:off x="323535" y="2669848"/>
            <a:ext cx="11453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If data is Gaussian, then the posterior is a logistic function. The converse is not true.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CD446A-2361-91D5-7096-1C567C9D9332}"/>
              </a:ext>
            </a:extLst>
          </p:cNvPr>
          <p:cNvSpPr txBox="1"/>
          <p:nvPr/>
        </p:nvSpPr>
        <p:spPr>
          <a:xfrm>
            <a:off x="323535" y="3201061"/>
            <a:ext cx="11435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Helvetica Neue" panose="02000503000000020004" pitchFamily="2" charset="0"/>
              <a:buChar char="⮑"/>
            </a:pPr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Therefore, LDA makes </a:t>
            </a:r>
            <a:r>
              <a:rPr lang="en-FR" sz="20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stronger modeling assumptions </a:t>
            </a:r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about the data than logistic regression</a:t>
            </a:r>
            <a:endParaRPr lang="en-FR" sz="20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A3B758-1E02-9F52-A600-FA986FFADDE3}"/>
              </a:ext>
            </a:extLst>
          </p:cNvPr>
          <p:cNvSpPr txBox="1"/>
          <p:nvPr/>
        </p:nvSpPr>
        <p:spPr>
          <a:xfrm>
            <a:off x="323534" y="3864272"/>
            <a:ext cx="113688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When the assumptions are true, LDA will better fit the data than logistic regression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CF1D4E-671F-1DEC-8473-03FA744F177C}"/>
              </a:ext>
            </a:extLst>
          </p:cNvPr>
          <p:cNvSpPr txBox="1"/>
          <p:nvPr/>
        </p:nvSpPr>
        <p:spPr>
          <a:xfrm>
            <a:off x="323535" y="4392414"/>
            <a:ext cx="11435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Helvetica Neue" panose="02000503000000020004" pitchFamily="2" charset="0"/>
              <a:buChar char="⮑"/>
            </a:pPr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LDA is </a:t>
            </a:r>
            <a:r>
              <a:rPr lang="en-FR" sz="20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asymptotically efficient</a:t>
            </a:r>
            <a:r>
              <a:rPr lang="en-FR" sz="2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: for large N, there’s no better algorithm than LDA</a:t>
            </a:r>
            <a:endParaRPr lang="en-FR" sz="20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EA6640-EE24-EFFD-74C8-49C05B759C3F}"/>
              </a:ext>
            </a:extLst>
          </p:cNvPr>
          <p:cNvSpPr txBox="1"/>
          <p:nvPr/>
        </p:nvSpPr>
        <p:spPr>
          <a:xfrm>
            <a:off x="323534" y="5057646"/>
            <a:ext cx="10812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By making weaker assumptions, logistic regression is more robust to deviations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1C5F5C-0AB4-2817-042C-8865D58E0498}"/>
              </a:ext>
            </a:extLst>
          </p:cNvPr>
          <p:cNvSpPr txBox="1"/>
          <p:nvPr/>
        </p:nvSpPr>
        <p:spPr>
          <a:xfrm>
            <a:off x="323534" y="5753655"/>
            <a:ext cx="107564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Conclusion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: it depends. But, in practice, logistic regression is used more often. 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AB9A32-2D8B-A926-E899-C395204F2C35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Generative approaches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B43238-DE16-0A61-D572-FDB74FF95A90}"/>
              </a:ext>
            </a:extLst>
          </p:cNvPr>
          <p:cNvSpPr txBox="1"/>
          <p:nvPr/>
        </p:nvSpPr>
        <p:spPr>
          <a:xfrm>
            <a:off x="515824" y="855062"/>
            <a:ext cx="5580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Gaussian discriminant analysis</a:t>
            </a:r>
          </a:p>
        </p:txBody>
      </p:sp>
    </p:spTree>
    <p:extLst>
      <p:ext uri="{BB962C8B-B14F-4D97-AF65-F5344CB8AC3E}">
        <p14:creationId xmlns:p14="http://schemas.microsoft.com/office/powerpoint/2010/main" val="963241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C56093A-EC0F-3DB0-59E4-5219FB94240E}"/>
              </a:ext>
            </a:extLst>
          </p:cNvPr>
          <p:cNvSpPr/>
          <p:nvPr/>
        </p:nvSpPr>
        <p:spPr>
          <a:xfrm>
            <a:off x="323534" y="987062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3C3D11-12D6-E806-EB70-EEEE6F36622D}"/>
              </a:ext>
            </a:extLst>
          </p:cNvPr>
          <p:cNvSpPr txBox="1"/>
          <p:nvPr/>
        </p:nvSpPr>
        <p:spPr>
          <a:xfrm>
            <a:off x="515824" y="855062"/>
            <a:ext cx="43344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Naïve Bayes classifier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E8A3C9-CB29-1894-9374-E11CFD4574CE}"/>
              </a:ext>
            </a:extLst>
          </p:cNvPr>
          <p:cNvSpPr txBox="1"/>
          <p:nvPr/>
        </p:nvSpPr>
        <p:spPr>
          <a:xfrm>
            <a:off x="323534" y="1434829"/>
            <a:ext cx="124171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GDA, we make strong assumptions about data and estimate                      parameters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C811F4-7C77-525B-D57B-2283931EE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4120" y="1466122"/>
            <a:ext cx="1473200" cy="368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8983AD-2FA5-05EA-59C6-33F3CDD8BCBC}"/>
              </a:ext>
            </a:extLst>
          </p:cNvPr>
          <p:cNvSpPr txBox="1"/>
          <p:nvPr/>
        </p:nvSpPr>
        <p:spPr>
          <a:xfrm>
            <a:off x="323534" y="1935084"/>
            <a:ext cx="11435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Helvetica Neue" panose="02000503000000020004" pitchFamily="2" charset="0"/>
              <a:buChar char="⮑"/>
            </a:pPr>
            <a:r>
              <a:rPr lang="en-FR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logistic regression we have                    </a:t>
            </a:r>
            <a:r>
              <a:rPr lang="en-GB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</a:t>
            </a:r>
            <a:r>
              <a:rPr lang="en-FR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arameters to estimate </a:t>
            </a:r>
            <a:endParaRPr lang="en-FR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379FA1-4166-F4D1-5D2E-21EF150EA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507" y="1990671"/>
            <a:ext cx="977900" cy="2667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DF4849A-CB93-0D8F-E8C8-6BF9049A3D97}"/>
              </a:ext>
            </a:extLst>
          </p:cNvPr>
          <p:cNvSpPr txBox="1"/>
          <p:nvPr/>
        </p:nvSpPr>
        <p:spPr>
          <a:xfrm>
            <a:off x="323534" y="2462363"/>
            <a:ext cx="118684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Naïve Bayes, we assume that, for each class, the </a:t>
            </a:r>
            <a:r>
              <a:rPr lang="en-GB" sz="22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predictors are independent</a:t>
            </a:r>
            <a:endParaRPr lang="en-FR" sz="22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2FB17B3-8328-940F-6F9B-F3C6520DC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3088695"/>
            <a:ext cx="7772400" cy="85972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82E12EE-37CB-03B9-7AD5-EDC311371B17}"/>
              </a:ext>
            </a:extLst>
          </p:cNvPr>
          <p:cNvSpPr txBox="1"/>
          <p:nvPr/>
        </p:nvSpPr>
        <p:spPr>
          <a:xfrm>
            <a:off x="323534" y="4141621"/>
            <a:ext cx="118684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can, therefore, model just the marginal probabilities of the predictors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BEB7B2-5C8B-8E03-9B9B-8514C23D8403}"/>
              </a:ext>
            </a:extLst>
          </p:cNvPr>
          <p:cNvSpPr txBox="1"/>
          <p:nvPr/>
        </p:nvSpPr>
        <p:spPr>
          <a:xfrm>
            <a:off x="323534" y="4630028"/>
            <a:ext cx="11435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Helvetica Neue" panose="02000503000000020004" pitchFamily="2" charset="0"/>
              <a:buChar char="⮑"/>
            </a:pPr>
            <a:r>
              <a:rPr lang="en-US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If the marginals are Gaussian, then this means that we have           parameters to estimate </a:t>
            </a:r>
            <a:endParaRPr lang="en-FR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29280C9-6E18-C45A-A1BD-9184A8881A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7806" y="4723224"/>
            <a:ext cx="482600" cy="2413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A306B7F-1A0D-37DC-86D1-E0B9C59E3228}"/>
              </a:ext>
            </a:extLst>
          </p:cNvPr>
          <p:cNvSpPr txBox="1"/>
          <p:nvPr/>
        </p:nvSpPr>
        <p:spPr>
          <a:xfrm>
            <a:off x="323534" y="5196793"/>
            <a:ext cx="118684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Do we actually expect the assumption of independence to be true? </a:t>
            </a:r>
            <a:r>
              <a:rPr lang="en-GB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Not really…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0B6608-2A13-B9F6-34D4-75A73F6B8630}"/>
              </a:ext>
            </a:extLst>
          </p:cNvPr>
          <p:cNvSpPr txBox="1"/>
          <p:nvPr/>
        </p:nvSpPr>
        <p:spPr>
          <a:xfrm>
            <a:off x="323533" y="5686272"/>
            <a:ext cx="11435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Helvetica Neue" panose="02000503000000020004" pitchFamily="2" charset="0"/>
              <a:buChar char="⮑"/>
            </a:pPr>
            <a:r>
              <a:rPr lang="en-US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But when working with lots of predictors, this is the only possible approach!</a:t>
            </a:r>
            <a:endParaRPr lang="en-FR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8BCD9A-455D-7995-EF74-7E968FA31E92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Generative approaches</a:t>
            </a:r>
          </a:p>
        </p:txBody>
      </p:sp>
    </p:spTree>
    <p:extLst>
      <p:ext uri="{BB962C8B-B14F-4D97-AF65-F5344CB8AC3E}">
        <p14:creationId xmlns:p14="http://schemas.microsoft.com/office/powerpoint/2010/main" val="6528145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D7467528-64E0-92D3-C9CF-71AFAE9628E9}"/>
              </a:ext>
            </a:extLst>
          </p:cNvPr>
          <p:cNvSpPr txBox="1"/>
          <p:nvPr/>
        </p:nvSpPr>
        <p:spPr>
          <a:xfrm>
            <a:off x="406978" y="5466147"/>
            <a:ext cx="114040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Naïve Bayes classifier is often used in text classification, bioinformatics, etc.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C56093A-EC0F-3DB0-59E4-5219FB94240E}"/>
              </a:ext>
            </a:extLst>
          </p:cNvPr>
          <p:cNvSpPr/>
          <p:nvPr/>
        </p:nvSpPr>
        <p:spPr>
          <a:xfrm>
            <a:off x="323534" y="987062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3C3D11-12D6-E806-EB70-EEEE6F36622D}"/>
              </a:ext>
            </a:extLst>
          </p:cNvPr>
          <p:cNvSpPr txBox="1"/>
          <p:nvPr/>
        </p:nvSpPr>
        <p:spPr>
          <a:xfrm>
            <a:off x="515824" y="855062"/>
            <a:ext cx="43344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Naïve Bayes classifier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532C30-750E-2B0F-D476-CBE682E4B49A}"/>
              </a:ext>
            </a:extLst>
          </p:cNvPr>
          <p:cNvSpPr txBox="1"/>
          <p:nvPr/>
        </p:nvSpPr>
        <p:spPr>
          <a:xfrm>
            <a:off x="323534" y="1434829"/>
            <a:ext cx="118684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classifier can then be written as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4306595-E842-8F7C-1DFA-A6716C005CAD}"/>
              </a:ext>
            </a:extLst>
          </p:cNvPr>
          <p:cNvSpPr/>
          <p:nvPr/>
        </p:nvSpPr>
        <p:spPr>
          <a:xfrm>
            <a:off x="2156459" y="2098040"/>
            <a:ext cx="7879080" cy="1330960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C28699B-540F-005E-010E-EE0A6BE3E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649" y="2293620"/>
            <a:ext cx="7378700" cy="9398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98802D9-CFD3-7609-5037-C3D1A00DEEF6}"/>
              </a:ext>
            </a:extLst>
          </p:cNvPr>
          <p:cNvSpPr txBox="1"/>
          <p:nvPr/>
        </p:nvSpPr>
        <p:spPr>
          <a:xfrm>
            <a:off x="406978" y="3669215"/>
            <a:ext cx="114040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Since the marginals are independent, we can model each predictor differently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8AD6DD-6AA7-AC80-F086-0B62B403FCF0}"/>
              </a:ext>
            </a:extLst>
          </p:cNvPr>
          <p:cNvSpPr txBox="1"/>
          <p:nvPr/>
        </p:nvSpPr>
        <p:spPr>
          <a:xfrm>
            <a:off x="406978" y="4295153"/>
            <a:ext cx="114040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Quantitative predictors can be modelled with Gaussian, Exponential, etc.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044C1E-EA72-50BE-C98E-4AB7442D477D}"/>
              </a:ext>
            </a:extLst>
          </p:cNvPr>
          <p:cNvSpPr txBox="1"/>
          <p:nvPr/>
        </p:nvSpPr>
        <p:spPr>
          <a:xfrm>
            <a:off x="406978" y="4842003"/>
            <a:ext cx="114040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Qualitative predictors can be modelled with Bernoulli, Dirichlet, etc.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EBCA7B-D9AC-A3DB-6673-A52936B78F7E}"/>
              </a:ext>
            </a:extLst>
          </p:cNvPr>
          <p:cNvSpPr/>
          <p:nvPr/>
        </p:nvSpPr>
        <p:spPr>
          <a:xfrm>
            <a:off x="6095999" y="5947137"/>
            <a:ext cx="4495801" cy="45719"/>
          </a:xfrm>
          <a:prstGeom prst="rect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E6E1FA-A7F7-3D2E-8B30-9280ECF019C8}"/>
              </a:ext>
            </a:extLst>
          </p:cNvPr>
          <p:cNvSpPr txBox="1"/>
          <p:nvPr/>
        </p:nvSpPr>
        <p:spPr>
          <a:xfrm>
            <a:off x="7062343" y="6071822"/>
            <a:ext cx="2555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Large dimensional predictors</a:t>
            </a:r>
            <a:endParaRPr lang="en-FR" sz="1400" b="1" dirty="0">
              <a:solidFill>
                <a:srgbClr val="FA2743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32491E-4036-471F-7CFD-18C2B2E65AE7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Generative approaches</a:t>
            </a:r>
          </a:p>
        </p:txBody>
      </p:sp>
    </p:spTree>
    <p:extLst>
      <p:ext uri="{BB962C8B-B14F-4D97-AF65-F5344CB8AC3E}">
        <p14:creationId xmlns:p14="http://schemas.microsoft.com/office/powerpoint/2010/main" val="32122475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F3B53-AA72-9D9E-9B20-20AA7EE7C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C828B0-B6A7-DCA3-B3CE-33A78CB2CDB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6FD7F0-C8A7-0905-E8B0-BF4AED6DF715}"/>
              </a:ext>
            </a:extLst>
          </p:cNvPr>
          <p:cNvSpPr/>
          <p:nvPr/>
        </p:nvSpPr>
        <p:spPr>
          <a:xfrm>
            <a:off x="323534" y="987062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BAA71F-548F-7EF0-DC18-89CB8B3BD937}"/>
              </a:ext>
            </a:extLst>
          </p:cNvPr>
          <p:cNvSpPr txBox="1"/>
          <p:nvPr/>
        </p:nvSpPr>
        <p:spPr>
          <a:xfrm>
            <a:off x="515824" y="855062"/>
            <a:ext cx="6964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How do all this relate to “Generative AI”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F65ABF-0EBE-E6B1-61F3-A51F8BE1A509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Generative approaches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CBC759-FD5D-1ADA-F644-DFD6A23DC7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21" t="40863" r="10208" b="14724"/>
          <a:stretch/>
        </p:blipFill>
        <p:spPr>
          <a:xfrm>
            <a:off x="2998785" y="2562386"/>
            <a:ext cx="6194430" cy="36212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5971CB-166A-775B-F69F-BCF8A077A677}"/>
              </a:ext>
            </a:extLst>
          </p:cNvPr>
          <p:cNvSpPr txBox="1"/>
          <p:nvPr/>
        </p:nvSpPr>
        <p:spPr>
          <a:xfrm>
            <a:off x="240032" y="1450218"/>
            <a:ext cx="119519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Current ML researchers try to model and/or learn the distribution           of a dataset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C40F13-FF23-0441-195A-09467C6FC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5286" y="1509600"/>
            <a:ext cx="622300" cy="3429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C826996-FB77-4E68-EAB0-DC2777520C89}"/>
              </a:ext>
            </a:extLst>
          </p:cNvPr>
          <p:cNvSpPr/>
          <p:nvPr/>
        </p:nvSpPr>
        <p:spPr>
          <a:xfrm>
            <a:off x="6810103" y="3889248"/>
            <a:ext cx="180953" cy="18095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F833EA-ED5E-795F-5B96-93518C6B3E4D}"/>
              </a:ext>
            </a:extLst>
          </p:cNvPr>
          <p:cNvSpPr/>
          <p:nvPr/>
        </p:nvSpPr>
        <p:spPr>
          <a:xfrm>
            <a:off x="5086235" y="2614938"/>
            <a:ext cx="180953" cy="18095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DD53D80-CC58-DF17-3197-D99402E4FB24}"/>
              </a:ext>
            </a:extLst>
          </p:cNvPr>
          <p:cNvSpPr/>
          <p:nvPr/>
        </p:nvSpPr>
        <p:spPr>
          <a:xfrm>
            <a:off x="4905282" y="4399281"/>
            <a:ext cx="180953" cy="18095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31B3CD4-8CEE-8C5A-0DEA-154620F0C787}"/>
              </a:ext>
            </a:extLst>
          </p:cNvPr>
          <p:cNvSpPr/>
          <p:nvPr/>
        </p:nvSpPr>
        <p:spPr>
          <a:xfrm>
            <a:off x="6479027" y="5147721"/>
            <a:ext cx="180953" cy="18095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FEEC3DB5-6DB9-491B-090C-2BD38CF24404}"/>
              </a:ext>
            </a:extLst>
          </p:cNvPr>
          <p:cNvSpPr/>
          <p:nvPr/>
        </p:nvSpPr>
        <p:spPr>
          <a:xfrm>
            <a:off x="4109545" y="2355523"/>
            <a:ext cx="924910" cy="782986"/>
          </a:xfrm>
          <a:custGeom>
            <a:avLst/>
            <a:gdLst>
              <a:gd name="connsiteX0" fmla="*/ 0 w 924910"/>
              <a:gd name="connsiteY0" fmla="*/ 782986 h 782986"/>
              <a:gd name="connsiteX1" fmla="*/ 315310 w 924910"/>
              <a:gd name="connsiteY1" fmla="*/ 26241 h 782986"/>
              <a:gd name="connsiteX2" fmla="*/ 924910 w 924910"/>
              <a:gd name="connsiteY2" fmla="*/ 246958 h 782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910" h="782986">
                <a:moveTo>
                  <a:pt x="0" y="782986"/>
                </a:moveTo>
                <a:cubicBezTo>
                  <a:pt x="80579" y="449282"/>
                  <a:pt x="161158" y="115579"/>
                  <a:pt x="315310" y="26241"/>
                </a:cubicBezTo>
                <a:cubicBezTo>
                  <a:pt x="469462" y="-63097"/>
                  <a:pt x="697186" y="91930"/>
                  <a:pt x="924910" y="246958"/>
                </a:cubicBezTo>
              </a:path>
            </a:pathLst>
          </a:custGeom>
          <a:noFill/>
          <a:ln w="38100">
            <a:solidFill>
              <a:srgbClr val="00B050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5FEFED9-8AE7-D299-A6D4-DA6B4E2A3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1365" y="2843931"/>
            <a:ext cx="812800" cy="812800"/>
          </a:xfrm>
          <a:prstGeom prst="rect">
            <a:avLst/>
          </a:prstGeom>
        </p:spPr>
      </p:pic>
      <p:sp>
        <p:nvSpPr>
          <p:cNvPr id="22" name="Freeform 21">
            <a:extLst>
              <a:ext uri="{FF2B5EF4-FFF2-40B4-BE49-F238E27FC236}">
                <a16:creationId xmlns:a16="http://schemas.microsoft.com/office/drawing/2014/main" id="{7361DE09-522D-E77E-2BA6-071087325822}"/>
              </a:ext>
            </a:extLst>
          </p:cNvPr>
          <p:cNvSpPr/>
          <p:nvPr/>
        </p:nvSpPr>
        <p:spPr>
          <a:xfrm>
            <a:off x="3016469" y="4736081"/>
            <a:ext cx="1839310" cy="1228795"/>
          </a:xfrm>
          <a:custGeom>
            <a:avLst/>
            <a:gdLst>
              <a:gd name="connsiteX0" fmla="*/ 0 w 1839310"/>
              <a:gd name="connsiteY0" fmla="*/ 840828 h 1228795"/>
              <a:gd name="connsiteX1" fmla="*/ 1061545 w 1839310"/>
              <a:gd name="connsiteY1" fmla="*/ 1187669 h 1228795"/>
              <a:gd name="connsiteX2" fmla="*/ 1839310 w 1839310"/>
              <a:gd name="connsiteY2" fmla="*/ 0 h 1228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39310" h="1228795">
                <a:moveTo>
                  <a:pt x="0" y="840828"/>
                </a:moveTo>
                <a:cubicBezTo>
                  <a:pt x="377496" y="1084317"/>
                  <a:pt x="754993" y="1327807"/>
                  <a:pt x="1061545" y="1187669"/>
                </a:cubicBezTo>
                <a:cubicBezTo>
                  <a:pt x="1368097" y="1047531"/>
                  <a:pt x="1603703" y="523765"/>
                  <a:pt x="1839310" y="0"/>
                </a:cubicBezTo>
              </a:path>
            </a:pathLst>
          </a:custGeom>
          <a:noFill/>
          <a:ln w="38100">
            <a:solidFill>
              <a:srgbClr val="00B050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E0A1ECB-1777-5823-8D15-2A10238732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2385" y="5392757"/>
            <a:ext cx="812800" cy="812800"/>
          </a:xfrm>
          <a:prstGeom prst="rect">
            <a:avLst/>
          </a:prstGeom>
        </p:spPr>
      </p:pic>
      <p:sp>
        <p:nvSpPr>
          <p:cNvPr id="23" name="Freeform 22">
            <a:extLst>
              <a:ext uri="{FF2B5EF4-FFF2-40B4-BE49-F238E27FC236}">
                <a16:creationId xmlns:a16="http://schemas.microsoft.com/office/drawing/2014/main" id="{15FED666-DCB6-2C08-DB4E-09B3D21EFDEE}"/>
              </a:ext>
            </a:extLst>
          </p:cNvPr>
          <p:cNvSpPr/>
          <p:nvPr/>
        </p:nvSpPr>
        <p:spPr>
          <a:xfrm>
            <a:off x="6958738" y="2986282"/>
            <a:ext cx="1324303" cy="825779"/>
          </a:xfrm>
          <a:custGeom>
            <a:avLst/>
            <a:gdLst>
              <a:gd name="connsiteX0" fmla="*/ 0 w 1324303"/>
              <a:gd name="connsiteY0" fmla="*/ 825779 h 825779"/>
              <a:gd name="connsiteX1" fmla="*/ 399393 w 1324303"/>
              <a:gd name="connsiteY1" fmla="*/ 121586 h 825779"/>
              <a:gd name="connsiteX2" fmla="*/ 1135117 w 1324303"/>
              <a:gd name="connsiteY2" fmla="*/ 5972 h 825779"/>
              <a:gd name="connsiteX3" fmla="*/ 1324303 w 1324303"/>
              <a:gd name="connsiteY3" fmla="*/ 26993 h 825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4303" h="825779">
                <a:moveTo>
                  <a:pt x="0" y="825779"/>
                </a:moveTo>
                <a:cubicBezTo>
                  <a:pt x="105103" y="541999"/>
                  <a:pt x="210207" y="258220"/>
                  <a:pt x="399393" y="121586"/>
                </a:cubicBezTo>
                <a:cubicBezTo>
                  <a:pt x="588579" y="-15048"/>
                  <a:pt x="980965" y="21737"/>
                  <a:pt x="1135117" y="5972"/>
                </a:cubicBezTo>
                <a:cubicBezTo>
                  <a:pt x="1289269" y="-9793"/>
                  <a:pt x="1306786" y="8600"/>
                  <a:pt x="1324303" y="26993"/>
                </a:cubicBezTo>
              </a:path>
            </a:pathLst>
          </a:custGeom>
          <a:noFill/>
          <a:ln w="38100">
            <a:solidFill>
              <a:srgbClr val="00B050"/>
            </a:solidFill>
            <a:head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75F8865-1E0C-BC44-03E8-2DE72F0418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1593" y="2562386"/>
            <a:ext cx="812800" cy="812800"/>
          </a:xfrm>
          <a:prstGeom prst="rect">
            <a:avLst/>
          </a:prstGeom>
        </p:spPr>
      </p:pic>
      <p:sp>
        <p:nvSpPr>
          <p:cNvPr id="24" name="Freeform 23">
            <a:extLst>
              <a:ext uri="{FF2B5EF4-FFF2-40B4-BE49-F238E27FC236}">
                <a16:creationId xmlns:a16="http://schemas.microsoft.com/office/drawing/2014/main" id="{16163A02-19E9-D7A8-9FEA-FAB413148AB7}"/>
              </a:ext>
            </a:extLst>
          </p:cNvPr>
          <p:cNvSpPr/>
          <p:nvPr/>
        </p:nvSpPr>
        <p:spPr>
          <a:xfrm>
            <a:off x="6678512" y="5384683"/>
            <a:ext cx="2476072" cy="775083"/>
          </a:xfrm>
          <a:custGeom>
            <a:avLst/>
            <a:gdLst>
              <a:gd name="connsiteX0" fmla="*/ 2476072 w 2476072"/>
              <a:gd name="connsiteY0" fmla="*/ 523982 h 775083"/>
              <a:gd name="connsiteX1" fmla="*/ 1160980 w 2476072"/>
              <a:gd name="connsiteY1" fmla="*/ 750014 h 775083"/>
              <a:gd name="connsiteX2" fmla="*/ 0 w 2476072"/>
              <a:gd name="connsiteY2" fmla="*/ 0 h 775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76072" h="775083">
                <a:moveTo>
                  <a:pt x="2476072" y="523982"/>
                </a:moveTo>
                <a:cubicBezTo>
                  <a:pt x="2024865" y="680663"/>
                  <a:pt x="1573659" y="837344"/>
                  <a:pt x="1160980" y="750014"/>
                </a:cubicBezTo>
                <a:cubicBezTo>
                  <a:pt x="748301" y="662684"/>
                  <a:pt x="374150" y="331342"/>
                  <a:pt x="0" y="0"/>
                </a:cubicBezTo>
              </a:path>
            </a:pathLst>
          </a:custGeom>
          <a:noFill/>
          <a:ln w="38100">
            <a:solidFill>
              <a:srgbClr val="00B050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46D614-8C8A-EF9E-9B10-1649D04BD9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391" y="5519978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6518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F6828-2B5C-17A6-32B3-8F5AFA70C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128128-2AA9-0403-684F-B71AF17BC2DC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DBA4DB0-F414-EE46-FA59-0F37AD46B5EA}"/>
              </a:ext>
            </a:extLst>
          </p:cNvPr>
          <p:cNvSpPr/>
          <p:nvPr/>
        </p:nvSpPr>
        <p:spPr>
          <a:xfrm>
            <a:off x="323534" y="987062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6B4744-CBD9-4CC6-F6DC-70997B2B971F}"/>
              </a:ext>
            </a:extLst>
          </p:cNvPr>
          <p:cNvSpPr txBox="1"/>
          <p:nvPr/>
        </p:nvSpPr>
        <p:spPr>
          <a:xfrm>
            <a:off x="515824" y="855062"/>
            <a:ext cx="6964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How do all this relate to “Generative AI”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E3FECC-9942-CE0A-12DA-5A124EFE6FCC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Generative approaches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98C394-AB68-92F7-246F-B7F86241E2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821" t="40863" r="10208" b="14724"/>
          <a:stretch/>
        </p:blipFill>
        <p:spPr>
          <a:xfrm>
            <a:off x="6589324" y="3305342"/>
            <a:ext cx="3299725" cy="192903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968D208-EBCC-0DCF-DA1A-4920130FD1D2}"/>
              </a:ext>
            </a:extLst>
          </p:cNvPr>
          <p:cNvSpPr txBox="1"/>
          <p:nvPr/>
        </p:nvSpPr>
        <p:spPr>
          <a:xfrm>
            <a:off x="240032" y="2024474"/>
            <a:ext cx="121043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Note, however, that it is often enough to </a:t>
            </a:r>
            <a:r>
              <a:rPr lang="en-GB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just know how to sample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from the distribution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475C865-F002-C17F-61A1-F4337E4145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538" t="27692" r="9461" b="12233"/>
          <a:stretch/>
        </p:blipFill>
        <p:spPr>
          <a:xfrm>
            <a:off x="2217623" y="2744406"/>
            <a:ext cx="3387896" cy="2609298"/>
          </a:xfrm>
          <a:prstGeom prst="rect">
            <a:avLst/>
          </a:prstGeom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E34CBF8-ABA0-D5FA-8EDD-19BB94395778}"/>
              </a:ext>
            </a:extLst>
          </p:cNvPr>
          <p:cNvSpPr/>
          <p:nvPr/>
        </p:nvSpPr>
        <p:spPr>
          <a:xfrm>
            <a:off x="5139138" y="3556887"/>
            <a:ext cx="1905918" cy="374586"/>
          </a:xfrm>
          <a:custGeom>
            <a:avLst/>
            <a:gdLst>
              <a:gd name="connsiteX0" fmla="*/ 0 w 1905918"/>
              <a:gd name="connsiteY0" fmla="*/ 374586 h 374586"/>
              <a:gd name="connsiteX1" fmla="*/ 672029 w 1905918"/>
              <a:gd name="connsiteY1" fmla="*/ 13 h 374586"/>
              <a:gd name="connsiteX2" fmla="*/ 1905918 w 1905918"/>
              <a:gd name="connsiteY2" fmla="*/ 363570 h 374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918" h="374586">
                <a:moveTo>
                  <a:pt x="0" y="374586"/>
                </a:moveTo>
                <a:cubicBezTo>
                  <a:pt x="177188" y="188217"/>
                  <a:pt x="354376" y="1849"/>
                  <a:pt x="672029" y="13"/>
                </a:cubicBezTo>
                <a:cubicBezTo>
                  <a:pt x="989682" y="-1823"/>
                  <a:pt x="1447800" y="180873"/>
                  <a:pt x="1905918" y="363570"/>
                </a:cubicBezTo>
              </a:path>
            </a:pathLst>
          </a:custGeom>
          <a:noFill/>
          <a:ln w="38100">
            <a:solidFill>
              <a:srgbClr val="5E5E5E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9CE4700-9601-4F41-EE7B-CCA2936DE7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7447" y="3075515"/>
            <a:ext cx="749300" cy="3556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290E15A-90D2-8194-0AF9-58BB64D93A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7586" y="5408228"/>
            <a:ext cx="2743200" cy="3556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57D2CDF-4986-520C-D79D-FD8AF504BF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7058" y="5408228"/>
            <a:ext cx="1701800" cy="3556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89892C3-5CE1-A5CC-0FB5-1FB4F19D6A36}"/>
              </a:ext>
            </a:extLst>
          </p:cNvPr>
          <p:cNvSpPr txBox="1"/>
          <p:nvPr/>
        </p:nvSpPr>
        <p:spPr>
          <a:xfrm>
            <a:off x="240032" y="1450218"/>
            <a:ext cx="119519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Current ML researchers try to model and/or learn the distribution           of a dataset 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837434B-6EE7-6435-D6D9-3928D13EA2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5286" y="1509600"/>
            <a:ext cx="622300" cy="3429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D42F49C-3098-9647-2239-04AAAD84A3E5}"/>
              </a:ext>
            </a:extLst>
          </p:cNvPr>
          <p:cNvSpPr txBox="1"/>
          <p:nvPr/>
        </p:nvSpPr>
        <p:spPr>
          <a:xfrm>
            <a:off x="392432" y="6166185"/>
            <a:ext cx="11647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challenge then is knowing how to build function              -- deep neural networks!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0F60841-5287-CDDF-5C22-EEDED277CC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5602" y="6229921"/>
            <a:ext cx="749300" cy="355600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028EB77B-C647-ABF0-02F6-499DECCD9D0A}"/>
              </a:ext>
            </a:extLst>
          </p:cNvPr>
          <p:cNvSpPr/>
          <p:nvPr/>
        </p:nvSpPr>
        <p:spPr>
          <a:xfrm>
            <a:off x="8539479" y="4004420"/>
            <a:ext cx="229827" cy="22982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FC89242-EFBE-290A-DE69-45FBA21102AB}"/>
              </a:ext>
            </a:extLst>
          </p:cNvPr>
          <p:cNvSpPr/>
          <p:nvPr/>
        </p:nvSpPr>
        <p:spPr>
          <a:xfrm>
            <a:off x="3578954" y="3314086"/>
            <a:ext cx="229827" cy="22982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66D1CE5B-78DA-650C-AECB-689FAAF3DCE1}"/>
              </a:ext>
            </a:extLst>
          </p:cNvPr>
          <p:cNvSpPr/>
          <p:nvPr/>
        </p:nvSpPr>
        <p:spPr>
          <a:xfrm>
            <a:off x="8758991" y="3153984"/>
            <a:ext cx="1949116" cy="1213480"/>
          </a:xfrm>
          <a:custGeom>
            <a:avLst/>
            <a:gdLst>
              <a:gd name="connsiteX0" fmla="*/ 0 w 1949116"/>
              <a:gd name="connsiteY0" fmla="*/ 732217 h 1213480"/>
              <a:gd name="connsiteX1" fmla="*/ 902368 w 1949116"/>
              <a:gd name="connsiteY1" fmla="*/ 10323 h 1213480"/>
              <a:gd name="connsiteX2" fmla="*/ 1949116 w 1949116"/>
              <a:gd name="connsiteY2" fmla="*/ 1213480 h 1213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9116" h="1213480">
                <a:moveTo>
                  <a:pt x="0" y="732217"/>
                </a:moveTo>
                <a:cubicBezTo>
                  <a:pt x="288757" y="331165"/>
                  <a:pt x="577515" y="-69887"/>
                  <a:pt x="902368" y="10323"/>
                </a:cubicBezTo>
                <a:cubicBezTo>
                  <a:pt x="1227221" y="90533"/>
                  <a:pt x="1588168" y="652006"/>
                  <a:pt x="1949116" y="1213480"/>
                </a:cubicBezTo>
              </a:path>
            </a:pathLst>
          </a:custGeom>
          <a:noFill/>
          <a:ln w="38100">
            <a:solidFill>
              <a:srgbClr val="00B050"/>
            </a:solidFill>
            <a:head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2797EA8-5C92-76C1-A86F-D70348C2D2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04949" y="3845675"/>
            <a:ext cx="1219200" cy="1219200"/>
          </a:xfrm>
          <a:prstGeom prst="rect">
            <a:avLst/>
          </a:prstGeom>
        </p:spPr>
      </p:pic>
      <p:sp>
        <p:nvSpPr>
          <p:cNvPr id="46" name="Freeform 45">
            <a:extLst>
              <a:ext uri="{FF2B5EF4-FFF2-40B4-BE49-F238E27FC236}">
                <a16:creationId xmlns:a16="http://schemas.microsoft.com/office/drawing/2014/main" id="{CA0FC1CB-58E7-123E-F5F9-E2139AE98DB0}"/>
              </a:ext>
            </a:extLst>
          </p:cNvPr>
          <p:cNvSpPr/>
          <p:nvPr/>
        </p:nvSpPr>
        <p:spPr>
          <a:xfrm>
            <a:off x="1573874" y="2893284"/>
            <a:ext cx="1949116" cy="1459940"/>
          </a:xfrm>
          <a:custGeom>
            <a:avLst/>
            <a:gdLst>
              <a:gd name="connsiteX0" fmla="*/ 0 w 1949116"/>
              <a:gd name="connsiteY0" fmla="*/ 1459940 h 1459940"/>
              <a:gd name="connsiteX1" fmla="*/ 601579 w 1949116"/>
              <a:gd name="connsiteY1" fmla="*/ 52246 h 1459940"/>
              <a:gd name="connsiteX2" fmla="*/ 1949116 w 1949116"/>
              <a:gd name="connsiteY2" fmla="*/ 437256 h 145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9116" h="1459940">
                <a:moveTo>
                  <a:pt x="0" y="1459940"/>
                </a:moveTo>
                <a:cubicBezTo>
                  <a:pt x="138363" y="841316"/>
                  <a:pt x="276726" y="222693"/>
                  <a:pt x="601579" y="52246"/>
                </a:cubicBezTo>
                <a:cubicBezTo>
                  <a:pt x="926432" y="-118201"/>
                  <a:pt x="1437774" y="159527"/>
                  <a:pt x="1949116" y="437256"/>
                </a:cubicBezTo>
              </a:path>
            </a:pathLst>
          </a:custGeom>
          <a:noFill/>
          <a:ln w="38100">
            <a:solidFill>
              <a:srgbClr val="00B050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33AB1EB-602E-9CC0-CD62-2F47246DE6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851" y="3845675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7538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5D29B-5B32-0DE2-6AF0-397B7D656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523E048-6353-55EF-9E1F-B4F8A013363F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Graphic 4" descr="Right pointing backhand index outline">
            <a:extLst>
              <a:ext uri="{FF2B5EF4-FFF2-40B4-BE49-F238E27FC236}">
                <a16:creationId xmlns:a16="http://schemas.microsoft.com/office/drawing/2014/main" id="{56038BE3-DEAA-2120-3B90-206BAA0B7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769" y="3908644"/>
            <a:ext cx="1083311" cy="10833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DA61A4-F59D-C00A-94E1-6D227F423A77}"/>
              </a:ext>
            </a:extLst>
          </p:cNvPr>
          <p:cNvSpPr txBox="1"/>
          <p:nvPr/>
        </p:nvSpPr>
        <p:spPr>
          <a:xfrm>
            <a:off x="1865622" y="1480237"/>
            <a:ext cx="9089348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Review from last lecture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Generative approach to classification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Comparisons between methods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Final remarks on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3794846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676849-483C-2C96-95C4-B466BFA855C7}"/>
              </a:ext>
            </a:extLst>
          </p:cNvPr>
          <p:cNvSpPr txBox="1"/>
          <p:nvPr/>
        </p:nvSpPr>
        <p:spPr>
          <a:xfrm>
            <a:off x="240033" y="929391"/>
            <a:ext cx="97513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consider the simulated benchmark presented in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James et al. (2022)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85F8AA-E180-36D8-718B-B969FB1BEE9E}"/>
              </a:ext>
            </a:extLst>
          </p:cNvPr>
          <p:cNvSpPr txBox="1"/>
          <p:nvPr/>
        </p:nvSpPr>
        <p:spPr>
          <a:xfrm>
            <a:off x="240033" y="1666931"/>
            <a:ext cx="8270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benchmark compares the performance of six classifiers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611E45-98B6-1850-E1F5-65C2207925B8}"/>
              </a:ext>
            </a:extLst>
          </p:cNvPr>
          <p:cNvSpPr txBox="1"/>
          <p:nvPr/>
        </p:nvSpPr>
        <p:spPr>
          <a:xfrm>
            <a:off x="2650759" y="2404471"/>
            <a:ext cx="8536502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KNN-1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: K-nearest neighbours (</a:t>
            </a:r>
            <a:r>
              <a:rPr lang="en-GB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kNN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) with K = 1 </a:t>
            </a:r>
          </a:p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KNN-CV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: </a:t>
            </a:r>
            <a:r>
              <a:rPr lang="en-GB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kNN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with K obtained with cross-validation</a:t>
            </a:r>
          </a:p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LDA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: Linear discriminant analysis</a:t>
            </a:r>
          </a:p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Logistic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: Logistic regression</a:t>
            </a:r>
          </a:p>
          <a:p>
            <a:pPr>
              <a:lnSpc>
                <a:spcPct val="150000"/>
              </a:lnSpc>
            </a:pPr>
            <a:r>
              <a:rPr lang="en-GB" sz="2400" b="1" dirty="0" err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NBayes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: Gaussian naïve Bayes</a:t>
            </a:r>
          </a:p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QDA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: Quadratic discriminant 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56D2E1-0A9D-61D3-5B6D-4421E3FCC074}"/>
              </a:ext>
            </a:extLst>
          </p:cNvPr>
          <p:cNvSpPr txBox="1"/>
          <p:nvPr/>
        </p:nvSpPr>
        <p:spPr>
          <a:xfrm>
            <a:off x="240033" y="6035111"/>
            <a:ext cx="119202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Under </a:t>
            </a:r>
            <a:r>
              <a:rPr lang="en-FR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six scenarios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: the first three have linear boundary, the other three are non-linear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9A66E4-87CD-0DB8-E0AB-33E23EE4F13E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Comparisons between methods</a:t>
            </a:r>
          </a:p>
        </p:txBody>
      </p:sp>
    </p:spTree>
    <p:extLst>
      <p:ext uri="{BB962C8B-B14F-4D97-AF65-F5344CB8AC3E}">
        <p14:creationId xmlns:p14="http://schemas.microsoft.com/office/powerpoint/2010/main" val="11230394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676849-483C-2C96-95C4-B466BFA855C7}"/>
              </a:ext>
            </a:extLst>
          </p:cNvPr>
          <p:cNvSpPr txBox="1"/>
          <p:nvPr/>
        </p:nvSpPr>
        <p:spPr>
          <a:xfrm>
            <a:off x="240033" y="929391"/>
            <a:ext cx="97513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consider the simulated benchmark presented in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James et al. (2022)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DF2372-1BD6-08AB-8AFC-7A2AE5514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175" y="3188218"/>
            <a:ext cx="5981700" cy="393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CD3458-7818-398E-4F6E-EF68A814E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975" y="3960364"/>
            <a:ext cx="7658100" cy="355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61CD50-9B17-584B-5AC9-69C49517C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2525" y="4644306"/>
            <a:ext cx="8509000" cy="812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523EF1-5D4D-4486-3608-136B1BD6DA1D}"/>
              </a:ext>
            </a:extLst>
          </p:cNvPr>
          <p:cNvSpPr txBox="1"/>
          <p:nvPr/>
        </p:nvSpPr>
        <p:spPr>
          <a:xfrm>
            <a:off x="2663833" y="1676980"/>
            <a:ext cx="93444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There were 20 training observations in each of two classes. </a:t>
            </a: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observations within each class were uncorrelated random normal variables with a different mean in each class.</a:t>
            </a: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C76E2A6-3685-A1D0-461A-45FE77BA757D}"/>
              </a:ext>
            </a:extLst>
          </p:cNvPr>
          <p:cNvSpPr/>
          <p:nvPr/>
        </p:nvSpPr>
        <p:spPr>
          <a:xfrm>
            <a:off x="352768" y="1679637"/>
            <a:ext cx="2141951" cy="713014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85F8AA-E180-36D8-718B-B969FB1BEE9E}"/>
              </a:ext>
            </a:extLst>
          </p:cNvPr>
          <p:cNvSpPr txBox="1"/>
          <p:nvPr/>
        </p:nvSpPr>
        <p:spPr>
          <a:xfrm>
            <a:off x="673377" y="1815558"/>
            <a:ext cx="15456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Scenario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6BA1D9-9A46-D375-C438-FBB39FD50106}"/>
              </a:ext>
            </a:extLst>
          </p:cNvPr>
          <p:cNvSpPr/>
          <p:nvPr/>
        </p:nvSpPr>
        <p:spPr>
          <a:xfrm>
            <a:off x="7010653" y="5460394"/>
            <a:ext cx="1260000" cy="72000"/>
          </a:xfrm>
          <a:prstGeom prst="rect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D23DBB-8F2A-4A0D-E33A-B1991BCCB774}"/>
              </a:ext>
            </a:extLst>
          </p:cNvPr>
          <p:cNvSpPr txBox="1"/>
          <p:nvPr/>
        </p:nvSpPr>
        <p:spPr>
          <a:xfrm>
            <a:off x="6095999" y="5559277"/>
            <a:ext cx="3089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This ensures linear boundary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BFCACE-45D4-A5B6-2EC7-D2C782036D99}"/>
              </a:ext>
            </a:extLst>
          </p:cNvPr>
          <p:cNvSpPr txBox="1"/>
          <p:nvPr/>
        </p:nvSpPr>
        <p:spPr>
          <a:xfrm>
            <a:off x="555861" y="6082961"/>
            <a:ext cx="11080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(The generalization error of the classifiers were assessed on large test datasets with new simulated samples)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6726F4-7AE5-4DF4-5D7A-C0A1CE29128C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Comparisons between methods</a:t>
            </a:r>
          </a:p>
        </p:txBody>
      </p:sp>
    </p:spTree>
    <p:extLst>
      <p:ext uri="{BB962C8B-B14F-4D97-AF65-F5344CB8AC3E}">
        <p14:creationId xmlns:p14="http://schemas.microsoft.com/office/powerpoint/2010/main" val="26139032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F6CC16-3317-A6E4-A099-87D107570D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334"/>
          <a:stretch/>
        </p:blipFill>
        <p:spPr>
          <a:xfrm>
            <a:off x="492691" y="1754433"/>
            <a:ext cx="4055661" cy="48173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C605168-0FE4-6F1E-1BA5-D1123633C13C}"/>
              </a:ext>
            </a:extLst>
          </p:cNvPr>
          <p:cNvSpPr txBox="1"/>
          <p:nvPr/>
        </p:nvSpPr>
        <p:spPr>
          <a:xfrm>
            <a:off x="4803117" y="1478071"/>
            <a:ext cx="696796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LDA performed well in this setting, as one would expect since this is the model assumed by LDA.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Logistic regression also performed quite well, since it assumes a linear decision boundary.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KNN performed poorly because it paid a price in terms of variance that was not offset by a reduction in bias.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QDA also performed worse than LDA, since it fit a more flexible classifier than necessary.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performance of naive Bayes was slightly better than QDA, because the naive Bayes assumption of independent predictors is correct. </a:t>
            </a: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1EDD01-DDE8-0DB4-766E-81D4E1C2AE77}"/>
              </a:ext>
            </a:extLst>
          </p:cNvPr>
          <p:cNvSpPr/>
          <p:nvPr/>
        </p:nvSpPr>
        <p:spPr>
          <a:xfrm>
            <a:off x="1540701" y="1478071"/>
            <a:ext cx="1791222" cy="5887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B47088D-9F48-45A9-2C76-CC6264301A76}"/>
              </a:ext>
            </a:extLst>
          </p:cNvPr>
          <p:cNvSpPr/>
          <p:nvPr/>
        </p:nvSpPr>
        <p:spPr>
          <a:xfrm>
            <a:off x="596122" y="962681"/>
            <a:ext cx="2141951" cy="713014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F1CDE8-8AFF-50FC-EFBC-071BFEB790FB}"/>
              </a:ext>
            </a:extLst>
          </p:cNvPr>
          <p:cNvSpPr txBox="1"/>
          <p:nvPr/>
        </p:nvSpPr>
        <p:spPr>
          <a:xfrm>
            <a:off x="916731" y="1098602"/>
            <a:ext cx="15456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Scenario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68B2E4-46CF-0EC9-7151-B698FCB5EB94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Comparisons between methods</a:t>
            </a:r>
          </a:p>
        </p:txBody>
      </p:sp>
    </p:spTree>
    <p:extLst>
      <p:ext uri="{BB962C8B-B14F-4D97-AF65-F5344CB8AC3E}">
        <p14:creationId xmlns:p14="http://schemas.microsoft.com/office/powerpoint/2010/main" val="4154329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676849-483C-2C96-95C4-B466BFA855C7}"/>
              </a:ext>
            </a:extLst>
          </p:cNvPr>
          <p:cNvSpPr txBox="1"/>
          <p:nvPr/>
        </p:nvSpPr>
        <p:spPr>
          <a:xfrm>
            <a:off x="240033" y="929391"/>
            <a:ext cx="97513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consider the simulated benchmark presented in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James et al. (2022)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DF2372-1BD6-08AB-8AFC-7A2AE5514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0" y="2885360"/>
            <a:ext cx="5981700" cy="393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CD3458-7818-398E-4F6E-EF68A814E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950" y="3917733"/>
            <a:ext cx="7658100" cy="355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523EF1-5D4D-4486-3608-136B1BD6DA1D}"/>
              </a:ext>
            </a:extLst>
          </p:cNvPr>
          <p:cNvSpPr txBox="1"/>
          <p:nvPr/>
        </p:nvSpPr>
        <p:spPr>
          <a:xfrm>
            <a:off x="2605415" y="1833809"/>
            <a:ext cx="9751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Same setup as Scenario 1, but predictors have correlation of -0.5</a:t>
            </a: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C76E2A6-3685-A1D0-461A-45FE77BA757D}"/>
              </a:ext>
            </a:extLst>
          </p:cNvPr>
          <p:cNvSpPr/>
          <p:nvPr/>
        </p:nvSpPr>
        <p:spPr>
          <a:xfrm>
            <a:off x="352768" y="1679637"/>
            <a:ext cx="2141951" cy="713014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85F8AA-E180-36D8-718B-B969FB1BEE9E}"/>
              </a:ext>
            </a:extLst>
          </p:cNvPr>
          <p:cNvSpPr txBox="1"/>
          <p:nvPr/>
        </p:nvSpPr>
        <p:spPr>
          <a:xfrm>
            <a:off x="673377" y="1815558"/>
            <a:ext cx="15456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Scenario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6BA1D9-9A46-D375-C438-FBB39FD50106}"/>
              </a:ext>
            </a:extLst>
          </p:cNvPr>
          <p:cNvSpPr/>
          <p:nvPr/>
        </p:nvSpPr>
        <p:spPr>
          <a:xfrm>
            <a:off x="6237963" y="5442815"/>
            <a:ext cx="1260000" cy="72000"/>
          </a:xfrm>
          <a:prstGeom prst="rect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D23DBB-8F2A-4A0D-E33A-B1991BCCB774}"/>
              </a:ext>
            </a:extLst>
          </p:cNvPr>
          <p:cNvSpPr txBox="1"/>
          <p:nvPr/>
        </p:nvSpPr>
        <p:spPr>
          <a:xfrm>
            <a:off x="5323309" y="5667090"/>
            <a:ext cx="3089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This ensures linear boundary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6CF6D1-3037-3C2F-77C2-3EEBEFA2C7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100" y="4654860"/>
            <a:ext cx="10083800" cy="800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E17EA3-6873-13AA-FC9E-F187EF2F5D9E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Comparisons between methods</a:t>
            </a:r>
          </a:p>
        </p:txBody>
      </p:sp>
    </p:spTree>
    <p:extLst>
      <p:ext uri="{BB962C8B-B14F-4D97-AF65-F5344CB8AC3E}">
        <p14:creationId xmlns:p14="http://schemas.microsoft.com/office/powerpoint/2010/main" val="22684651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F6CC16-3317-A6E4-A099-87D107570D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119" r="32834"/>
          <a:stretch/>
        </p:blipFill>
        <p:spPr>
          <a:xfrm>
            <a:off x="258709" y="1768749"/>
            <a:ext cx="3983278" cy="48173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BE46C3-0417-9A1D-DAF4-F2A9B91D1A1C}"/>
              </a:ext>
            </a:extLst>
          </p:cNvPr>
          <p:cNvSpPr txBox="1"/>
          <p:nvPr/>
        </p:nvSpPr>
        <p:spPr>
          <a:xfrm>
            <a:off x="4785224" y="2245235"/>
            <a:ext cx="68418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</a:t>
            </a: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he performance of most methods is like the previous scenario. The notable exception is naive Bayes, which performs very poorly here, since the naive Bayes assumption of independent predictors is violated. </a:t>
            </a: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B2D250-7922-EFEE-5768-CA96CCAAD711}"/>
              </a:ext>
            </a:extLst>
          </p:cNvPr>
          <p:cNvSpPr/>
          <p:nvPr/>
        </p:nvSpPr>
        <p:spPr>
          <a:xfrm>
            <a:off x="1640910" y="1590805"/>
            <a:ext cx="1653435" cy="5010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11F7F3D-AF51-BA37-C779-B47E2E1F07D7}"/>
              </a:ext>
            </a:extLst>
          </p:cNvPr>
          <p:cNvSpPr/>
          <p:nvPr/>
        </p:nvSpPr>
        <p:spPr>
          <a:xfrm>
            <a:off x="596122" y="962681"/>
            <a:ext cx="2141951" cy="713014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ACA3C3-D4EC-E272-9606-86AB7B9063F6}"/>
              </a:ext>
            </a:extLst>
          </p:cNvPr>
          <p:cNvSpPr txBox="1"/>
          <p:nvPr/>
        </p:nvSpPr>
        <p:spPr>
          <a:xfrm>
            <a:off x="916731" y="1098602"/>
            <a:ext cx="15456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Scenario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94EF06-8DDE-2285-7761-E4BF166C1CE8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Comparisons between methods</a:t>
            </a:r>
          </a:p>
        </p:txBody>
      </p:sp>
    </p:spTree>
    <p:extLst>
      <p:ext uri="{BB962C8B-B14F-4D97-AF65-F5344CB8AC3E}">
        <p14:creationId xmlns:p14="http://schemas.microsoft.com/office/powerpoint/2010/main" val="20576324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F6CC16-3317-A6E4-A099-87D107570D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988"/>
          <a:stretch/>
        </p:blipFill>
        <p:spPr>
          <a:xfrm>
            <a:off x="423982" y="1754433"/>
            <a:ext cx="3862192" cy="48173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10B98C-A972-0159-CC04-3B81124A9A4A}"/>
              </a:ext>
            </a:extLst>
          </p:cNvPr>
          <p:cNvSpPr txBox="1"/>
          <p:nvPr/>
        </p:nvSpPr>
        <p:spPr>
          <a:xfrm>
            <a:off x="4689691" y="999025"/>
            <a:ext cx="707832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Same setup as in Scenario 2, but the predictors are generated from a t-distribution and N = 50</a:t>
            </a:r>
            <a:b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</a:br>
            <a:endParaRPr lang="en-US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</a:t>
            </a: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he decision boundary is still linear, and so fit into the logistic regression framework. The set-up violated the assumptions of LDA, since the observations were not drawn from a normal distribution.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</a:t>
            </a: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ogistic regression outperformed LDA, and both methods were superior to the other approaches.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particular, the QDA results deteriorated considerably because of non-normality.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Naive Bayes performed very poorly because the independence assumption is violated. </a:t>
            </a: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8D28BF-3F30-FE65-FF33-F3B6B4AFA465}"/>
              </a:ext>
            </a:extLst>
          </p:cNvPr>
          <p:cNvSpPr/>
          <p:nvPr/>
        </p:nvSpPr>
        <p:spPr>
          <a:xfrm>
            <a:off x="1553227" y="1678488"/>
            <a:ext cx="1753644" cy="3632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87ED8D3-FE86-379B-0748-14DE9B7EFD5D}"/>
              </a:ext>
            </a:extLst>
          </p:cNvPr>
          <p:cNvSpPr/>
          <p:nvPr/>
        </p:nvSpPr>
        <p:spPr>
          <a:xfrm>
            <a:off x="596122" y="962681"/>
            <a:ext cx="2141951" cy="713014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2A03CC-1229-37AF-967A-CC80C2B3F905}"/>
              </a:ext>
            </a:extLst>
          </p:cNvPr>
          <p:cNvSpPr txBox="1"/>
          <p:nvPr/>
        </p:nvSpPr>
        <p:spPr>
          <a:xfrm>
            <a:off x="916731" y="1098602"/>
            <a:ext cx="15456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Scenario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146088-28AF-3636-DFB5-6A8AB82F7809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Comparisons between methods</a:t>
            </a:r>
          </a:p>
        </p:txBody>
      </p:sp>
    </p:spTree>
    <p:extLst>
      <p:ext uri="{BB962C8B-B14F-4D97-AF65-F5344CB8AC3E}">
        <p14:creationId xmlns:p14="http://schemas.microsoft.com/office/powerpoint/2010/main" val="26125582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676849-483C-2C96-95C4-B466BFA855C7}"/>
              </a:ext>
            </a:extLst>
          </p:cNvPr>
          <p:cNvSpPr txBox="1"/>
          <p:nvPr/>
        </p:nvSpPr>
        <p:spPr>
          <a:xfrm>
            <a:off x="240033" y="929391"/>
            <a:ext cx="97513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consider the simulated benchmark presented in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James et al. (2022)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DF2372-1BD6-08AB-8AFC-7A2AE5514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0" y="3224943"/>
            <a:ext cx="5981700" cy="393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CD3458-7818-398E-4F6E-EF68A814E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950" y="3896366"/>
            <a:ext cx="7658100" cy="355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523EF1-5D4D-4486-3608-136B1BD6DA1D}"/>
              </a:ext>
            </a:extLst>
          </p:cNvPr>
          <p:cNvSpPr txBox="1"/>
          <p:nvPr/>
        </p:nvSpPr>
        <p:spPr>
          <a:xfrm>
            <a:off x="2605415" y="1707835"/>
            <a:ext cx="92975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Data is generated from a normal distribution with correlation 0.5 between the predictors in the first class, and correlation −0.5 between the predictors in the second class </a:t>
            </a: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C76E2A6-3685-A1D0-461A-45FE77BA757D}"/>
              </a:ext>
            </a:extLst>
          </p:cNvPr>
          <p:cNvSpPr/>
          <p:nvPr/>
        </p:nvSpPr>
        <p:spPr>
          <a:xfrm>
            <a:off x="352768" y="1679637"/>
            <a:ext cx="2141951" cy="713014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85F8AA-E180-36D8-718B-B969FB1BEE9E}"/>
              </a:ext>
            </a:extLst>
          </p:cNvPr>
          <p:cNvSpPr txBox="1"/>
          <p:nvPr/>
        </p:nvSpPr>
        <p:spPr>
          <a:xfrm>
            <a:off x="587616" y="1815558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Scenario 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92856F-382D-AE1A-721C-927A27787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0" y="4526826"/>
            <a:ext cx="8636000" cy="800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88E426-80A0-FB7B-3570-74AFB675A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3578" y="5604649"/>
            <a:ext cx="4013200" cy="800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FEB86A-A108-A6FA-5C18-9118AB21B378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Comparisons between methods</a:t>
            </a:r>
          </a:p>
        </p:txBody>
      </p:sp>
    </p:spTree>
    <p:extLst>
      <p:ext uri="{BB962C8B-B14F-4D97-AF65-F5344CB8AC3E}">
        <p14:creationId xmlns:p14="http://schemas.microsoft.com/office/powerpoint/2010/main" val="22496796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83626A-1312-5BA2-CFCD-F7EFD9ED4E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122"/>
          <a:stretch/>
        </p:blipFill>
        <p:spPr>
          <a:xfrm>
            <a:off x="234000" y="1753200"/>
            <a:ext cx="3949693" cy="4800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C9905B-BDFB-1D08-9BA0-B67AD28E2BB9}"/>
              </a:ext>
            </a:extLst>
          </p:cNvPr>
          <p:cNvSpPr txBox="1"/>
          <p:nvPr/>
        </p:nvSpPr>
        <p:spPr>
          <a:xfrm>
            <a:off x="5013402" y="2066795"/>
            <a:ext cx="620376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Setup fits QDA assumptions, which yields quadratic decision boundaries.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see that QDA outperformed all the other approaches.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naive Bayes assumption of independent predictors is violated, so naive Bayes performs poorly. </a:t>
            </a: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4765F-0FFC-2CE6-3137-356368F54D44}"/>
              </a:ext>
            </a:extLst>
          </p:cNvPr>
          <p:cNvSpPr/>
          <p:nvPr/>
        </p:nvSpPr>
        <p:spPr>
          <a:xfrm>
            <a:off x="1252603" y="1540701"/>
            <a:ext cx="2229633" cy="5260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AE4DB80-618D-CF4C-BDCA-C1D2E6558B82}"/>
              </a:ext>
            </a:extLst>
          </p:cNvPr>
          <p:cNvSpPr/>
          <p:nvPr/>
        </p:nvSpPr>
        <p:spPr>
          <a:xfrm>
            <a:off x="596122" y="962681"/>
            <a:ext cx="2141951" cy="713014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263C47-D7DD-B48A-ED13-888F65ECF752}"/>
              </a:ext>
            </a:extLst>
          </p:cNvPr>
          <p:cNvSpPr txBox="1"/>
          <p:nvPr/>
        </p:nvSpPr>
        <p:spPr>
          <a:xfrm>
            <a:off x="830970" y="1098602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Scenario 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28555C-547E-FB9B-F774-F7E1C9BA3731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Comparisons between methods</a:t>
            </a:r>
          </a:p>
        </p:txBody>
      </p:sp>
    </p:spTree>
    <p:extLst>
      <p:ext uri="{BB962C8B-B14F-4D97-AF65-F5344CB8AC3E}">
        <p14:creationId xmlns:p14="http://schemas.microsoft.com/office/powerpoint/2010/main" val="2477659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83626A-1312-5BA2-CFCD-F7EFD9ED4E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448" r="33031"/>
          <a:stretch/>
        </p:blipFill>
        <p:spPr>
          <a:xfrm>
            <a:off x="593476" y="1753200"/>
            <a:ext cx="3908122" cy="48006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95B3454-5A7F-3F57-27F3-03893C56C4E2}"/>
              </a:ext>
            </a:extLst>
          </p:cNvPr>
          <p:cNvSpPr/>
          <p:nvPr/>
        </p:nvSpPr>
        <p:spPr>
          <a:xfrm>
            <a:off x="1991638" y="1615858"/>
            <a:ext cx="1453020" cy="438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084FB61-CC48-7C61-4C3F-6DA495F48EF6}"/>
              </a:ext>
            </a:extLst>
          </p:cNvPr>
          <p:cNvSpPr/>
          <p:nvPr/>
        </p:nvSpPr>
        <p:spPr>
          <a:xfrm>
            <a:off x="596122" y="962681"/>
            <a:ext cx="2141951" cy="713014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899C8D-631B-5AF3-9CF9-0E7A6D9C3792}"/>
              </a:ext>
            </a:extLst>
          </p:cNvPr>
          <p:cNvSpPr txBox="1"/>
          <p:nvPr/>
        </p:nvSpPr>
        <p:spPr>
          <a:xfrm>
            <a:off x="830970" y="1098602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Scenario 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0950D3-03E4-7E2C-D4DC-D2F76155D07F}"/>
              </a:ext>
            </a:extLst>
          </p:cNvPr>
          <p:cNvSpPr txBox="1"/>
          <p:nvPr/>
        </p:nvSpPr>
        <p:spPr>
          <a:xfrm>
            <a:off x="5154461" y="962681"/>
            <a:ext cx="672485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Data generated from Normal distribution with uncorrelated predictors. Then responses sampled from the logistic function applied to a non-linear function of the predictors. </a:t>
            </a:r>
            <a:b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</a:br>
            <a:endParaRPr lang="en-GB" sz="2400" dirty="0">
              <a:solidFill>
                <a:srgbClr val="5E5E5E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Both QDA and naive Bayes gave slightly better results than the linear methods,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much more flexible KNN-CV method gave the best results.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But KNN with K = 1 gave the worst results out of all methods. This highlights the fact that even when the data exhibits a complex non-linear relationship, a non-parametric method such as KNN can still give poor results if the level of smoothness is not chosen correctly. </a:t>
            </a: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7DD56C-E9EF-9D81-3960-A9AA22783B46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Comparisons between methods</a:t>
            </a:r>
          </a:p>
        </p:txBody>
      </p:sp>
    </p:spTree>
    <p:extLst>
      <p:ext uri="{BB962C8B-B14F-4D97-AF65-F5344CB8AC3E}">
        <p14:creationId xmlns:p14="http://schemas.microsoft.com/office/powerpoint/2010/main" val="25768106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83626A-1312-5BA2-CFCD-F7EFD9ED4E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077" t="5466" r="694"/>
          <a:stretch/>
        </p:blipFill>
        <p:spPr>
          <a:xfrm>
            <a:off x="614140" y="2015638"/>
            <a:ext cx="3757444" cy="4538162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9DEE9D-2AC7-DEFB-EC51-8931ECC7C7F5}"/>
              </a:ext>
            </a:extLst>
          </p:cNvPr>
          <p:cNvSpPr/>
          <p:nvPr/>
        </p:nvSpPr>
        <p:spPr>
          <a:xfrm>
            <a:off x="596122" y="962681"/>
            <a:ext cx="2141951" cy="713014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4BCEDE-F4C0-E7FF-276C-DE2607702AFC}"/>
              </a:ext>
            </a:extLst>
          </p:cNvPr>
          <p:cNvSpPr txBox="1"/>
          <p:nvPr/>
        </p:nvSpPr>
        <p:spPr>
          <a:xfrm>
            <a:off x="830970" y="1088355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Scenario 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EFB6B0-3AD1-9CF5-7CC7-8EE0D16286CA}"/>
              </a:ext>
            </a:extLst>
          </p:cNvPr>
          <p:cNvSpPr txBox="1"/>
          <p:nvPr/>
        </p:nvSpPr>
        <p:spPr>
          <a:xfrm>
            <a:off x="4883432" y="770061"/>
            <a:ext cx="701690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observations were generated from a normal distribution with a different diagonal covariance matrix for each class. However, the sample size was very small: just N = 6 in each class.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Naive Bayes performed very well, because its assumptions are met.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LDA and logistic regression performed poorly because the true decision boundary is non-linear, due to the unequal covariance matrices.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QDA performed a bit worse than naive Bayes, because given the very small sample size, the former incurred too much variance in estimating the correlation between the predictors within each class.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KNN’s performance also suffered due to the very small sample size. </a:t>
            </a: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9545C-C721-CFD8-040B-608CEC99F3E2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Comparisons between methods</a:t>
            </a:r>
          </a:p>
        </p:txBody>
      </p:sp>
    </p:spTree>
    <p:extLst>
      <p:ext uri="{BB962C8B-B14F-4D97-AF65-F5344CB8AC3E}">
        <p14:creationId xmlns:p14="http://schemas.microsoft.com/office/powerpoint/2010/main" val="29959315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9DEE9D-2AC7-DEFB-EC51-8931ECC7C7F5}"/>
              </a:ext>
            </a:extLst>
          </p:cNvPr>
          <p:cNvSpPr/>
          <p:nvPr/>
        </p:nvSpPr>
        <p:spPr>
          <a:xfrm>
            <a:off x="596122" y="962681"/>
            <a:ext cx="2685697" cy="713014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4BCEDE-F4C0-E7FF-276C-DE2607702AFC}"/>
              </a:ext>
            </a:extLst>
          </p:cNvPr>
          <p:cNvSpPr txBox="1"/>
          <p:nvPr/>
        </p:nvSpPr>
        <p:spPr>
          <a:xfrm>
            <a:off x="886438" y="109860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C78E64-6D2F-5F86-2E85-AAD0CEFC6FAB}"/>
              </a:ext>
            </a:extLst>
          </p:cNvPr>
          <p:cNvSpPr txBox="1"/>
          <p:nvPr/>
        </p:nvSpPr>
        <p:spPr>
          <a:xfrm>
            <a:off x="596123" y="2015638"/>
            <a:ext cx="1035303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see that </a:t>
            </a:r>
            <a:r>
              <a:rPr lang="en-GB" sz="2400" b="1" dirty="0">
                <a:solidFill>
                  <a:srgbClr val="FA2743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no method dominates all </a:t>
            </a: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others in every situation. </a:t>
            </a:r>
          </a:p>
          <a:p>
            <a:endParaRPr lang="en-GB" sz="2400" dirty="0">
              <a:solidFill>
                <a:srgbClr val="5E5E5E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When the true decision boundaries are linear, the LDA and logistic regression approaches tend to perform well.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GB" sz="2400" dirty="0">
              <a:solidFill>
                <a:srgbClr val="5E5E5E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When the boundaries are moderately non-linear, QDA or naive Bayes may give better results.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GB" sz="2400" dirty="0">
              <a:solidFill>
                <a:srgbClr val="5E5E5E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rgbClr val="5E5E5E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much more complicated decision boundaries, a non-parametric approach such as KNN can be superior. But the level of smoothness for a non-parametric approach must be chosen carefully.</a:t>
            </a:r>
            <a:endParaRPr lang="en-GB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D4FBB4-247D-C69E-FC24-B05E4F1E60DA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Comparisons between methods</a:t>
            </a:r>
          </a:p>
        </p:txBody>
      </p:sp>
    </p:spTree>
    <p:extLst>
      <p:ext uri="{BB962C8B-B14F-4D97-AF65-F5344CB8AC3E}">
        <p14:creationId xmlns:p14="http://schemas.microsoft.com/office/powerpoint/2010/main" val="20290636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B7840-CA02-61A6-5E9F-D06DB2A98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3CCFF1A-D915-6765-6B79-FFC1AAE0F5CA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Graphic 4" descr="Right pointing backhand index outline">
            <a:extLst>
              <a:ext uri="{FF2B5EF4-FFF2-40B4-BE49-F238E27FC236}">
                <a16:creationId xmlns:a16="http://schemas.microsoft.com/office/drawing/2014/main" id="{0D3D9B02-4FB9-F542-340D-44B6806E5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769" y="5122848"/>
            <a:ext cx="1083311" cy="10833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820DFF-DE0E-DB68-A711-D1319DC269C1}"/>
              </a:ext>
            </a:extLst>
          </p:cNvPr>
          <p:cNvSpPr txBox="1"/>
          <p:nvPr/>
        </p:nvSpPr>
        <p:spPr>
          <a:xfrm>
            <a:off x="1865622" y="1480237"/>
            <a:ext cx="9089348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Review from last lecture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Generative approach to classification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Comparisons between methods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Final remarks on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4447920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6831B35F-E4E4-D75B-BCF5-B9DA83843256}"/>
              </a:ext>
            </a:extLst>
          </p:cNvPr>
          <p:cNvSpPr/>
          <p:nvPr/>
        </p:nvSpPr>
        <p:spPr>
          <a:xfrm>
            <a:off x="337015" y="872946"/>
            <a:ext cx="7608805" cy="726581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9282AA5-4C37-A9C0-3B08-1CF73A798C55}"/>
              </a:ext>
            </a:extLst>
          </p:cNvPr>
          <p:cNvSpPr txBox="1"/>
          <p:nvPr/>
        </p:nvSpPr>
        <p:spPr>
          <a:xfrm>
            <a:off x="499853" y="1020794"/>
            <a:ext cx="73003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What if the data is not balanced between each class?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BF4C7F-B080-AFB9-29CB-32D644F3E352}"/>
              </a:ext>
            </a:extLst>
          </p:cNvPr>
          <p:cNvSpPr txBox="1"/>
          <p:nvPr/>
        </p:nvSpPr>
        <p:spPr>
          <a:xfrm>
            <a:off x="737473" y="1948203"/>
            <a:ext cx="6508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Suppose you’re doing your internship in a bank</a:t>
            </a:r>
            <a:endParaRPr lang="en-FR" sz="5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E3BE98-0AE1-5839-F4BA-8494DF2877DF}"/>
              </a:ext>
            </a:extLst>
          </p:cNvPr>
          <p:cNvSpPr txBox="1"/>
          <p:nvPr/>
        </p:nvSpPr>
        <p:spPr>
          <a:xfrm>
            <a:off x="7059129" y="1849735"/>
            <a:ext cx="8866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4200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💰</a:t>
            </a:r>
            <a:endParaRPr lang="en-FR" sz="42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E78BC02-FAC8-AFEA-C28C-50C4499E155A}"/>
              </a:ext>
            </a:extLst>
          </p:cNvPr>
          <p:cNvSpPr/>
          <p:nvPr/>
        </p:nvSpPr>
        <p:spPr>
          <a:xfrm>
            <a:off x="499853" y="2089930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891BE4-B166-D261-A805-22BB50075358}"/>
              </a:ext>
            </a:extLst>
          </p:cNvPr>
          <p:cNvSpPr txBox="1"/>
          <p:nvPr/>
        </p:nvSpPr>
        <p:spPr>
          <a:xfrm>
            <a:off x="737473" y="2759031"/>
            <a:ext cx="10980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You train a classifier on data from customers so to detect when they will default </a:t>
            </a:r>
            <a:endParaRPr lang="en-FR" sz="5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FAA2BC2-D184-F646-FF27-8549FC43E7F0}"/>
              </a:ext>
            </a:extLst>
          </p:cNvPr>
          <p:cNvSpPr/>
          <p:nvPr/>
        </p:nvSpPr>
        <p:spPr>
          <a:xfrm>
            <a:off x="499853" y="2900758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475C37-B822-FAC4-3B19-0913542172D5}"/>
              </a:ext>
            </a:extLst>
          </p:cNvPr>
          <p:cNvSpPr/>
          <p:nvPr/>
        </p:nvSpPr>
        <p:spPr>
          <a:xfrm>
            <a:off x="9379527" y="3189917"/>
            <a:ext cx="2052000" cy="7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69C8B-AE58-565F-27A1-EDCBE17A6B57}"/>
              </a:ext>
            </a:extLst>
          </p:cNvPr>
          <p:cNvSpPr txBox="1"/>
          <p:nvPr/>
        </p:nvSpPr>
        <p:spPr>
          <a:xfrm>
            <a:off x="9482689" y="3225917"/>
            <a:ext cx="1869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solidFill>
                  <a:srgbClr val="FA274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i.e. not pay their debt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E1CA7F-D6AE-217D-E91B-415B6D0F9F69}"/>
              </a:ext>
            </a:extLst>
          </p:cNvPr>
          <p:cNvSpPr txBox="1"/>
          <p:nvPr/>
        </p:nvSpPr>
        <p:spPr>
          <a:xfrm>
            <a:off x="737473" y="3705483"/>
            <a:ext cx="3842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You get a 2.75% error rate </a:t>
            </a:r>
            <a:endParaRPr lang="en-FR" sz="5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4B25E9D-9E17-44B6-6F59-318D13F2ECC9}"/>
              </a:ext>
            </a:extLst>
          </p:cNvPr>
          <p:cNvSpPr/>
          <p:nvPr/>
        </p:nvSpPr>
        <p:spPr>
          <a:xfrm>
            <a:off x="499853" y="3847210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A29CC1-4C65-D684-12F4-FDB638D5DDAC}"/>
              </a:ext>
            </a:extLst>
          </p:cNvPr>
          <p:cNvSpPr txBox="1"/>
          <p:nvPr/>
        </p:nvSpPr>
        <p:spPr>
          <a:xfrm>
            <a:off x="737473" y="4700489"/>
            <a:ext cx="4923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Should they hire you straightaway?</a:t>
            </a:r>
            <a:endParaRPr lang="en-FR" sz="5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99BF3FF-4BB4-80AF-D95D-607F2750C21C}"/>
              </a:ext>
            </a:extLst>
          </p:cNvPr>
          <p:cNvSpPr/>
          <p:nvPr/>
        </p:nvSpPr>
        <p:spPr>
          <a:xfrm>
            <a:off x="499853" y="4842216"/>
            <a:ext cx="166889" cy="166889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B8424E-A6D4-A028-2819-DB3BA53DC363}"/>
              </a:ext>
            </a:extLst>
          </p:cNvPr>
          <p:cNvSpPr txBox="1"/>
          <p:nvPr/>
        </p:nvSpPr>
        <p:spPr>
          <a:xfrm>
            <a:off x="4298139" y="3653030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4000" dirty="0"/>
              <a:t>💪🏻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BC76779-53FA-7E04-4388-A1967637F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2327" y="3783449"/>
            <a:ext cx="6418389" cy="212960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0415DC0-9FAC-8F2D-A172-ECFA04B2A82A}"/>
              </a:ext>
            </a:extLst>
          </p:cNvPr>
          <p:cNvSpPr txBox="1"/>
          <p:nvPr/>
        </p:nvSpPr>
        <p:spPr>
          <a:xfrm>
            <a:off x="7537011" y="5913053"/>
            <a:ext cx="250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CONFUSION MATRIX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FDECDB-380A-5E4D-A0D4-A4AC8C9BFB7F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Final remarks</a:t>
            </a:r>
          </a:p>
        </p:txBody>
      </p:sp>
    </p:spTree>
    <p:extLst>
      <p:ext uri="{BB962C8B-B14F-4D97-AF65-F5344CB8AC3E}">
        <p14:creationId xmlns:p14="http://schemas.microsoft.com/office/powerpoint/2010/main" val="5548127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C080FF-5F98-F32F-E285-3C74EEA860C8}"/>
              </a:ext>
            </a:extLst>
          </p:cNvPr>
          <p:cNvSpPr txBox="1"/>
          <p:nvPr/>
        </p:nvSpPr>
        <p:spPr>
          <a:xfrm>
            <a:off x="337015" y="1766371"/>
            <a:ext cx="11147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Remember that the problem of classification can be split into two separate stages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7A581B9-68F0-8469-FD47-11347D89D13C}"/>
              </a:ext>
            </a:extLst>
          </p:cNvPr>
          <p:cNvSpPr/>
          <p:nvPr/>
        </p:nvSpPr>
        <p:spPr>
          <a:xfrm>
            <a:off x="2681278" y="2698274"/>
            <a:ext cx="2041071" cy="751114"/>
          </a:xfrm>
          <a:prstGeom prst="roundRect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799791-F256-6F9E-5877-F2CB8B16EBA9}"/>
              </a:ext>
            </a:extLst>
          </p:cNvPr>
          <p:cNvSpPr txBox="1"/>
          <p:nvPr/>
        </p:nvSpPr>
        <p:spPr>
          <a:xfrm>
            <a:off x="2817516" y="2858387"/>
            <a:ext cx="17956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solidFill>
                  <a:srgbClr val="E8EBE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INFERENCE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DDEC2F2-08E4-6734-F4AA-5172E1C6DE20}"/>
              </a:ext>
            </a:extLst>
          </p:cNvPr>
          <p:cNvSpPr/>
          <p:nvPr/>
        </p:nvSpPr>
        <p:spPr>
          <a:xfrm>
            <a:off x="7430283" y="2698274"/>
            <a:ext cx="2041071" cy="751114"/>
          </a:xfrm>
          <a:prstGeom prst="roundRect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41F988-FA95-BAC5-0563-021FC1B92F44}"/>
              </a:ext>
            </a:extLst>
          </p:cNvPr>
          <p:cNvSpPr txBox="1"/>
          <p:nvPr/>
        </p:nvSpPr>
        <p:spPr>
          <a:xfrm>
            <a:off x="7688256" y="2858387"/>
            <a:ext cx="15648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solidFill>
                  <a:srgbClr val="E8EBE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DECISION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6716FE4-6362-C3ED-A445-83E28FC96F1D}"/>
              </a:ext>
            </a:extLst>
          </p:cNvPr>
          <p:cNvSpPr/>
          <p:nvPr/>
        </p:nvSpPr>
        <p:spPr>
          <a:xfrm>
            <a:off x="1129617" y="2908128"/>
            <a:ext cx="331406" cy="331406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EF432D3-A48A-2C9B-5C13-9FEC9F207B90}"/>
              </a:ext>
            </a:extLst>
          </p:cNvPr>
          <p:cNvSpPr/>
          <p:nvPr/>
        </p:nvSpPr>
        <p:spPr>
          <a:xfrm>
            <a:off x="10691609" y="2908127"/>
            <a:ext cx="331406" cy="331406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ACB8841-1ED9-A490-BB2B-1A87187A0344}"/>
              </a:ext>
            </a:extLst>
          </p:cNvPr>
          <p:cNvCxnSpPr>
            <a:stCxn id="36" idx="6"/>
            <a:endCxn id="13" idx="1"/>
          </p:cNvCxnSpPr>
          <p:nvPr/>
        </p:nvCxnSpPr>
        <p:spPr>
          <a:xfrm>
            <a:off x="1461023" y="3073831"/>
            <a:ext cx="1220255" cy="0"/>
          </a:xfrm>
          <a:prstGeom prst="line">
            <a:avLst/>
          </a:prstGeom>
          <a:ln w="38100">
            <a:solidFill>
              <a:srgbClr val="FA2743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6797F20-2E5F-C159-B322-5B4A55161F00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>
            <a:off x="4722349" y="3073831"/>
            <a:ext cx="2707934" cy="0"/>
          </a:xfrm>
          <a:prstGeom prst="line">
            <a:avLst/>
          </a:prstGeom>
          <a:ln w="38100">
            <a:solidFill>
              <a:srgbClr val="FA2743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A4DC0D7-BB4E-00BE-BEF4-7DFD2C332A0B}"/>
              </a:ext>
            </a:extLst>
          </p:cNvPr>
          <p:cNvCxnSpPr/>
          <p:nvPr/>
        </p:nvCxnSpPr>
        <p:spPr>
          <a:xfrm>
            <a:off x="9471354" y="3073830"/>
            <a:ext cx="1220255" cy="0"/>
          </a:xfrm>
          <a:prstGeom prst="line">
            <a:avLst/>
          </a:prstGeom>
          <a:ln w="38100">
            <a:solidFill>
              <a:srgbClr val="FA2743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A4CEA1A-2172-E42A-6607-E9A766AB353A}"/>
              </a:ext>
            </a:extLst>
          </p:cNvPr>
          <p:cNvSpPr txBox="1"/>
          <p:nvPr/>
        </p:nvSpPr>
        <p:spPr>
          <a:xfrm>
            <a:off x="663576" y="2455628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</a:t>
            </a:r>
            <a:r>
              <a:rPr lang="en-FR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ata point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57AEC42-7418-2BB4-F55D-50A845D7BDD7}"/>
              </a:ext>
            </a:extLst>
          </p:cNvPr>
          <p:cNvSpPr txBox="1"/>
          <p:nvPr/>
        </p:nvSpPr>
        <p:spPr>
          <a:xfrm>
            <a:off x="10225568" y="2459476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Prediction</a:t>
            </a:r>
            <a:endParaRPr lang="en-FR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8C09968-75F1-097D-7ADF-F0D273B5826B}"/>
              </a:ext>
            </a:extLst>
          </p:cNvPr>
          <p:cNvCxnSpPr>
            <a:cxnSpLocks/>
            <a:stCxn id="36" idx="4"/>
          </p:cNvCxnSpPr>
          <p:nvPr/>
        </p:nvCxnSpPr>
        <p:spPr>
          <a:xfrm>
            <a:off x="1295320" y="3239534"/>
            <a:ext cx="0" cy="724599"/>
          </a:xfrm>
          <a:prstGeom prst="line">
            <a:avLst/>
          </a:prstGeom>
          <a:ln w="38100">
            <a:solidFill>
              <a:srgbClr val="FFC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294893-C855-E04E-4E48-2E5F9A2A74EA}"/>
              </a:ext>
            </a:extLst>
          </p:cNvPr>
          <p:cNvCxnSpPr>
            <a:cxnSpLocks/>
          </p:cNvCxnSpPr>
          <p:nvPr/>
        </p:nvCxnSpPr>
        <p:spPr>
          <a:xfrm>
            <a:off x="1295319" y="3964133"/>
            <a:ext cx="9561993" cy="0"/>
          </a:xfrm>
          <a:prstGeom prst="line">
            <a:avLst/>
          </a:prstGeom>
          <a:ln w="38100">
            <a:solidFill>
              <a:srgbClr val="FFC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498EAD2-FC40-42C6-F6B0-94B4C1881EB1}"/>
              </a:ext>
            </a:extLst>
          </p:cNvPr>
          <p:cNvCxnSpPr>
            <a:cxnSpLocks/>
            <a:endCxn id="37" idx="4"/>
          </p:cNvCxnSpPr>
          <p:nvPr/>
        </p:nvCxnSpPr>
        <p:spPr>
          <a:xfrm flipV="1">
            <a:off x="10857312" y="3239533"/>
            <a:ext cx="0" cy="724600"/>
          </a:xfrm>
          <a:prstGeom prst="line">
            <a:avLst/>
          </a:prstGeom>
          <a:ln w="38100">
            <a:solidFill>
              <a:srgbClr val="FFC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C387E58-07BB-6A9E-DB21-20BF978C2D4F}"/>
              </a:ext>
            </a:extLst>
          </p:cNvPr>
          <p:cNvSpPr txBox="1"/>
          <p:nvPr/>
        </p:nvSpPr>
        <p:spPr>
          <a:xfrm>
            <a:off x="340609" y="4295539"/>
            <a:ext cx="115932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Using</a:t>
            </a:r>
            <a:r>
              <a:rPr lang="en-FR" sz="2400" dirty="0">
                <a:solidFill>
                  <a:srgbClr val="FFC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discriminant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functions bypasses the above procedure and ignores probabilities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C6F7E14-2494-0F99-D553-CAC0CF6B9C46}"/>
              </a:ext>
            </a:extLst>
          </p:cNvPr>
          <p:cNvSpPr txBox="1"/>
          <p:nvPr/>
        </p:nvSpPr>
        <p:spPr>
          <a:xfrm>
            <a:off x="337015" y="4799244"/>
            <a:ext cx="114201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Helvetica Neue" panose="02000503000000020004" pitchFamily="2" charset="0"/>
              <a:buChar char="⮑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Support vector machines (SVM), perceptrons, and neural networks are examples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6831B35F-E4E4-D75B-BCF5-B9DA83843256}"/>
              </a:ext>
            </a:extLst>
          </p:cNvPr>
          <p:cNvSpPr/>
          <p:nvPr/>
        </p:nvSpPr>
        <p:spPr>
          <a:xfrm>
            <a:off x="337015" y="872946"/>
            <a:ext cx="10449931" cy="726581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9282AA5-4C37-A9C0-3B08-1CF73A798C55}"/>
              </a:ext>
            </a:extLst>
          </p:cNvPr>
          <p:cNvSpPr txBox="1"/>
          <p:nvPr/>
        </p:nvSpPr>
        <p:spPr>
          <a:xfrm>
            <a:off x="499853" y="1020794"/>
            <a:ext cx="101874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What are other approaches for classifications that we have not discussed?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13CDB2-D149-631E-EB7F-853019C36C1F}"/>
              </a:ext>
            </a:extLst>
          </p:cNvPr>
          <p:cNvSpPr txBox="1"/>
          <p:nvPr/>
        </p:nvSpPr>
        <p:spPr>
          <a:xfrm>
            <a:off x="337015" y="5395832"/>
            <a:ext cx="100912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It is also very common to </a:t>
            </a:r>
            <a:r>
              <a:rPr lang="en-FR" sz="2400" dirty="0">
                <a:solidFill>
                  <a:srgbClr val="7030A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combine classifiers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 to leverage their diversity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71E7F4-95A3-93A7-5219-CE18767CA40E}"/>
              </a:ext>
            </a:extLst>
          </p:cNvPr>
          <p:cNvSpPr txBox="1"/>
          <p:nvPr/>
        </p:nvSpPr>
        <p:spPr>
          <a:xfrm>
            <a:off x="337015" y="5992420"/>
            <a:ext cx="86068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Helvetica Neue" panose="02000503000000020004" pitchFamily="2" charset="0"/>
              <a:buChar char="⮑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Some strategies are random forests, bagging, and boosting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C3C226-775C-259F-8CB4-ED0B6C4C9640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Final remarks</a:t>
            </a:r>
          </a:p>
        </p:txBody>
      </p:sp>
    </p:spTree>
    <p:extLst>
      <p:ext uri="{BB962C8B-B14F-4D97-AF65-F5344CB8AC3E}">
        <p14:creationId xmlns:p14="http://schemas.microsoft.com/office/powerpoint/2010/main" val="18840390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5E618-26BE-94C8-FE9C-871B2A86A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72">
            <a:extLst>
              <a:ext uri="{FF2B5EF4-FFF2-40B4-BE49-F238E27FC236}">
                <a16:creationId xmlns:a16="http://schemas.microsoft.com/office/drawing/2014/main" id="{C1709D41-86BC-FCB4-5CB6-10CB91A15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57" y="2644038"/>
            <a:ext cx="7885169" cy="3882392"/>
          </a:xfrm>
          <a:prstGeom prst="rect">
            <a:avLst/>
          </a:prstGeom>
        </p:spPr>
      </p:pic>
      <p:sp>
        <p:nvSpPr>
          <p:cNvPr id="20" name="Slide Number Placeholder 1">
            <a:extLst>
              <a:ext uri="{FF2B5EF4-FFF2-40B4-BE49-F238E27FC236}">
                <a16:creationId xmlns:a16="http://schemas.microsoft.com/office/drawing/2014/main" id="{3B7B23C7-DF72-0D5E-2B1C-89F144F8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0018" y="6490009"/>
            <a:ext cx="1828800" cy="278049"/>
          </a:xfrm>
        </p:spPr>
        <p:txBody>
          <a:bodyPr/>
          <a:lstStyle/>
          <a:p>
            <a:r>
              <a:rPr lang="en-US" b="1" dirty="0">
                <a:solidFill>
                  <a:srgbClr val="373833"/>
                </a:solidFill>
                <a:latin typeface="Lato" charset="0"/>
                <a:ea typeface="Lato" charset="0"/>
                <a:cs typeface="Lato" charset="0"/>
              </a:rPr>
              <a:t>2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6CB52F6-FA9B-E486-FC75-18B250C73232}"/>
              </a:ext>
            </a:extLst>
          </p:cNvPr>
          <p:cNvGrpSpPr/>
          <p:nvPr/>
        </p:nvGrpSpPr>
        <p:grpSpPr>
          <a:xfrm>
            <a:off x="6541896" y="2443858"/>
            <a:ext cx="5839320" cy="3413829"/>
            <a:chOff x="6708284" y="2183726"/>
            <a:chExt cx="5839320" cy="3413829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6B54E63-0632-27C7-BBB6-1E6F392314FC}"/>
                </a:ext>
              </a:extLst>
            </p:cNvPr>
            <p:cNvSpPr/>
            <p:nvPr/>
          </p:nvSpPr>
          <p:spPr>
            <a:xfrm>
              <a:off x="6708284" y="2183726"/>
              <a:ext cx="5839320" cy="29955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EA70E3EA-E227-637B-DCC2-06B7D283D4AA}"/>
                </a:ext>
              </a:extLst>
            </p:cNvPr>
            <p:cNvGrpSpPr/>
            <p:nvPr/>
          </p:nvGrpSpPr>
          <p:grpSpPr>
            <a:xfrm>
              <a:off x="7915835" y="2368748"/>
              <a:ext cx="3699656" cy="3228807"/>
              <a:chOff x="6692573" y="2976777"/>
              <a:chExt cx="3699656" cy="3228807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6539F45-495D-DEBE-1AE7-836784C3C7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06165" y="3835702"/>
                <a:ext cx="300907" cy="300907"/>
              </a:xfrm>
              <a:prstGeom prst="ellipse">
                <a:avLst/>
              </a:prstGeom>
              <a:solidFill>
                <a:srgbClr val="FA274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D4B9098-9D67-71EC-D74D-96662307E6E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28122" y="3685248"/>
                <a:ext cx="300907" cy="300907"/>
              </a:xfrm>
              <a:prstGeom prst="ellipse">
                <a:avLst/>
              </a:prstGeom>
              <a:solidFill>
                <a:srgbClr val="FA274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22C5F03F-19DD-F3A5-2D1A-CDEDB42E431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50878" y="4068757"/>
                <a:ext cx="300907" cy="300907"/>
              </a:xfrm>
              <a:prstGeom prst="ellipse">
                <a:avLst/>
              </a:prstGeom>
              <a:solidFill>
                <a:srgbClr val="FA274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E6C5252-CC2C-E645-0249-239C78114AE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73496" y="3455139"/>
                <a:ext cx="300907" cy="300907"/>
              </a:xfrm>
              <a:prstGeom prst="ellipse">
                <a:avLst/>
              </a:prstGeom>
              <a:solidFill>
                <a:srgbClr val="FA274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9A9DE68-9F2A-F008-C257-D4569E6B36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54298" y="3356895"/>
                <a:ext cx="300907" cy="300907"/>
              </a:xfrm>
              <a:prstGeom prst="ellipse">
                <a:avLst/>
              </a:prstGeom>
              <a:solidFill>
                <a:srgbClr val="FA274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DCC0CCD2-3CA7-CB62-CB3F-FFB2274C03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60123" y="4048754"/>
                <a:ext cx="300907" cy="300907"/>
              </a:xfrm>
              <a:prstGeom prst="ellipse">
                <a:avLst/>
              </a:prstGeom>
              <a:solidFill>
                <a:srgbClr val="FA274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F7FE240-50FA-F0A8-04D6-A77E4B39E78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64626" y="4197554"/>
                <a:ext cx="300907" cy="300907"/>
              </a:xfrm>
              <a:prstGeom prst="ellipse">
                <a:avLst/>
              </a:prstGeom>
              <a:solidFill>
                <a:srgbClr val="FA274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221B4A1B-593A-47BE-FD32-F9482B264A6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804839" y="5065774"/>
                <a:ext cx="300907" cy="300907"/>
              </a:xfrm>
              <a:prstGeom prst="ellipse">
                <a:avLst/>
              </a:prstGeom>
              <a:solidFill>
                <a:srgbClr val="3738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51CCCF5-DC49-0A9C-447A-F4691339A19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93682" y="4747853"/>
                <a:ext cx="300907" cy="300907"/>
              </a:xfrm>
              <a:prstGeom prst="ellipse">
                <a:avLst/>
              </a:prstGeom>
              <a:solidFill>
                <a:srgbClr val="3738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A9106E5-4CFF-CF91-9D25-BD546E93C99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93681" y="5168916"/>
                <a:ext cx="300907" cy="300907"/>
              </a:xfrm>
              <a:prstGeom prst="ellipse">
                <a:avLst/>
              </a:prstGeom>
              <a:solidFill>
                <a:srgbClr val="3738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75F4666-B6AA-8070-4A8C-9A025E9D7B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783050" y="4643665"/>
                <a:ext cx="300907" cy="300907"/>
              </a:xfrm>
              <a:prstGeom prst="ellipse">
                <a:avLst/>
              </a:prstGeom>
              <a:solidFill>
                <a:srgbClr val="3738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F6FE9CE-57DC-278C-B3AF-4D508F3B533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83957" y="4328503"/>
                <a:ext cx="300907" cy="300907"/>
              </a:xfrm>
              <a:prstGeom prst="ellipse">
                <a:avLst/>
              </a:prstGeom>
              <a:solidFill>
                <a:srgbClr val="3738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08BB3F0-B355-41B2-F6CD-5312138C12A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09640" y="4495215"/>
                <a:ext cx="300907" cy="300907"/>
              </a:xfrm>
              <a:prstGeom prst="ellipse">
                <a:avLst/>
              </a:prstGeom>
              <a:solidFill>
                <a:srgbClr val="3738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F7758A5-DC3F-648F-7F64-B2BF98BAB30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71937" y="4907316"/>
                <a:ext cx="300907" cy="300907"/>
              </a:xfrm>
              <a:prstGeom prst="ellipse">
                <a:avLst/>
              </a:prstGeom>
              <a:solidFill>
                <a:srgbClr val="3738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AEE4F77D-F7FC-E01D-6687-9926ECE6D367}"/>
                  </a:ext>
                </a:extLst>
              </p:cNvPr>
              <p:cNvCxnSpPr/>
              <p:nvPr/>
            </p:nvCxnSpPr>
            <p:spPr>
              <a:xfrm>
                <a:off x="7171629" y="2976777"/>
                <a:ext cx="0" cy="3040790"/>
              </a:xfrm>
              <a:prstGeom prst="line">
                <a:avLst/>
              </a:prstGeom>
              <a:ln w="50800">
                <a:solidFill>
                  <a:srgbClr val="373833"/>
                </a:solidFill>
                <a:headEnd type="stealt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6FCAE803-E7B1-341B-DC94-8A9D80BF8774}"/>
                  </a:ext>
                </a:extLst>
              </p:cNvPr>
              <p:cNvCxnSpPr/>
              <p:nvPr/>
            </p:nvCxnSpPr>
            <p:spPr>
              <a:xfrm flipH="1">
                <a:off x="6943825" y="5731236"/>
                <a:ext cx="3448404" cy="0"/>
              </a:xfrm>
              <a:prstGeom prst="line">
                <a:avLst/>
              </a:prstGeom>
              <a:ln w="50800">
                <a:solidFill>
                  <a:srgbClr val="373833"/>
                </a:solidFill>
                <a:headEnd type="stealt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6CF9607-F498-B4CC-80E4-098295564015}"/>
                  </a:ext>
                </a:extLst>
              </p:cNvPr>
              <p:cNvSpPr txBox="1"/>
              <p:nvPr/>
            </p:nvSpPr>
            <p:spPr>
              <a:xfrm rot="16200000">
                <a:off x="6037105" y="4258099"/>
                <a:ext cx="16802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373833"/>
                    </a:solidFill>
                    <a:latin typeface="Lato" charset="0"/>
                    <a:ea typeface="Lato" charset="0"/>
                    <a:cs typeface="Lato" charset="0"/>
                  </a:rPr>
                  <a:t>DIMENSION 1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525DD4D-278F-32AC-3986-B12D537F503A}"/>
                  </a:ext>
                </a:extLst>
              </p:cNvPr>
              <p:cNvSpPr txBox="1"/>
              <p:nvPr/>
            </p:nvSpPr>
            <p:spPr>
              <a:xfrm>
                <a:off x="8111121" y="5836252"/>
                <a:ext cx="16802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373833"/>
                    </a:solidFill>
                    <a:latin typeface="Lato" charset="0"/>
                    <a:ea typeface="Lato" charset="0"/>
                    <a:cs typeface="Lato" charset="0"/>
                  </a:rPr>
                  <a:t>DIMENSION 2</a:t>
                </a:r>
              </a:p>
            </p:txBody>
          </p:sp>
        </p:grp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619DF04E-E490-8929-D40B-010FB03AB7A9}"/>
              </a:ext>
            </a:extLst>
          </p:cNvPr>
          <p:cNvSpPr txBox="1"/>
          <p:nvPr/>
        </p:nvSpPr>
        <p:spPr>
          <a:xfrm>
            <a:off x="4211833" y="2636491"/>
            <a:ext cx="144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3738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charset="0"/>
              </a:rPr>
              <a:t>RECORDING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7B62EAC-6850-C757-B2B5-895E3EFD5045}"/>
              </a:ext>
            </a:extLst>
          </p:cNvPr>
          <p:cNvSpPr txBox="1"/>
          <p:nvPr/>
        </p:nvSpPr>
        <p:spPr>
          <a:xfrm>
            <a:off x="6158770" y="5920095"/>
            <a:ext cx="1317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3738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charset="0"/>
              </a:rPr>
              <a:t>ENCODING</a:t>
            </a:r>
          </a:p>
        </p:txBody>
      </p:sp>
      <p:sp>
        <p:nvSpPr>
          <p:cNvPr id="64" name="Freeform 63">
            <a:extLst>
              <a:ext uri="{FF2B5EF4-FFF2-40B4-BE49-F238E27FC236}">
                <a16:creationId xmlns:a16="http://schemas.microsoft.com/office/drawing/2014/main" id="{366975EC-21CC-D11F-04DE-172CA3C931DC}"/>
              </a:ext>
            </a:extLst>
          </p:cNvPr>
          <p:cNvSpPr/>
          <p:nvPr/>
        </p:nvSpPr>
        <p:spPr>
          <a:xfrm>
            <a:off x="8720051" y="2884516"/>
            <a:ext cx="1479665" cy="1886989"/>
          </a:xfrm>
          <a:custGeom>
            <a:avLst/>
            <a:gdLst>
              <a:gd name="connsiteX0" fmla="*/ 1479665 w 1479665"/>
              <a:gd name="connsiteY0" fmla="*/ 0 h 1886989"/>
              <a:gd name="connsiteX1" fmla="*/ 1188720 w 1479665"/>
              <a:gd name="connsiteY1" fmla="*/ 1188720 h 1886989"/>
              <a:gd name="connsiteX2" fmla="*/ 0 w 1479665"/>
              <a:gd name="connsiteY2" fmla="*/ 1886989 h 188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79665" h="1886989">
                <a:moveTo>
                  <a:pt x="1479665" y="0"/>
                </a:moveTo>
                <a:cubicBezTo>
                  <a:pt x="1457498" y="437111"/>
                  <a:pt x="1435331" y="874222"/>
                  <a:pt x="1188720" y="1188720"/>
                </a:cubicBezTo>
                <a:cubicBezTo>
                  <a:pt x="942109" y="1503218"/>
                  <a:pt x="0" y="1886989"/>
                  <a:pt x="0" y="1886989"/>
                </a:cubicBezTo>
              </a:path>
            </a:pathLst>
          </a:custGeom>
          <a:noFill/>
          <a:ln w="25400">
            <a:solidFill>
              <a:srgbClr val="37383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242C7AD-8327-DD20-F3BA-168C9DCFF64A}"/>
              </a:ext>
            </a:extLst>
          </p:cNvPr>
          <p:cNvSpPr>
            <a:spLocks noChangeAspect="1"/>
          </p:cNvSpPr>
          <p:nvPr/>
        </p:nvSpPr>
        <p:spPr>
          <a:xfrm>
            <a:off x="8842664" y="1785499"/>
            <a:ext cx="300907" cy="300907"/>
          </a:xfrm>
          <a:prstGeom prst="ellipse">
            <a:avLst/>
          </a:prstGeom>
          <a:solidFill>
            <a:srgbClr val="FA2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5E3C61D-461A-4D07-EAEA-70651043EFAD}"/>
              </a:ext>
            </a:extLst>
          </p:cNvPr>
          <p:cNvSpPr>
            <a:spLocks noChangeAspect="1"/>
          </p:cNvSpPr>
          <p:nvPr/>
        </p:nvSpPr>
        <p:spPr>
          <a:xfrm>
            <a:off x="8842664" y="2196915"/>
            <a:ext cx="300907" cy="300907"/>
          </a:xfrm>
          <a:prstGeom prst="ellipse">
            <a:avLst/>
          </a:prstGeom>
          <a:solidFill>
            <a:srgbClr val="3738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110FF2E-6D22-A63F-6855-0BD391AA46D5}"/>
              </a:ext>
            </a:extLst>
          </p:cNvPr>
          <p:cNvSpPr txBox="1"/>
          <p:nvPr/>
        </p:nvSpPr>
        <p:spPr>
          <a:xfrm>
            <a:off x="9205402" y="1756691"/>
            <a:ext cx="2242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3738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charset="0"/>
              </a:rPr>
              <a:t>LEFT-HAND TRIALS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0874497-8BD2-5FE9-A522-19E81AC7CC2B}"/>
              </a:ext>
            </a:extLst>
          </p:cNvPr>
          <p:cNvSpPr txBox="1"/>
          <p:nvPr/>
        </p:nvSpPr>
        <p:spPr>
          <a:xfrm>
            <a:off x="9205402" y="2162702"/>
            <a:ext cx="2422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3738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charset="0"/>
              </a:rPr>
              <a:t>RIGHT-HAND TRIALS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01B88B6-17A3-EFA1-A86B-EC7A18300547}"/>
              </a:ext>
            </a:extLst>
          </p:cNvPr>
          <p:cNvSpPr/>
          <p:nvPr/>
        </p:nvSpPr>
        <p:spPr>
          <a:xfrm rot="1681871">
            <a:off x="1831179" y="3624413"/>
            <a:ext cx="211539" cy="119462"/>
          </a:xfrm>
          <a:prstGeom prst="rect">
            <a:avLst/>
          </a:prstGeom>
          <a:solidFill>
            <a:srgbClr val="32332D"/>
          </a:solidFill>
          <a:ln>
            <a:solidFill>
              <a:srgbClr val="3233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6CF8C82-0CA0-157C-526B-6F8C87FB113E}"/>
              </a:ext>
            </a:extLst>
          </p:cNvPr>
          <p:cNvSpPr/>
          <p:nvPr/>
        </p:nvSpPr>
        <p:spPr>
          <a:xfrm rot="162094">
            <a:off x="1348954" y="3484353"/>
            <a:ext cx="211539" cy="119462"/>
          </a:xfrm>
          <a:prstGeom prst="rect">
            <a:avLst/>
          </a:prstGeom>
          <a:solidFill>
            <a:srgbClr val="32332D"/>
          </a:solidFill>
          <a:ln>
            <a:solidFill>
              <a:srgbClr val="3233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220DAEA-32AA-E890-97C6-A9D971E81101}"/>
              </a:ext>
            </a:extLst>
          </p:cNvPr>
          <p:cNvSpPr/>
          <p:nvPr/>
        </p:nvSpPr>
        <p:spPr>
          <a:xfrm rot="19660001">
            <a:off x="852637" y="3622104"/>
            <a:ext cx="211539" cy="119462"/>
          </a:xfrm>
          <a:prstGeom prst="rect">
            <a:avLst/>
          </a:prstGeom>
          <a:solidFill>
            <a:srgbClr val="32332D"/>
          </a:solidFill>
          <a:ln>
            <a:solidFill>
              <a:srgbClr val="3233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23BCE4-4384-5696-17CF-2E3A9F20DDF8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7AA9372-BC3B-0623-E1B6-E26E60D028D7}"/>
              </a:ext>
            </a:extLst>
          </p:cNvPr>
          <p:cNvSpPr/>
          <p:nvPr/>
        </p:nvSpPr>
        <p:spPr>
          <a:xfrm>
            <a:off x="337016" y="872946"/>
            <a:ext cx="3127296" cy="726581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44849D-6CF2-232F-9471-BD3167A1F1D2}"/>
              </a:ext>
            </a:extLst>
          </p:cNvPr>
          <p:cNvSpPr txBox="1"/>
          <p:nvPr/>
        </p:nvSpPr>
        <p:spPr>
          <a:xfrm>
            <a:off x="473831" y="1020794"/>
            <a:ext cx="2853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Feature engineering</a:t>
            </a:r>
          </a:p>
        </p:txBody>
      </p:sp>
      <p:pic>
        <p:nvPicPr>
          <p:cNvPr id="4" name="Picture 3" descr="A person wearing a device with wires on his head&#10;&#10;AI-generated content may be incorrect.">
            <a:extLst>
              <a:ext uri="{FF2B5EF4-FFF2-40B4-BE49-F238E27FC236}">
                <a16:creationId xmlns:a16="http://schemas.microsoft.com/office/drawing/2014/main" id="{4D9FAABB-012B-63DC-C87C-00DC1602F7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448" t="14576" r="10847" b="19972"/>
          <a:stretch/>
        </p:blipFill>
        <p:spPr>
          <a:xfrm>
            <a:off x="562968" y="3472981"/>
            <a:ext cx="2165228" cy="25863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A5F8DF-6127-A411-CA26-7E3CE6B21CB7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Final remarks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06A23C-8B3A-3ED1-4C4F-023B819948D3}"/>
              </a:ext>
            </a:extLst>
          </p:cNvPr>
          <p:cNvSpPr txBox="1"/>
          <p:nvPr/>
        </p:nvSpPr>
        <p:spPr>
          <a:xfrm>
            <a:off x="3601127" y="1031292"/>
            <a:ext cx="5817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charset="0"/>
              </a:rPr>
              <a:t>Consider a brain-computer interface (BCI)</a:t>
            </a:r>
          </a:p>
        </p:txBody>
      </p:sp>
    </p:spTree>
    <p:extLst>
      <p:ext uri="{BB962C8B-B14F-4D97-AF65-F5344CB8AC3E}">
        <p14:creationId xmlns:p14="http://schemas.microsoft.com/office/powerpoint/2010/main" val="18317421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723449C-DBB1-4C74-B373-20795E0D1831}"/>
              </a:ext>
            </a:extLst>
          </p:cNvPr>
          <p:cNvSpPr/>
          <p:nvPr/>
        </p:nvSpPr>
        <p:spPr>
          <a:xfrm>
            <a:off x="337016" y="872946"/>
            <a:ext cx="3127296" cy="726581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010018" y="6490009"/>
            <a:ext cx="1828800" cy="278049"/>
          </a:xfrm>
        </p:spPr>
        <p:txBody>
          <a:bodyPr/>
          <a:lstStyle/>
          <a:p>
            <a:r>
              <a:rPr lang="en-US" b="1" dirty="0">
                <a:solidFill>
                  <a:srgbClr val="373833"/>
                </a:solidFill>
                <a:latin typeface="Lato" charset="0"/>
                <a:ea typeface="Lato" charset="0"/>
                <a:cs typeface="Lato" charset="0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01127" y="1031292"/>
            <a:ext cx="5817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charset="0"/>
              </a:rPr>
              <a:t>Consider a brain-computer interface (BCI)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E49E2E-EBB6-BDEA-7E1B-68216FC053A3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08BE1B-6622-EA16-BDE9-6744175D3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906" y="2495082"/>
            <a:ext cx="8538188" cy="38987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2C13E6-F205-CAE4-5A89-131F8D2BAB04}"/>
              </a:ext>
            </a:extLst>
          </p:cNvPr>
          <p:cNvSpPr txBox="1"/>
          <p:nvPr/>
        </p:nvSpPr>
        <p:spPr>
          <a:xfrm>
            <a:off x="337016" y="1747375"/>
            <a:ext cx="80425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charset="0"/>
              </a:rPr>
              <a:t>Different encoding strategies yield different performances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C7B4F-0465-711D-EF88-648E6B799FAF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Final remarks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5AC831-BFFA-8703-3024-924E607A221C}"/>
              </a:ext>
            </a:extLst>
          </p:cNvPr>
          <p:cNvSpPr txBox="1"/>
          <p:nvPr/>
        </p:nvSpPr>
        <p:spPr>
          <a:xfrm>
            <a:off x="473831" y="1020794"/>
            <a:ext cx="2853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Feature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7812220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010018" y="6490009"/>
            <a:ext cx="1828800" cy="278049"/>
          </a:xfrm>
        </p:spPr>
        <p:txBody>
          <a:bodyPr/>
          <a:lstStyle/>
          <a:p>
            <a:r>
              <a:rPr lang="en-US" b="1" dirty="0">
                <a:solidFill>
                  <a:srgbClr val="373833"/>
                </a:solidFill>
                <a:latin typeface="Lato" charset="0"/>
                <a:ea typeface="Lato" charset="0"/>
                <a:cs typeface="Lato" charset="0"/>
              </a:rPr>
              <a:t>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E49E2E-EBB6-BDEA-7E1B-68216FC053A3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B5A56E9-E3DF-1010-7F29-E83043982A04}"/>
              </a:ext>
            </a:extLst>
          </p:cNvPr>
          <p:cNvSpPr/>
          <p:nvPr/>
        </p:nvSpPr>
        <p:spPr>
          <a:xfrm>
            <a:off x="1004406" y="2530830"/>
            <a:ext cx="2913471" cy="844880"/>
          </a:xfrm>
          <a:prstGeom prst="roundRect">
            <a:avLst/>
          </a:prstGeom>
          <a:solidFill>
            <a:srgbClr val="5E5E5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90C30E9-16EF-C3A0-5B01-59FD6C9B2444}"/>
              </a:ext>
            </a:extLst>
          </p:cNvPr>
          <p:cNvSpPr/>
          <p:nvPr/>
        </p:nvSpPr>
        <p:spPr>
          <a:xfrm>
            <a:off x="4580837" y="2530830"/>
            <a:ext cx="3708607" cy="844880"/>
          </a:xfrm>
          <a:prstGeom prst="roundRect">
            <a:avLst/>
          </a:prstGeom>
          <a:solidFill>
            <a:srgbClr val="5E5E5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6BD24E-68BF-3249-8280-E6BFFFAD09AF}"/>
              </a:ext>
            </a:extLst>
          </p:cNvPr>
          <p:cNvSpPr txBox="1"/>
          <p:nvPr/>
        </p:nvSpPr>
        <p:spPr>
          <a:xfrm>
            <a:off x="4842153" y="2737827"/>
            <a:ext cx="32399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E8EBE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FEATURE EXTRACTION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781C21-E1C9-FC1F-68A2-96B414628BDA}"/>
              </a:ext>
            </a:extLst>
          </p:cNvPr>
          <p:cNvSpPr txBox="1"/>
          <p:nvPr/>
        </p:nvSpPr>
        <p:spPr>
          <a:xfrm>
            <a:off x="1249110" y="2737827"/>
            <a:ext cx="24240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E8EBE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PREPROCESSING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8D9EA6B-F18A-9AB5-F08F-6964F598DF92}"/>
              </a:ext>
            </a:extLst>
          </p:cNvPr>
          <p:cNvSpPr/>
          <p:nvPr/>
        </p:nvSpPr>
        <p:spPr>
          <a:xfrm>
            <a:off x="8952404" y="2530830"/>
            <a:ext cx="2193280" cy="844880"/>
          </a:xfrm>
          <a:prstGeom prst="roundRect">
            <a:avLst/>
          </a:prstGeom>
          <a:solidFill>
            <a:srgbClr val="5E5E5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2AAC62-7511-7F59-024D-4D3BB8623EF2}"/>
              </a:ext>
            </a:extLst>
          </p:cNvPr>
          <p:cNvSpPr txBox="1"/>
          <p:nvPr/>
        </p:nvSpPr>
        <p:spPr>
          <a:xfrm>
            <a:off x="9213719" y="2737827"/>
            <a:ext cx="1733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b="1" dirty="0">
                <a:solidFill>
                  <a:srgbClr val="E8EBE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CLASSIFIER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C961AFB-34A8-9AAB-E378-31990BBA2851}"/>
              </a:ext>
            </a:extLst>
          </p:cNvPr>
          <p:cNvSpPr/>
          <p:nvPr/>
        </p:nvSpPr>
        <p:spPr>
          <a:xfrm>
            <a:off x="337016" y="2787567"/>
            <a:ext cx="331406" cy="331406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AA7D51F-6217-CF14-CFD4-738C90439C57}"/>
              </a:ext>
            </a:extLst>
          </p:cNvPr>
          <p:cNvCxnSpPr>
            <a:cxnSpLocks/>
            <a:stCxn id="15" idx="3"/>
            <a:endCxn id="13" idx="1"/>
          </p:cNvCxnSpPr>
          <p:nvPr/>
        </p:nvCxnSpPr>
        <p:spPr>
          <a:xfrm>
            <a:off x="3917877" y="2953270"/>
            <a:ext cx="662960" cy="0"/>
          </a:xfrm>
          <a:prstGeom prst="line">
            <a:avLst/>
          </a:prstGeom>
          <a:ln w="38100">
            <a:solidFill>
              <a:srgbClr val="FA2743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FADE3AE-93B6-8093-47C7-5C247316D327}"/>
              </a:ext>
            </a:extLst>
          </p:cNvPr>
          <p:cNvCxnSpPr>
            <a:cxnSpLocks/>
          </p:cNvCxnSpPr>
          <p:nvPr/>
        </p:nvCxnSpPr>
        <p:spPr>
          <a:xfrm>
            <a:off x="8289444" y="2947536"/>
            <a:ext cx="662960" cy="0"/>
          </a:xfrm>
          <a:prstGeom prst="line">
            <a:avLst/>
          </a:prstGeom>
          <a:ln w="38100">
            <a:solidFill>
              <a:srgbClr val="FA2743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B71783F-A228-05FF-265C-026648D7732A}"/>
              </a:ext>
            </a:extLst>
          </p:cNvPr>
          <p:cNvSpPr/>
          <p:nvPr/>
        </p:nvSpPr>
        <p:spPr>
          <a:xfrm>
            <a:off x="11477238" y="2775371"/>
            <a:ext cx="331406" cy="331406"/>
          </a:xfrm>
          <a:prstGeom prst="ellipse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0EC573B-8E47-966F-71C3-2DFB9E0DD1DA}"/>
              </a:ext>
            </a:extLst>
          </p:cNvPr>
          <p:cNvCxnSpPr>
            <a:cxnSpLocks/>
            <a:stCxn id="16" idx="6"/>
            <a:endCxn id="15" idx="1"/>
          </p:cNvCxnSpPr>
          <p:nvPr/>
        </p:nvCxnSpPr>
        <p:spPr>
          <a:xfrm>
            <a:off x="668422" y="2953270"/>
            <a:ext cx="335984" cy="0"/>
          </a:xfrm>
          <a:prstGeom prst="line">
            <a:avLst/>
          </a:prstGeom>
          <a:ln w="38100">
            <a:solidFill>
              <a:srgbClr val="FA2743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4425667-C6FC-88BB-BCAE-4DD89E02F5EC}"/>
              </a:ext>
            </a:extLst>
          </p:cNvPr>
          <p:cNvCxnSpPr>
            <a:cxnSpLocks/>
          </p:cNvCxnSpPr>
          <p:nvPr/>
        </p:nvCxnSpPr>
        <p:spPr>
          <a:xfrm>
            <a:off x="11145684" y="2941074"/>
            <a:ext cx="335984" cy="0"/>
          </a:xfrm>
          <a:prstGeom prst="line">
            <a:avLst/>
          </a:prstGeom>
          <a:ln w="38100">
            <a:solidFill>
              <a:srgbClr val="FA2743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47BC617-021C-82DD-CCEA-B53132F472BB}"/>
              </a:ext>
            </a:extLst>
          </p:cNvPr>
          <p:cNvSpPr txBox="1"/>
          <p:nvPr/>
        </p:nvSpPr>
        <p:spPr>
          <a:xfrm>
            <a:off x="261112" y="3434702"/>
            <a:ext cx="678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DATA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579EF8-E872-D0DC-641D-27AB6FC780C5}"/>
              </a:ext>
            </a:extLst>
          </p:cNvPr>
          <p:cNvSpPr txBox="1"/>
          <p:nvPr/>
        </p:nvSpPr>
        <p:spPr>
          <a:xfrm>
            <a:off x="10664101" y="3439139"/>
            <a:ext cx="12634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F7E12E-A0EA-DC6B-EAD4-975D9213A35C}"/>
              </a:ext>
            </a:extLst>
          </p:cNvPr>
          <p:cNvSpPr txBox="1"/>
          <p:nvPr/>
        </p:nvSpPr>
        <p:spPr>
          <a:xfrm>
            <a:off x="261112" y="1804875"/>
            <a:ext cx="7576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traditional workflow in machine learning is to have</a:t>
            </a:r>
            <a:endParaRPr lang="en-FR" sz="5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ACA43E-52C8-86C1-5FAC-8420F9CDA28A}"/>
              </a:ext>
            </a:extLst>
          </p:cNvPr>
          <p:cNvSpPr txBox="1"/>
          <p:nvPr/>
        </p:nvSpPr>
        <p:spPr>
          <a:xfrm>
            <a:off x="337016" y="3899506"/>
            <a:ext cx="10594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ut deep neural networks changed everything by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learning features from data</a:t>
            </a:r>
            <a:endParaRPr lang="en-FR" sz="5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36" name="Picture 35" descr="A picture containing text&#10;&#10;Description automatically generated">
            <a:extLst>
              <a:ext uri="{FF2B5EF4-FFF2-40B4-BE49-F238E27FC236}">
                <a16:creationId xmlns:a16="http://schemas.microsoft.com/office/drawing/2014/main" id="{88D4B1B4-4FBE-AF86-1C50-12D3463EC1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384" b="67318"/>
          <a:stretch/>
        </p:blipFill>
        <p:spPr>
          <a:xfrm>
            <a:off x="3773923" y="4664894"/>
            <a:ext cx="6134567" cy="143846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DF93927-1E13-8734-5C1E-B2229C6220FF}"/>
              </a:ext>
            </a:extLst>
          </p:cNvPr>
          <p:cNvSpPr txBox="1"/>
          <p:nvPr/>
        </p:nvSpPr>
        <p:spPr>
          <a:xfrm>
            <a:off x="4277401" y="6118825"/>
            <a:ext cx="771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</a:t>
            </a:r>
            <a:r>
              <a:rPr lang="en-FR" sz="14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ayer 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1AD2A4-6F1B-D948-C4AC-C35907DA4F33}"/>
              </a:ext>
            </a:extLst>
          </p:cNvPr>
          <p:cNvSpPr txBox="1"/>
          <p:nvPr/>
        </p:nvSpPr>
        <p:spPr>
          <a:xfrm>
            <a:off x="6243852" y="6119544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</a:t>
            </a:r>
            <a:r>
              <a:rPr lang="en-FR" sz="14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ayer 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2BBEA4-E14B-A901-763E-B9E49692EA5F}"/>
              </a:ext>
            </a:extLst>
          </p:cNvPr>
          <p:cNvSpPr txBox="1"/>
          <p:nvPr/>
        </p:nvSpPr>
        <p:spPr>
          <a:xfrm>
            <a:off x="8441667" y="6118825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</a:t>
            </a:r>
            <a:r>
              <a:rPr lang="en-FR" sz="1400" b="1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ayer 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9105D3-A408-B391-4E69-B7EBF5B7AD41}"/>
              </a:ext>
            </a:extLst>
          </p:cNvPr>
          <p:cNvSpPr txBox="1"/>
          <p:nvPr/>
        </p:nvSpPr>
        <p:spPr>
          <a:xfrm>
            <a:off x="1288804" y="4696713"/>
            <a:ext cx="28289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Example of a convolutional neural networks learning features to represent images from a dataset</a:t>
            </a:r>
            <a:endParaRPr lang="en-FR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728265-6BF2-0906-46E4-4CEF7CE9D5A1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Final remarks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AA97BCF-D3BF-6315-D3A0-11D58C0AA26B}"/>
              </a:ext>
            </a:extLst>
          </p:cNvPr>
          <p:cNvSpPr/>
          <p:nvPr/>
        </p:nvSpPr>
        <p:spPr>
          <a:xfrm>
            <a:off x="337016" y="872946"/>
            <a:ext cx="3127296" cy="726581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770DD5-7141-CF51-F5EB-92AFE65BB64D}"/>
              </a:ext>
            </a:extLst>
          </p:cNvPr>
          <p:cNvSpPr txBox="1"/>
          <p:nvPr/>
        </p:nvSpPr>
        <p:spPr>
          <a:xfrm>
            <a:off x="473831" y="1020794"/>
            <a:ext cx="2853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Feature engineering</a:t>
            </a:r>
          </a:p>
        </p:txBody>
      </p:sp>
    </p:spTree>
    <p:extLst>
      <p:ext uri="{BB962C8B-B14F-4D97-AF65-F5344CB8AC3E}">
        <p14:creationId xmlns:p14="http://schemas.microsoft.com/office/powerpoint/2010/main" val="16575861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CF15A-673E-90E8-7EA4-835235B1A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1">
            <a:extLst>
              <a:ext uri="{FF2B5EF4-FFF2-40B4-BE49-F238E27FC236}">
                <a16:creationId xmlns:a16="http://schemas.microsoft.com/office/drawing/2014/main" id="{777E458C-4C2C-C7D5-B410-8B1B58942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0018" y="6490009"/>
            <a:ext cx="1828800" cy="278049"/>
          </a:xfrm>
        </p:spPr>
        <p:txBody>
          <a:bodyPr/>
          <a:lstStyle/>
          <a:p>
            <a:r>
              <a:rPr lang="en-US" b="1" dirty="0">
                <a:solidFill>
                  <a:srgbClr val="373833"/>
                </a:solidFill>
                <a:latin typeface="Lato" charset="0"/>
                <a:ea typeface="Lato" charset="0"/>
                <a:cs typeface="Lato" charset="0"/>
              </a:rPr>
              <a:t>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BA5492-C374-300F-B7F3-59A9C28044A4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BB41547-71CC-96C7-702E-902AC3645158}"/>
              </a:ext>
            </a:extLst>
          </p:cNvPr>
          <p:cNvSpPr/>
          <p:nvPr/>
        </p:nvSpPr>
        <p:spPr>
          <a:xfrm>
            <a:off x="337015" y="872946"/>
            <a:ext cx="3870711" cy="726581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2557AD-F6F9-A345-4F07-7AAF97F3C2AB}"/>
              </a:ext>
            </a:extLst>
          </p:cNvPr>
          <p:cNvSpPr txBox="1"/>
          <p:nvPr/>
        </p:nvSpPr>
        <p:spPr>
          <a:xfrm>
            <a:off x="499853" y="1020794"/>
            <a:ext cx="35990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Differential programming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48EC0A-1F7C-5137-F1CA-42F093A47153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Final remarks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33F0B6-7E62-F8AA-E0D4-390BD6675603}"/>
              </a:ext>
            </a:extLst>
          </p:cNvPr>
          <p:cNvSpPr txBox="1"/>
          <p:nvPr/>
        </p:nvSpPr>
        <p:spPr>
          <a:xfrm>
            <a:off x="4370564" y="1020794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Recall the objective function for logistic regression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320E98-D27E-0BFD-9B91-1BB66F132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49735"/>
            <a:ext cx="7772400" cy="75888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F5D9EEE-8005-C942-549B-77FE970B4B45}"/>
              </a:ext>
            </a:extLst>
          </p:cNvPr>
          <p:cNvSpPr txBox="1"/>
          <p:nvPr/>
        </p:nvSpPr>
        <p:spPr>
          <a:xfrm>
            <a:off x="337014" y="2770486"/>
            <a:ext cx="71801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parameters are obtained via a gradient descent 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0794D4D-045F-A99F-E0DA-683A0D4E1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793" y="2808924"/>
            <a:ext cx="3187700" cy="3937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CDE1353-C4B4-DC4D-962A-D4EBBA302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593" y="3429000"/>
            <a:ext cx="4787900" cy="889000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73AA692-6E1D-9631-CC3F-40EDEC8DF2E5}"/>
              </a:ext>
            </a:extLst>
          </p:cNvPr>
          <p:cNvCxnSpPr>
            <a:cxnSpLocks/>
          </p:cNvCxnSpPr>
          <p:nvPr/>
        </p:nvCxnSpPr>
        <p:spPr>
          <a:xfrm>
            <a:off x="5003180" y="3817590"/>
            <a:ext cx="795454" cy="0"/>
          </a:xfrm>
          <a:prstGeom prst="straightConnector1">
            <a:avLst/>
          </a:prstGeom>
          <a:ln w="25400">
            <a:solidFill>
              <a:srgbClr val="FA27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4C13B2C-0832-AE35-B10B-47E27A7D01B1}"/>
              </a:ext>
            </a:extLst>
          </p:cNvPr>
          <p:cNvSpPr txBox="1"/>
          <p:nvPr/>
        </p:nvSpPr>
        <p:spPr>
          <a:xfrm>
            <a:off x="1485100" y="3402091"/>
            <a:ext cx="36322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This can be rather easily calculated by hand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162F57-5DA4-240A-99EE-9195355AE098}"/>
              </a:ext>
            </a:extLst>
          </p:cNvPr>
          <p:cNvSpPr txBox="1"/>
          <p:nvPr/>
        </p:nvSpPr>
        <p:spPr>
          <a:xfrm>
            <a:off x="337014" y="4548551"/>
            <a:ext cx="10306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But what if we want to use a data-driven transformation on the data points?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91DA267-85A5-C35C-D261-BC7ED04925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7393" y="5235596"/>
            <a:ext cx="1676400" cy="3556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FE094D32-64A7-6B67-D68A-8D3EBCEB0455}"/>
              </a:ext>
            </a:extLst>
          </p:cNvPr>
          <p:cNvSpPr txBox="1"/>
          <p:nvPr/>
        </p:nvSpPr>
        <p:spPr>
          <a:xfrm>
            <a:off x="337014" y="5816576"/>
            <a:ext cx="9207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gradients can start to become quite cumbersome to calculate…</a:t>
            </a:r>
          </a:p>
        </p:txBody>
      </p:sp>
    </p:spTree>
    <p:extLst>
      <p:ext uri="{BB962C8B-B14F-4D97-AF65-F5344CB8AC3E}">
        <p14:creationId xmlns:p14="http://schemas.microsoft.com/office/powerpoint/2010/main" val="26850198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C81F8-6AD7-BAAC-17DD-64CBDF246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1">
            <a:extLst>
              <a:ext uri="{FF2B5EF4-FFF2-40B4-BE49-F238E27FC236}">
                <a16:creationId xmlns:a16="http://schemas.microsoft.com/office/drawing/2014/main" id="{AF327D16-C0D6-5E7F-BB16-FF99FFD0B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0018" y="6490009"/>
            <a:ext cx="1828800" cy="278049"/>
          </a:xfrm>
        </p:spPr>
        <p:txBody>
          <a:bodyPr/>
          <a:lstStyle/>
          <a:p>
            <a:r>
              <a:rPr lang="en-US" b="1" dirty="0">
                <a:solidFill>
                  <a:srgbClr val="373833"/>
                </a:solidFill>
                <a:latin typeface="Lato" charset="0"/>
                <a:ea typeface="Lato" charset="0"/>
                <a:cs typeface="Lato" charset="0"/>
              </a:rPr>
              <a:t>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FF613A-C150-30F0-356D-2001A24C37A4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21CBA8B-EDF8-FC6B-062B-7B705E9C902D}"/>
              </a:ext>
            </a:extLst>
          </p:cNvPr>
          <p:cNvSpPr/>
          <p:nvPr/>
        </p:nvSpPr>
        <p:spPr>
          <a:xfrm>
            <a:off x="337015" y="872946"/>
            <a:ext cx="3870711" cy="726581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8EEA1F-991B-75D6-D0DE-CF002B8932C0}"/>
              </a:ext>
            </a:extLst>
          </p:cNvPr>
          <p:cNvSpPr txBox="1"/>
          <p:nvPr/>
        </p:nvSpPr>
        <p:spPr>
          <a:xfrm>
            <a:off x="499853" y="1020794"/>
            <a:ext cx="35990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Differential programming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E2FC12-5B5C-5C25-7BAE-3E8D33CB00EE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Final remarks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1BFC3A-F207-6BF5-2F0D-10FEF1E9F4A9}"/>
              </a:ext>
            </a:extLst>
          </p:cNvPr>
          <p:cNvSpPr txBox="1"/>
          <p:nvPr/>
        </p:nvSpPr>
        <p:spPr>
          <a:xfrm>
            <a:off x="4370564" y="1020793"/>
            <a:ext cx="6824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 deep neural network is nothing more than this…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F0C394-9F20-56D0-95EB-2A465B99C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849735"/>
            <a:ext cx="10795000" cy="889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931FBC-5D10-EACD-8F7C-AA34F059BB1A}"/>
              </a:ext>
            </a:extLst>
          </p:cNvPr>
          <p:cNvSpPr txBox="1"/>
          <p:nvPr/>
        </p:nvSpPr>
        <p:spPr>
          <a:xfrm>
            <a:off x="337014" y="2988943"/>
            <a:ext cx="1050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Where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27A33A-75E1-558C-3C6A-C2970472B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600" y="3116616"/>
            <a:ext cx="5130800" cy="10033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56E131-0C8B-5BA5-33FD-D02DE1773D76}"/>
              </a:ext>
            </a:extLst>
          </p:cNvPr>
          <p:cNvSpPr txBox="1"/>
          <p:nvPr/>
        </p:nvSpPr>
        <p:spPr>
          <a:xfrm>
            <a:off x="337014" y="4374012"/>
            <a:ext cx="10878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And the training follows something similar (not quite exactly) gradient descent…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830EA5-6DBC-9E97-6EFF-79B58016401D}"/>
              </a:ext>
            </a:extLst>
          </p:cNvPr>
          <p:cNvSpPr txBox="1"/>
          <p:nvPr/>
        </p:nvSpPr>
        <p:spPr>
          <a:xfrm>
            <a:off x="316569" y="5085885"/>
            <a:ext cx="10639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Lucky for us, there has been a lot of development in </a:t>
            </a:r>
            <a:r>
              <a:rPr lang="en-FR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automatic differentiation</a:t>
            </a:r>
          </a:p>
        </p:txBody>
      </p:sp>
      <p:pic>
        <p:nvPicPr>
          <p:cNvPr id="15" name="Picture 1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E3C5174-BE26-83F1-337D-943EB1EC3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0511" y="5889919"/>
            <a:ext cx="2344316" cy="576471"/>
          </a:xfrm>
          <a:prstGeom prst="rect">
            <a:avLst/>
          </a:prstGeom>
        </p:spPr>
      </p:pic>
      <p:pic>
        <p:nvPicPr>
          <p:cNvPr id="17" name="Picture 16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50ED9FAA-9729-F797-8145-C49819B1AE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971" t="10799" r="10338" b="10511"/>
          <a:stretch/>
        </p:blipFill>
        <p:spPr>
          <a:xfrm>
            <a:off x="9279840" y="5588253"/>
            <a:ext cx="1915028" cy="117980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5E3BF7D-070C-BBC5-BF6D-4CBC87B427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7213" y="5696439"/>
            <a:ext cx="1538285" cy="88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7978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E49E2E-EBB6-BDEA-7E1B-68216FC053A3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F92902B-C975-FBFF-3E87-A6FC4B2173AA}"/>
              </a:ext>
            </a:extLst>
          </p:cNvPr>
          <p:cNvSpPr/>
          <p:nvPr/>
        </p:nvSpPr>
        <p:spPr>
          <a:xfrm>
            <a:off x="337016" y="872946"/>
            <a:ext cx="3015784" cy="726581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3B6163-ACCA-872B-105C-556A68A59D54}"/>
              </a:ext>
            </a:extLst>
          </p:cNvPr>
          <p:cNvSpPr txBox="1"/>
          <p:nvPr/>
        </p:nvSpPr>
        <p:spPr>
          <a:xfrm>
            <a:off x="566353" y="1020794"/>
            <a:ext cx="2557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Transfer Learning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F7E12E-A0EA-DC6B-EAD4-975D9213A35C}"/>
              </a:ext>
            </a:extLst>
          </p:cNvPr>
          <p:cNvSpPr txBox="1"/>
          <p:nvPr/>
        </p:nvSpPr>
        <p:spPr>
          <a:xfrm>
            <a:off x="337016" y="1849735"/>
            <a:ext cx="9769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One of the main hypothesis of learning classifiers and regressors is that</a:t>
            </a:r>
            <a:endParaRPr lang="en-FR" sz="5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47B0A94-3765-A269-869C-B2F70D2A913A}"/>
              </a:ext>
            </a:extLst>
          </p:cNvPr>
          <p:cNvGrpSpPr/>
          <p:nvPr/>
        </p:nvGrpSpPr>
        <p:grpSpPr>
          <a:xfrm>
            <a:off x="1792358" y="2560566"/>
            <a:ext cx="8607283" cy="907941"/>
            <a:chOff x="1544965" y="2660713"/>
            <a:chExt cx="8607283" cy="90794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9C26B39-FCB4-7665-ADB7-1ACD51A00C0B}"/>
                </a:ext>
              </a:extLst>
            </p:cNvPr>
            <p:cNvSpPr txBox="1"/>
            <p:nvPr/>
          </p:nvSpPr>
          <p:spPr>
            <a:xfrm>
              <a:off x="1544965" y="2737657"/>
              <a:ext cx="412771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The statistical distribution of data in training set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16F604-12AD-893D-DF09-7EE81353868F}"/>
                </a:ext>
              </a:extLst>
            </p:cNvPr>
            <p:cNvSpPr txBox="1"/>
            <p:nvPr/>
          </p:nvSpPr>
          <p:spPr>
            <a:xfrm>
              <a:off x="5742039" y="2660713"/>
              <a:ext cx="556563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5000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=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6E1E150-E9E6-4C84-80BB-41FA0D7B1F1B}"/>
                </a:ext>
              </a:extLst>
            </p:cNvPr>
            <p:cNvSpPr txBox="1"/>
            <p:nvPr/>
          </p:nvSpPr>
          <p:spPr>
            <a:xfrm>
              <a:off x="6367963" y="2737657"/>
              <a:ext cx="378428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The statistical distribution of data in test set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0716758-7E5F-4DB7-6861-49F281BC9E25}"/>
              </a:ext>
            </a:extLst>
          </p:cNvPr>
          <p:cNvSpPr txBox="1"/>
          <p:nvPr/>
        </p:nvSpPr>
        <p:spPr>
          <a:xfrm>
            <a:off x="337016" y="3818104"/>
            <a:ext cx="11742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other words: “we train our tools on the same type of data on which we apply them”</a:t>
            </a:r>
            <a:endParaRPr lang="en-FR" sz="5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14E9C7-412E-58C8-0FC1-6AB81682D9E0}"/>
              </a:ext>
            </a:extLst>
          </p:cNvPr>
          <p:cNvSpPr txBox="1"/>
          <p:nvPr/>
        </p:nvSpPr>
        <p:spPr>
          <a:xfrm>
            <a:off x="337015" y="4367131"/>
            <a:ext cx="95846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But, what if this assumption is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violated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? Lots of research on the topic!</a:t>
            </a:r>
          </a:p>
          <a:p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72606B-CB1F-5424-D91C-D99566CD1AB1}"/>
              </a:ext>
            </a:extLst>
          </p:cNvPr>
          <p:cNvSpPr txBox="1"/>
          <p:nvPr/>
        </p:nvSpPr>
        <p:spPr>
          <a:xfrm>
            <a:off x="337015" y="4903286"/>
            <a:ext cx="8645315" cy="16813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Coping with statistical drifts in real data (e.g. subject fatigue)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Green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machine learning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Explore invariant aspects of datasets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949C566-C849-D6A0-2BED-B21F775B7241}"/>
              </a:ext>
            </a:extLst>
          </p:cNvPr>
          <p:cNvSpPr/>
          <p:nvPr/>
        </p:nvSpPr>
        <p:spPr>
          <a:xfrm>
            <a:off x="1695714" y="2545697"/>
            <a:ext cx="8802029" cy="1007567"/>
          </a:xfrm>
          <a:prstGeom prst="rect">
            <a:avLst/>
          </a:prstGeom>
          <a:noFill/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DC89A4-29E2-3F50-5261-8F6B3F794C74}"/>
              </a:ext>
            </a:extLst>
          </p:cNvPr>
          <p:cNvSpPr txBox="1"/>
          <p:nvPr/>
        </p:nvSpPr>
        <p:spPr>
          <a:xfrm>
            <a:off x="240033" y="-118168"/>
            <a:ext cx="8414360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Final remarks</a:t>
            </a:r>
          </a:p>
        </p:txBody>
      </p:sp>
    </p:spTree>
    <p:extLst>
      <p:ext uri="{BB962C8B-B14F-4D97-AF65-F5344CB8AC3E}">
        <p14:creationId xmlns:p14="http://schemas.microsoft.com/office/powerpoint/2010/main" val="3655546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37398</TotalTime>
  <Words>2323</Words>
  <Application>Microsoft Macintosh PowerPoint</Application>
  <PresentationFormat>Widescreen</PresentationFormat>
  <Paragraphs>305</Paragraphs>
  <Slides>45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Arial</vt:lpstr>
      <vt:lpstr>Calibri</vt:lpstr>
      <vt:lpstr>Calibri Light</vt:lpstr>
      <vt:lpstr>Courier New</vt:lpstr>
      <vt:lpstr>Helvetica Neue</vt:lpstr>
      <vt:lpstr>Lato</vt:lpstr>
      <vt:lpstr>Roboto Black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 Rodrigues</dc:creator>
  <cp:lastModifiedBy>Pedro Rodrigues</cp:lastModifiedBy>
  <cp:revision>1455</cp:revision>
  <dcterms:created xsi:type="dcterms:W3CDTF">2022-01-14T10:39:20Z</dcterms:created>
  <dcterms:modified xsi:type="dcterms:W3CDTF">2026-03-16T08:59:30Z</dcterms:modified>
</cp:coreProperties>
</file>