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382" r:id="rId2"/>
    <p:sldId id="460" r:id="rId3"/>
    <p:sldId id="461" r:id="rId4"/>
    <p:sldId id="462" r:id="rId5"/>
    <p:sldId id="463" r:id="rId6"/>
    <p:sldId id="470" r:id="rId7"/>
    <p:sldId id="464" r:id="rId8"/>
    <p:sldId id="465" r:id="rId9"/>
    <p:sldId id="466" r:id="rId10"/>
    <p:sldId id="467" r:id="rId11"/>
    <p:sldId id="394" r:id="rId12"/>
    <p:sldId id="377" r:id="rId13"/>
    <p:sldId id="393" r:id="rId14"/>
    <p:sldId id="398" r:id="rId15"/>
    <p:sldId id="399" r:id="rId16"/>
    <p:sldId id="410" r:id="rId17"/>
    <p:sldId id="402" r:id="rId18"/>
    <p:sldId id="442" r:id="rId19"/>
    <p:sldId id="403" r:id="rId20"/>
    <p:sldId id="436" r:id="rId21"/>
    <p:sldId id="416" r:id="rId22"/>
    <p:sldId id="453" r:id="rId23"/>
    <p:sldId id="340" r:id="rId24"/>
    <p:sldId id="439" r:id="rId25"/>
    <p:sldId id="417" r:id="rId26"/>
    <p:sldId id="454" r:id="rId27"/>
    <p:sldId id="440" r:id="rId28"/>
    <p:sldId id="455" r:id="rId29"/>
    <p:sldId id="456" r:id="rId30"/>
    <p:sldId id="457" r:id="rId31"/>
    <p:sldId id="458" r:id="rId32"/>
    <p:sldId id="459" r:id="rId33"/>
    <p:sldId id="441" r:id="rId34"/>
    <p:sldId id="420" r:id="rId35"/>
    <p:sldId id="444" r:id="rId36"/>
    <p:sldId id="445" r:id="rId37"/>
    <p:sldId id="446" r:id="rId38"/>
    <p:sldId id="424" r:id="rId39"/>
    <p:sldId id="447" r:id="rId40"/>
    <p:sldId id="448" r:id="rId41"/>
    <p:sldId id="449" r:id="rId42"/>
    <p:sldId id="452" r:id="rId43"/>
    <p:sldId id="451" r:id="rId44"/>
    <p:sldId id="468" r:id="rId45"/>
    <p:sldId id="469" r:id="rId46"/>
    <p:sldId id="437" r:id="rId47"/>
    <p:sldId id="430" r:id="rId48"/>
    <p:sldId id="426" r:id="rId49"/>
    <p:sldId id="400" r:id="rId50"/>
    <p:sldId id="267" r:id="rId51"/>
    <p:sldId id="268" r:id="rId52"/>
    <p:sldId id="269" r:id="rId53"/>
    <p:sldId id="270" r:id="rId54"/>
    <p:sldId id="471" r:id="rId55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E5E5E"/>
    <a:srgbClr val="FA2743"/>
    <a:srgbClr val="E8EBE4"/>
    <a:srgbClr val="BBD5E8"/>
    <a:srgbClr val="00A2FF"/>
    <a:srgbClr val="0000FF"/>
    <a:srgbClr val="00B0F0"/>
    <a:srgbClr val="FF7F15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251"/>
    <p:restoredTop sz="94910"/>
  </p:normalViewPr>
  <p:slideViewPr>
    <p:cSldViewPr snapToGrid="0" snapToObjects="1">
      <p:cViewPr varScale="1">
        <p:scale>
          <a:sx n="110" d="100"/>
          <a:sy n="110" d="100"/>
        </p:scale>
        <p:origin x="9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BFE6C1-AB26-3F44-9C87-C500B9817AF1}" type="datetimeFigureOut">
              <a:rPr lang="en-FR" smtClean="0"/>
              <a:t>23/02/2026</a:t>
            </a:fld>
            <a:endParaRPr lang="en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D39096-BE51-9C45-B82B-FA0E89D45848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85374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1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49930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4CA00-6837-226D-D393-E1EC25EEF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705B18-D366-DA27-76C7-8C8904D1D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9644B-A499-095C-00E7-51B88D641C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083BA6-35EE-28A7-7417-A8D12298A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1712372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72E0E-8EB6-F3CB-D18B-0DE5ACB84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F6CE54-761A-288D-9669-E3366DDA40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BEAE3E-D357-E24F-D7FB-825623D550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6AF4D-253D-E96D-1958-050E71357F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3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050051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280C-D490-7C62-F1AC-8E23256B6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AE2AE7-6A5D-2B39-68CE-CFADBE8855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3C7B4B-6849-22F5-2A5A-E3F54EBC8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6DBAC-2B96-EA2E-1CCB-043CEE3A30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4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0194239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7470B-FDD3-D42C-339A-47D2C134C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EA0883-4361-C4B8-5A06-40D21ABD8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1BC0C-273F-E490-2C20-333EA3DF24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83D3D-1666-B3A2-5E80-B1244BE09C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5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880548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A923D-DDA3-7BF2-5D80-83DF569B8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3EE84-F58C-EDE8-7393-1C1E56BC9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9FFCC-1263-2A78-7012-EDDD3CD15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697DF-1246-F76B-71E4-601E0A0773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6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8669431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E5F83-D8A4-0825-917D-1F5D6DA07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36FE08-9545-2946-E094-E4E5A0E55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630EA7-8FED-3508-FF4A-D3F1076A3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9FDFBF-6078-F02C-081D-EDB550C36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7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3500124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A57A9-B5BB-B59A-B664-2E195D9A7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6C8A92-0967-E219-B1AD-9068CE284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7AB260-FB3F-629E-6A0C-B451C6024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ED90A-2523-7303-7CFD-DC3EB64CED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8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573690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FC123-7843-5AB9-78A2-9C535A1A6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2F622B-47F4-06CB-A3AE-765AE7076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8AE38-5833-0D3A-3377-D79C23E465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6BF68F-F126-87B9-CE00-A8AC66098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9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3159645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06C17-65F4-1405-DEEC-36EC384AD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5BDF56-1BC3-6FEF-0016-21B1C9BC23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7288BA-1B60-7DE8-24B0-EBEDB0533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0E694-D584-0CBC-8AB8-DA7DB17D0A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10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3665207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11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7043138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14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8878933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15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0909132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16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4103232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17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3467760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32D43-F2D3-EE14-2649-123CABCF6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9903D5-F613-4001-B0F1-A340991DB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02890B-A197-BBA8-30AD-AF82FC67D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585201-B773-6624-86DB-54FB3BC8AC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18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8844134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19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0319100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21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031368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FC98A-66F7-338C-92D9-011FBA2F5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BA41E9-3094-27B9-5D35-CF05351862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7FC295-F443-40FD-D64E-4C0CF39B3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AC237-5708-5702-8458-8F4991317F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22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4274404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23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6761798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4C2E8-7BFA-5775-17CC-F13582B16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F8CF68-21E7-978C-B63A-CB25239F3B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A9A84B-9322-D7D1-0C80-8AAA12219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BDA5A-4819-B944-9443-F4561EEC7C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24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8079759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25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27885299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65248-EAFF-CE24-8AE6-5BDD50CDD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5404F1-BAF9-5493-6175-CC3A3689A7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D061-7AAC-7C26-E8A7-842979405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9C758-FC5D-05A4-22AF-C18E44EE7E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26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6219326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71A86-3FBC-6845-799F-9665A578D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23F010-B3D2-36D2-E000-41BD315BF0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A4DD31-C972-87CD-8A02-1AD56E03D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FDC2C-B6A5-8DBF-5CB3-F833C7D153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27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4730500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57C34-0D7B-0CC1-0B11-4D4C2005D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5B0597-434E-AC09-166B-F9BDDB2B72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79E9D2-2369-80B8-E088-B158E43A9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023E2-C210-447F-50CC-CB2D4051E1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28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2501172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94D81-4183-3D17-EB83-9EC319ED2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BFCBE9-8AA6-8D0D-DBB7-C200B81CD9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113C74-02D3-492B-9618-F0759A4B12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BEF5EB-C227-BCC8-A9AB-BB8C411595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29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46285419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F894E-440B-B0BA-32C3-89A305C57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7A417-B070-3B9E-30C7-0C522E10A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826AB3-E098-C771-67FB-DEF6CDE3D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89ED-2B76-5F26-0365-B1B14052A4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30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5954779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AE4DC-DC5C-DF64-5DB4-0BB92DB5A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DD10F0-FC7E-7DE4-A661-CD514DBD8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D7D93E-3A69-D6BA-B8E9-74CA18CFB2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3CC6F-249C-E581-FD31-AB39D7F4FD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31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9788793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437F2-6F27-3211-3A7D-FAD115967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826D29-1FD8-6D88-8907-1CC91B355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309484-092F-4334-28D5-2F741BD1B5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DD3BF-E1DB-8E02-106B-86816289BB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32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59009211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77516-EC37-1361-7130-2E040BCA0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6CDEF0-B895-9D48-CC53-CE2B1DA7B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585F8-75AA-35AF-E9AF-ECC5A53CB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943AF-DE08-A36C-953A-B880F8A4F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33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7673793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R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34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61109403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835FC-3AB9-1438-383D-17C7C794C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7FD846-B742-089B-A7A3-74FBDED96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8E34E-C26F-BD1D-5DB2-A21B8FE7BF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R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C317B8-706A-F2AA-1A98-F1505C280F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35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80948632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28FC0-49D4-1620-95F6-B8F06851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A5DE2-554E-C8A8-809D-978DFFD5F4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D6659-2498-D305-6644-8C529E7825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R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E6AEF-1FB4-65A9-3405-FF331C67C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36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687464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C07FD-C043-7B76-A6DA-DAFD3DA75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29B27B-7516-3930-D3FF-A8AEB4AA9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14A82-D8CE-EBFF-9D1F-D1709E70A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R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064E2-93A2-EEB1-4ACD-9FCD9C5460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37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0185093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R" dirty="0"/>
              <a:t>    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38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1825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A28FB-A1E1-4B7F-0122-D7CE1E1A5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14BD5-98FB-D26B-F537-7DC2783316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A80FB-4836-A07B-860D-F606934087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R" dirty="0"/>
              <a:t>   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CA9FC8-406A-4982-6E3A-86FF8F5F79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39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02076303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A477A-17A4-CEE4-6B2E-7EE056366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6B348F-D375-0A4C-8302-FFF76944B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340FDF-62F8-B7A4-3CE7-32D2D3C879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R" dirty="0"/>
              <a:t>   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FF357-481D-080D-DCCD-817290FCB2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40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1502579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74417-4995-E839-7499-0A12EBDFA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C990CD-F1C4-C275-966C-7612C9920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57EEC9-9FE0-CCF1-31D7-6EEE37AA8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R" dirty="0"/>
              <a:t>   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3DE44-2EBC-738B-CAEB-5D0958B541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41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24013817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3041-FAF3-7950-929F-15B5E3FCD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E6B283-00A3-6A94-44A7-611B49675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117EFF-D7CC-6DE0-554C-865225912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R" dirty="0"/>
              <a:t>   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E46AA-9A3E-3111-C28F-E1A941B00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42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9456782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07071-6D8E-D0C8-B35D-D0F45AC88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FFB263-8671-6F9D-6E33-FEC635FBE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B4A38-479C-8CFB-06E4-C2A7B03B05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R" dirty="0"/>
              <a:t>   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1D207C-8FDD-8616-EB81-BC85EF9365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43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2004591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D1E41-805D-BCBB-457D-2A01DECB2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02084F-2FF4-BBC6-1131-F39CA870FD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0E457B-7AB9-28CA-753D-B0E75AED0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R" dirty="0"/>
              <a:t>   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F368D-80EC-05B2-50B5-F382C89BB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44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6074461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DECB8-0FAC-5052-93E8-FE7C80CAB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1AE560-D37A-ADDA-A6D3-A8E2CD72A7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FE4F58-8488-263B-34DC-7E24D2C48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R" dirty="0"/>
              <a:t>   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C712DD-2EB5-C458-E581-E8800302C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45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7796762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47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8473285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48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78488904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D89C3-00E4-0B5E-A498-38799E073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CFA04F-2ECA-8867-A80D-672C7350F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4E333C-E0C2-6F72-3D31-388B3BC691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C4429-5B4D-35E5-79B4-421257328C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39096-BE51-9C45-B82B-FA0E89D45848}" type="slidenum">
              <a:rPr lang="en-FR" smtClean="0"/>
              <a:t>54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220195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3EC9B-787C-824C-894C-857B659FB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1034B8-C425-C946-83B5-386EB7480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38366-FA73-7C40-9D66-F01278D97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23/02/2026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613DA-3627-824F-B630-E29488734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35195-A057-A740-ABFD-A4428E7E0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114469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87FAB-44BF-AB48-8D73-DA1AEA67D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5A5C9-E435-904F-9A50-ED9242E28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FB2556-21DE-C043-BE7B-9E2A54973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23/02/2026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EDE1C2-7A56-054D-A23E-DD2241BED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48906-A5FE-FF4D-A27E-550C59904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725651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4E8A-2B0D-EB42-A978-1FE768A3F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5DEB75-EBFD-8E42-82F0-A331F604D0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C81795-369A-C94E-9F66-0A208AF18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23/02/2026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FBA02-0FCB-EA44-B7B5-968611166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CF71C-9EF7-0C4B-BDDD-FB6BA9640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718604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98381-A6CF-6F47-A7A3-14C7831DB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E1EC3-D19C-DC4D-A5B9-9460AD4AAA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4A3376-5078-194F-9992-6B02E62EB7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51E5D-D454-0943-B25A-DA182891A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23/02/2026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567DE1-3EE7-D943-B7FD-A51C83BA6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BA756-9D8E-C845-B692-3873FF00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608771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3190A-2F02-BD4E-9E22-FE2A2CC91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57E7DD-D354-C048-8942-567BCCBE7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92036-8FA2-734D-A0A4-540FA63FA6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DEAE85-DEC4-6042-A589-63117EF752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0B7604-EC7A-9F4B-8B40-82D381275A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845EAB-187C-284A-B3CB-5EC784398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23/02/2026</a:t>
            </a:fld>
            <a:endParaRPr lang="en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7DA07A-26C9-CA4B-8592-EA2C357C0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29D14B-3E77-C64E-BBF4-00C096EE7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326156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EED17-FBEF-0040-96E6-994DBD521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C2881A-CF7D-8C45-9008-E61A46B5E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23/02/2026</a:t>
            </a:fld>
            <a:endParaRPr lang="en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05F0EE-BDC6-3E43-BEAC-A339A9728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BE1059-D3D9-064E-BFD5-C588BE342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55753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0CF8FB-7AEB-7147-A83A-4DF08A93E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23/02/2026</a:t>
            </a:fld>
            <a:endParaRPr lang="en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F6FAA-2A77-D645-B7D9-87AF35941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85873-66FC-0E4A-A249-F6FA16584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910419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EE7F8-26AB-8045-9C68-095EB3F35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8C37C8-7D1E-D745-A650-7BE338722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3687F2-0361-5E48-9242-1481CECC57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D96C55-C72A-6346-9F4D-E7EBB9536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23/02/2026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12A30C-17EA-D843-AB84-DCC67550C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58998-8FCD-4A48-8077-41D395F14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158731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E4506-CC8C-3948-98A1-3618A657C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E23419-833F-ED48-BCFF-35297290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F7541E-9161-9845-900C-0B7F4D6B4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8F6B3E-FD83-2742-B704-CAA2A3EB7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23/02/2026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2EB9A-F8B6-4F40-A237-D183B7FAB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AD7B30-1A12-B54A-9EC7-A21A90204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489466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BF93D-B2C2-7048-94E6-5B0A39376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B1939D-3520-5A4E-AC60-F1060FE9B4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3D6DC-E506-5049-B0CD-01E32D738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23/02/2026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669E02-B2EF-CC4E-A982-1A0F31306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BDBA1F-361D-CF4C-A4FB-8D2BD0974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910766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58988E-5C51-134D-8C79-867D444537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1D2FE0-5CF2-8544-A5E3-F37FBDD352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776C2-05A5-5A4B-9AA6-732FC73A5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05F58-0AA8-724B-8DBF-E28AC2D343FC}" type="datetimeFigureOut">
              <a:rPr lang="en-FR" smtClean="0"/>
              <a:t>23/02/2026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24220-F883-2A4C-82CA-C524A70A3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F0F099-3857-6B40-AE2C-2127FDED9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472570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95531-CC31-C242-807F-85E2E673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5368A4-CCF7-2A40-831F-1C89AC50A7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0E3EE-7349-1747-80AE-DCDB34EFE7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D05F58-0AA8-724B-8DBF-E28AC2D343FC}" type="datetimeFigureOut">
              <a:rPr lang="en-FR" smtClean="0"/>
              <a:t>23/02/2026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ED396-5C82-A643-8632-51B3DE0CC0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D28E0-1C6E-1140-BACB-EBB4D140C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0D13FD-52B6-3A43-8809-9B737C0501F5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782825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emf"/><Relationship Id="rId3" Type="http://schemas.openxmlformats.org/officeDocument/2006/relationships/image" Target="../media/image3.emf"/><Relationship Id="rId7" Type="http://schemas.openxmlformats.org/officeDocument/2006/relationships/image" Target="../media/image12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emf"/><Relationship Id="rId5" Type="http://schemas.openxmlformats.org/officeDocument/2006/relationships/image" Target="../media/image10.emf"/><Relationship Id="rId10" Type="http://schemas.openxmlformats.org/officeDocument/2006/relationships/image" Target="../media/image15.emf"/><Relationship Id="rId4" Type="http://schemas.openxmlformats.org/officeDocument/2006/relationships/image" Target="../media/image9.emf"/><Relationship Id="rId9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7" Type="http://schemas.openxmlformats.org/officeDocument/2006/relationships/image" Target="../media/image18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emf"/><Relationship Id="rId5" Type="http://schemas.openxmlformats.org/officeDocument/2006/relationships/image" Target="../media/image14.emf"/><Relationship Id="rId4" Type="http://schemas.openxmlformats.org/officeDocument/2006/relationships/image" Target="../media/image16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nql000Lu_iE&amp;t=18s" TargetMode="External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emf"/><Relationship Id="rId4" Type="http://schemas.openxmlformats.org/officeDocument/2006/relationships/image" Target="../media/image30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emf"/><Relationship Id="rId4" Type="http://schemas.openxmlformats.org/officeDocument/2006/relationships/image" Target="../media/image30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emf"/><Relationship Id="rId3" Type="http://schemas.openxmlformats.org/officeDocument/2006/relationships/image" Target="../media/image37.emf"/><Relationship Id="rId7" Type="http://schemas.openxmlformats.org/officeDocument/2006/relationships/image" Target="../media/image41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emf"/><Relationship Id="rId5" Type="http://schemas.openxmlformats.org/officeDocument/2006/relationships/image" Target="../media/image39.emf"/><Relationship Id="rId4" Type="http://schemas.openxmlformats.org/officeDocument/2006/relationships/image" Target="../media/image38.emf"/><Relationship Id="rId9" Type="http://schemas.openxmlformats.org/officeDocument/2006/relationships/image" Target="../media/image43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7" Type="http://schemas.openxmlformats.org/officeDocument/2006/relationships/image" Target="../media/image47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emf"/><Relationship Id="rId5" Type="http://schemas.openxmlformats.org/officeDocument/2006/relationships/image" Target="../media/image46.emf"/><Relationship Id="rId4" Type="http://schemas.openxmlformats.org/officeDocument/2006/relationships/image" Target="../media/image43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e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emf"/><Relationship Id="rId3" Type="http://schemas.openxmlformats.org/officeDocument/2006/relationships/image" Target="../media/image44.emf"/><Relationship Id="rId7" Type="http://schemas.openxmlformats.org/officeDocument/2006/relationships/image" Target="../media/image51.e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emf"/><Relationship Id="rId5" Type="http://schemas.openxmlformats.org/officeDocument/2006/relationships/image" Target="../media/image45.emf"/><Relationship Id="rId4" Type="http://schemas.openxmlformats.org/officeDocument/2006/relationships/image" Target="../media/image46.emf"/><Relationship Id="rId9" Type="http://schemas.openxmlformats.org/officeDocument/2006/relationships/image" Target="../media/image47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emf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emf"/><Relationship Id="rId3" Type="http://schemas.openxmlformats.org/officeDocument/2006/relationships/image" Target="../media/image47.emf"/><Relationship Id="rId7" Type="http://schemas.openxmlformats.org/officeDocument/2006/relationships/image" Target="../media/image55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emf"/><Relationship Id="rId5" Type="http://schemas.openxmlformats.org/officeDocument/2006/relationships/image" Target="../media/image53.emf"/><Relationship Id="rId4" Type="http://schemas.openxmlformats.org/officeDocument/2006/relationships/image" Target="../media/image52.emf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emf"/><Relationship Id="rId3" Type="http://schemas.openxmlformats.org/officeDocument/2006/relationships/image" Target="../media/image47.emf"/><Relationship Id="rId7" Type="http://schemas.openxmlformats.org/officeDocument/2006/relationships/image" Target="../media/image58.e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emf"/><Relationship Id="rId5" Type="http://schemas.openxmlformats.org/officeDocument/2006/relationships/image" Target="../media/image56.emf"/><Relationship Id="rId4" Type="http://schemas.openxmlformats.org/officeDocument/2006/relationships/image" Target="../media/image52.emf"/><Relationship Id="rId9" Type="http://schemas.openxmlformats.org/officeDocument/2006/relationships/image" Target="../media/image60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emf"/><Relationship Id="rId4" Type="http://schemas.openxmlformats.org/officeDocument/2006/relationships/image" Target="../media/image9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emf"/><Relationship Id="rId7" Type="http://schemas.openxmlformats.org/officeDocument/2006/relationships/image" Target="../media/image64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emf"/><Relationship Id="rId5" Type="http://schemas.openxmlformats.org/officeDocument/2006/relationships/image" Target="../media/image9.emf"/><Relationship Id="rId4" Type="http://schemas.openxmlformats.org/officeDocument/2006/relationships/image" Target="../media/image61.emf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emf"/><Relationship Id="rId3" Type="http://schemas.openxmlformats.org/officeDocument/2006/relationships/image" Target="../media/image63.emf"/><Relationship Id="rId7" Type="http://schemas.openxmlformats.org/officeDocument/2006/relationships/image" Target="../media/image64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emf"/><Relationship Id="rId5" Type="http://schemas.openxmlformats.org/officeDocument/2006/relationships/image" Target="../media/image9.emf"/><Relationship Id="rId10" Type="http://schemas.openxmlformats.org/officeDocument/2006/relationships/image" Target="../media/image67.emf"/><Relationship Id="rId4" Type="http://schemas.openxmlformats.org/officeDocument/2006/relationships/image" Target="../media/image61.emf"/><Relationship Id="rId9" Type="http://schemas.openxmlformats.org/officeDocument/2006/relationships/image" Target="../media/image66.emf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emf"/><Relationship Id="rId3" Type="http://schemas.openxmlformats.org/officeDocument/2006/relationships/image" Target="../media/image63.emf"/><Relationship Id="rId7" Type="http://schemas.openxmlformats.org/officeDocument/2006/relationships/image" Target="../media/image64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emf"/><Relationship Id="rId11" Type="http://schemas.openxmlformats.org/officeDocument/2006/relationships/image" Target="../media/image68.emf"/><Relationship Id="rId5" Type="http://schemas.openxmlformats.org/officeDocument/2006/relationships/image" Target="../media/image9.emf"/><Relationship Id="rId10" Type="http://schemas.openxmlformats.org/officeDocument/2006/relationships/image" Target="../media/image67.emf"/><Relationship Id="rId4" Type="http://schemas.openxmlformats.org/officeDocument/2006/relationships/image" Target="../media/image61.emf"/><Relationship Id="rId9" Type="http://schemas.openxmlformats.org/officeDocument/2006/relationships/image" Target="../media/image66.e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emf"/><Relationship Id="rId4" Type="http://schemas.openxmlformats.org/officeDocument/2006/relationships/image" Target="../media/image70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emf"/><Relationship Id="rId5" Type="http://schemas.openxmlformats.org/officeDocument/2006/relationships/image" Target="../media/image73.emf"/><Relationship Id="rId4" Type="http://schemas.openxmlformats.org/officeDocument/2006/relationships/image" Target="../media/image72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emf"/><Relationship Id="rId5" Type="http://schemas.openxmlformats.org/officeDocument/2006/relationships/image" Target="../media/image76.emf"/><Relationship Id="rId4" Type="http://schemas.openxmlformats.org/officeDocument/2006/relationships/image" Target="../media/image75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7" Type="http://schemas.openxmlformats.org/officeDocument/2006/relationships/image" Target="../media/image81.e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emf"/><Relationship Id="rId5" Type="http://schemas.openxmlformats.org/officeDocument/2006/relationships/image" Target="../media/image79.emf"/><Relationship Id="rId4" Type="http://schemas.openxmlformats.org/officeDocument/2006/relationships/image" Target="../media/image78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em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emf"/><Relationship Id="rId4" Type="http://schemas.openxmlformats.org/officeDocument/2006/relationships/image" Target="../media/image9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em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emf"/><Relationship Id="rId3" Type="http://schemas.openxmlformats.org/officeDocument/2006/relationships/image" Target="../media/image95.emf"/><Relationship Id="rId7" Type="http://schemas.openxmlformats.org/officeDocument/2006/relationships/image" Target="../media/image99.emf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emf"/><Relationship Id="rId5" Type="http://schemas.openxmlformats.org/officeDocument/2006/relationships/image" Target="../media/image97.emf"/><Relationship Id="rId4" Type="http://schemas.openxmlformats.org/officeDocument/2006/relationships/image" Target="../media/image96.emf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emf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emf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emf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emf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dabench.org/competitions/13881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B30E4DC-5BA1-4A88-3549-39BB252362F9}"/>
              </a:ext>
            </a:extLst>
          </p:cNvPr>
          <p:cNvSpPr/>
          <p:nvPr/>
        </p:nvSpPr>
        <p:spPr>
          <a:xfrm>
            <a:off x="0" y="5801193"/>
            <a:ext cx="12192000" cy="1056807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49F4F4-12FE-580B-E00C-CFCF2FCF9F40}"/>
              </a:ext>
            </a:extLst>
          </p:cNvPr>
          <p:cNvSpPr txBox="1"/>
          <p:nvPr/>
        </p:nvSpPr>
        <p:spPr>
          <a:xfrm>
            <a:off x="6686967" y="5960264"/>
            <a:ext cx="550503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42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Pedro L. C. Rodrigues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6537CB7-C4BB-7CE0-0825-9715A7575578}"/>
              </a:ext>
            </a:extLst>
          </p:cNvPr>
          <p:cNvSpPr/>
          <p:nvPr/>
        </p:nvSpPr>
        <p:spPr>
          <a:xfrm>
            <a:off x="1006145" y="663992"/>
            <a:ext cx="10179710" cy="2511684"/>
          </a:xfrm>
          <a:prstGeom prst="round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C973D-E8B9-CA36-F0E5-BE9D3B33A408}"/>
              </a:ext>
            </a:extLst>
          </p:cNvPr>
          <p:cNvSpPr txBox="1"/>
          <p:nvPr/>
        </p:nvSpPr>
        <p:spPr>
          <a:xfrm>
            <a:off x="945537" y="950338"/>
            <a:ext cx="1030092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R" sz="60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Introduction to Statistical Learning with Applications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F8D681-85A3-D3D9-0655-46D9193F23C1}"/>
              </a:ext>
            </a:extLst>
          </p:cNvPr>
          <p:cNvSpPr txBox="1"/>
          <p:nvPr/>
        </p:nvSpPr>
        <p:spPr>
          <a:xfrm>
            <a:off x="581859" y="3795937"/>
            <a:ext cx="1102828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CM3: Cross-validation, model selection, </a:t>
            </a:r>
          </a:p>
          <a:p>
            <a:pPr algn="ctr"/>
            <a:r>
              <a:rPr lang="en-US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and bias-variance</a:t>
            </a: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2990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EAE80-0473-0C5B-F9ED-1B7645D47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6F0D1E0-2075-F58D-14CD-4E9F6EE04259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889447-88BC-D1A6-83E1-FF58D87AEA96}"/>
              </a:ext>
            </a:extLst>
          </p:cNvPr>
          <p:cNvSpPr txBox="1"/>
          <p:nvPr/>
        </p:nvSpPr>
        <p:spPr>
          <a:xfrm>
            <a:off x="131451" y="54079"/>
            <a:ext cx="52148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8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 OUR PREVIOUS EPISODES…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22E57D-019E-47B4-39CA-94AB5F8FCE63}"/>
              </a:ext>
            </a:extLst>
          </p:cNvPr>
          <p:cNvSpPr txBox="1"/>
          <p:nvPr/>
        </p:nvSpPr>
        <p:spPr>
          <a:xfrm>
            <a:off x="1588606" y="1714784"/>
            <a:ext cx="851226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want to estimate the values of      based on predictors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62E85A5-5263-2FAC-0FCC-B5D934096ED0}"/>
              </a:ext>
            </a:extLst>
          </p:cNvPr>
          <p:cNvSpPr/>
          <p:nvPr/>
        </p:nvSpPr>
        <p:spPr>
          <a:xfrm>
            <a:off x="555377" y="1551568"/>
            <a:ext cx="797378" cy="797378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sz="36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E38AB6-180A-1CFF-FD00-3024B6ECD3B3}"/>
              </a:ext>
            </a:extLst>
          </p:cNvPr>
          <p:cNvSpPr txBox="1"/>
          <p:nvPr/>
        </p:nvSpPr>
        <p:spPr>
          <a:xfrm>
            <a:off x="1588606" y="2732477"/>
            <a:ext cx="8698215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are given a set of N examples of      with corresponding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4B9F68-DDD4-AB84-BAAA-4EA9BD1BEC58}"/>
              </a:ext>
            </a:extLst>
          </p:cNvPr>
          <p:cNvSpPr txBox="1"/>
          <p:nvPr/>
        </p:nvSpPr>
        <p:spPr>
          <a:xfrm>
            <a:off x="1588606" y="3750170"/>
            <a:ext cx="6357831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estimate parameters      that minimize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692644-1B54-1143-E1D1-77C3199DC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697" y="3747814"/>
            <a:ext cx="228600" cy="4724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4C3854F-0600-CB9A-7409-D6FCC8A35D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599" y="3524959"/>
            <a:ext cx="2628900" cy="9652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FE410F7-9369-B613-3A6E-FE19456A7B71}"/>
              </a:ext>
            </a:extLst>
          </p:cNvPr>
          <p:cNvSpPr txBox="1"/>
          <p:nvPr/>
        </p:nvSpPr>
        <p:spPr>
          <a:xfrm>
            <a:off x="1588606" y="4767863"/>
            <a:ext cx="716895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do statistical inference on the values of the 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85742F7-0CEE-0BD4-0655-F14B4CC984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6388" y="4755506"/>
            <a:ext cx="350520" cy="518160"/>
          </a:xfrm>
          <a:prstGeom prst="rect">
            <a:avLst/>
          </a:prstGeom>
        </p:spPr>
      </p:pic>
      <p:sp>
        <p:nvSpPr>
          <p:cNvPr id="25" name="Oval 24">
            <a:extLst>
              <a:ext uri="{FF2B5EF4-FFF2-40B4-BE49-F238E27FC236}">
                <a16:creationId xmlns:a16="http://schemas.microsoft.com/office/drawing/2014/main" id="{BC386CE6-6428-FACC-7579-C706AEC48FBB}"/>
              </a:ext>
            </a:extLst>
          </p:cNvPr>
          <p:cNvSpPr/>
          <p:nvPr/>
        </p:nvSpPr>
        <p:spPr>
          <a:xfrm>
            <a:off x="555377" y="2580010"/>
            <a:ext cx="797378" cy="797378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sz="36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4863C92-5844-2014-C3DF-3ED33F8539DA}"/>
              </a:ext>
            </a:extLst>
          </p:cNvPr>
          <p:cNvSpPr/>
          <p:nvPr/>
        </p:nvSpPr>
        <p:spPr>
          <a:xfrm>
            <a:off x="555377" y="3608452"/>
            <a:ext cx="797378" cy="797378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sz="36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3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B31D16F-01BC-8C8D-22F4-8F0AF9BC9649}"/>
              </a:ext>
            </a:extLst>
          </p:cNvPr>
          <p:cNvSpPr/>
          <p:nvPr/>
        </p:nvSpPr>
        <p:spPr>
          <a:xfrm>
            <a:off x="555377" y="4636894"/>
            <a:ext cx="797378" cy="797378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sz="36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98EE38-017A-8622-2967-C52F8EEC759E}"/>
              </a:ext>
            </a:extLst>
          </p:cNvPr>
          <p:cNvSpPr txBox="1"/>
          <p:nvPr/>
        </p:nvSpPr>
        <p:spPr>
          <a:xfrm>
            <a:off x="131451" y="826392"/>
            <a:ext cx="316945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00A2FF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Our current worflow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63821FC-2AA7-6A2E-5706-F2729DE767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7224" y="1829607"/>
            <a:ext cx="254000" cy="2413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3C3E1EC-64F3-E30F-66E4-FB4EFCF079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1582" y="1838422"/>
            <a:ext cx="1549400" cy="330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45F5A4-9B2A-9BB5-337A-9219076CBB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8867" y="2901469"/>
            <a:ext cx="241300" cy="228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0E0F1A-B595-9BFA-DE4A-8B65F27043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7991" y="2901126"/>
            <a:ext cx="1574800" cy="254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72DFE8E-39E9-C7EB-8585-E6CD5A64E06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38953" y="4784213"/>
            <a:ext cx="1828800" cy="139700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FE4AAF7-1624-E392-78BB-4472710E472A}"/>
              </a:ext>
            </a:extLst>
          </p:cNvPr>
          <p:cNvCxnSpPr/>
          <p:nvPr/>
        </p:nvCxnSpPr>
        <p:spPr>
          <a:xfrm>
            <a:off x="10041582" y="4405830"/>
            <a:ext cx="0" cy="734581"/>
          </a:xfrm>
          <a:prstGeom prst="straightConnector1">
            <a:avLst/>
          </a:prstGeom>
          <a:ln w="25400">
            <a:solidFill>
              <a:srgbClr val="5E5E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8093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76F35-931F-EC01-7EEE-335B760CF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5DB7F4F-F83C-22AA-071F-D3AF5E99027F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BBEAF8-4EE5-8F5D-6D76-077E9336FDE6}"/>
              </a:ext>
            </a:extLst>
          </p:cNvPr>
          <p:cNvSpPr txBox="1"/>
          <p:nvPr/>
        </p:nvSpPr>
        <p:spPr>
          <a:xfrm>
            <a:off x="131451" y="54079"/>
            <a:ext cx="52148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8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 OUR PREVIOUS EPISODES…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23A6CB7-5ECE-DCB9-DB0D-00AF3AE3AF88}"/>
              </a:ext>
            </a:extLst>
          </p:cNvPr>
          <p:cNvGrpSpPr/>
          <p:nvPr/>
        </p:nvGrpSpPr>
        <p:grpSpPr>
          <a:xfrm>
            <a:off x="131451" y="814820"/>
            <a:ext cx="6868602" cy="519790"/>
            <a:chOff x="1588606" y="962995"/>
            <a:chExt cx="6868602" cy="51979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2BB8DAC-8917-F106-0A85-F44A541311F3}"/>
                </a:ext>
              </a:extLst>
            </p:cNvPr>
            <p:cNvSpPr txBox="1"/>
            <p:nvPr/>
          </p:nvSpPr>
          <p:spPr>
            <a:xfrm>
              <a:off x="1588606" y="990342"/>
              <a:ext cx="6577442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sz="26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We do </a:t>
              </a:r>
              <a:r>
                <a:rPr lang="en-FR" sz="2600" b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statistical inference</a:t>
              </a:r>
              <a:r>
                <a:rPr lang="en-FR" sz="26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 on the values of</a:t>
              </a:r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351DF3E6-FA9E-B49E-0FBB-EC51BCEE82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6688" y="962995"/>
              <a:ext cx="350520" cy="518160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4FD8124A-9C5F-1441-F5EF-96E0B2B92C96}"/>
              </a:ext>
            </a:extLst>
          </p:cNvPr>
          <p:cNvSpPr txBox="1"/>
          <p:nvPr/>
        </p:nvSpPr>
        <p:spPr>
          <a:xfrm>
            <a:off x="316599" y="1817115"/>
            <a:ext cx="5601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We are given a dataset 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41B62DC-963F-D07B-2068-04AE56C39C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9020" y="1856788"/>
            <a:ext cx="2146300" cy="3937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E44BBC85-10B9-7881-2134-F1868A381A6D}"/>
              </a:ext>
            </a:extLst>
          </p:cNvPr>
          <p:cNvSpPr/>
          <p:nvPr/>
        </p:nvSpPr>
        <p:spPr>
          <a:xfrm>
            <a:off x="240033" y="1673092"/>
            <a:ext cx="5614758" cy="78941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7AE38B6-B4C7-3F3E-7158-82255EBC45A7}"/>
              </a:ext>
            </a:extLst>
          </p:cNvPr>
          <p:cNvSpPr/>
          <p:nvPr/>
        </p:nvSpPr>
        <p:spPr>
          <a:xfrm>
            <a:off x="6160362" y="1668536"/>
            <a:ext cx="5791605" cy="18701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2A93A9F-BC5D-E099-68C6-A32B8C644225}"/>
              </a:ext>
            </a:extLst>
          </p:cNvPr>
          <p:cNvSpPr/>
          <p:nvPr/>
        </p:nvSpPr>
        <p:spPr>
          <a:xfrm>
            <a:off x="74437" y="1493391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66D06DD-F73C-B91E-F6F1-3258331B3F9F}"/>
              </a:ext>
            </a:extLst>
          </p:cNvPr>
          <p:cNvSpPr/>
          <p:nvPr/>
        </p:nvSpPr>
        <p:spPr>
          <a:xfrm>
            <a:off x="5976166" y="1495637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3A866E-3784-3F4D-F194-08B28017ED12}"/>
              </a:ext>
            </a:extLst>
          </p:cNvPr>
          <p:cNvSpPr txBox="1"/>
          <p:nvPr/>
        </p:nvSpPr>
        <p:spPr>
          <a:xfrm>
            <a:off x="6267614" y="1836964"/>
            <a:ext cx="5601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We assume that each data point is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2FF2FFA9-FDC0-B809-2CA9-A76DB6B0DE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614" y="2388803"/>
            <a:ext cx="3403600" cy="93980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DCCFF35A-EED4-AA0B-7D50-3FF7988C329E}"/>
              </a:ext>
            </a:extLst>
          </p:cNvPr>
          <p:cNvSpPr/>
          <p:nvPr/>
        </p:nvSpPr>
        <p:spPr>
          <a:xfrm>
            <a:off x="240034" y="2772645"/>
            <a:ext cx="5614758" cy="1326896"/>
          </a:xfrm>
          <a:prstGeom prst="rect">
            <a:avLst/>
          </a:prstGeom>
          <a:noFill/>
          <a:ln w="25400">
            <a:solidFill>
              <a:srgbClr val="FA27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9CCC580-6101-EEB2-5A72-2016665E641F}"/>
              </a:ext>
            </a:extLst>
          </p:cNvPr>
          <p:cNvSpPr/>
          <p:nvPr/>
        </p:nvSpPr>
        <p:spPr>
          <a:xfrm>
            <a:off x="55837" y="2599746"/>
            <a:ext cx="368392" cy="368392"/>
          </a:xfrm>
          <a:prstGeom prst="ellipse">
            <a:avLst/>
          </a:prstGeom>
          <a:solidFill>
            <a:schemeClr val="bg1"/>
          </a:solidFill>
          <a:ln w="25400">
            <a:solidFill>
              <a:srgbClr val="FA27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6145645-15B3-8727-5528-83E286D92341}"/>
              </a:ext>
            </a:extLst>
          </p:cNvPr>
          <p:cNvSpPr txBox="1"/>
          <p:nvPr/>
        </p:nvSpPr>
        <p:spPr>
          <a:xfrm>
            <a:off x="347285" y="2941073"/>
            <a:ext cx="5601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We assume the noise is </a:t>
            </a:r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Gaussian 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IID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6903FCC3-4A94-A31C-B151-40E0630E21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4912" y="3485243"/>
            <a:ext cx="1905000" cy="3937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C2220154-85D1-EED6-5A40-8B802B0F87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7278" y="4446302"/>
            <a:ext cx="1638300" cy="19050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F6C0AF0D-2B24-7039-1DB9-15E93E2B9D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0715" y="5174627"/>
            <a:ext cx="2070100" cy="406400"/>
          </a:xfrm>
          <a:prstGeom prst="rect">
            <a:avLst/>
          </a:prstGeom>
        </p:spPr>
      </p:pic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CA363D3-C5CB-1BC5-D7A9-8D4B119CD488}"/>
              </a:ext>
            </a:extLst>
          </p:cNvPr>
          <p:cNvCxnSpPr/>
          <p:nvPr/>
        </p:nvCxnSpPr>
        <p:spPr>
          <a:xfrm>
            <a:off x="2208135" y="5377827"/>
            <a:ext cx="785593" cy="0"/>
          </a:xfrm>
          <a:prstGeom prst="straightConnector1">
            <a:avLst/>
          </a:prstGeom>
          <a:ln w="25400">
            <a:solidFill>
              <a:srgbClr val="5E5E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Picture 44">
            <a:extLst>
              <a:ext uri="{FF2B5EF4-FFF2-40B4-BE49-F238E27FC236}">
                <a16:creationId xmlns:a16="http://schemas.microsoft.com/office/drawing/2014/main" id="{B6E22D3E-FA3A-BB0A-3410-D6E5C643DCB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4934" r="16163"/>
          <a:stretch/>
        </p:blipFill>
        <p:spPr>
          <a:xfrm>
            <a:off x="4795316" y="3500143"/>
            <a:ext cx="4547873" cy="3156741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B7C9344E-CCCE-0EC9-6469-A47869A6BA2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7610" y="3879333"/>
            <a:ext cx="3771900" cy="59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20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0FE0-3860-0A76-9BA2-D16A30E17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EB056943-0E09-A3F8-4947-70B2639D026F}"/>
              </a:ext>
            </a:extLst>
          </p:cNvPr>
          <p:cNvSpPr txBox="1"/>
          <p:nvPr/>
        </p:nvSpPr>
        <p:spPr>
          <a:xfrm>
            <a:off x="6070906" y="2318126"/>
            <a:ext cx="21275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V</a:t>
            </a:r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ery likely that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D2C22F-7072-2FF9-9EB5-BEF2C49530DA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FA96CA-BD6D-DEBC-B4C3-FE00F079F1B8}"/>
              </a:ext>
            </a:extLst>
          </p:cNvPr>
          <p:cNvSpPr txBox="1"/>
          <p:nvPr/>
        </p:nvSpPr>
        <p:spPr>
          <a:xfrm>
            <a:off x="131451" y="54079"/>
            <a:ext cx="52148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8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 OUR PREVIOUS EPISODES…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8561D8E-A82F-0AB1-F47B-AEA00D49B10D}"/>
              </a:ext>
            </a:extLst>
          </p:cNvPr>
          <p:cNvGrpSpPr/>
          <p:nvPr/>
        </p:nvGrpSpPr>
        <p:grpSpPr>
          <a:xfrm>
            <a:off x="131451" y="814820"/>
            <a:ext cx="6868602" cy="519790"/>
            <a:chOff x="1588606" y="962995"/>
            <a:chExt cx="6868602" cy="51979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D1E48AE-8887-CB62-9547-57597B150A2E}"/>
                </a:ext>
              </a:extLst>
            </p:cNvPr>
            <p:cNvSpPr txBox="1"/>
            <p:nvPr/>
          </p:nvSpPr>
          <p:spPr>
            <a:xfrm>
              <a:off x="1588606" y="990342"/>
              <a:ext cx="6577442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sz="26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We do </a:t>
              </a:r>
              <a:r>
                <a:rPr lang="en-FR" sz="2600" b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statistical inference</a:t>
              </a:r>
              <a:r>
                <a:rPr lang="en-FR" sz="26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 on the values of</a:t>
              </a:r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6DC8E38-4430-2037-920C-F9D14D1E1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6688" y="962995"/>
              <a:ext cx="350520" cy="51816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2DE28F0-80BC-0138-A880-5E4329F9A623}"/>
              </a:ext>
            </a:extLst>
          </p:cNvPr>
          <p:cNvSpPr txBox="1"/>
          <p:nvPr/>
        </p:nvSpPr>
        <p:spPr>
          <a:xfrm>
            <a:off x="131451" y="1552409"/>
            <a:ext cx="1108188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Note that even if we had data generated with                 our estimate is a RV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60C75C-CF83-15A0-6B4A-88D25F8C57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813" y="1630740"/>
            <a:ext cx="1066800" cy="365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11F249-592A-CBF1-3F2B-341E6D271190}"/>
              </a:ext>
            </a:extLst>
          </p:cNvPr>
          <p:cNvSpPr txBox="1"/>
          <p:nvPr/>
        </p:nvSpPr>
        <p:spPr>
          <a:xfrm>
            <a:off x="131451" y="3014051"/>
            <a:ext cx="11261074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Therefore, we would like to check whether the number that we get for this estimate is one that could </a:t>
            </a:r>
            <a:r>
              <a:rPr lang="en-FR" sz="26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indeed come from such distribution </a:t>
            </a: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If it is a </a:t>
            </a:r>
            <a:r>
              <a:rPr lang="en-FR" sz="2600" b="1" dirty="0">
                <a:solidFill>
                  <a:schemeClr val="accent2">
                    <a:lumMod val="75000"/>
                  </a:schemeClr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number too far off from the confidence interval</a:t>
            </a:r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,</a:t>
            </a:r>
          </a:p>
          <a:p>
            <a:r>
              <a:rPr lang="en-GB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</a:t>
            </a:r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hen it might in fact mean that the distribution with</a:t>
            </a:r>
          </a:p>
          <a:p>
            <a:r>
              <a:rPr lang="en-GB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z</a:t>
            </a:r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ero-mean is not a good one to describe the data</a:t>
            </a: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This is the intuition behind the statistical tests!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83A3AF-1123-227F-D5E0-262E47CDEE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934" r="16163"/>
          <a:stretch/>
        </p:blipFill>
        <p:spPr>
          <a:xfrm>
            <a:off x="7497686" y="3570699"/>
            <a:ext cx="4547873" cy="3156741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1A67699C-1A79-7FBC-8B0F-AF940F69AFAF}"/>
              </a:ext>
            </a:extLst>
          </p:cNvPr>
          <p:cNvSpPr/>
          <p:nvPr/>
        </p:nvSpPr>
        <p:spPr>
          <a:xfrm>
            <a:off x="10103371" y="6173097"/>
            <a:ext cx="251384" cy="251384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C1FEF66-DE8A-800E-3AB3-2C9B6CE05711}"/>
              </a:ext>
            </a:extLst>
          </p:cNvPr>
          <p:cNvSpPr/>
          <p:nvPr/>
        </p:nvSpPr>
        <p:spPr>
          <a:xfrm>
            <a:off x="9266420" y="6173097"/>
            <a:ext cx="251384" cy="251384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7FA5657-A7BA-AA98-DC41-F8B5A35B25C7}"/>
              </a:ext>
            </a:extLst>
          </p:cNvPr>
          <p:cNvSpPr/>
          <p:nvPr/>
        </p:nvSpPr>
        <p:spPr>
          <a:xfrm>
            <a:off x="8847945" y="6173097"/>
            <a:ext cx="251384" cy="251384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F6D0395-0C7D-8503-2467-56325E049976}"/>
              </a:ext>
            </a:extLst>
          </p:cNvPr>
          <p:cNvSpPr/>
          <p:nvPr/>
        </p:nvSpPr>
        <p:spPr>
          <a:xfrm>
            <a:off x="7861613" y="6174999"/>
            <a:ext cx="251384" cy="25138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998E1D5-60A4-B7D6-7919-0B286A8A9C63}"/>
              </a:ext>
            </a:extLst>
          </p:cNvPr>
          <p:cNvSpPr/>
          <p:nvPr/>
        </p:nvSpPr>
        <p:spPr>
          <a:xfrm>
            <a:off x="11536701" y="6173097"/>
            <a:ext cx="251384" cy="25138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605B129-1EA0-EF41-AC35-59980773DDDB}"/>
              </a:ext>
            </a:extLst>
          </p:cNvPr>
          <p:cNvSpPr/>
          <p:nvPr/>
        </p:nvSpPr>
        <p:spPr>
          <a:xfrm>
            <a:off x="11213331" y="6173097"/>
            <a:ext cx="251384" cy="25138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AA52D0F-6DAA-0E4D-F44C-160B4179A340}"/>
              </a:ext>
            </a:extLst>
          </p:cNvPr>
          <p:cNvSpPr/>
          <p:nvPr/>
        </p:nvSpPr>
        <p:spPr>
          <a:xfrm>
            <a:off x="7727892" y="6180980"/>
            <a:ext cx="251384" cy="25138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278493-3FCD-E46C-BE6C-AFF88C5D3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569" y="2274858"/>
            <a:ext cx="2331720" cy="48768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F2970AF-60E6-6418-6F26-E3539CF954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8411" y="2292111"/>
            <a:ext cx="1066800" cy="487680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A23344E-D362-5B7D-1A1D-D994BDCB7575}"/>
              </a:ext>
            </a:extLst>
          </p:cNvPr>
          <p:cNvCxnSpPr>
            <a:cxnSpLocks/>
          </p:cNvCxnSpPr>
          <p:nvPr/>
        </p:nvCxnSpPr>
        <p:spPr>
          <a:xfrm>
            <a:off x="5393488" y="2535951"/>
            <a:ext cx="582292" cy="0"/>
          </a:xfrm>
          <a:prstGeom prst="straightConnector1">
            <a:avLst/>
          </a:prstGeom>
          <a:ln w="50800">
            <a:solidFill>
              <a:srgbClr val="5E5E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D8E28F2A-020E-A117-3DB0-EFEC4B17C08D}"/>
              </a:ext>
            </a:extLst>
          </p:cNvPr>
          <p:cNvSpPr/>
          <p:nvPr/>
        </p:nvSpPr>
        <p:spPr>
          <a:xfrm>
            <a:off x="2608241" y="2207465"/>
            <a:ext cx="6975518" cy="675504"/>
          </a:xfrm>
          <a:prstGeom prst="rect">
            <a:avLst/>
          </a:prstGeom>
          <a:noFill/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7910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DCAF3-A99A-8712-6A53-88C393B4B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FC26E34-5E7C-D664-09A2-8A1AB9B12B7F}"/>
              </a:ext>
            </a:extLst>
          </p:cNvPr>
          <p:cNvSpPr/>
          <p:nvPr/>
        </p:nvSpPr>
        <p:spPr>
          <a:xfrm>
            <a:off x="405113" y="1527858"/>
            <a:ext cx="11273743" cy="752355"/>
          </a:xfrm>
          <a:prstGeom prst="roundRect">
            <a:avLst/>
          </a:prstGeom>
          <a:solidFill>
            <a:schemeClr val="bg2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F18704-A6FF-2B91-B69F-E088061F5D26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01E3C5E-0E50-5B07-B7C4-78B9A0BCBB36}"/>
              </a:ext>
            </a:extLst>
          </p:cNvPr>
          <p:cNvSpPr txBox="1"/>
          <p:nvPr/>
        </p:nvSpPr>
        <p:spPr>
          <a:xfrm>
            <a:off x="131451" y="54079"/>
            <a:ext cx="52148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8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 OUR PREVIOUS EPISODES…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82AC42-6327-4232-947C-F97849250145}"/>
              </a:ext>
            </a:extLst>
          </p:cNvPr>
          <p:cNvSpPr txBox="1"/>
          <p:nvPr/>
        </p:nvSpPr>
        <p:spPr>
          <a:xfrm>
            <a:off x="131450" y="842167"/>
            <a:ext cx="1182519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However, in practice we’re often mostly interested in the </a:t>
            </a:r>
            <a:r>
              <a:rPr lang="en-FR" sz="26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predictions</a:t>
            </a:r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…</a:t>
            </a: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algn="ctr"/>
            <a:r>
              <a:rPr lang="en-FR" sz="2600" b="1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Q:</a:t>
            </a:r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Is there a natural way of describing the statistics of the predicted values? </a:t>
            </a: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2425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62E47-DEFA-57F5-E90B-72ECB0B1C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32053F4-5552-EBD9-6CDE-959072CB64F7}"/>
              </a:ext>
            </a:extLst>
          </p:cNvPr>
          <p:cNvSpPr/>
          <p:nvPr/>
        </p:nvSpPr>
        <p:spPr>
          <a:xfrm>
            <a:off x="405113" y="1527858"/>
            <a:ext cx="11273743" cy="752355"/>
          </a:xfrm>
          <a:prstGeom prst="roundRect">
            <a:avLst/>
          </a:prstGeom>
          <a:solidFill>
            <a:schemeClr val="bg2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FA1D30-B79A-84ED-1576-938E03614AB8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124A517-3F84-341B-245E-9A6829DAEB7B}"/>
              </a:ext>
            </a:extLst>
          </p:cNvPr>
          <p:cNvSpPr txBox="1"/>
          <p:nvPr/>
        </p:nvSpPr>
        <p:spPr>
          <a:xfrm>
            <a:off x="131451" y="54079"/>
            <a:ext cx="52148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8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 OUR PREVIOUS EPISODES…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17A03D-B210-B3C0-BE9C-6FC1845D9CB4}"/>
              </a:ext>
            </a:extLst>
          </p:cNvPr>
          <p:cNvSpPr txBox="1"/>
          <p:nvPr/>
        </p:nvSpPr>
        <p:spPr>
          <a:xfrm>
            <a:off x="131450" y="842167"/>
            <a:ext cx="11825197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However, in practice we’re often mostly interested in the </a:t>
            </a:r>
            <a:r>
              <a:rPr lang="en-FR" sz="26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predictions</a:t>
            </a:r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…</a:t>
            </a: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algn="ctr"/>
            <a:r>
              <a:rPr lang="en-FR" sz="2600" b="1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Q:</a:t>
            </a:r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Is there a natural way of describing the statistics of the predicted values? </a:t>
            </a: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Remember that if we assume a linear model for the data, then </a:t>
            </a: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Using our limited dataset, we can build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45B4D8-8C3B-D23B-6F58-738D5A8C0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180" y="3094565"/>
            <a:ext cx="7787640" cy="112776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81A506A-D2AD-497A-D7BB-D794DD897811}"/>
              </a:ext>
            </a:extLst>
          </p:cNvPr>
          <p:cNvSpPr txBox="1"/>
          <p:nvPr/>
        </p:nvSpPr>
        <p:spPr>
          <a:xfrm>
            <a:off x="6206067" y="5350504"/>
            <a:ext cx="89746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with</a:t>
            </a:r>
            <a:endParaRPr lang="en-FR" sz="26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F7469DF-7535-BEDE-FDD3-DADFC1E7DD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5355267"/>
            <a:ext cx="4815840" cy="48768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AE1792B-7020-B038-6E53-DF7ED94F31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3534" y="5356214"/>
            <a:ext cx="2301240" cy="48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707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E7A45-0A7C-A695-F697-B8377BC33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46BB642-AEB8-16F2-4976-422536AB7AC1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D30D5F1-CB47-6DC4-3093-62B0FBB4A56E}"/>
              </a:ext>
            </a:extLst>
          </p:cNvPr>
          <p:cNvSpPr txBox="1"/>
          <p:nvPr/>
        </p:nvSpPr>
        <p:spPr>
          <a:xfrm>
            <a:off x="131451" y="54079"/>
            <a:ext cx="52148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8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 OUR PREVIOUS EPISODES…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7301D8-587B-C8AB-6E28-56AC881B0926}"/>
              </a:ext>
            </a:extLst>
          </p:cNvPr>
          <p:cNvSpPr txBox="1"/>
          <p:nvPr/>
        </p:nvSpPr>
        <p:spPr>
          <a:xfrm>
            <a:off x="131451" y="842167"/>
            <a:ext cx="8771953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But what if we can’t assume a linear model? Nor Gaussian?</a:t>
            </a: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64DD4A-5102-CBC4-CE53-2F7B6B168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7766" y="1565385"/>
            <a:ext cx="5596467" cy="4900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736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A7B4-271F-1825-E9F1-C9C3FD0B4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A3BCF37-A2A6-28B2-04DA-48AD4ACFA488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BE53E4-4552-A996-8E9B-6233DFED6590}"/>
              </a:ext>
            </a:extLst>
          </p:cNvPr>
          <p:cNvSpPr txBox="1"/>
          <p:nvPr/>
        </p:nvSpPr>
        <p:spPr>
          <a:xfrm>
            <a:off x="131451" y="54079"/>
            <a:ext cx="52148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8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 OUR PREVIOUS EPISODES…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87CBBD-0F19-4F2B-F1DC-93D2307A9425}"/>
              </a:ext>
            </a:extLst>
          </p:cNvPr>
          <p:cNvSpPr txBox="1"/>
          <p:nvPr/>
        </p:nvSpPr>
        <p:spPr>
          <a:xfrm>
            <a:off x="131451" y="842167"/>
            <a:ext cx="8771953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But what if we can’t assume a linear model? Nor Gaussian?</a:t>
            </a: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BA59280-F47F-2C17-C616-83D690FDB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7600" y="1566000"/>
            <a:ext cx="5571490" cy="4878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628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79F75-E625-EECE-B4E8-9C5A8AF8D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09A0855-4FC5-A899-5342-3B719A97203A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B2715F4-EC55-179D-3B0D-C211BB99AF84}"/>
              </a:ext>
            </a:extLst>
          </p:cNvPr>
          <p:cNvSpPr txBox="1"/>
          <p:nvPr/>
        </p:nvSpPr>
        <p:spPr>
          <a:xfrm>
            <a:off x="131451" y="54079"/>
            <a:ext cx="52148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8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 OUR PREVIOUS EPISODES…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3C2B57-6E1E-AEAF-10D6-6D27E9516BB9}"/>
              </a:ext>
            </a:extLst>
          </p:cNvPr>
          <p:cNvSpPr txBox="1"/>
          <p:nvPr/>
        </p:nvSpPr>
        <p:spPr>
          <a:xfrm>
            <a:off x="131451" y="842167"/>
            <a:ext cx="8771953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But what if we can’t assume a linear model? Nor Gaussian?</a:t>
            </a: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E9EEAD-274C-CDA9-E343-A7A99B3F1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7600" y="1566000"/>
            <a:ext cx="5571490" cy="4878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5049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4D7E2-F71E-F684-5AE5-65290BF01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50F8776-3C78-A46B-C586-65A374A300E4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3B2063A-ECC9-54DF-7076-DBD96A3ED554}"/>
              </a:ext>
            </a:extLst>
          </p:cNvPr>
          <p:cNvSpPr txBox="1"/>
          <p:nvPr/>
        </p:nvSpPr>
        <p:spPr>
          <a:xfrm>
            <a:off x="131451" y="54079"/>
            <a:ext cx="52148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8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 OUR PREVIOUS EPISODES…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9CD862-F941-F8A5-E658-DE60AD260C92}"/>
              </a:ext>
            </a:extLst>
          </p:cNvPr>
          <p:cNvSpPr txBox="1"/>
          <p:nvPr/>
        </p:nvSpPr>
        <p:spPr>
          <a:xfrm>
            <a:off x="131451" y="842167"/>
            <a:ext cx="8771953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But what if we can’t assume a linear model? Nor Gaussian?</a:t>
            </a:r>
          </a:p>
          <a:p>
            <a:endParaRPr lang="en-FR" sz="26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8" name="Picture 7" descr="A red and white box with black text&#10;&#10;AI-generated content may be incorrect.">
            <a:extLst>
              <a:ext uri="{FF2B5EF4-FFF2-40B4-BE49-F238E27FC236}">
                <a16:creationId xmlns:a16="http://schemas.microsoft.com/office/drawing/2014/main" id="{28012705-517E-9F43-A8C7-7572BE275F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360"/>
          <a:stretch/>
        </p:blipFill>
        <p:spPr>
          <a:xfrm>
            <a:off x="455442" y="1565384"/>
            <a:ext cx="11281115" cy="2600215"/>
          </a:xfrm>
          <a:prstGeom prst="rect">
            <a:avLst/>
          </a:prstGeom>
        </p:spPr>
      </p:pic>
      <p:pic>
        <p:nvPicPr>
          <p:cNvPr id="6" name="Picture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613633A8-283E-02DA-63C0-09E6671D1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9020" y="3513997"/>
            <a:ext cx="5847537" cy="27496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FF44D75-410C-3C79-A6D2-8873B9D10118}"/>
              </a:ext>
            </a:extLst>
          </p:cNvPr>
          <p:cNvSpPr txBox="1"/>
          <p:nvPr/>
        </p:nvSpPr>
        <p:spPr>
          <a:xfrm>
            <a:off x="4678017" y="6373034"/>
            <a:ext cx="722826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Roboto ExtraBold" panose="02000000000000000000" pitchFamily="2" charset="0"/>
                <a:ea typeface="Roboto ExtraBold" panose="02000000000000000000" pitchFamily="2" charset="0"/>
                <a:hlinkClick r:id="rId5"/>
              </a:rPr>
              <a:t>https://www.youtube.com/watch?v=nql000Lu_iE&amp;t=18s</a:t>
            </a:r>
            <a:endParaRPr lang="en-FR" sz="2200" dirty="0">
              <a:latin typeface="Roboto ExtraBold" panose="02000000000000000000" pitchFamily="2" charset="0"/>
              <a:ea typeface="Roboto ExtraBold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5436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23D0F5-508F-FD49-7E9B-A7FDD72899E4}"/>
              </a:ext>
            </a:extLst>
          </p:cNvPr>
          <p:cNvSpPr txBox="1"/>
          <p:nvPr/>
        </p:nvSpPr>
        <p:spPr>
          <a:xfrm>
            <a:off x="131451" y="54079"/>
            <a:ext cx="52148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8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 OUR PREVIOUS EPISODES…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65FE94-FAB0-CE7E-07B9-B1CF30084013}"/>
              </a:ext>
            </a:extLst>
          </p:cNvPr>
          <p:cNvSpPr txBox="1"/>
          <p:nvPr/>
        </p:nvSpPr>
        <p:spPr>
          <a:xfrm>
            <a:off x="1588606" y="1714784"/>
            <a:ext cx="851226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want to estimate the values of      based on predictors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BDB8053-23AF-0DA6-8633-42F3A99E7CCA}"/>
              </a:ext>
            </a:extLst>
          </p:cNvPr>
          <p:cNvSpPr/>
          <p:nvPr/>
        </p:nvSpPr>
        <p:spPr>
          <a:xfrm>
            <a:off x="555377" y="1551568"/>
            <a:ext cx="797378" cy="797378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sz="36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78436-2910-A3E6-99DA-453BC77556CA}"/>
              </a:ext>
            </a:extLst>
          </p:cNvPr>
          <p:cNvSpPr txBox="1"/>
          <p:nvPr/>
        </p:nvSpPr>
        <p:spPr>
          <a:xfrm>
            <a:off x="1588606" y="2732477"/>
            <a:ext cx="8698215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are given a set of N examples of      with corresponding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170991-EC9C-7529-26A6-2D3B24AE66BC}"/>
              </a:ext>
            </a:extLst>
          </p:cNvPr>
          <p:cNvSpPr txBox="1"/>
          <p:nvPr/>
        </p:nvSpPr>
        <p:spPr>
          <a:xfrm>
            <a:off x="1588606" y="3750170"/>
            <a:ext cx="6357831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estimate parameters      that minimize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B962144-1C76-4027-6E75-0B5462227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697" y="3747814"/>
            <a:ext cx="228600" cy="4724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30A213-718A-155F-21DA-EA3A8384E1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599" y="3524959"/>
            <a:ext cx="2628900" cy="9652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310B3A8-1AB6-C262-3DE6-2D2D33F13608}"/>
              </a:ext>
            </a:extLst>
          </p:cNvPr>
          <p:cNvSpPr txBox="1"/>
          <p:nvPr/>
        </p:nvSpPr>
        <p:spPr>
          <a:xfrm>
            <a:off x="1588606" y="4767863"/>
            <a:ext cx="716895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do statistical inference on the values of the 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6AFEBAF-DEDD-4446-7143-16EFDCC6AF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6388" y="4755506"/>
            <a:ext cx="350520" cy="518160"/>
          </a:xfrm>
          <a:prstGeom prst="rect">
            <a:avLst/>
          </a:prstGeom>
        </p:spPr>
      </p:pic>
      <p:sp>
        <p:nvSpPr>
          <p:cNvPr id="25" name="Oval 24">
            <a:extLst>
              <a:ext uri="{FF2B5EF4-FFF2-40B4-BE49-F238E27FC236}">
                <a16:creationId xmlns:a16="http://schemas.microsoft.com/office/drawing/2014/main" id="{A57C5387-9E37-4224-F5EA-DC38F0397831}"/>
              </a:ext>
            </a:extLst>
          </p:cNvPr>
          <p:cNvSpPr/>
          <p:nvPr/>
        </p:nvSpPr>
        <p:spPr>
          <a:xfrm>
            <a:off x="555377" y="2580010"/>
            <a:ext cx="797378" cy="797378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sz="36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87A2B05-AA7D-740E-5DD4-419DD280EF6E}"/>
              </a:ext>
            </a:extLst>
          </p:cNvPr>
          <p:cNvSpPr/>
          <p:nvPr/>
        </p:nvSpPr>
        <p:spPr>
          <a:xfrm>
            <a:off x="555377" y="3608452"/>
            <a:ext cx="797378" cy="797378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sz="36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3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DC0FF8E-ACA6-65D5-1701-FFEFD4532E86}"/>
              </a:ext>
            </a:extLst>
          </p:cNvPr>
          <p:cNvSpPr/>
          <p:nvPr/>
        </p:nvSpPr>
        <p:spPr>
          <a:xfrm>
            <a:off x="555377" y="4636894"/>
            <a:ext cx="797378" cy="797378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sz="36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CF8D5F-A410-374A-8B9B-43BD3A307FF4}"/>
              </a:ext>
            </a:extLst>
          </p:cNvPr>
          <p:cNvSpPr txBox="1"/>
          <p:nvPr/>
        </p:nvSpPr>
        <p:spPr>
          <a:xfrm>
            <a:off x="131451" y="826392"/>
            <a:ext cx="316945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00A2FF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Our current worflow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8016A1D-8B67-4AB7-3073-9A2E57B6B304}"/>
              </a:ext>
            </a:extLst>
          </p:cNvPr>
          <p:cNvSpPr/>
          <p:nvPr/>
        </p:nvSpPr>
        <p:spPr>
          <a:xfrm>
            <a:off x="555377" y="5665335"/>
            <a:ext cx="797378" cy="797378"/>
          </a:xfrm>
          <a:prstGeom prst="ellipse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sz="36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A5D74D-49F5-8DFB-3F2A-5FB6813758F3}"/>
              </a:ext>
            </a:extLst>
          </p:cNvPr>
          <p:cNvSpPr txBox="1"/>
          <p:nvPr/>
        </p:nvSpPr>
        <p:spPr>
          <a:xfrm>
            <a:off x="1588606" y="5817802"/>
            <a:ext cx="654217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How can we </a:t>
            </a:r>
            <a:r>
              <a:rPr lang="en-FR" sz="2600" b="1" dirty="0">
                <a:solidFill>
                  <a:srgbClr val="FA2743"/>
                </a:solidFill>
                <a:latin typeface="Roboto ExtraBold" panose="02000000000000000000" pitchFamily="2" charset="0"/>
                <a:ea typeface="Roboto ExtraBold" panose="02000000000000000000" pitchFamily="2" charset="0"/>
                <a:cs typeface="Lato" panose="020F0502020204030203" pitchFamily="34" charset="0"/>
              </a:rPr>
              <a:t>assess the quality</a:t>
            </a:r>
            <a:r>
              <a:rPr lang="en-FR" sz="26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of a model?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A93044-5AF2-E7AC-008F-DFCE14A55F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7224" y="1829607"/>
            <a:ext cx="254000" cy="2413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ABE1545-7D03-B14A-AAEE-DB44035942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1582" y="1838422"/>
            <a:ext cx="1549400" cy="330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083AB-058C-14DC-41BD-0803A5A5C0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8867" y="2901469"/>
            <a:ext cx="241300" cy="228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78B781-640A-2081-1478-4E377384924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7991" y="2901126"/>
            <a:ext cx="1574800" cy="254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4E02850-FBBF-0FAF-8BAC-311931FDC41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38953" y="4784213"/>
            <a:ext cx="1828800" cy="139700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56F3C97-2198-3F19-E3BA-C4506FEF3BA5}"/>
              </a:ext>
            </a:extLst>
          </p:cNvPr>
          <p:cNvCxnSpPr/>
          <p:nvPr/>
        </p:nvCxnSpPr>
        <p:spPr>
          <a:xfrm>
            <a:off x="10041582" y="4405830"/>
            <a:ext cx="0" cy="734581"/>
          </a:xfrm>
          <a:prstGeom prst="straightConnector1">
            <a:avLst/>
          </a:prstGeom>
          <a:ln w="25400">
            <a:solidFill>
              <a:srgbClr val="5E5E5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5434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5" name="Graphic 4" descr="Right pointing backhand index outline">
            <a:extLst>
              <a:ext uri="{FF2B5EF4-FFF2-40B4-BE49-F238E27FC236}">
                <a16:creationId xmlns:a16="http://schemas.microsoft.com/office/drawing/2014/main" id="{8538E42E-F69C-00BB-E335-14D530B8A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0324" y="2080988"/>
            <a:ext cx="1083311" cy="10833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F3F278-B1A0-E02B-5FB1-832131E89666}"/>
              </a:ext>
            </a:extLst>
          </p:cNvPr>
          <p:cNvSpPr txBox="1"/>
          <p:nvPr/>
        </p:nvSpPr>
        <p:spPr>
          <a:xfrm>
            <a:off x="2221177" y="2080988"/>
            <a:ext cx="8518679" cy="33239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What makes a model </a:t>
            </a:r>
            <a:r>
              <a:rPr lang="en-FR" sz="42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good</a:t>
            </a: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?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Estimating the quality of a model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Comparing and selecting models</a:t>
            </a:r>
          </a:p>
        </p:txBody>
      </p:sp>
    </p:spTree>
    <p:extLst>
      <p:ext uri="{BB962C8B-B14F-4D97-AF65-F5344CB8AC3E}">
        <p14:creationId xmlns:p14="http://schemas.microsoft.com/office/powerpoint/2010/main" val="1486325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63E314-008C-95FE-9FFA-04A97A164D3A}"/>
              </a:ext>
            </a:extLst>
          </p:cNvPr>
          <p:cNvSpPr txBox="1"/>
          <p:nvPr/>
        </p:nvSpPr>
        <p:spPr>
          <a:xfrm>
            <a:off x="240033" y="-93192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What makes a model </a:t>
            </a:r>
            <a:r>
              <a:rPr lang="en-GB" sz="28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good</a:t>
            </a: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F17075-75B8-45C4-89C3-C2B7F5BB3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33" y="622738"/>
            <a:ext cx="5953506" cy="59535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C0F4A4-DADA-49EB-3D16-36407470EB4D}"/>
              </a:ext>
            </a:extLst>
          </p:cNvPr>
          <p:cNvSpPr txBox="1"/>
          <p:nvPr/>
        </p:nvSpPr>
        <p:spPr>
          <a:xfrm>
            <a:off x="6193539" y="910022"/>
            <a:ext cx="46875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Suppose our data is generated as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464E108-104D-4835-D561-78D22ECA3E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050" y="1482037"/>
            <a:ext cx="3224058" cy="9773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925E03E-1F47-48E1-C2B3-E40B5E2DB615}"/>
              </a:ext>
            </a:extLst>
          </p:cNvPr>
          <p:cNvSpPr txBox="1"/>
          <p:nvPr/>
        </p:nvSpPr>
        <p:spPr>
          <a:xfrm>
            <a:off x="6193539" y="2636552"/>
            <a:ext cx="58112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can run multiple linear regression with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4D64B56-D91D-90BB-6314-2659A26058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4" y="3377189"/>
            <a:ext cx="4521200" cy="17272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D5BB505-F4AB-EA51-6F0B-65E364B9068D}"/>
              </a:ext>
            </a:extLst>
          </p:cNvPr>
          <p:cNvGrpSpPr/>
          <p:nvPr/>
        </p:nvGrpSpPr>
        <p:grpSpPr>
          <a:xfrm>
            <a:off x="6838542" y="5521670"/>
            <a:ext cx="4521200" cy="852616"/>
            <a:chOff x="6969240" y="5498419"/>
            <a:chExt cx="4521200" cy="852616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C69AC03-BDF4-C6BE-C3C5-D0091170C378}"/>
                </a:ext>
              </a:extLst>
            </p:cNvPr>
            <p:cNvSpPr/>
            <p:nvPr/>
          </p:nvSpPr>
          <p:spPr>
            <a:xfrm>
              <a:off x="6969240" y="5498419"/>
              <a:ext cx="4521200" cy="852616"/>
            </a:xfrm>
            <a:prstGeom prst="roundRect">
              <a:avLst/>
            </a:prstGeom>
            <a:solidFill>
              <a:srgbClr val="E8EBE4"/>
            </a:solidFill>
            <a:ln w="25400">
              <a:solidFill>
                <a:srgbClr val="5E5E5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142CFB-976E-9993-53A9-5588C0F3F344}"/>
                </a:ext>
              </a:extLst>
            </p:cNvPr>
            <p:cNvSpPr txBox="1"/>
            <p:nvPr/>
          </p:nvSpPr>
          <p:spPr>
            <a:xfrm>
              <a:off x="7137991" y="5682430"/>
              <a:ext cx="42931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b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What’s the best choice for </a:t>
              </a:r>
              <a:r>
                <a:rPr lang="en-GB" sz="2400" b="1" i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d</a:t>
              </a:r>
              <a:r>
                <a:rPr lang="en-GB" sz="2400" b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 ?</a:t>
              </a:r>
              <a:endPara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05500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DA6D6A9-42A3-B500-E770-441F81FDB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200" y="622800"/>
            <a:ext cx="5952744" cy="59527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05CA43-5ED8-9CF9-8804-42E58E6A3801}"/>
              </a:ext>
            </a:extLst>
          </p:cNvPr>
          <p:cNvSpPr txBox="1"/>
          <p:nvPr/>
        </p:nvSpPr>
        <p:spPr>
          <a:xfrm>
            <a:off x="240033" y="-93192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What makes a model </a:t>
            </a:r>
            <a:r>
              <a:rPr lang="en-GB" sz="28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good</a:t>
            </a: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34BC7-83FC-0DFC-74CC-969093BFE5B0}"/>
              </a:ext>
            </a:extLst>
          </p:cNvPr>
          <p:cNvSpPr txBox="1"/>
          <p:nvPr/>
        </p:nvSpPr>
        <p:spPr>
          <a:xfrm>
            <a:off x="6193539" y="910022"/>
            <a:ext cx="46875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Suppose our data is generated as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886CA6-A858-224A-609F-6DE53E4A7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9050" y="1482037"/>
            <a:ext cx="3224058" cy="9773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B57BEA-BEED-A532-61E7-67C200B18D5B}"/>
              </a:ext>
            </a:extLst>
          </p:cNvPr>
          <p:cNvSpPr txBox="1"/>
          <p:nvPr/>
        </p:nvSpPr>
        <p:spPr>
          <a:xfrm>
            <a:off x="6193539" y="2636552"/>
            <a:ext cx="58112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can run multiple linear regression with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BA8710-9390-F432-7F69-1D91F9B5FE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4" y="3377189"/>
            <a:ext cx="4521200" cy="172720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EEF76B9-024C-BC1A-9161-DBD267EC74D3}"/>
              </a:ext>
            </a:extLst>
          </p:cNvPr>
          <p:cNvGrpSpPr/>
          <p:nvPr/>
        </p:nvGrpSpPr>
        <p:grpSpPr>
          <a:xfrm>
            <a:off x="6838542" y="5521670"/>
            <a:ext cx="4521200" cy="852616"/>
            <a:chOff x="6969240" y="5498419"/>
            <a:chExt cx="4521200" cy="852616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BC680852-1F2C-D982-664D-FBFED12AD016}"/>
                </a:ext>
              </a:extLst>
            </p:cNvPr>
            <p:cNvSpPr/>
            <p:nvPr/>
          </p:nvSpPr>
          <p:spPr>
            <a:xfrm>
              <a:off x="6969240" y="5498419"/>
              <a:ext cx="4521200" cy="852616"/>
            </a:xfrm>
            <a:prstGeom prst="roundRect">
              <a:avLst/>
            </a:prstGeom>
            <a:solidFill>
              <a:srgbClr val="E8EBE4"/>
            </a:solidFill>
            <a:ln w="25400">
              <a:solidFill>
                <a:srgbClr val="5E5E5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439DAE6-A723-818F-C615-C56EF1BAA993}"/>
                </a:ext>
              </a:extLst>
            </p:cNvPr>
            <p:cNvSpPr txBox="1"/>
            <p:nvPr/>
          </p:nvSpPr>
          <p:spPr>
            <a:xfrm>
              <a:off x="7137991" y="5682430"/>
              <a:ext cx="42931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b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What’s the best choice for </a:t>
              </a:r>
              <a:r>
                <a:rPr lang="en-GB" sz="2400" b="1" i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d</a:t>
              </a:r>
              <a:r>
                <a:rPr lang="en-GB" sz="2400" b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 ?</a:t>
              </a:r>
              <a:endPara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9467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BEB40B-9326-4511-0E0E-8D2B0327F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200" y="622800"/>
            <a:ext cx="5952744" cy="59527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B6EB009-B222-18E5-B8CA-E820938C2E3E}"/>
              </a:ext>
            </a:extLst>
          </p:cNvPr>
          <p:cNvSpPr txBox="1"/>
          <p:nvPr/>
        </p:nvSpPr>
        <p:spPr>
          <a:xfrm>
            <a:off x="240033" y="-93192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What makes a model </a:t>
            </a:r>
            <a:r>
              <a:rPr lang="en-GB" sz="28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good</a:t>
            </a: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17A8AF-D179-6A2C-0493-794003A42AFE}"/>
              </a:ext>
            </a:extLst>
          </p:cNvPr>
          <p:cNvSpPr txBox="1"/>
          <p:nvPr/>
        </p:nvSpPr>
        <p:spPr>
          <a:xfrm>
            <a:off x="6193539" y="910022"/>
            <a:ext cx="46875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Suppose our data is generated as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23C948-43CE-18ED-8658-18C6BECF2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9050" y="1482037"/>
            <a:ext cx="3224058" cy="9773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F8D863B-A4F9-B748-20EF-40E08532AA7C}"/>
              </a:ext>
            </a:extLst>
          </p:cNvPr>
          <p:cNvSpPr txBox="1"/>
          <p:nvPr/>
        </p:nvSpPr>
        <p:spPr>
          <a:xfrm>
            <a:off x="6193539" y="2636552"/>
            <a:ext cx="58112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can run multiple linear regression with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5CBFE15-8BCD-F201-8630-498DE92614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4" y="3377189"/>
            <a:ext cx="4521200" cy="172720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A93B506-5674-2AC4-E6BA-94469F70A2AD}"/>
              </a:ext>
            </a:extLst>
          </p:cNvPr>
          <p:cNvGrpSpPr/>
          <p:nvPr/>
        </p:nvGrpSpPr>
        <p:grpSpPr>
          <a:xfrm>
            <a:off x="6838542" y="5521670"/>
            <a:ext cx="4521200" cy="852616"/>
            <a:chOff x="6969240" y="5498419"/>
            <a:chExt cx="4521200" cy="852616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AE2D17FE-CABC-C27E-41C2-7D31303706F7}"/>
                </a:ext>
              </a:extLst>
            </p:cNvPr>
            <p:cNvSpPr/>
            <p:nvPr/>
          </p:nvSpPr>
          <p:spPr>
            <a:xfrm>
              <a:off x="6969240" y="5498419"/>
              <a:ext cx="4521200" cy="852616"/>
            </a:xfrm>
            <a:prstGeom prst="roundRect">
              <a:avLst/>
            </a:prstGeom>
            <a:solidFill>
              <a:srgbClr val="E8EBE4"/>
            </a:solidFill>
            <a:ln w="25400">
              <a:solidFill>
                <a:srgbClr val="5E5E5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9237415-B1A0-5348-04E5-2520A9C6BC53}"/>
                </a:ext>
              </a:extLst>
            </p:cNvPr>
            <p:cNvSpPr txBox="1"/>
            <p:nvPr/>
          </p:nvSpPr>
          <p:spPr>
            <a:xfrm>
              <a:off x="7137991" y="5682430"/>
              <a:ext cx="42931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b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What’s the best choice for </a:t>
              </a:r>
              <a:r>
                <a:rPr lang="en-GB" sz="2400" b="1" i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d</a:t>
              </a:r>
              <a:r>
                <a:rPr lang="en-GB" sz="2400" b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 ?</a:t>
              </a:r>
              <a:endPara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10353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98C6620-0E92-9169-A1C0-A2E1F7B9259D}"/>
              </a:ext>
            </a:extLst>
          </p:cNvPr>
          <p:cNvSpPr txBox="1"/>
          <p:nvPr/>
        </p:nvSpPr>
        <p:spPr>
          <a:xfrm>
            <a:off x="257897" y="3115156"/>
            <a:ext cx="1178921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This error can be decomposed into a few informative parts:</a:t>
            </a: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</a:t>
            </a:r>
            <a:r>
              <a:rPr lang="en-FR" sz="2200" b="1" dirty="0">
                <a:solidFill>
                  <a:srgbClr val="FA2743"/>
                </a:solidFill>
                <a:latin typeface="Roboto ExtraBold" panose="02000000000000000000" pitchFamily="2" charset="0"/>
                <a:ea typeface="Roboto ExtraBold" panose="02000000000000000000" pitchFamily="2" charset="0"/>
                <a:cs typeface="Lato" panose="020F0502020204030203" pitchFamily="34" charset="0"/>
              </a:rPr>
              <a:t>irreducible error</a:t>
            </a:r>
            <a:r>
              <a:rPr lang="en-FR" sz="2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: can we ever predict Y from X with zero prediction error? Probably not, since we always assume having some observation error ε in the data model.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FR" sz="2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</a:t>
            </a:r>
            <a:r>
              <a:rPr lang="en-FR" sz="2200" b="1" dirty="0">
                <a:solidFill>
                  <a:srgbClr val="FA2743"/>
                </a:solidFill>
                <a:latin typeface="Roboto ExtraBold" panose="02000000000000000000" pitchFamily="2" charset="0"/>
                <a:ea typeface="Roboto ExtraBold" panose="02000000000000000000" pitchFamily="2" charset="0"/>
                <a:cs typeface="Lato" panose="020F0502020204030203" pitchFamily="34" charset="0"/>
              </a:rPr>
              <a:t>estimation bias</a:t>
            </a:r>
            <a:r>
              <a:rPr lang="en-FR" sz="2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: when estimating the conditional expectation, we always have to choose a family of approximators, which may not be sufficiently flexible.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FR" sz="2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</a:t>
            </a:r>
            <a:r>
              <a:rPr lang="en-FR" sz="2200" b="1" dirty="0">
                <a:solidFill>
                  <a:srgbClr val="FA2743"/>
                </a:solidFill>
                <a:latin typeface="Roboto ExtraBold" panose="02000000000000000000" pitchFamily="2" charset="0"/>
                <a:ea typeface="Roboto ExtraBold" panose="02000000000000000000" pitchFamily="2" charset="0"/>
                <a:cs typeface="Lato" panose="020F0502020204030203" pitchFamily="34" charset="0"/>
              </a:rPr>
              <a:t>estimation variance</a:t>
            </a:r>
            <a:r>
              <a:rPr lang="en-FR" sz="2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: for families of approximators that are too flexible, it might happen that for every small change in the observed data points, the estimates change a lot.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9F5E707-C59F-7F6F-C5BB-37C013C6EDE4}"/>
              </a:ext>
            </a:extLst>
          </p:cNvPr>
          <p:cNvSpPr/>
          <p:nvPr/>
        </p:nvSpPr>
        <p:spPr>
          <a:xfrm>
            <a:off x="3582786" y="1495892"/>
            <a:ext cx="5064516" cy="1340299"/>
          </a:xfrm>
          <a:prstGeom prst="roundRect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478A4-0A4D-7358-5111-16FA0521273C}"/>
              </a:ext>
            </a:extLst>
          </p:cNvPr>
          <p:cNvSpPr txBox="1"/>
          <p:nvPr/>
        </p:nvSpPr>
        <p:spPr>
          <a:xfrm>
            <a:off x="257897" y="832532"/>
            <a:ext cx="10689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Remember that our goal in regression is to minimize the generalization error: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13D029-9875-E515-ED44-EB7FC1858A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5147" y="1711928"/>
            <a:ext cx="4521706" cy="90770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1E66875-6C98-7C2C-8609-2AD09AED7A22}"/>
              </a:ext>
            </a:extLst>
          </p:cNvPr>
          <p:cNvSpPr txBox="1"/>
          <p:nvPr/>
        </p:nvSpPr>
        <p:spPr>
          <a:xfrm>
            <a:off x="240032" y="-93192"/>
            <a:ext cx="9398237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What makes a model </a:t>
            </a:r>
            <a:r>
              <a:rPr lang="en-GB" sz="28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good</a:t>
            </a: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? – The generalization error</a:t>
            </a:r>
          </a:p>
        </p:txBody>
      </p:sp>
    </p:spTree>
    <p:extLst>
      <p:ext uri="{BB962C8B-B14F-4D97-AF65-F5344CB8AC3E}">
        <p14:creationId xmlns:p14="http://schemas.microsoft.com/office/powerpoint/2010/main" val="31428268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294961-AC91-2A21-4587-E9F4D0738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914400"/>
            <a:ext cx="11430000" cy="5715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648590-556D-09D5-B77C-0132C729887A}"/>
              </a:ext>
            </a:extLst>
          </p:cNvPr>
          <p:cNvSpPr txBox="1"/>
          <p:nvPr/>
        </p:nvSpPr>
        <p:spPr>
          <a:xfrm>
            <a:off x="257897" y="832532"/>
            <a:ext cx="1104020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600" b="1" dirty="0">
                <a:solidFill>
                  <a:srgbClr val="5E5E5E"/>
                </a:solidFill>
                <a:latin typeface="Roboto ExtraBold" panose="02000000000000000000" pitchFamily="2" charset="0"/>
                <a:ea typeface="Roboto ExtraBold" panose="02000000000000000000" pitchFamily="2" charset="0"/>
                <a:cs typeface="Lato" panose="020F0502020204030203" pitchFamily="34" charset="0"/>
              </a:rPr>
              <a:t>Estimation variance. </a:t>
            </a:r>
            <a:r>
              <a:rPr lang="en-FR" sz="26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same model fit on two slightly different datasets.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DE7CE0-76E6-D2A1-EEFD-5103C543F49D}"/>
              </a:ext>
            </a:extLst>
          </p:cNvPr>
          <p:cNvSpPr txBox="1"/>
          <p:nvPr/>
        </p:nvSpPr>
        <p:spPr>
          <a:xfrm>
            <a:off x="240032" y="-93192"/>
            <a:ext cx="9398237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What makes a model </a:t>
            </a:r>
            <a:r>
              <a:rPr lang="en-GB" sz="28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good</a:t>
            </a: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8151576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10749-DD41-48D8-4C31-95D7C5E5D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BAD965E-7557-EA97-96BF-A3FDFD88AC49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62A52C-56F2-7707-509E-528C2C9D9DC7}"/>
              </a:ext>
            </a:extLst>
          </p:cNvPr>
          <p:cNvSpPr txBox="1"/>
          <p:nvPr/>
        </p:nvSpPr>
        <p:spPr>
          <a:xfrm>
            <a:off x="240032" y="-93192"/>
            <a:ext cx="9398237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What makes a model </a:t>
            </a:r>
            <a:r>
              <a:rPr lang="en-GB" sz="28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good</a:t>
            </a: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?</a:t>
            </a:r>
          </a:p>
        </p:txBody>
      </p:sp>
      <p:pic>
        <p:nvPicPr>
          <p:cNvPr id="8" name="Picture 7" descr="A mattress shaped like a human body&#10;&#10;Description automatically generated">
            <a:extLst>
              <a:ext uri="{FF2B5EF4-FFF2-40B4-BE49-F238E27FC236}">
                <a16:creationId xmlns:a16="http://schemas.microsoft.com/office/drawing/2014/main" id="{CCBC913C-A784-4312-1813-D99C35B985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887" y="1033504"/>
            <a:ext cx="7996225" cy="535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7192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FA07E9-417A-CF31-AB6F-3DA5BEEF93E3}"/>
              </a:ext>
            </a:extLst>
          </p:cNvPr>
          <p:cNvSpPr txBox="1"/>
          <p:nvPr/>
        </p:nvSpPr>
        <p:spPr>
          <a:xfrm>
            <a:off x="281649" y="919268"/>
            <a:ext cx="96423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Remember that the data model is assumed to be		    with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E368C4-3EE2-46FB-866A-C6ED055AD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352" y="1021479"/>
            <a:ext cx="1651000" cy="292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65E83D-3628-91DD-2897-3EDBD92C6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8269" y="996079"/>
            <a:ext cx="1422400" cy="31750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B9F922CC-49F7-DD7C-57D4-B57C7C09F26E}"/>
              </a:ext>
            </a:extLst>
          </p:cNvPr>
          <p:cNvGrpSpPr/>
          <p:nvPr/>
        </p:nvGrpSpPr>
        <p:grpSpPr>
          <a:xfrm>
            <a:off x="281649" y="1595963"/>
            <a:ext cx="8008466" cy="461665"/>
            <a:chOff x="281649" y="1427156"/>
            <a:chExt cx="8008466" cy="46166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B0D13B-4EEE-2BFE-C121-62827D9D9DC4}"/>
                </a:ext>
              </a:extLst>
            </p:cNvPr>
            <p:cNvSpPr txBox="1"/>
            <p:nvPr/>
          </p:nvSpPr>
          <p:spPr>
            <a:xfrm>
              <a:off x="281649" y="1427156"/>
              <a:ext cx="77780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We use a training dataset			      to estimate </a:t>
              </a: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2C4A2C9-14CD-CA4A-7C6E-C21B33BD2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48527" y="1486528"/>
              <a:ext cx="341588" cy="297033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3A96ABF-1548-18BE-BD01-D9A26CE70CB9}"/>
              </a:ext>
            </a:extLst>
          </p:cNvPr>
          <p:cNvGrpSpPr/>
          <p:nvPr/>
        </p:nvGrpSpPr>
        <p:grpSpPr>
          <a:xfrm>
            <a:off x="281648" y="2288044"/>
            <a:ext cx="12043682" cy="461665"/>
            <a:chOff x="281648" y="2020104"/>
            <a:chExt cx="12043682" cy="461665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50CA9E1-7318-3C00-70E5-C0F025F072A6}"/>
                </a:ext>
              </a:extLst>
            </p:cNvPr>
            <p:cNvSpPr txBox="1"/>
            <p:nvPr/>
          </p:nvSpPr>
          <p:spPr>
            <a:xfrm>
              <a:off x="281648" y="2020104"/>
              <a:ext cx="120436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For new observation     we write the bias-variance decomposition conditioned on     as 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21391E8-DDD1-0FBA-667C-6B80C609B40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179170" y="2159270"/>
              <a:ext cx="200927" cy="184183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117B8CB-AFB0-3645-0129-972B141CE2E0}"/>
              </a:ext>
            </a:extLst>
          </p:cNvPr>
          <p:cNvGrpSpPr/>
          <p:nvPr/>
        </p:nvGrpSpPr>
        <p:grpSpPr>
          <a:xfrm>
            <a:off x="536575" y="2980125"/>
            <a:ext cx="11118850" cy="3232516"/>
            <a:chOff x="536575" y="2852499"/>
            <a:chExt cx="11118850" cy="323251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517928B-2BA9-A197-D95F-EAAAC64C2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6575" y="2852499"/>
              <a:ext cx="11118850" cy="2569210"/>
            </a:xfrm>
            <a:prstGeom prst="rect">
              <a:avLst/>
            </a:prstGeom>
          </p:spPr>
        </p:pic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A1B5781-EC56-5CE6-B78B-A52E61EB8BC4}"/>
                </a:ext>
              </a:extLst>
            </p:cNvPr>
            <p:cNvSpPr/>
            <p:nvPr/>
          </p:nvSpPr>
          <p:spPr>
            <a:xfrm>
              <a:off x="2197788" y="5541264"/>
              <a:ext cx="3069155" cy="54864"/>
            </a:xfrm>
            <a:prstGeom prst="rect">
              <a:avLst/>
            </a:prstGeom>
            <a:solidFill>
              <a:srgbClr val="5E5E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/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A270875-D6B3-B690-3F9C-8A6A5FC72483}"/>
                </a:ext>
              </a:extLst>
            </p:cNvPr>
            <p:cNvGrpSpPr/>
            <p:nvPr/>
          </p:nvGrpSpPr>
          <p:grpSpPr>
            <a:xfrm>
              <a:off x="2805385" y="5715683"/>
              <a:ext cx="2026958" cy="369332"/>
              <a:chOff x="2554351" y="5654460"/>
              <a:chExt cx="2026958" cy="369332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DB81C7D-ED36-8175-0E4D-1F1F5326F03D}"/>
                  </a:ext>
                </a:extLst>
              </p:cNvPr>
              <p:cNvSpPr txBox="1"/>
              <p:nvPr/>
            </p:nvSpPr>
            <p:spPr>
              <a:xfrm>
                <a:off x="2554351" y="5654460"/>
                <a:ext cx="17764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FR" dirty="0">
                    <a:solidFill>
                      <a:srgbClr val="5E5E5E"/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Lato" panose="020F0502020204030203" pitchFamily="34" charset="0"/>
                  </a:rPr>
                  <a:t>Irreducible error</a:t>
                </a:r>
              </a:p>
            </p:txBody>
          </p:sp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C17FD632-FC56-C444-84DA-6BE21E755B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314609" y="5670744"/>
                <a:ext cx="266700" cy="254000"/>
              </a:xfrm>
              <a:prstGeom prst="rect">
                <a:avLst/>
              </a:prstGeom>
            </p:spPr>
          </p:pic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630A072-3779-1EC7-52C3-5DCFD1E1F4CB}"/>
                </a:ext>
              </a:extLst>
            </p:cNvPr>
            <p:cNvSpPr/>
            <p:nvPr/>
          </p:nvSpPr>
          <p:spPr>
            <a:xfrm>
              <a:off x="5585235" y="5541264"/>
              <a:ext cx="3420000" cy="54864"/>
            </a:xfrm>
            <a:prstGeom prst="rect">
              <a:avLst/>
            </a:prstGeom>
            <a:solidFill>
              <a:srgbClr val="5E5E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05A1E14-D1B4-9C1D-BB6D-162D753384E6}"/>
                </a:ext>
              </a:extLst>
            </p:cNvPr>
            <p:cNvSpPr/>
            <p:nvPr/>
          </p:nvSpPr>
          <p:spPr>
            <a:xfrm>
              <a:off x="9451942" y="5541264"/>
              <a:ext cx="2196000" cy="54864"/>
            </a:xfrm>
            <a:prstGeom prst="rect">
              <a:avLst/>
            </a:prstGeom>
            <a:solidFill>
              <a:srgbClr val="5E5E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7F17D69-A8D6-4351-B87C-D14DC4D91A67}"/>
                </a:ext>
              </a:extLst>
            </p:cNvPr>
            <p:cNvSpPr txBox="1"/>
            <p:nvPr/>
          </p:nvSpPr>
          <p:spPr>
            <a:xfrm>
              <a:off x="5994238" y="5715683"/>
              <a:ext cx="2601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Squared estimation bias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099B612-12B1-75D8-D1AB-E5D7F7152BD7}"/>
                </a:ext>
              </a:extLst>
            </p:cNvPr>
            <p:cNvSpPr txBox="1"/>
            <p:nvPr/>
          </p:nvSpPr>
          <p:spPr>
            <a:xfrm>
              <a:off x="9465350" y="5715683"/>
              <a:ext cx="21691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Estimation variance</a:t>
              </a:r>
            </a:p>
          </p:txBody>
        </p:sp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3A90E550-B3BB-4AD0-07AB-5E567B0D1A2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5285" y="1520956"/>
            <a:ext cx="2222500" cy="5969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E31041D-7F0C-B3D2-8FA7-4BF1D45D1A5E}"/>
              </a:ext>
            </a:extLst>
          </p:cNvPr>
          <p:cNvSpPr txBox="1"/>
          <p:nvPr/>
        </p:nvSpPr>
        <p:spPr>
          <a:xfrm>
            <a:off x="240032" y="-93192"/>
            <a:ext cx="9398237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What makes a model </a:t>
            </a:r>
            <a:r>
              <a:rPr lang="en-GB" sz="28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good</a:t>
            </a: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? – The bias-variance </a:t>
            </a:r>
            <a:r>
              <a:rPr lang="en-GB" sz="2800" b="1" dirty="0" err="1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tradeoff</a:t>
            </a:r>
            <a:endParaRPr lang="en-GB" sz="2800" b="1" dirty="0">
              <a:solidFill>
                <a:srgbClr val="5E5E5E"/>
              </a:solidFill>
              <a:latin typeface="Roboto Black" panose="02000000000000000000" pitchFamily="2" charset="0"/>
              <a:ea typeface="Roboto Black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9FCCD1-D9B8-1820-6D15-75B912116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7220" y="2434515"/>
            <a:ext cx="200927" cy="184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0459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8A7D6-0EC9-3246-C022-EB863A33B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827003E-B9E0-A596-69A0-7E64D002F92C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5" name="Graphic 4" descr="Right pointing backhand index outline">
            <a:extLst>
              <a:ext uri="{FF2B5EF4-FFF2-40B4-BE49-F238E27FC236}">
                <a16:creationId xmlns:a16="http://schemas.microsoft.com/office/drawing/2014/main" id="{3BF64E12-F7EA-639D-7F1D-E40F465012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0324" y="3378449"/>
            <a:ext cx="1083311" cy="10833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96FA55C-60E4-C3C5-FEB7-EBFE5D31E88D}"/>
              </a:ext>
            </a:extLst>
          </p:cNvPr>
          <p:cNvSpPr txBox="1"/>
          <p:nvPr/>
        </p:nvSpPr>
        <p:spPr>
          <a:xfrm>
            <a:off x="2221177" y="2080988"/>
            <a:ext cx="8518679" cy="33239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What makes a model </a:t>
            </a:r>
            <a:r>
              <a:rPr lang="en-FR" sz="42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good</a:t>
            </a: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?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Estimating the quality of a model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Comparing and selecting models</a:t>
            </a:r>
          </a:p>
        </p:txBody>
      </p:sp>
    </p:spTree>
    <p:extLst>
      <p:ext uri="{BB962C8B-B14F-4D97-AF65-F5344CB8AC3E}">
        <p14:creationId xmlns:p14="http://schemas.microsoft.com/office/powerpoint/2010/main" val="37329071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63E314-008C-95FE-9FFA-04A97A164D3A}"/>
              </a:ext>
            </a:extLst>
          </p:cNvPr>
          <p:cNvSpPr txBox="1"/>
          <p:nvPr/>
        </p:nvSpPr>
        <p:spPr>
          <a:xfrm>
            <a:off x="240033" y="-105549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Estimating the quality of a model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0F4A4-DADA-49EB-3D16-36407470EB4D}"/>
              </a:ext>
            </a:extLst>
          </p:cNvPr>
          <p:cNvSpPr txBox="1"/>
          <p:nvPr/>
        </p:nvSpPr>
        <p:spPr>
          <a:xfrm>
            <a:off x="257897" y="910022"/>
            <a:ext cx="105496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How can we estimate the generalization error of an approximator in practice?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1CFC11-3549-CD79-BFB0-5939A8B7CA5B}"/>
              </a:ext>
            </a:extLst>
          </p:cNvPr>
          <p:cNvSpPr txBox="1"/>
          <p:nvPr/>
        </p:nvSpPr>
        <p:spPr>
          <a:xfrm>
            <a:off x="2263643" y="2537987"/>
            <a:ext cx="9295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1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don’t know the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AD56640A-E3D2-6A5D-8F91-42010341D115}"/>
              </a:ext>
            </a:extLst>
          </p:cNvPr>
          <p:cNvCxnSpPr>
            <a:cxnSpLocks/>
          </p:cNvCxnSpPr>
          <p:nvPr/>
        </p:nvCxnSpPr>
        <p:spPr>
          <a:xfrm rot="16200000" flipV="1">
            <a:off x="1815927" y="2441027"/>
            <a:ext cx="490036" cy="230371"/>
          </a:xfrm>
          <a:prstGeom prst="bentConnector3">
            <a:avLst>
              <a:gd name="adj1" fmla="val 2265"/>
            </a:avLst>
          </a:prstGeom>
          <a:ln w="25400">
            <a:solidFill>
              <a:srgbClr val="FA274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2616823-43AB-86E2-FBE3-682215F87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233" y="2695943"/>
            <a:ext cx="604583" cy="19313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F99F331-00A7-6E40-43D9-B4C798E3E6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1" y="1596587"/>
            <a:ext cx="7772400" cy="76662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A7A6FF2-E7AE-6FC0-611F-DE354A6D346A}"/>
              </a:ext>
            </a:extLst>
          </p:cNvPr>
          <p:cNvSpPr/>
          <p:nvPr/>
        </p:nvSpPr>
        <p:spPr>
          <a:xfrm>
            <a:off x="4263082" y="1486713"/>
            <a:ext cx="4917989" cy="9863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4746894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28E87-B608-DE18-6E36-9F0ED9645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71B39A1-239E-7214-8A39-BC17725B0A3A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468C2B-4ABF-1398-6348-F30E5A80423E}"/>
              </a:ext>
            </a:extLst>
          </p:cNvPr>
          <p:cNvSpPr txBox="1"/>
          <p:nvPr/>
        </p:nvSpPr>
        <p:spPr>
          <a:xfrm>
            <a:off x="240033" y="-105549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Estimating the quality of a model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E0E2FF-AC35-943F-BCFF-A8E93CAF592C}"/>
              </a:ext>
            </a:extLst>
          </p:cNvPr>
          <p:cNvSpPr txBox="1"/>
          <p:nvPr/>
        </p:nvSpPr>
        <p:spPr>
          <a:xfrm>
            <a:off x="257897" y="910022"/>
            <a:ext cx="105416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How can we estimate the generalization error of an approximator in practice?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A94A74-69ED-88F0-0126-AED969656E26}"/>
              </a:ext>
            </a:extLst>
          </p:cNvPr>
          <p:cNvSpPr txBox="1"/>
          <p:nvPr/>
        </p:nvSpPr>
        <p:spPr>
          <a:xfrm>
            <a:off x="2263643" y="2537987"/>
            <a:ext cx="9295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1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don’t know the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CC4367F-3247-C28C-AFDD-561152ADCBFA}"/>
              </a:ext>
            </a:extLst>
          </p:cNvPr>
          <p:cNvCxnSpPr>
            <a:cxnSpLocks/>
          </p:cNvCxnSpPr>
          <p:nvPr/>
        </p:nvCxnSpPr>
        <p:spPr>
          <a:xfrm rot="16200000" flipV="1">
            <a:off x="1815927" y="2441027"/>
            <a:ext cx="490036" cy="230371"/>
          </a:xfrm>
          <a:prstGeom prst="bentConnector3">
            <a:avLst>
              <a:gd name="adj1" fmla="val 2265"/>
            </a:avLst>
          </a:prstGeom>
          <a:ln w="25400">
            <a:solidFill>
              <a:srgbClr val="FA274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2A5F9364-C265-E302-711C-4F82656E6FA2}"/>
              </a:ext>
            </a:extLst>
          </p:cNvPr>
          <p:cNvSpPr/>
          <p:nvPr/>
        </p:nvSpPr>
        <p:spPr>
          <a:xfrm>
            <a:off x="4491301" y="2535996"/>
            <a:ext cx="2412000" cy="45719"/>
          </a:xfrm>
          <a:prstGeom prst="rect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308C12-93FD-9B57-B3B5-D8BA99DEC377}"/>
              </a:ext>
            </a:extLst>
          </p:cNvPr>
          <p:cNvSpPr txBox="1"/>
          <p:nvPr/>
        </p:nvSpPr>
        <p:spPr>
          <a:xfrm>
            <a:off x="4766597" y="2605068"/>
            <a:ext cx="18614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1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So we approximate it with M data points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2DC500-0D56-750B-3732-C16E96B87E32}"/>
              </a:ext>
            </a:extLst>
          </p:cNvPr>
          <p:cNvSpPr txBox="1"/>
          <p:nvPr/>
        </p:nvSpPr>
        <p:spPr>
          <a:xfrm>
            <a:off x="321807" y="3486777"/>
            <a:ext cx="21387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Recall  that for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8FABAB-AF66-99F6-5FF8-80798DE602BC}"/>
              </a:ext>
            </a:extLst>
          </p:cNvPr>
          <p:cNvSpPr txBox="1"/>
          <p:nvPr/>
        </p:nvSpPr>
        <p:spPr>
          <a:xfrm>
            <a:off x="4698067" y="3490478"/>
            <a:ext cx="12859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have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6205AE-A047-2B28-529E-B84586D3E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233" y="2695943"/>
            <a:ext cx="604583" cy="1931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EB581CD-2635-BC49-8B93-2D3E769495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7201" y="3419159"/>
            <a:ext cx="2222500" cy="5969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7FF1419-BB4B-25F3-B82F-0E6105EB9DAC}"/>
              </a:ext>
            </a:extLst>
          </p:cNvPr>
          <p:cNvSpPr txBox="1"/>
          <p:nvPr/>
        </p:nvSpPr>
        <p:spPr>
          <a:xfrm>
            <a:off x="8472558" y="1785769"/>
            <a:ext cx="6592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1800" dirty="0">
                <a:solidFill>
                  <a:srgbClr val="5E5E5E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with</a:t>
            </a:r>
            <a:endParaRPr lang="en-FR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4172754-2E8D-F30D-F732-EBB86738D9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3041" y="1671985"/>
            <a:ext cx="2273300" cy="5969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B747B1E-4780-093C-D8E0-839071C077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101" y="1596587"/>
            <a:ext cx="7772400" cy="76662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ECD9BE5-7FBE-ECED-1240-9E1AFCEFA6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8869" y="3579110"/>
            <a:ext cx="2476500" cy="469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E52E79-03C5-0DCA-E43D-F3273E95C234}"/>
              </a:ext>
            </a:extLst>
          </p:cNvPr>
          <p:cNvSpPr txBox="1"/>
          <p:nvPr/>
        </p:nvSpPr>
        <p:spPr>
          <a:xfrm>
            <a:off x="8691464" y="3393788"/>
            <a:ext cx="262417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W</a:t>
            </a:r>
            <a:r>
              <a:rPr lang="en-FR" sz="1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e want to minimize one quantity but can only estimate a proxy of 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555BF9-B1CD-96A5-0CF6-2F78D3BB286B}"/>
              </a:ext>
            </a:extLst>
          </p:cNvPr>
          <p:cNvSpPr/>
          <p:nvPr/>
        </p:nvSpPr>
        <p:spPr>
          <a:xfrm rot="5400000">
            <a:off x="8182940" y="3758566"/>
            <a:ext cx="799988" cy="45719"/>
          </a:xfrm>
          <a:prstGeom prst="rect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8060727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F5549D-EEC5-7412-7247-0125B4835939}"/>
              </a:ext>
            </a:extLst>
          </p:cNvPr>
          <p:cNvSpPr txBox="1"/>
          <p:nvPr/>
        </p:nvSpPr>
        <p:spPr>
          <a:xfrm>
            <a:off x="265842" y="65227"/>
            <a:ext cx="9857872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One-slide reminder of the law of large numbers (LLN)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1D469A-0B0A-ECF3-FAC0-6258272B4AA5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noFill/>
          <a:ln w="127000">
            <a:solidFill>
              <a:srgbClr val="FA274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4FF9E5-8CE2-BB7A-7618-2C496127F192}"/>
              </a:ext>
            </a:extLst>
          </p:cNvPr>
          <p:cNvSpPr txBox="1"/>
          <p:nvPr/>
        </p:nvSpPr>
        <p:spPr>
          <a:xfrm>
            <a:off x="265843" y="746923"/>
            <a:ext cx="119114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Whenever we want to approximate an expectation, we can use the LLN</a:t>
            </a:r>
            <a:endParaRPr lang="en-GB" sz="2400" b="1" dirty="0">
              <a:solidFill>
                <a:srgbClr val="FA2743"/>
              </a:solidFill>
              <a:latin typeface="Roboto ExtraBold" panose="02000000000000000000" pitchFamily="2" charset="0"/>
              <a:ea typeface="Roboto ExtraBold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9CBE307-82D8-D67E-5356-9B1C0119AF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3400" y="2756372"/>
            <a:ext cx="1320800" cy="3429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28A4ABD-1BFC-C3A0-1527-D3388CE43174}"/>
              </a:ext>
            </a:extLst>
          </p:cNvPr>
          <p:cNvSpPr txBox="1"/>
          <p:nvPr/>
        </p:nvSpPr>
        <p:spPr>
          <a:xfrm>
            <a:off x="265842" y="2697674"/>
            <a:ext cx="1191140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with N </a:t>
            </a:r>
            <a:r>
              <a:rPr lang="en-GB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independent</a:t>
            </a:r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and identically distributed samples</a:t>
            </a:r>
          </a:p>
          <a:p>
            <a:endParaRPr lang="en-GB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This result will be useful many times in our class and is ubiquitous in machine learning</a:t>
            </a:r>
          </a:p>
          <a:p>
            <a:endParaRPr lang="en-GB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GB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GB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GB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GB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This is also used in computer graphics, statistical physics, econometry, etc.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9E250F4-AA4F-0B88-6229-27CD77AFF2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300" y="1532086"/>
            <a:ext cx="6121400" cy="9652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CC3F270-6544-2CC0-0AE9-78929842BC5D}"/>
              </a:ext>
            </a:extLst>
          </p:cNvPr>
          <p:cNvSpPr txBox="1"/>
          <p:nvPr/>
        </p:nvSpPr>
        <p:spPr>
          <a:xfrm>
            <a:off x="1902938" y="4216623"/>
            <a:ext cx="32918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FR" sz="2800" b="1" dirty="0">
                <a:solidFill>
                  <a:srgbClr val="0070C0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Approximate weighted integral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105DD3-908C-5951-4990-C18C1F87D623}"/>
              </a:ext>
            </a:extLst>
          </p:cNvPr>
          <p:cNvSpPr txBox="1"/>
          <p:nvPr/>
        </p:nvSpPr>
        <p:spPr>
          <a:xfrm>
            <a:off x="6633150" y="4216623"/>
            <a:ext cx="36009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800" b="1" dirty="0">
                <a:solidFill>
                  <a:srgbClr val="0070C0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Average of random IID samples</a:t>
            </a:r>
          </a:p>
        </p:txBody>
      </p:sp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D2B4C215-D79B-B351-ACFA-E5B32465E17A}"/>
              </a:ext>
            </a:extLst>
          </p:cNvPr>
          <p:cNvSpPr/>
          <p:nvPr/>
        </p:nvSpPr>
        <p:spPr>
          <a:xfrm>
            <a:off x="5430638" y="4528916"/>
            <a:ext cx="966652" cy="287383"/>
          </a:xfrm>
          <a:prstGeom prst="left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41704994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E57E1-C67F-955A-87F5-ABC3E212F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1BDEA68-EB87-9318-8D0F-AD0CCD9C80DB}"/>
              </a:ext>
            </a:extLst>
          </p:cNvPr>
          <p:cNvSpPr/>
          <p:nvPr/>
        </p:nvSpPr>
        <p:spPr>
          <a:xfrm>
            <a:off x="1885258" y="4584464"/>
            <a:ext cx="4883164" cy="797209"/>
          </a:xfrm>
          <a:prstGeom prst="roundRect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06EE79-1E5B-436C-1110-2D53C27EBF03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4BBB85-15A5-34B6-4C94-4C1F1F034E62}"/>
              </a:ext>
            </a:extLst>
          </p:cNvPr>
          <p:cNvSpPr txBox="1"/>
          <p:nvPr/>
        </p:nvSpPr>
        <p:spPr>
          <a:xfrm>
            <a:off x="240033" y="-105549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Estimating the quality of a model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70F316-5002-51D1-CA99-314C677E4DE6}"/>
              </a:ext>
            </a:extLst>
          </p:cNvPr>
          <p:cNvSpPr txBox="1"/>
          <p:nvPr/>
        </p:nvSpPr>
        <p:spPr>
          <a:xfrm>
            <a:off x="257897" y="910022"/>
            <a:ext cx="104406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How can we estimate the generalization error of an approximator in practice?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41B789-C1B5-D7DF-09AF-2A7BB717851D}"/>
              </a:ext>
            </a:extLst>
          </p:cNvPr>
          <p:cNvSpPr txBox="1"/>
          <p:nvPr/>
        </p:nvSpPr>
        <p:spPr>
          <a:xfrm>
            <a:off x="2263643" y="2537987"/>
            <a:ext cx="9295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1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don’t know the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A8AA1C06-493A-2A4F-D933-6C668C82329B}"/>
              </a:ext>
            </a:extLst>
          </p:cNvPr>
          <p:cNvCxnSpPr>
            <a:cxnSpLocks/>
          </p:cNvCxnSpPr>
          <p:nvPr/>
        </p:nvCxnSpPr>
        <p:spPr>
          <a:xfrm rot="16200000" flipV="1">
            <a:off x="1815927" y="2441027"/>
            <a:ext cx="490036" cy="230371"/>
          </a:xfrm>
          <a:prstGeom prst="bentConnector3">
            <a:avLst>
              <a:gd name="adj1" fmla="val 2265"/>
            </a:avLst>
          </a:prstGeom>
          <a:ln w="25400">
            <a:solidFill>
              <a:srgbClr val="FA274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1C74F96A-8492-9CEE-44A6-D9F2D8BE9AF6}"/>
              </a:ext>
            </a:extLst>
          </p:cNvPr>
          <p:cNvSpPr/>
          <p:nvPr/>
        </p:nvSpPr>
        <p:spPr>
          <a:xfrm>
            <a:off x="4491301" y="2535996"/>
            <a:ext cx="2412000" cy="45719"/>
          </a:xfrm>
          <a:prstGeom prst="rect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9FAE4B-4B3B-78E6-64B9-7E04B1DDB87D}"/>
              </a:ext>
            </a:extLst>
          </p:cNvPr>
          <p:cNvSpPr txBox="1"/>
          <p:nvPr/>
        </p:nvSpPr>
        <p:spPr>
          <a:xfrm>
            <a:off x="4766597" y="2605068"/>
            <a:ext cx="18614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1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So we approximate it with M data points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735E94-D4F3-9EED-F030-20F5A0052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233" y="2695943"/>
            <a:ext cx="604583" cy="19313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65C6758-2A53-FF5B-7A01-BC5774A2C54E}"/>
              </a:ext>
            </a:extLst>
          </p:cNvPr>
          <p:cNvSpPr txBox="1"/>
          <p:nvPr/>
        </p:nvSpPr>
        <p:spPr>
          <a:xfrm>
            <a:off x="8472558" y="1785769"/>
            <a:ext cx="9295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with</a:t>
            </a:r>
            <a:endParaRPr lang="en-FR" sz="24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1EB34EC-65C6-0DAA-566D-9DEF6566C8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1833" y="1718151"/>
            <a:ext cx="2273300" cy="5969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629BB24-8DD9-AE83-607C-502EAC7CE9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101" y="1596587"/>
            <a:ext cx="7772400" cy="76662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5F0BD5B8-4DA5-7291-F5E2-22203CA20D6C}"/>
              </a:ext>
            </a:extLst>
          </p:cNvPr>
          <p:cNvSpPr txBox="1"/>
          <p:nvPr/>
        </p:nvSpPr>
        <p:spPr>
          <a:xfrm>
            <a:off x="1970313" y="4744848"/>
            <a:ext cx="485581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Can we say that		          ?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926A86BD-29B7-7F20-9D3A-08E5C86E1C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1922" y="4824505"/>
            <a:ext cx="2146300" cy="2921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A9A304D-D8E0-695C-9CA3-7580196AC025}"/>
              </a:ext>
            </a:extLst>
          </p:cNvPr>
          <p:cNvSpPr txBox="1"/>
          <p:nvPr/>
        </p:nvSpPr>
        <p:spPr>
          <a:xfrm>
            <a:off x="321807" y="4727583"/>
            <a:ext cx="15263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Question: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9049AB-2065-0F22-EF4D-57D97BFE209D}"/>
              </a:ext>
            </a:extLst>
          </p:cNvPr>
          <p:cNvSpPr txBox="1"/>
          <p:nvPr/>
        </p:nvSpPr>
        <p:spPr>
          <a:xfrm>
            <a:off x="6911184" y="4785889"/>
            <a:ext cx="2161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b="1" dirty="0">
                <a:solidFill>
                  <a:srgbClr val="FFC00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ABSOLUTELY NOT!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C05018E-B989-0F81-CA86-FE9D54B36388}"/>
              </a:ext>
            </a:extLst>
          </p:cNvPr>
          <p:cNvSpPr txBox="1"/>
          <p:nvPr/>
        </p:nvSpPr>
        <p:spPr>
          <a:xfrm>
            <a:off x="9007738" y="4627927"/>
            <a:ext cx="939318" cy="1054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6000" dirty="0"/>
              <a:t>⚠️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81334C6-E4F2-973F-62C1-1FABB3911C86}"/>
              </a:ext>
            </a:extLst>
          </p:cNvPr>
          <p:cNvGrpSpPr/>
          <p:nvPr/>
        </p:nvGrpSpPr>
        <p:grpSpPr>
          <a:xfrm>
            <a:off x="321807" y="5782172"/>
            <a:ext cx="11213326" cy="430887"/>
            <a:chOff x="336940" y="5904128"/>
            <a:chExt cx="11213326" cy="430887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DCA0C63C-DBF4-B32D-EA3A-CD43F20D0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27960" y="6010997"/>
              <a:ext cx="2146300" cy="2921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4C64862-F4FD-3805-BD35-6F3CC28633FB}"/>
                </a:ext>
              </a:extLst>
            </p:cNvPr>
            <p:cNvSpPr txBox="1"/>
            <p:nvPr/>
          </p:nvSpPr>
          <p:spPr>
            <a:xfrm>
              <a:off x="336940" y="5904128"/>
              <a:ext cx="11213326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sz="22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In fact			       i.e. the true generalization error is larger than the estimated one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E99583F-834F-67AA-D74D-D1486FDCB876}"/>
              </a:ext>
            </a:extLst>
          </p:cNvPr>
          <p:cNvSpPr txBox="1"/>
          <p:nvPr/>
        </p:nvSpPr>
        <p:spPr>
          <a:xfrm>
            <a:off x="321807" y="3486777"/>
            <a:ext cx="21387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Recall  that for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81D9F7-9FB9-0AAA-1B93-1F184CB0C86C}"/>
              </a:ext>
            </a:extLst>
          </p:cNvPr>
          <p:cNvSpPr txBox="1"/>
          <p:nvPr/>
        </p:nvSpPr>
        <p:spPr>
          <a:xfrm>
            <a:off x="4698067" y="3490478"/>
            <a:ext cx="12859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have</a:t>
            </a: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E9C7BB7-1713-832A-3868-4151E39B41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87201" y="3419159"/>
            <a:ext cx="2222500" cy="5969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F95EDC-14CA-0702-3229-7143A5AF3A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8869" y="3579110"/>
            <a:ext cx="2476500" cy="4699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373A46C-2A07-9918-396A-BB5505DF772B}"/>
              </a:ext>
            </a:extLst>
          </p:cNvPr>
          <p:cNvSpPr txBox="1"/>
          <p:nvPr/>
        </p:nvSpPr>
        <p:spPr>
          <a:xfrm>
            <a:off x="8691464" y="3393788"/>
            <a:ext cx="262417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W</a:t>
            </a:r>
            <a:r>
              <a:rPr lang="en-FR" sz="1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e want to minimize one quantity but can only estimate a proxy of 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06AB2E-7DEA-783B-AD7D-020BC447057C}"/>
              </a:ext>
            </a:extLst>
          </p:cNvPr>
          <p:cNvSpPr/>
          <p:nvPr/>
        </p:nvSpPr>
        <p:spPr>
          <a:xfrm rot="5400000">
            <a:off x="8182940" y="3758566"/>
            <a:ext cx="799988" cy="45719"/>
          </a:xfrm>
          <a:prstGeom prst="rect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658326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099745-7ED2-13DF-4B77-D2CC0D23FF41}"/>
              </a:ext>
            </a:extLst>
          </p:cNvPr>
          <p:cNvSpPr txBox="1"/>
          <p:nvPr/>
        </p:nvSpPr>
        <p:spPr>
          <a:xfrm>
            <a:off x="240033" y="887780"/>
            <a:ext cx="10415031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Different ways of seeing the problem:</a:t>
            </a: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Intuitively, since 		                    then	         will always look small…</a:t>
            </a:r>
          </a:p>
          <a:p>
            <a:endParaRPr lang="en-FR" sz="20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FR" sz="20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AB851C-8863-CA71-2A78-F0DCB668B9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7623" y="1698414"/>
            <a:ext cx="2476500" cy="469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153221-842F-3C91-7796-05448A1E2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2499" y="1711856"/>
            <a:ext cx="1054100" cy="2921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28F108-0B1A-4BF6-474A-6BACF061D64B}"/>
              </a:ext>
            </a:extLst>
          </p:cNvPr>
          <p:cNvSpPr txBox="1"/>
          <p:nvPr/>
        </p:nvSpPr>
        <p:spPr>
          <a:xfrm>
            <a:off x="240033" y="-68478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optimism of the training error</a:t>
            </a:r>
          </a:p>
        </p:txBody>
      </p:sp>
    </p:spTree>
    <p:extLst>
      <p:ext uri="{BB962C8B-B14F-4D97-AF65-F5344CB8AC3E}">
        <p14:creationId xmlns:p14="http://schemas.microsoft.com/office/powerpoint/2010/main" val="29591206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D9FC9-3493-9F17-06E9-8B3424DCB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C022E88D-B3B1-83C6-9C45-BE207108EFBD}"/>
              </a:ext>
            </a:extLst>
          </p:cNvPr>
          <p:cNvSpPr/>
          <p:nvPr/>
        </p:nvSpPr>
        <p:spPr>
          <a:xfrm>
            <a:off x="991335" y="4057879"/>
            <a:ext cx="5381897" cy="1461635"/>
          </a:xfrm>
          <a:prstGeom prst="roundRect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B16257-2A56-7629-4186-3A79D860D58E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06B436-399D-ED35-4368-8EE77D2D6AB1}"/>
              </a:ext>
            </a:extLst>
          </p:cNvPr>
          <p:cNvSpPr txBox="1"/>
          <p:nvPr/>
        </p:nvSpPr>
        <p:spPr>
          <a:xfrm>
            <a:off x="240033" y="887780"/>
            <a:ext cx="10415031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Different ways of seeing the problem:</a:t>
            </a: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Intuitively, since 		                    then	         will always look small…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Consider our example with polynomials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FR" sz="20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Increasing the degree improves training error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FR" sz="20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But the testing error grows!</a:t>
            </a:r>
          </a:p>
          <a:p>
            <a:endParaRPr lang="en-FR" sz="20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F77352-D7DC-0B5F-E34F-0352B7A19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7623" y="1698414"/>
            <a:ext cx="2476500" cy="469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43B94C-C65F-5A26-9977-98EB771446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2499" y="1711856"/>
            <a:ext cx="1054100" cy="2921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D135002-85C0-2059-BD30-BA488F1D3D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983" y="4319405"/>
            <a:ext cx="1054100" cy="2921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4051D4-920A-BEEF-37B9-E72E227101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983" y="4848226"/>
            <a:ext cx="1054100" cy="292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A12E0E9-C156-C10D-D0C5-5DBD4FB29A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7177" y="4885640"/>
            <a:ext cx="825500" cy="2667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CF856CC-77E7-5863-9BD9-0B3630D07F50}"/>
              </a:ext>
            </a:extLst>
          </p:cNvPr>
          <p:cNvSpPr txBox="1"/>
          <p:nvPr/>
        </p:nvSpPr>
        <p:spPr>
          <a:xfrm>
            <a:off x="2518083" y="4281725"/>
            <a:ext cx="23583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 err="1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</a:t>
            </a:r>
            <a:r>
              <a:rPr lang="en-FR" sz="20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 the </a:t>
            </a:r>
            <a:r>
              <a:rPr lang="en-FR" sz="20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training</a:t>
            </a:r>
            <a:r>
              <a:rPr lang="en-FR" sz="20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error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46C2AF-9DF2-1DDA-4C77-A962D29BC6E0}"/>
              </a:ext>
            </a:extLst>
          </p:cNvPr>
          <p:cNvSpPr txBox="1"/>
          <p:nvPr/>
        </p:nvSpPr>
        <p:spPr>
          <a:xfrm>
            <a:off x="4101575" y="4792935"/>
            <a:ext cx="22637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 err="1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</a:t>
            </a:r>
            <a:r>
              <a:rPr lang="en-FR" sz="20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 the </a:t>
            </a:r>
            <a:r>
              <a:rPr lang="en-FR" sz="20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testing</a:t>
            </a:r>
            <a:r>
              <a:rPr lang="en-FR" sz="20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error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971878-0F48-B4E0-1F77-279F5358C91B}"/>
              </a:ext>
            </a:extLst>
          </p:cNvPr>
          <p:cNvSpPr txBox="1"/>
          <p:nvPr/>
        </p:nvSpPr>
        <p:spPr>
          <a:xfrm>
            <a:off x="2577055" y="4807476"/>
            <a:ext cx="6591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with</a:t>
            </a:r>
            <a:endParaRPr lang="en-FR" sz="20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0FC659-B70D-08AF-6B5E-3EA0FE92A29B}"/>
              </a:ext>
            </a:extLst>
          </p:cNvPr>
          <p:cNvSpPr/>
          <p:nvPr/>
        </p:nvSpPr>
        <p:spPr>
          <a:xfrm>
            <a:off x="4138646" y="5634436"/>
            <a:ext cx="1994425" cy="45719"/>
          </a:xfrm>
          <a:prstGeom prst="rect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CC45EE-09ED-5B88-BB02-9EC991BA1242}"/>
              </a:ext>
            </a:extLst>
          </p:cNvPr>
          <p:cNvSpPr txBox="1"/>
          <p:nvPr/>
        </p:nvSpPr>
        <p:spPr>
          <a:xfrm>
            <a:off x="3911707" y="5738298"/>
            <a:ext cx="28648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0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Error on unseen 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0A2491-7F3D-F51F-DDCC-611C14B15827}"/>
              </a:ext>
            </a:extLst>
          </p:cNvPr>
          <p:cNvSpPr txBox="1"/>
          <p:nvPr/>
        </p:nvSpPr>
        <p:spPr>
          <a:xfrm>
            <a:off x="240033" y="-68478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optimism of the training error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EAC8E5B-2F71-EEB6-24A2-6C2349A866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3971" y="1828800"/>
            <a:ext cx="4848312" cy="484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1864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2AF6A-593C-7190-3CA8-4417025AC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D65637-A4BE-C6CD-0B7B-159C56D83A7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44AEA0-4375-DDF6-0548-6C38F7412A0B}"/>
              </a:ext>
            </a:extLst>
          </p:cNvPr>
          <p:cNvSpPr txBox="1"/>
          <p:nvPr/>
        </p:nvSpPr>
        <p:spPr>
          <a:xfrm>
            <a:off x="240033" y="887780"/>
            <a:ext cx="10418237" cy="41857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Different ways of seeing the problem:</a:t>
            </a: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Intuitively, since 		                    then	         will always look small…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Consider our example with polynomials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FR" sz="20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Increasing the degree improves training error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FR" sz="20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But the testing error grows!</a:t>
            </a:r>
          </a:p>
          <a:p>
            <a:pPr marL="342900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Mathematical illustration on linear regression</a:t>
            </a:r>
          </a:p>
          <a:p>
            <a:pPr lvl="1">
              <a:lnSpc>
                <a:spcPct val="150000"/>
              </a:lnSpc>
            </a:pPr>
            <a:endParaRPr lang="en-FR" sz="20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FR" sz="20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8D45CA-109B-331F-EFD8-9A429CEA96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7623" y="1698414"/>
            <a:ext cx="2476500" cy="469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86A42B-DF12-1F11-6A21-9C86D2EE8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2499" y="1711856"/>
            <a:ext cx="1054100" cy="2921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CEB5B6-7E12-CEB5-E7CB-C7DA8DD01D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3971" y="1828800"/>
            <a:ext cx="4848312" cy="48483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5792315-29ED-B193-2703-2136D887AADE}"/>
              </a:ext>
            </a:extLst>
          </p:cNvPr>
          <p:cNvSpPr txBox="1"/>
          <p:nvPr/>
        </p:nvSpPr>
        <p:spPr>
          <a:xfrm>
            <a:off x="240033" y="-68478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optimism of the training error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26D106-F320-8E92-5D38-238690F0C9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304" y="4402128"/>
            <a:ext cx="1555750" cy="41783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A254BE0-97BF-355C-467A-EC2F6EA6D2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2853" y="4390648"/>
            <a:ext cx="1617980" cy="4178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F8DC1D-958C-CE67-8D5D-DE94E8C9ED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48632" y="4353824"/>
            <a:ext cx="1955800" cy="56007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143D524-0B37-A205-5423-08A531232391}"/>
              </a:ext>
            </a:extLst>
          </p:cNvPr>
          <p:cNvSpPr txBox="1"/>
          <p:nvPr/>
        </p:nvSpPr>
        <p:spPr>
          <a:xfrm>
            <a:off x="605432" y="4900045"/>
            <a:ext cx="53104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1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(same predictors but different observations because of noise)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AE989D0-8CBF-0A95-9F59-E4C2E2080FD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37414" y="5337664"/>
            <a:ext cx="420624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7739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0FB1-C462-9D5F-2216-E0BFBAE65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5E202BD-D081-1A02-1895-E90E18CD5537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EA5996-3E62-283F-78CE-2898DDA69B99}"/>
              </a:ext>
            </a:extLst>
          </p:cNvPr>
          <p:cNvSpPr txBox="1"/>
          <p:nvPr/>
        </p:nvSpPr>
        <p:spPr>
          <a:xfrm>
            <a:off x="240033" y="-68478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optimism of the training error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1301BF-A092-0D05-84F9-6A936D9434CD}"/>
              </a:ext>
            </a:extLst>
          </p:cNvPr>
          <p:cNvSpPr txBox="1"/>
          <p:nvPr/>
        </p:nvSpPr>
        <p:spPr>
          <a:xfrm>
            <a:off x="316599" y="1091314"/>
            <a:ext cx="5601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We are given a dataset 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E6451A1-A9EC-46C7-7F06-13F205E3F8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9020" y="1130987"/>
            <a:ext cx="2146300" cy="3937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FFBEC807-7D9C-729E-E6E4-D792DBF46E62}"/>
              </a:ext>
            </a:extLst>
          </p:cNvPr>
          <p:cNvSpPr/>
          <p:nvPr/>
        </p:nvSpPr>
        <p:spPr>
          <a:xfrm>
            <a:off x="240033" y="947291"/>
            <a:ext cx="5614758" cy="78941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2ADF6E3-99D5-3254-0141-326B07FCBBA4}"/>
              </a:ext>
            </a:extLst>
          </p:cNvPr>
          <p:cNvSpPr/>
          <p:nvPr/>
        </p:nvSpPr>
        <p:spPr>
          <a:xfrm>
            <a:off x="74437" y="767590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417196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E6B4F-2B89-BBE7-6C44-894BFB0D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FD01A824-642B-FCB0-7D5F-F4C6A7302C20}"/>
              </a:ext>
            </a:extLst>
          </p:cNvPr>
          <p:cNvSpPr txBox="1"/>
          <p:nvPr/>
        </p:nvSpPr>
        <p:spPr>
          <a:xfrm>
            <a:off x="6243229" y="1092146"/>
            <a:ext cx="5632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W</a:t>
            </a:r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e train regressor on      that minimizes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3FDAD25-685B-A853-6D00-36F17095E64F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165201-4883-4262-2066-5361B19BD016}"/>
              </a:ext>
            </a:extLst>
          </p:cNvPr>
          <p:cNvSpPr txBox="1"/>
          <p:nvPr/>
        </p:nvSpPr>
        <p:spPr>
          <a:xfrm>
            <a:off x="240033" y="-68478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optimism of the training error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391D085-C23A-64F8-7F97-1FC83C7EE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272" y="1187482"/>
            <a:ext cx="254000" cy="2413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E8E670D-394E-3A3F-0575-C177D7F3B825}"/>
              </a:ext>
            </a:extLst>
          </p:cNvPr>
          <p:cNvSpPr txBox="1"/>
          <p:nvPr/>
        </p:nvSpPr>
        <p:spPr>
          <a:xfrm>
            <a:off x="316599" y="1091314"/>
            <a:ext cx="5601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We are given a dataset 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18EAB98-4EEC-0234-A8D6-6CAD402725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9020" y="1130987"/>
            <a:ext cx="2146300" cy="3937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91C22E5-ECA9-2986-A3D7-8B3277D00E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3792" y="1589945"/>
            <a:ext cx="4787900" cy="9652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0BFFD9B3-10EB-BC90-2E0D-614FDCF9333D}"/>
              </a:ext>
            </a:extLst>
          </p:cNvPr>
          <p:cNvSpPr/>
          <p:nvPr/>
        </p:nvSpPr>
        <p:spPr>
          <a:xfrm>
            <a:off x="240033" y="947291"/>
            <a:ext cx="5614758" cy="78941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C38EE52-0CF0-FEE2-D42E-AD9135535D14}"/>
              </a:ext>
            </a:extLst>
          </p:cNvPr>
          <p:cNvSpPr/>
          <p:nvPr/>
        </p:nvSpPr>
        <p:spPr>
          <a:xfrm>
            <a:off x="6160362" y="942735"/>
            <a:ext cx="5791605" cy="18701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758C98E-EA5D-4E06-48C9-D46E858F1AD6}"/>
              </a:ext>
            </a:extLst>
          </p:cNvPr>
          <p:cNvSpPr/>
          <p:nvPr/>
        </p:nvSpPr>
        <p:spPr>
          <a:xfrm>
            <a:off x="74437" y="767590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1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D394368-C75A-F4B1-E27A-E598449C579A}"/>
              </a:ext>
            </a:extLst>
          </p:cNvPr>
          <p:cNvSpPr/>
          <p:nvPr/>
        </p:nvSpPr>
        <p:spPr>
          <a:xfrm>
            <a:off x="5976166" y="769836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993435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58521-1851-3AC7-EBF9-BCD265769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2854DC1-C131-5E7A-5616-C8ADBB26AA10}"/>
              </a:ext>
            </a:extLst>
          </p:cNvPr>
          <p:cNvSpPr txBox="1"/>
          <p:nvPr/>
        </p:nvSpPr>
        <p:spPr>
          <a:xfrm>
            <a:off x="6243229" y="1092146"/>
            <a:ext cx="5632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W</a:t>
            </a:r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e train regressor on      that minimizes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B72606-3631-E870-174C-357CD55FBAD1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9EADFA-8BAC-34C8-7E89-33033F9A4F2D}"/>
              </a:ext>
            </a:extLst>
          </p:cNvPr>
          <p:cNvSpPr txBox="1"/>
          <p:nvPr/>
        </p:nvSpPr>
        <p:spPr>
          <a:xfrm>
            <a:off x="240033" y="-68478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optimism of the training error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578495-F7C1-B954-873A-DC9F3D384B52}"/>
              </a:ext>
            </a:extLst>
          </p:cNvPr>
          <p:cNvSpPr txBox="1"/>
          <p:nvPr/>
        </p:nvSpPr>
        <p:spPr>
          <a:xfrm>
            <a:off x="348394" y="2211160"/>
            <a:ext cx="57476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We want to estimate the generalization error of       which is defined as per       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7D8A197-E2BB-712B-446D-26F410585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434" y="2662252"/>
            <a:ext cx="355600" cy="292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5C3CA68-6517-883A-ED3A-895C65BC94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4272" y="1187482"/>
            <a:ext cx="254000" cy="2413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AC27231-DE07-A816-EE47-6B2CD34934FC}"/>
              </a:ext>
            </a:extLst>
          </p:cNvPr>
          <p:cNvSpPr txBox="1"/>
          <p:nvPr/>
        </p:nvSpPr>
        <p:spPr>
          <a:xfrm>
            <a:off x="316599" y="1091314"/>
            <a:ext cx="5601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We are given a dataset 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A6E86FF-DEB9-DFE0-B4E0-2DE8799B8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9020" y="1130987"/>
            <a:ext cx="2146300" cy="3937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EB49349-4375-033E-B3EA-31ED058DAE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792" y="1589945"/>
            <a:ext cx="4787900" cy="9652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BB6AF36A-88B5-6381-243A-403AC6EF6ADE}"/>
              </a:ext>
            </a:extLst>
          </p:cNvPr>
          <p:cNvSpPr/>
          <p:nvPr/>
        </p:nvSpPr>
        <p:spPr>
          <a:xfrm>
            <a:off x="240033" y="947291"/>
            <a:ext cx="5614758" cy="78941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CFE8222-BB4E-E882-5DF5-392C9C718BAF}"/>
              </a:ext>
            </a:extLst>
          </p:cNvPr>
          <p:cNvSpPr/>
          <p:nvPr/>
        </p:nvSpPr>
        <p:spPr>
          <a:xfrm>
            <a:off x="6160362" y="942735"/>
            <a:ext cx="5791605" cy="18701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E098AA1-2C5D-7492-DBE1-9D6CABE20B85}"/>
              </a:ext>
            </a:extLst>
          </p:cNvPr>
          <p:cNvSpPr/>
          <p:nvPr/>
        </p:nvSpPr>
        <p:spPr>
          <a:xfrm>
            <a:off x="240033" y="2065749"/>
            <a:ext cx="5614758" cy="18701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DCC3446-D4BE-B0C5-DC75-751AC4E1AA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462" y="3136890"/>
            <a:ext cx="4533900" cy="596900"/>
          </a:xfrm>
          <a:prstGeom prst="rect">
            <a:avLst/>
          </a:prstGeom>
        </p:spPr>
      </p:pic>
      <p:sp>
        <p:nvSpPr>
          <p:cNvPr id="35" name="Oval 34">
            <a:extLst>
              <a:ext uri="{FF2B5EF4-FFF2-40B4-BE49-F238E27FC236}">
                <a16:creationId xmlns:a16="http://schemas.microsoft.com/office/drawing/2014/main" id="{57D1116E-E458-D51B-5A73-5105EE7DBDAD}"/>
              </a:ext>
            </a:extLst>
          </p:cNvPr>
          <p:cNvSpPr/>
          <p:nvPr/>
        </p:nvSpPr>
        <p:spPr>
          <a:xfrm>
            <a:off x="74437" y="767590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1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59D0875-DBFF-E473-5BC8-6AB927EBCF1A}"/>
              </a:ext>
            </a:extLst>
          </p:cNvPr>
          <p:cNvSpPr/>
          <p:nvPr/>
        </p:nvSpPr>
        <p:spPr>
          <a:xfrm>
            <a:off x="5976166" y="769836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2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1EAB030-6351-281C-2BA8-E479900F4756}"/>
              </a:ext>
            </a:extLst>
          </p:cNvPr>
          <p:cNvSpPr/>
          <p:nvPr/>
        </p:nvSpPr>
        <p:spPr>
          <a:xfrm>
            <a:off x="74437" y="1888349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587847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90845-408B-9062-8FF0-C8D225AE3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FA929FB5-5A72-FA1C-570D-D81EF3284ABB}"/>
              </a:ext>
            </a:extLst>
          </p:cNvPr>
          <p:cNvSpPr txBox="1"/>
          <p:nvPr/>
        </p:nvSpPr>
        <p:spPr>
          <a:xfrm>
            <a:off x="6243229" y="1092146"/>
            <a:ext cx="5632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W</a:t>
            </a:r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e train regressor on      that minimizes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22DF19-B855-B1D6-8AB8-FD6D16A7FA6A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29ED43-D695-13DF-A682-51E16FF54BD5}"/>
              </a:ext>
            </a:extLst>
          </p:cNvPr>
          <p:cNvSpPr txBox="1"/>
          <p:nvPr/>
        </p:nvSpPr>
        <p:spPr>
          <a:xfrm>
            <a:off x="240033" y="-68478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optimism of the training error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08373-4D59-7FEA-797E-8B1451184161}"/>
              </a:ext>
            </a:extLst>
          </p:cNvPr>
          <p:cNvSpPr txBox="1"/>
          <p:nvPr/>
        </p:nvSpPr>
        <p:spPr>
          <a:xfrm>
            <a:off x="348394" y="2211160"/>
            <a:ext cx="57476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We want to estimate the generalization error of       which is defined as per       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6D827C1-247A-CA62-1734-0B9BAA698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434" y="2662252"/>
            <a:ext cx="355600" cy="292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6371E4-D4E5-A746-F274-913D46AD9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4272" y="1187482"/>
            <a:ext cx="254000" cy="2413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6ECFA23-3A1F-5F2A-9A16-1CBFF065754C}"/>
              </a:ext>
            </a:extLst>
          </p:cNvPr>
          <p:cNvSpPr txBox="1"/>
          <p:nvPr/>
        </p:nvSpPr>
        <p:spPr>
          <a:xfrm>
            <a:off x="316599" y="1091314"/>
            <a:ext cx="5601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We are given a dataset 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62F2522-BBCC-8169-3951-1A64CE360D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9020" y="1130987"/>
            <a:ext cx="2146300" cy="3937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63727FD-9340-229F-3BBE-055EF07E7A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792" y="1589945"/>
            <a:ext cx="4787900" cy="9652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A4F7F70-68C5-F5C2-A24E-BE1A85FBD15A}"/>
              </a:ext>
            </a:extLst>
          </p:cNvPr>
          <p:cNvSpPr/>
          <p:nvPr/>
        </p:nvSpPr>
        <p:spPr>
          <a:xfrm>
            <a:off x="240033" y="947291"/>
            <a:ext cx="5614758" cy="78941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882CAB7-47A7-470D-8DC2-7EAE73F9BDDB}"/>
              </a:ext>
            </a:extLst>
          </p:cNvPr>
          <p:cNvSpPr/>
          <p:nvPr/>
        </p:nvSpPr>
        <p:spPr>
          <a:xfrm>
            <a:off x="6160362" y="942735"/>
            <a:ext cx="5791605" cy="18701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EF94FDC-D2F5-20EF-0071-FB6354E4A344}"/>
              </a:ext>
            </a:extLst>
          </p:cNvPr>
          <p:cNvSpPr/>
          <p:nvPr/>
        </p:nvSpPr>
        <p:spPr>
          <a:xfrm>
            <a:off x="240033" y="2065749"/>
            <a:ext cx="5614758" cy="18701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D9D1C5-95EC-442E-9ECF-109B958F0434}"/>
              </a:ext>
            </a:extLst>
          </p:cNvPr>
          <p:cNvSpPr txBox="1"/>
          <p:nvPr/>
        </p:nvSpPr>
        <p:spPr>
          <a:xfrm>
            <a:off x="6243228" y="3280569"/>
            <a:ext cx="5747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But we can only obtain an approximation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624935F-790C-2FC3-8D9B-A6A5DE85A6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462" y="3136890"/>
            <a:ext cx="4533900" cy="5969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8C8EAD1-016E-F56A-4D74-BC96C3F37E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3517" y="3869284"/>
            <a:ext cx="4851400" cy="9652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4789BDA-DCF3-598D-315E-DAE4D30696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1460" y="5060391"/>
            <a:ext cx="2159000" cy="3937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BAD0F41-2B05-1C6A-C1DA-4C16623C3D8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67960" y="5600746"/>
            <a:ext cx="2286000" cy="3429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42760FF-2C1E-9DF9-4ADC-498F321DBEC8}"/>
              </a:ext>
            </a:extLst>
          </p:cNvPr>
          <p:cNvSpPr txBox="1"/>
          <p:nvPr/>
        </p:nvSpPr>
        <p:spPr>
          <a:xfrm>
            <a:off x="6907579" y="5223258"/>
            <a:ext cx="1441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s</a:t>
            </a:r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uch that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89C3717-66C9-E750-AFB6-0CA5D2A201BD}"/>
              </a:ext>
            </a:extLst>
          </p:cNvPr>
          <p:cNvSpPr/>
          <p:nvPr/>
        </p:nvSpPr>
        <p:spPr>
          <a:xfrm>
            <a:off x="6160363" y="3144159"/>
            <a:ext cx="5791604" cy="305186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1AE1AB9-9B38-CA16-EFC0-3026E6622DA4}"/>
              </a:ext>
            </a:extLst>
          </p:cNvPr>
          <p:cNvSpPr/>
          <p:nvPr/>
        </p:nvSpPr>
        <p:spPr>
          <a:xfrm>
            <a:off x="74437" y="767590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1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DF7613A-2477-3837-2EA8-B093E839BACB}"/>
              </a:ext>
            </a:extLst>
          </p:cNvPr>
          <p:cNvSpPr/>
          <p:nvPr/>
        </p:nvSpPr>
        <p:spPr>
          <a:xfrm>
            <a:off x="5976166" y="769836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2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FF59C95-05F7-D21C-62C8-5335CB0AAB3B}"/>
              </a:ext>
            </a:extLst>
          </p:cNvPr>
          <p:cNvSpPr/>
          <p:nvPr/>
        </p:nvSpPr>
        <p:spPr>
          <a:xfrm>
            <a:off x="74437" y="1888349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3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2AADF51-0395-8DCA-B2E5-D423A977EFE0}"/>
              </a:ext>
            </a:extLst>
          </p:cNvPr>
          <p:cNvSpPr/>
          <p:nvPr/>
        </p:nvSpPr>
        <p:spPr>
          <a:xfrm>
            <a:off x="5977803" y="2961701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6152033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E6F61-CD75-EC59-93AE-581B720D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1A117EED-042E-90E4-09C2-41B0FC3F2DD5}"/>
              </a:ext>
            </a:extLst>
          </p:cNvPr>
          <p:cNvSpPr txBox="1"/>
          <p:nvPr/>
        </p:nvSpPr>
        <p:spPr>
          <a:xfrm>
            <a:off x="6243229" y="1092146"/>
            <a:ext cx="5632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W</a:t>
            </a:r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e train regressor on      that minimizes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6FD553-89F0-DEA4-082E-FE49703BE624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396205-A2E8-0A94-C5EA-BF847FE0677E}"/>
              </a:ext>
            </a:extLst>
          </p:cNvPr>
          <p:cNvSpPr txBox="1"/>
          <p:nvPr/>
        </p:nvSpPr>
        <p:spPr>
          <a:xfrm>
            <a:off x="240033" y="-68478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optimism of the training error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CC7BF7-6E06-AD73-ABF4-79E5F1462098}"/>
              </a:ext>
            </a:extLst>
          </p:cNvPr>
          <p:cNvSpPr txBox="1"/>
          <p:nvPr/>
        </p:nvSpPr>
        <p:spPr>
          <a:xfrm>
            <a:off x="348394" y="2211160"/>
            <a:ext cx="57476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We want to estimate the generalization error of       which is defined as per       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A2B78B-8A89-9EC5-837C-D43681102E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434" y="2662252"/>
            <a:ext cx="355600" cy="292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BAD747-DF1E-AC1E-6109-1494BAC885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4272" y="1187482"/>
            <a:ext cx="254000" cy="2413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0EB693B-751E-FB9D-ED66-F0D37D558CF2}"/>
              </a:ext>
            </a:extLst>
          </p:cNvPr>
          <p:cNvSpPr txBox="1"/>
          <p:nvPr/>
        </p:nvSpPr>
        <p:spPr>
          <a:xfrm>
            <a:off x="316599" y="1091314"/>
            <a:ext cx="5601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We are given a dataset 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57A5379-41A1-067D-74A3-101C2A68FF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9020" y="1130987"/>
            <a:ext cx="2146300" cy="3937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E6D3C26-FA53-F8F3-FF0B-CBEFACEC7F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792" y="1589945"/>
            <a:ext cx="4787900" cy="9652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0460668-7EDC-1A00-694B-FDEDFB83C280}"/>
              </a:ext>
            </a:extLst>
          </p:cNvPr>
          <p:cNvSpPr/>
          <p:nvPr/>
        </p:nvSpPr>
        <p:spPr>
          <a:xfrm>
            <a:off x="240033" y="947291"/>
            <a:ext cx="5614758" cy="78941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544A6F-A801-C2B6-FB30-373CB92CFC51}"/>
              </a:ext>
            </a:extLst>
          </p:cNvPr>
          <p:cNvSpPr/>
          <p:nvPr/>
        </p:nvSpPr>
        <p:spPr>
          <a:xfrm>
            <a:off x="6160362" y="942735"/>
            <a:ext cx="5791605" cy="18701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1B7B211-0090-CDE1-3E69-AA6C523F40FB}"/>
              </a:ext>
            </a:extLst>
          </p:cNvPr>
          <p:cNvSpPr/>
          <p:nvPr/>
        </p:nvSpPr>
        <p:spPr>
          <a:xfrm>
            <a:off x="240033" y="2065749"/>
            <a:ext cx="5614758" cy="18701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4AA84B-2D97-D59B-B261-85B9238CB862}"/>
              </a:ext>
            </a:extLst>
          </p:cNvPr>
          <p:cNvSpPr txBox="1"/>
          <p:nvPr/>
        </p:nvSpPr>
        <p:spPr>
          <a:xfrm>
            <a:off x="6243228" y="3280569"/>
            <a:ext cx="5747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But we can only obtain an approximation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038E4B3-0F9C-04B2-8CFC-E48A96538F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462" y="3136890"/>
            <a:ext cx="4533900" cy="5969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7649625C-D07B-FFB9-31E6-863224823D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3517" y="3869284"/>
            <a:ext cx="4851400" cy="9652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B2EDEAD-86AA-7904-DAA2-3AE9326B59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1460" y="5060391"/>
            <a:ext cx="2159000" cy="3937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CE4F03E-5C29-7448-9944-BE8B4622525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67960" y="5600746"/>
            <a:ext cx="2286000" cy="3429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E9441DB4-EBD6-034F-CBCE-D90B8988FAA5}"/>
              </a:ext>
            </a:extLst>
          </p:cNvPr>
          <p:cNvSpPr txBox="1"/>
          <p:nvPr/>
        </p:nvSpPr>
        <p:spPr>
          <a:xfrm>
            <a:off x="6907579" y="5223258"/>
            <a:ext cx="1441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s</a:t>
            </a:r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uch that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593C640-0C3C-B692-6477-B790FC9B29FC}"/>
              </a:ext>
            </a:extLst>
          </p:cNvPr>
          <p:cNvSpPr/>
          <p:nvPr/>
        </p:nvSpPr>
        <p:spPr>
          <a:xfrm>
            <a:off x="6160363" y="3144159"/>
            <a:ext cx="5791604" cy="305186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B6561C3-CE25-B093-B808-FF7B35AC9258}"/>
              </a:ext>
            </a:extLst>
          </p:cNvPr>
          <p:cNvSpPr/>
          <p:nvPr/>
        </p:nvSpPr>
        <p:spPr>
          <a:xfrm>
            <a:off x="74437" y="767590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1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6EE8096-D99C-206D-3A41-F25F8F912AB8}"/>
              </a:ext>
            </a:extLst>
          </p:cNvPr>
          <p:cNvSpPr/>
          <p:nvPr/>
        </p:nvSpPr>
        <p:spPr>
          <a:xfrm>
            <a:off x="5976166" y="769836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2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A02F2E2-D3DF-576A-C9FA-240A7FAF6AAB}"/>
              </a:ext>
            </a:extLst>
          </p:cNvPr>
          <p:cNvSpPr/>
          <p:nvPr/>
        </p:nvSpPr>
        <p:spPr>
          <a:xfrm>
            <a:off x="74437" y="1888349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3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FD400D9-97EB-718F-A54D-75B4912CA335}"/>
              </a:ext>
            </a:extLst>
          </p:cNvPr>
          <p:cNvSpPr/>
          <p:nvPr/>
        </p:nvSpPr>
        <p:spPr>
          <a:xfrm>
            <a:off x="5977803" y="2961701"/>
            <a:ext cx="368392" cy="368392"/>
          </a:xfrm>
          <a:prstGeom prst="ellipse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4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B50AB02-3AE0-7586-27BA-CC93751346C8}"/>
              </a:ext>
            </a:extLst>
          </p:cNvPr>
          <p:cNvSpPr/>
          <p:nvPr/>
        </p:nvSpPr>
        <p:spPr>
          <a:xfrm>
            <a:off x="240033" y="4264959"/>
            <a:ext cx="5614758" cy="1267279"/>
          </a:xfrm>
          <a:prstGeom prst="rect">
            <a:avLst/>
          </a:prstGeom>
          <a:noFill/>
          <a:ln w="25400">
            <a:solidFill>
              <a:srgbClr val="FA27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03D1C3C-5711-4CCC-6A9C-FB38B12DAA13}"/>
              </a:ext>
            </a:extLst>
          </p:cNvPr>
          <p:cNvSpPr/>
          <p:nvPr/>
        </p:nvSpPr>
        <p:spPr>
          <a:xfrm>
            <a:off x="74437" y="4081322"/>
            <a:ext cx="368392" cy="368392"/>
          </a:xfrm>
          <a:prstGeom prst="ellipse">
            <a:avLst/>
          </a:prstGeom>
          <a:solidFill>
            <a:schemeClr val="bg1"/>
          </a:solidFill>
          <a:ln w="25400">
            <a:solidFill>
              <a:srgbClr val="FA27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!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E9A90A69-7BC5-2385-1EAC-13A1ADEC63F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60362" y="4958825"/>
            <a:ext cx="2959100" cy="34290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192FC0BF-707A-3E39-823A-2E329084CCAA}"/>
              </a:ext>
            </a:extLst>
          </p:cNvPr>
          <p:cNvSpPr txBox="1"/>
          <p:nvPr/>
        </p:nvSpPr>
        <p:spPr>
          <a:xfrm>
            <a:off x="442829" y="4375443"/>
            <a:ext cx="56147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Beware the optimism of training error!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CFD5E03-2E40-E1A1-916A-2D5068D858F7}"/>
              </a:ext>
            </a:extLst>
          </p:cNvPr>
          <p:cNvCxnSpPr/>
          <p:nvPr/>
        </p:nvCxnSpPr>
        <p:spPr>
          <a:xfrm>
            <a:off x="1349829" y="5684923"/>
            <a:ext cx="1349828" cy="0"/>
          </a:xfrm>
          <a:prstGeom prst="line">
            <a:avLst/>
          </a:prstGeom>
          <a:ln w="50800">
            <a:solidFill>
              <a:srgbClr val="FA27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75B616E2-8679-4341-DC44-CBE3BF2393F4}"/>
              </a:ext>
            </a:extLst>
          </p:cNvPr>
          <p:cNvSpPr txBox="1"/>
          <p:nvPr/>
        </p:nvSpPr>
        <p:spPr>
          <a:xfrm>
            <a:off x="780462" y="5816850"/>
            <a:ext cx="26220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This was the criterion used during the training</a:t>
            </a:r>
          </a:p>
        </p:txBody>
      </p:sp>
    </p:spTree>
    <p:extLst>
      <p:ext uri="{BB962C8B-B14F-4D97-AF65-F5344CB8AC3E}">
        <p14:creationId xmlns:p14="http://schemas.microsoft.com/office/powerpoint/2010/main" val="7258805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0046-EE66-3CE3-25D5-8C741A34B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A3DA9C-35CB-F6E3-ABCC-1B1AC8DF14B8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B7921F-60E7-5E1E-D890-44F0F023E51A}"/>
              </a:ext>
            </a:extLst>
          </p:cNvPr>
          <p:cNvSpPr txBox="1"/>
          <p:nvPr/>
        </p:nvSpPr>
        <p:spPr>
          <a:xfrm>
            <a:off x="240033" y="887780"/>
            <a:ext cx="6617967" cy="4565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b="1" dirty="0">
                <a:solidFill>
                  <a:srgbClr val="0070C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Conclusion:</a:t>
            </a: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can only know if a model is good or not if we </a:t>
            </a:r>
            <a:r>
              <a:rPr lang="en-FR" sz="2400" b="1" dirty="0">
                <a:solidFill>
                  <a:srgbClr val="00B050"/>
                </a:solidFill>
                <a:latin typeface="Roboto ExtraBold" panose="02000000000000000000" pitchFamily="2" charset="0"/>
                <a:ea typeface="Roboto ExtraBold" panose="02000000000000000000" pitchFamily="2" charset="0"/>
                <a:cs typeface="Lato" panose="020F0502020204030203" pitchFamily="34" charset="0"/>
              </a:rPr>
              <a:t>correctly evaluate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its performance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objective function that we minimize when training a model (</a:t>
            </a:r>
            <a:r>
              <a:rPr lang="en-FR" sz="2400" b="1" dirty="0">
                <a:solidFill>
                  <a:srgbClr val="FF0000"/>
                </a:solidFill>
                <a:latin typeface="Roboto ExtraBold" panose="02000000000000000000" pitchFamily="2" charset="0"/>
                <a:ea typeface="Roboto ExtraBold" panose="02000000000000000000" pitchFamily="2" charset="0"/>
                <a:cs typeface="Lato" panose="020F0502020204030203" pitchFamily="34" charset="0"/>
              </a:rPr>
              <a:t>training error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) is never the same as the one we are actually interested in minimizing (</a:t>
            </a:r>
            <a:r>
              <a:rPr lang="en-FR" sz="2400" b="1" dirty="0">
                <a:solidFill>
                  <a:srgbClr val="FF0000"/>
                </a:solidFill>
                <a:latin typeface="Roboto ExtraBold" panose="02000000000000000000" pitchFamily="2" charset="0"/>
                <a:ea typeface="Roboto ExtraBold" panose="02000000000000000000" pitchFamily="2" charset="0"/>
                <a:cs typeface="Lato" panose="020F0502020204030203" pitchFamily="34" charset="0"/>
              </a:rPr>
              <a:t>test error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)</a:t>
            </a: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lvl="1">
              <a:lnSpc>
                <a:spcPct val="150000"/>
              </a:lnSpc>
            </a:pPr>
            <a:endParaRPr lang="en-FR" sz="20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BBE093-32AC-3886-9372-4F5FD63BF429}"/>
              </a:ext>
            </a:extLst>
          </p:cNvPr>
          <p:cNvSpPr txBox="1"/>
          <p:nvPr/>
        </p:nvSpPr>
        <p:spPr>
          <a:xfrm>
            <a:off x="240033" y="-68478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The optimism of the training error</a:t>
            </a:r>
          </a:p>
        </p:txBody>
      </p:sp>
      <p:pic>
        <p:nvPicPr>
          <p:cNvPr id="8" name="Picture 7" descr="A person sitting at a desk with a computer&#10;&#10;Description automatically generated">
            <a:extLst>
              <a:ext uri="{FF2B5EF4-FFF2-40B4-BE49-F238E27FC236}">
                <a16:creationId xmlns:a16="http://schemas.microsoft.com/office/drawing/2014/main" id="{021DC8E7-3629-CDC8-99C0-9E2FB6B75C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9467" y="887780"/>
            <a:ext cx="4762500" cy="5740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2DADBD6-BBDC-AC85-9BDE-7AF96F64CF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8014" y="4526710"/>
            <a:ext cx="3928779" cy="7816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FC81EE-10E6-478C-6A65-5B1CB37640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8014" y="5521712"/>
            <a:ext cx="3795077" cy="81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7794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B5A6047-369C-6986-053F-ABCFC3C4C54B}"/>
              </a:ext>
            </a:extLst>
          </p:cNvPr>
          <p:cNvSpPr/>
          <p:nvPr/>
        </p:nvSpPr>
        <p:spPr>
          <a:xfrm>
            <a:off x="240032" y="2331799"/>
            <a:ext cx="10888711" cy="640800"/>
          </a:xfrm>
          <a:prstGeom prst="roundRect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099745-7ED2-13DF-4B77-D2CC0D23FF41}"/>
              </a:ext>
            </a:extLst>
          </p:cNvPr>
          <p:cNvSpPr txBox="1"/>
          <p:nvPr/>
        </p:nvSpPr>
        <p:spPr>
          <a:xfrm>
            <a:off x="240033" y="1625572"/>
            <a:ext cx="11205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How can we estimate the </a:t>
            </a:r>
            <a:r>
              <a:rPr lang="en-FR" sz="2400" b="1" dirty="0">
                <a:solidFill>
                  <a:srgbClr val="FF000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generalization error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of a model we train on this dataset?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D2AB9F-2DEE-B7B2-F57F-2A36462AD05E}"/>
              </a:ext>
            </a:extLst>
          </p:cNvPr>
          <p:cNvSpPr txBox="1"/>
          <p:nvPr/>
        </p:nvSpPr>
        <p:spPr>
          <a:xfrm>
            <a:off x="345386" y="2436755"/>
            <a:ext cx="1078335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2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Remember:</a:t>
            </a:r>
            <a:r>
              <a:rPr lang="en-FR" sz="2200" b="1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en-FR" sz="2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should evaluate the model on samples that were not used for training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E33CA4-15A1-1C75-E969-1918C9F66286}"/>
              </a:ext>
            </a:extLst>
          </p:cNvPr>
          <p:cNvSpPr txBox="1"/>
          <p:nvPr/>
        </p:nvSpPr>
        <p:spPr>
          <a:xfrm>
            <a:off x="240033" y="919345"/>
            <a:ext cx="5707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are given a dataset with N datapoints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4E08197-6698-816F-8A48-136EF2F302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045" y="862266"/>
            <a:ext cx="2222500" cy="596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1F0DFC-418D-580E-DE86-96DC5B2847D5}"/>
              </a:ext>
            </a:extLst>
          </p:cNvPr>
          <p:cNvSpPr txBox="1"/>
          <p:nvPr/>
        </p:nvSpPr>
        <p:spPr>
          <a:xfrm>
            <a:off x="240033" y="-68478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Cross-validation</a:t>
            </a:r>
          </a:p>
        </p:txBody>
      </p:sp>
    </p:spTree>
    <p:extLst>
      <p:ext uri="{BB962C8B-B14F-4D97-AF65-F5344CB8AC3E}">
        <p14:creationId xmlns:p14="http://schemas.microsoft.com/office/powerpoint/2010/main" val="16067243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A26E6-9AA3-4047-0DCC-311EA8D04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83565FF-F3B3-328D-208D-AE35F2389635}"/>
              </a:ext>
            </a:extLst>
          </p:cNvPr>
          <p:cNvSpPr/>
          <p:nvPr/>
        </p:nvSpPr>
        <p:spPr>
          <a:xfrm>
            <a:off x="240032" y="2331799"/>
            <a:ext cx="10888711" cy="640800"/>
          </a:xfrm>
          <a:prstGeom prst="roundRect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68B75B-F06A-42EE-8DEA-493100D594AE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12520A-8BC1-0404-1834-FF4F18B18A79}"/>
              </a:ext>
            </a:extLst>
          </p:cNvPr>
          <p:cNvSpPr txBox="1"/>
          <p:nvPr/>
        </p:nvSpPr>
        <p:spPr>
          <a:xfrm>
            <a:off x="240033" y="1625572"/>
            <a:ext cx="11205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How can we estimate the </a:t>
            </a:r>
            <a:r>
              <a:rPr lang="en-FR" sz="2400" b="1" dirty="0">
                <a:solidFill>
                  <a:srgbClr val="FF000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generalization error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of a model we train on this dataset?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D0818-C0B0-C7BB-55B5-921ECE8CC5AC}"/>
              </a:ext>
            </a:extLst>
          </p:cNvPr>
          <p:cNvSpPr txBox="1"/>
          <p:nvPr/>
        </p:nvSpPr>
        <p:spPr>
          <a:xfrm>
            <a:off x="345386" y="2436755"/>
            <a:ext cx="1078335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2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Remember:</a:t>
            </a:r>
            <a:r>
              <a:rPr lang="en-FR" sz="2200" b="1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en-FR" sz="2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should evaluate the model on samples that were not used for training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0E1D72-54F8-5965-22DE-CC0C66EAA642}"/>
              </a:ext>
            </a:extLst>
          </p:cNvPr>
          <p:cNvSpPr txBox="1"/>
          <p:nvPr/>
        </p:nvSpPr>
        <p:spPr>
          <a:xfrm>
            <a:off x="240033" y="3177315"/>
            <a:ext cx="57102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Strategy 1 : Single hold-out test point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A1A1D1-507B-808C-0F3B-46723379A7C9}"/>
              </a:ext>
            </a:extLst>
          </p:cNvPr>
          <p:cNvSpPr txBox="1"/>
          <p:nvPr/>
        </p:nvSpPr>
        <p:spPr>
          <a:xfrm>
            <a:off x="240032" y="3743318"/>
            <a:ext cx="78582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fit a model on the first N-1 training samples, calling 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CD9E21-2F19-E7E0-7754-9B9B4E542501}"/>
              </a:ext>
            </a:extLst>
          </p:cNvPr>
          <p:cNvSpPr txBox="1"/>
          <p:nvPr/>
        </p:nvSpPr>
        <p:spPr>
          <a:xfrm>
            <a:off x="240033" y="919345"/>
            <a:ext cx="5707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are given a dataset with N datapoints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6BCEE5C-C518-078C-ADB8-76DF96AF1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045" y="862266"/>
            <a:ext cx="2222500" cy="5969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B368477-5CC5-D8EA-02A1-ED29F4EA1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892" y="3743318"/>
            <a:ext cx="780097" cy="33004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EEE290D-28D8-D94A-1E4D-367C708A9628}"/>
              </a:ext>
            </a:extLst>
          </p:cNvPr>
          <p:cNvSpPr txBox="1"/>
          <p:nvPr/>
        </p:nvSpPr>
        <p:spPr>
          <a:xfrm>
            <a:off x="240032" y="4309099"/>
            <a:ext cx="117599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Treat the last sample 	         as a test sample and estimate generalization error as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7127CD4-7350-874C-2434-5679F87AF0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9297" y="4924569"/>
            <a:ext cx="4493405" cy="7747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4442E2-582C-1166-67CD-0A9BA5C07B0D}"/>
              </a:ext>
            </a:extLst>
          </p:cNvPr>
          <p:cNvSpPr txBox="1"/>
          <p:nvPr/>
        </p:nvSpPr>
        <p:spPr>
          <a:xfrm>
            <a:off x="240032" y="5935478"/>
            <a:ext cx="10298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estimator is easy to calculate but we can expect a rather large variance.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39D381-7004-E17C-645F-0F70A4C563E0}"/>
              </a:ext>
            </a:extLst>
          </p:cNvPr>
          <p:cNvSpPr txBox="1"/>
          <p:nvPr/>
        </p:nvSpPr>
        <p:spPr>
          <a:xfrm>
            <a:off x="240033" y="-68478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Cross-validation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DE3FB2-3476-F909-A04D-923FA2DA55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6280" y="4399105"/>
            <a:ext cx="1320800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7588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43D27-BE35-8C00-D4E4-3A1627D4F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FC4668E-B48E-6555-F52A-0474A75D6454}"/>
              </a:ext>
            </a:extLst>
          </p:cNvPr>
          <p:cNvSpPr/>
          <p:nvPr/>
        </p:nvSpPr>
        <p:spPr>
          <a:xfrm>
            <a:off x="240032" y="2331799"/>
            <a:ext cx="10888711" cy="640800"/>
          </a:xfrm>
          <a:prstGeom prst="roundRect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26C7AC-6B09-CF7F-A49A-DC40D58AA823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926B81-97A3-B8DD-3E3B-F8BC0561CE89}"/>
              </a:ext>
            </a:extLst>
          </p:cNvPr>
          <p:cNvSpPr txBox="1"/>
          <p:nvPr/>
        </p:nvSpPr>
        <p:spPr>
          <a:xfrm>
            <a:off x="240033" y="1625572"/>
            <a:ext cx="11205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How can we estimate the </a:t>
            </a:r>
            <a:r>
              <a:rPr lang="en-FR" sz="2400" b="1" dirty="0">
                <a:solidFill>
                  <a:srgbClr val="FF000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generalization error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of a model we train on this dataset?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AD1323-1418-0598-E081-3C8B7946CC19}"/>
              </a:ext>
            </a:extLst>
          </p:cNvPr>
          <p:cNvSpPr txBox="1"/>
          <p:nvPr/>
        </p:nvSpPr>
        <p:spPr>
          <a:xfrm>
            <a:off x="345386" y="2436755"/>
            <a:ext cx="1078335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2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Remember:</a:t>
            </a:r>
            <a:r>
              <a:rPr lang="en-FR" sz="2200" b="1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en-FR" sz="2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should evaluate the model on samples that were not used for training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F9F24A-CBD3-A14E-DE72-7FD3218AF123}"/>
              </a:ext>
            </a:extLst>
          </p:cNvPr>
          <p:cNvSpPr txBox="1"/>
          <p:nvPr/>
        </p:nvSpPr>
        <p:spPr>
          <a:xfrm>
            <a:off x="240033" y="3177315"/>
            <a:ext cx="7747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Strategy 2 : Leave one out cross-validation (LOOCV)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1C1278-8E26-36D8-6B54-F4A23BD26CE5}"/>
              </a:ext>
            </a:extLst>
          </p:cNvPr>
          <p:cNvSpPr txBox="1"/>
          <p:nvPr/>
        </p:nvSpPr>
        <p:spPr>
          <a:xfrm>
            <a:off x="240032" y="3743318"/>
            <a:ext cx="10451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fit N models on N-1 training samples, holding out       at each time to get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CCEA8D-F754-D68D-BC04-830470080F89}"/>
              </a:ext>
            </a:extLst>
          </p:cNvPr>
          <p:cNvSpPr txBox="1"/>
          <p:nvPr/>
        </p:nvSpPr>
        <p:spPr>
          <a:xfrm>
            <a:off x="240033" y="919345"/>
            <a:ext cx="5707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are given a dataset with N datapoints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743454B-A490-42E9-AC5F-43262D2C8C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045" y="862266"/>
            <a:ext cx="2222500" cy="5969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15499C2-48C8-D5F0-F0EB-4376C11D0F7E}"/>
              </a:ext>
            </a:extLst>
          </p:cNvPr>
          <p:cNvSpPr txBox="1"/>
          <p:nvPr/>
        </p:nvSpPr>
        <p:spPr>
          <a:xfrm>
            <a:off x="240032" y="4309099"/>
            <a:ext cx="4471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test error is approximate as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33F4A2-B559-D412-D3AC-750F6DAB0F0D}"/>
              </a:ext>
            </a:extLst>
          </p:cNvPr>
          <p:cNvSpPr txBox="1"/>
          <p:nvPr/>
        </p:nvSpPr>
        <p:spPr>
          <a:xfrm>
            <a:off x="240032" y="6032929"/>
            <a:ext cx="9658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 variance decreases, but the computational burden is much higher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1C69D0-FF58-D0B2-451F-9CDB59B51368}"/>
              </a:ext>
            </a:extLst>
          </p:cNvPr>
          <p:cNvSpPr txBox="1"/>
          <p:nvPr/>
        </p:nvSpPr>
        <p:spPr>
          <a:xfrm>
            <a:off x="240033" y="-68478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Cross-validation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D973C9-78A1-5B63-6012-C387E8E5C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127" y="3898465"/>
            <a:ext cx="283701" cy="22966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E2F0A4-D37B-1F50-D346-4222DED36B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1767" y="4862445"/>
            <a:ext cx="4917452" cy="107621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CE1A1A9-0442-1564-E7B6-C7C7B69326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3743" y="3780791"/>
            <a:ext cx="6350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1598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515AE-E0D6-1B6C-831B-C61989A4B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DD5133B-8C3B-F320-74B8-E1A2DA44D4EE}"/>
              </a:ext>
            </a:extLst>
          </p:cNvPr>
          <p:cNvSpPr/>
          <p:nvPr/>
        </p:nvSpPr>
        <p:spPr>
          <a:xfrm>
            <a:off x="240032" y="2331799"/>
            <a:ext cx="10888711" cy="640800"/>
          </a:xfrm>
          <a:prstGeom prst="roundRect">
            <a:avLst/>
          </a:prstGeom>
          <a:solidFill>
            <a:srgbClr val="E8EBE4"/>
          </a:solidFill>
          <a:ln w="25400">
            <a:solidFill>
              <a:srgbClr val="5E5E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ED8278-3018-EDA0-EB7F-DC7FFD447BB5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19AE6F-C9C2-D4E8-FA18-5BAAC5CBB5A1}"/>
              </a:ext>
            </a:extLst>
          </p:cNvPr>
          <p:cNvSpPr txBox="1"/>
          <p:nvPr/>
        </p:nvSpPr>
        <p:spPr>
          <a:xfrm>
            <a:off x="240033" y="1625572"/>
            <a:ext cx="11205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How can we estimate the </a:t>
            </a:r>
            <a:r>
              <a:rPr lang="en-FR" sz="2400" b="1" dirty="0">
                <a:solidFill>
                  <a:srgbClr val="FF000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generalization error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of a model we train on this dataset?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9001EE-D011-D2AE-FE81-82BB513AC2B3}"/>
              </a:ext>
            </a:extLst>
          </p:cNvPr>
          <p:cNvSpPr txBox="1"/>
          <p:nvPr/>
        </p:nvSpPr>
        <p:spPr>
          <a:xfrm>
            <a:off x="345386" y="2436755"/>
            <a:ext cx="1078335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2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Remember:</a:t>
            </a:r>
            <a:r>
              <a:rPr lang="en-FR" sz="2200" b="1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en-FR" sz="2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should evaluate the model on samples that were not used for training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D3C879-956F-420E-F63C-B9307AEA6403}"/>
              </a:ext>
            </a:extLst>
          </p:cNvPr>
          <p:cNvSpPr txBox="1"/>
          <p:nvPr/>
        </p:nvSpPr>
        <p:spPr>
          <a:xfrm>
            <a:off x="240033" y="3177315"/>
            <a:ext cx="5442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Strategy 3 : K-Fold cross-validation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77B5BA-491E-09F5-82CD-39182A3F73EB}"/>
              </a:ext>
            </a:extLst>
          </p:cNvPr>
          <p:cNvSpPr txBox="1"/>
          <p:nvPr/>
        </p:nvSpPr>
        <p:spPr>
          <a:xfrm>
            <a:off x="240032" y="3743318"/>
            <a:ext cx="7869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Split the training dataset randomly into K folds so to have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22C5A2-D67C-056E-79EA-ABE98C223DC0}"/>
              </a:ext>
            </a:extLst>
          </p:cNvPr>
          <p:cNvSpPr txBox="1"/>
          <p:nvPr/>
        </p:nvSpPr>
        <p:spPr>
          <a:xfrm>
            <a:off x="240033" y="919345"/>
            <a:ext cx="5707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are given a dataset with N datapoints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A4E2012-9ABD-BE84-7620-A33DE44F6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045" y="862266"/>
            <a:ext cx="2222500" cy="5969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A03766F-BD0E-6A45-473B-0A8E29A9FEE4}"/>
              </a:ext>
            </a:extLst>
          </p:cNvPr>
          <p:cNvSpPr txBox="1"/>
          <p:nvPr/>
        </p:nvSpPr>
        <p:spPr>
          <a:xfrm>
            <a:off x="240032" y="4309099"/>
            <a:ext cx="9191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For k=1,…,K fit a model            on a training set except that excludes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E2B188-A422-D862-7522-84BD91B59DA6}"/>
              </a:ext>
            </a:extLst>
          </p:cNvPr>
          <p:cNvSpPr txBox="1"/>
          <p:nvPr/>
        </p:nvSpPr>
        <p:spPr>
          <a:xfrm>
            <a:off x="240033" y="-68478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Cross-validation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C09197-C07D-538B-322E-08DA2697A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9494" y="3839604"/>
            <a:ext cx="2752720" cy="3041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A55F4C-9DF3-92CE-15A1-B9BB40FEA0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9352" y="4975702"/>
            <a:ext cx="6173296" cy="101152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E7B8BC5-C3BF-1643-0A72-803EAA0E04E7}"/>
              </a:ext>
            </a:extLst>
          </p:cNvPr>
          <p:cNvSpPr txBox="1"/>
          <p:nvPr/>
        </p:nvSpPr>
        <p:spPr>
          <a:xfrm>
            <a:off x="3295572" y="6184151"/>
            <a:ext cx="13499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1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Take average over folds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D6167B7-9761-AD45-D829-D319CD78B69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356570" y="6256040"/>
            <a:ext cx="490036" cy="230371"/>
          </a:xfrm>
          <a:prstGeom prst="bentConnector3">
            <a:avLst>
              <a:gd name="adj1" fmla="val 2265"/>
            </a:avLst>
          </a:prstGeom>
          <a:ln w="25400">
            <a:solidFill>
              <a:srgbClr val="FA274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4F3363A-DD14-94E9-4CE0-6A7F4CD372D3}"/>
              </a:ext>
            </a:extLst>
          </p:cNvPr>
          <p:cNvSpPr/>
          <p:nvPr/>
        </p:nvSpPr>
        <p:spPr>
          <a:xfrm>
            <a:off x="5350626" y="6100082"/>
            <a:ext cx="3505991" cy="55030"/>
          </a:xfrm>
          <a:prstGeom prst="rect">
            <a:avLst/>
          </a:prstGeom>
          <a:solidFill>
            <a:srgbClr val="FA27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0F958D-B571-7245-9D69-41E741E833CE}"/>
              </a:ext>
            </a:extLst>
          </p:cNvPr>
          <p:cNvSpPr txBox="1"/>
          <p:nvPr/>
        </p:nvSpPr>
        <p:spPr>
          <a:xfrm>
            <a:off x="5522394" y="6262529"/>
            <a:ext cx="3131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R" sz="1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Estimate test error for each fold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0492557-2270-A387-6BC3-7289991C9C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8483" y="4346110"/>
            <a:ext cx="685800" cy="3175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3402C36-3140-FA71-07B0-3BB6D0F551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9004" y="4410024"/>
            <a:ext cx="3937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0308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F79948-6CD3-C959-39F4-CBAAABBB7268}"/>
              </a:ext>
            </a:extLst>
          </p:cNvPr>
          <p:cNvSpPr txBox="1"/>
          <p:nvPr/>
        </p:nvSpPr>
        <p:spPr>
          <a:xfrm>
            <a:off x="254386" y="1405853"/>
            <a:ext cx="612028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Note that the </a:t>
            </a:r>
            <a:r>
              <a:rPr lang="en-US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errors calculated in each fold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are not IID random variables, since the models share some of their data points.</a:t>
            </a:r>
          </a:p>
          <a:p>
            <a:pPr marL="342900" indent="-342900">
              <a:buFont typeface="System Font Regular"/>
              <a:buChar char="↳"/>
            </a:pPr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Question:</a:t>
            </a:r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What does this imply?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EE2DD10-5093-275E-409A-5DF7E473ECC7}"/>
              </a:ext>
            </a:extLst>
          </p:cNvPr>
          <p:cNvSpPr/>
          <p:nvPr/>
        </p:nvSpPr>
        <p:spPr>
          <a:xfrm>
            <a:off x="42453" y="1583102"/>
            <a:ext cx="101600" cy="2855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59703A-3B95-B4A0-7E2F-B38AABDD1D1D}"/>
              </a:ext>
            </a:extLst>
          </p:cNvPr>
          <p:cNvSpPr txBox="1"/>
          <p:nvPr/>
        </p:nvSpPr>
        <p:spPr>
          <a:xfrm>
            <a:off x="240033" y="-68478"/>
            <a:ext cx="8414360" cy="684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Cross-validation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D1B345-6496-9FFE-8AB5-03FC282557ED}"/>
              </a:ext>
            </a:extLst>
          </p:cNvPr>
          <p:cNvSpPr txBox="1"/>
          <p:nvPr/>
        </p:nvSpPr>
        <p:spPr>
          <a:xfrm>
            <a:off x="240033" y="783463"/>
            <a:ext cx="5153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Strategy 3 : K-Fold cross-validation</a:t>
            </a:r>
          </a:p>
        </p:txBody>
      </p:sp>
      <p:pic>
        <p:nvPicPr>
          <p:cNvPr id="7" name="Picture 6" descr="A screen shot of a computer&#10;&#10;Description automatically generated">
            <a:extLst>
              <a:ext uri="{FF2B5EF4-FFF2-40B4-BE49-F238E27FC236}">
                <a16:creationId xmlns:a16="http://schemas.microsoft.com/office/drawing/2014/main" id="{49311E0E-AEDD-EEAF-A881-BE481057A5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05" y="3175427"/>
            <a:ext cx="4931568" cy="3505730"/>
          </a:xfrm>
          <a:prstGeom prst="rect">
            <a:avLst/>
          </a:prstGeom>
        </p:spPr>
      </p:pic>
      <p:pic>
        <p:nvPicPr>
          <p:cNvPr id="10" name="Picture 9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4E092733-F2C4-80DB-9D0E-821447C1A3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295" y="1450007"/>
            <a:ext cx="5685845" cy="4075920"/>
          </a:xfrm>
          <a:prstGeom prst="rect">
            <a:avLst/>
          </a:prstGeom>
        </p:spPr>
      </p:pic>
      <p:pic>
        <p:nvPicPr>
          <p:cNvPr id="13" name="Picture 12" descr="A black and orange logo&#10;&#10;Description automatically generated">
            <a:extLst>
              <a:ext uri="{FF2B5EF4-FFF2-40B4-BE49-F238E27FC236}">
                <a16:creationId xmlns:a16="http://schemas.microsoft.com/office/drawing/2014/main" id="{248B46F8-0CA4-111F-8F60-FEE6B29F59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4393" y="761156"/>
            <a:ext cx="1625600" cy="5842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B74283A-E79C-E4B5-4515-B29A01DD842E}"/>
              </a:ext>
            </a:extLst>
          </p:cNvPr>
          <p:cNvSpPr txBox="1"/>
          <p:nvPr/>
        </p:nvSpPr>
        <p:spPr>
          <a:xfrm>
            <a:off x="7673034" y="784800"/>
            <a:ext cx="981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Using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0E37E0-AB19-5B70-9576-F81BCBCA38DC}"/>
              </a:ext>
            </a:extLst>
          </p:cNvPr>
          <p:cNvSpPr txBox="1"/>
          <p:nvPr/>
        </p:nvSpPr>
        <p:spPr>
          <a:xfrm>
            <a:off x="6384297" y="5705790"/>
            <a:ext cx="5509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See the documentation for more details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4339CC-19E4-EF42-A9AB-42D542F2A94C}"/>
              </a:ext>
            </a:extLst>
          </p:cNvPr>
          <p:cNvSpPr/>
          <p:nvPr/>
        </p:nvSpPr>
        <p:spPr>
          <a:xfrm>
            <a:off x="6269640" y="1478598"/>
            <a:ext cx="5685844" cy="4037059"/>
          </a:xfrm>
          <a:prstGeom prst="rect">
            <a:avLst/>
          </a:prstGeom>
          <a:noFill/>
          <a:ln w="508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14915189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99C85-45DD-E58F-01F0-B89C8F8BA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3E2248D-0D9B-901E-7B5B-139B708A3388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535789FB-5DEB-BB57-FF88-EAEE4CC62B6F}"/>
              </a:ext>
            </a:extLst>
          </p:cNvPr>
          <p:cNvSpPr/>
          <p:nvPr/>
        </p:nvSpPr>
        <p:spPr>
          <a:xfrm>
            <a:off x="42453" y="1583102"/>
            <a:ext cx="101600" cy="2855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8E190-E4FE-B6C0-26FA-4049E8EFD8DA}"/>
              </a:ext>
            </a:extLst>
          </p:cNvPr>
          <p:cNvSpPr txBox="1"/>
          <p:nvPr/>
        </p:nvSpPr>
        <p:spPr>
          <a:xfrm>
            <a:off x="240033" y="-68478"/>
            <a:ext cx="8414360" cy="684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Cross-validation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B342F6-8B76-86E5-DDDB-F4AE7C81C6AA}"/>
              </a:ext>
            </a:extLst>
          </p:cNvPr>
          <p:cNvSpPr txBox="1"/>
          <p:nvPr/>
        </p:nvSpPr>
        <p:spPr>
          <a:xfrm>
            <a:off x="240033" y="870020"/>
            <a:ext cx="52629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But there are </a:t>
            </a:r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several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other strategies!</a:t>
            </a:r>
          </a:p>
        </p:txBody>
      </p:sp>
      <p:pic>
        <p:nvPicPr>
          <p:cNvPr id="22" name="Picture 21" descr="A screenshot of a computer&#10;&#10;Description automatically generated">
            <a:extLst>
              <a:ext uri="{FF2B5EF4-FFF2-40B4-BE49-F238E27FC236}">
                <a16:creationId xmlns:a16="http://schemas.microsoft.com/office/drawing/2014/main" id="{9FF94235-D6C7-46EC-ECB8-3754372D90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r="24761" b="78532"/>
          <a:stretch/>
        </p:blipFill>
        <p:spPr>
          <a:xfrm>
            <a:off x="2513621" y="1578967"/>
            <a:ext cx="7164757" cy="1479658"/>
          </a:xfrm>
          <a:prstGeom prst="rect">
            <a:avLst/>
          </a:prstGeom>
        </p:spPr>
      </p:pic>
      <p:pic>
        <p:nvPicPr>
          <p:cNvPr id="2" name="Picture 1" descr="A screenshot of a computer&#10;&#10;Description automatically generated">
            <a:extLst>
              <a:ext uri="{FF2B5EF4-FFF2-40B4-BE49-F238E27FC236}">
                <a16:creationId xmlns:a16="http://schemas.microsoft.com/office/drawing/2014/main" id="{8EC75ED4-5586-76E2-54FE-5C90A66E18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939" r="17211"/>
          <a:stretch/>
        </p:blipFill>
        <p:spPr>
          <a:xfrm>
            <a:off x="2513621" y="3425918"/>
            <a:ext cx="7870587" cy="23437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840C41-53EE-755A-0043-496671209ADF}"/>
              </a:ext>
            </a:extLst>
          </p:cNvPr>
          <p:cNvSpPr txBox="1"/>
          <p:nvPr/>
        </p:nvSpPr>
        <p:spPr>
          <a:xfrm>
            <a:off x="5248651" y="5987980"/>
            <a:ext cx="1694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a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nd more…</a:t>
            </a:r>
          </a:p>
        </p:txBody>
      </p:sp>
    </p:spTree>
    <p:extLst>
      <p:ext uri="{BB962C8B-B14F-4D97-AF65-F5344CB8AC3E}">
        <p14:creationId xmlns:p14="http://schemas.microsoft.com/office/powerpoint/2010/main" val="13791954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6C901-FD4B-C57A-56A6-4DDD0C7B2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BBCAA41-354C-5A39-5540-9B7CA20A01DE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A2416034-FB70-919D-C5AB-BBDD617E675E}"/>
              </a:ext>
            </a:extLst>
          </p:cNvPr>
          <p:cNvSpPr/>
          <p:nvPr/>
        </p:nvSpPr>
        <p:spPr>
          <a:xfrm>
            <a:off x="42453" y="1583102"/>
            <a:ext cx="101600" cy="2855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296105-22A6-77F1-37C9-B1FE2BC5DF01}"/>
              </a:ext>
            </a:extLst>
          </p:cNvPr>
          <p:cNvSpPr txBox="1"/>
          <p:nvPr/>
        </p:nvSpPr>
        <p:spPr>
          <a:xfrm>
            <a:off x="240033" y="-68478"/>
            <a:ext cx="8414360" cy="684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Cross-validation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A38789-8453-DE18-56E5-620587E10648}"/>
              </a:ext>
            </a:extLst>
          </p:cNvPr>
          <p:cNvSpPr txBox="1"/>
          <p:nvPr/>
        </p:nvSpPr>
        <p:spPr>
          <a:xfrm>
            <a:off x="240033" y="871200"/>
            <a:ext cx="80137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(1)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Example with the </a:t>
            </a:r>
            <a:r>
              <a:rPr lang="en-FR" sz="24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categorical variables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from last week</a:t>
            </a:r>
          </a:p>
        </p:txBody>
      </p:sp>
      <p:pic>
        <p:nvPicPr>
          <p:cNvPr id="7" name="Picture 6" descr="A table of numbers with numbers&#10;&#10;Description automatically generated">
            <a:extLst>
              <a:ext uri="{FF2B5EF4-FFF2-40B4-BE49-F238E27FC236}">
                <a16:creationId xmlns:a16="http://schemas.microsoft.com/office/drawing/2014/main" id="{49C69C55-E92A-5B23-C8DE-C8B51AF432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513" y="871200"/>
            <a:ext cx="2997977" cy="5840399"/>
          </a:xfrm>
          <a:prstGeom prst="rect">
            <a:avLst/>
          </a:prstGeom>
        </p:spPr>
      </p:pic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9F0B125E-E218-25F7-67DD-929564FCEA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404" y="1571360"/>
            <a:ext cx="6502400" cy="3835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0B26526-F9AD-9F28-776E-39A00EF6B280}"/>
              </a:ext>
            </a:extLst>
          </p:cNvPr>
          <p:cNvSpPr/>
          <p:nvPr/>
        </p:nvSpPr>
        <p:spPr>
          <a:xfrm>
            <a:off x="332510" y="1571360"/>
            <a:ext cx="6500544" cy="3835400"/>
          </a:xfrm>
          <a:prstGeom prst="rect">
            <a:avLst/>
          </a:prstGeom>
          <a:noFill/>
          <a:ln w="508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52E975-4178-0D96-5331-FF2D3843BDD6}"/>
              </a:ext>
            </a:extLst>
          </p:cNvPr>
          <p:cNvSpPr txBox="1"/>
          <p:nvPr/>
        </p:nvSpPr>
        <p:spPr>
          <a:xfrm>
            <a:off x="6897331" y="3258227"/>
            <a:ext cx="938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17.50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485E86-782F-F428-CF42-5CD3D98F176D}"/>
              </a:ext>
            </a:extLst>
          </p:cNvPr>
          <p:cNvSpPr txBox="1"/>
          <p:nvPr/>
        </p:nvSpPr>
        <p:spPr>
          <a:xfrm>
            <a:off x="7012721" y="4728788"/>
            <a:ext cx="7681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latin typeface="Roboto Light" panose="02000000000000000000" pitchFamily="2" charset="0"/>
                <a:ea typeface="Roboto Light" panose="02000000000000000000" pitchFamily="2" charset="0"/>
              </a:rPr>
              <a:t>4.60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C7DEC2-31DB-4D3A-3B13-2A3F57C1776E}"/>
              </a:ext>
            </a:extLst>
          </p:cNvPr>
          <p:cNvSpPr txBox="1"/>
          <p:nvPr/>
        </p:nvSpPr>
        <p:spPr>
          <a:xfrm>
            <a:off x="240033" y="5645255"/>
            <a:ext cx="30299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What is going on? 😅</a:t>
            </a:r>
          </a:p>
        </p:txBody>
      </p:sp>
    </p:spTree>
    <p:extLst>
      <p:ext uri="{BB962C8B-B14F-4D97-AF65-F5344CB8AC3E}">
        <p14:creationId xmlns:p14="http://schemas.microsoft.com/office/powerpoint/2010/main" val="6070929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AA0FC-D6DB-8493-C624-A349BCD81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9CC2FF2-2D24-3711-520D-CE56ECA6E91D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9CB29AB4-581F-CBB9-C3AD-99E222EFE280}"/>
              </a:ext>
            </a:extLst>
          </p:cNvPr>
          <p:cNvSpPr/>
          <p:nvPr/>
        </p:nvSpPr>
        <p:spPr>
          <a:xfrm>
            <a:off x="42453" y="1583102"/>
            <a:ext cx="101600" cy="2855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FBD978-FA31-600B-AA52-BE1058DA0DCD}"/>
              </a:ext>
            </a:extLst>
          </p:cNvPr>
          <p:cNvSpPr txBox="1"/>
          <p:nvPr/>
        </p:nvSpPr>
        <p:spPr>
          <a:xfrm>
            <a:off x="240033" y="-68478"/>
            <a:ext cx="8414360" cy="684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Cross-validation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146247-AC1D-77AE-A157-F944EEA44440}"/>
              </a:ext>
            </a:extLst>
          </p:cNvPr>
          <p:cNvSpPr txBox="1"/>
          <p:nvPr/>
        </p:nvSpPr>
        <p:spPr>
          <a:xfrm>
            <a:off x="240033" y="871200"/>
            <a:ext cx="11298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(2)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Example with </a:t>
            </a:r>
            <a:r>
              <a:rPr lang="en-FR" sz="24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financial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time series: predict CVX’s quotes based on other quotes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C50B6A-0D34-885A-2888-8AED1770DE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23" r="4493" b="8058"/>
          <a:stretch/>
        </p:blipFill>
        <p:spPr>
          <a:xfrm>
            <a:off x="1407295" y="1495840"/>
            <a:ext cx="9377409" cy="5245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2795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C1F0C-88C0-F76B-3E5C-361B1C463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5B3B9B6-F251-5A74-3112-9FA4563994F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C81D1CC3-BAB7-36F7-9A59-0F2E15ABB3B6}"/>
              </a:ext>
            </a:extLst>
          </p:cNvPr>
          <p:cNvSpPr/>
          <p:nvPr/>
        </p:nvSpPr>
        <p:spPr>
          <a:xfrm>
            <a:off x="42453" y="1583102"/>
            <a:ext cx="101600" cy="2855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16A2FD-F1AB-8580-2309-2A24EB041E14}"/>
              </a:ext>
            </a:extLst>
          </p:cNvPr>
          <p:cNvSpPr txBox="1"/>
          <p:nvPr/>
        </p:nvSpPr>
        <p:spPr>
          <a:xfrm>
            <a:off x="240033" y="-68478"/>
            <a:ext cx="8414360" cy="684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Cross-validation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DC5263-F908-6046-25C8-5EF483BB5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261" y="1511958"/>
            <a:ext cx="6769100" cy="22987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03B0E69-23B3-CA44-71AD-54DC77721266}"/>
              </a:ext>
            </a:extLst>
          </p:cNvPr>
          <p:cNvSpPr/>
          <p:nvPr/>
        </p:nvSpPr>
        <p:spPr>
          <a:xfrm>
            <a:off x="348261" y="1511958"/>
            <a:ext cx="6769100" cy="2298700"/>
          </a:xfrm>
          <a:prstGeom prst="rect">
            <a:avLst/>
          </a:prstGeom>
          <a:noFill/>
          <a:ln w="508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B744E8-4C7F-9BEA-DE94-D7976F9D6EE3}"/>
              </a:ext>
            </a:extLst>
          </p:cNvPr>
          <p:cNvSpPr txBox="1"/>
          <p:nvPr/>
        </p:nvSpPr>
        <p:spPr>
          <a:xfrm>
            <a:off x="7184572" y="3196347"/>
            <a:ext cx="7681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0.95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AC7A84-BA6A-DD90-E319-DF1375B074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486" y="1743565"/>
            <a:ext cx="3167661" cy="741367"/>
          </a:xfrm>
          <a:prstGeom prst="rect">
            <a:avLst/>
          </a:prstGeom>
        </p:spPr>
      </p:pic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29AE11E8-4622-58BF-7574-509A4C0676AA}"/>
              </a:ext>
            </a:extLst>
          </p:cNvPr>
          <p:cNvCxnSpPr>
            <a:cxnSpLocks/>
          </p:cNvCxnSpPr>
          <p:nvPr/>
        </p:nvCxnSpPr>
        <p:spPr>
          <a:xfrm rot="10800000" flipV="1">
            <a:off x="8134597" y="2805825"/>
            <a:ext cx="1997222" cy="621352"/>
          </a:xfrm>
          <a:prstGeom prst="bentConnector3">
            <a:avLst>
              <a:gd name="adj1" fmla="val 875"/>
            </a:avLst>
          </a:prstGeom>
          <a:ln w="38100">
            <a:solidFill>
              <a:srgbClr val="FA274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6C71438-D066-3225-6002-62739CD61F7D}"/>
              </a:ext>
            </a:extLst>
          </p:cNvPr>
          <p:cNvSpPr txBox="1"/>
          <p:nvPr/>
        </p:nvSpPr>
        <p:spPr>
          <a:xfrm>
            <a:off x="240033" y="871200"/>
            <a:ext cx="11298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(2)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Example with </a:t>
            </a:r>
            <a:r>
              <a:rPr lang="en-FR" sz="24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financial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time series: predict CVX’s quotes based on other quotes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ED49A7-D08E-41FD-61B8-8758AF182A0F}"/>
              </a:ext>
            </a:extLst>
          </p:cNvPr>
          <p:cNvSpPr txBox="1"/>
          <p:nvPr/>
        </p:nvSpPr>
        <p:spPr>
          <a:xfrm>
            <a:off x="240033" y="3990525"/>
            <a:ext cx="101296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This looks like an almost perfect prediction! 💸 Does it sound right to you?</a:t>
            </a:r>
          </a:p>
        </p:txBody>
      </p:sp>
    </p:spTree>
    <p:extLst>
      <p:ext uri="{BB962C8B-B14F-4D97-AF65-F5344CB8AC3E}">
        <p14:creationId xmlns:p14="http://schemas.microsoft.com/office/powerpoint/2010/main" val="22904145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8A700-63E5-EFC0-3F48-A7A43A4B0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CCE1EB8-D99A-7CAE-7FA1-B61412D9F53E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072D21C-852A-A6F0-D898-970224355322}"/>
              </a:ext>
            </a:extLst>
          </p:cNvPr>
          <p:cNvSpPr/>
          <p:nvPr/>
        </p:nvSpPr>
        <p:spPr>
          <a:xfrm>
            <a:off x="42453" y="1583102"/>
            <a:ext cx="101600" cy="2855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2419AA-F03F-D73E-E47E-8F6E401E95C9}"/>
              </a:ext>
            </a:extLst>
          </p:cNvPr>
          <p:cNvSpPr txBox="1"/>
          <p:nvPr/>
        </p:nvSpPr>
        <p:spPr>
          <a:xfrm>
            <a:off x="240033" y="-68478"/>
            <a:ext cx="8414360" cy="684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Cross-validation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8FB427-AB6A-2BBA-28EA-2194E2C2A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261" y="1511958"/>
            <a:ext cx="6769100" cy="22987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4029AFA-F2AB-A93B-105E-3C2ED85A0ABC}"/>
              </a:ext>
            </a:extLst>
          </p:cNvPr>
          <p:cNvSpPr/>
          <p:nvPr/>
        </p:nvSpPr>
        <p:spPr>
          <a:xfrm>
            <a:off x="348261" y="1511958"/>
            <a:ext cx="6769100" cy="2298700"/>
          </a:xfrm>
          <a:prstGeom prst="rect">
            <a:avLst/>
          </a:prstGeom>
          <a:noFill/>
          <a:ln w="508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E89939-61D4-C777-33A7-B94D79DEDCD7}"/>
              </a:ext>
            </a:extLst>
          </p:cNvPr>
          <p:cNvSpPr txBox="1"/>
          <p:nvPr/>
        </p:nvSpPr>
        <p:spPr>
          <a:xfrm>
            <a:off x="7184572" y="3196347"/>
            <a:ext cx="7681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0.95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D1EA41-B822-D1BE-94C5-2092D57A8BED}"/>
              </a:ext>
            </a:extLst>
          </p:cNvPr>
          <p:cNvSpPr txBox="1"/>
          <p:nvPr/>
        </p:nvSpPr>
        <p:spPr>
          <a:xfrm>
            <a:off x="240033" y="3990525"/>
            <a:ext cx="101296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This looks like an almost perfect prediction! 💸 Does it sound right to you?</a:t>
            </a:r>
          </a:p>
        </p:txBody>
      </p:sp>
      <p:pic>
        <p:nvPicPr>
          <p:cNvPr id="11" name="Picture 10" descr="A close-up of a code&#10;&#10;Description automatically generated">
            <a:extLst>
              <a:ext uri="{FF2B5EF4-FFF2-40B4-BE49-F238E27FC236}">
                <a16:creationId xmlns:a16="http://schemas.microsoft.com/office/drawing/2014/main" id="{280CFEDF-A9DF-01CF-47D9-CE98957183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61" y="4633659"/>
            <a:ext cx="5981700" cy="1397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97A9431-3C98-049E-4C0D-C8DEB25E45D8}"/>
              </a:ext>
            </a:extLst>
          </p:cNvPr>
          <p:cNvSpPr/>
          <p:nvPr/>
        </p:nvSpPr>
        <p:spPr>
          <a:xfrm>
            <a:off x="348261" y="4680489"/>
            <a:ext cx="6769100" cy="1302670"/>
          </a:xfrm>
          <a:prstGeom prst="rect">
            <a:avLst/>
          </a:prstGeom>
          <a:noFill/>
          <a:ln w="50800">
            <a:solidFill>
              <a:srgbClr val="5E5E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1230B4-9299-C2AB-D89B-3794E54BE01D}"/>
              </a:ext>
            </a:extLst>
          </p:cNvPr>
          <p:cNvSpPr txBox="1"/>
          <p:nvPr/>
        </p:nvSpPr>
        <p:spPr>
          <a:xfrm>
            <a:off x="7184571" y="5521494"/>
            <a:ext cx="856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-3.10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E58C63-3221-1150-EE9B-550D24A2CD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1486" y="1743565"/>
            <a:ext cx="3167661" cy="741367"/>
          </a:xfrm>
          <a:prstGeom prst="rect">
            <a:avLst/>
          </a:prstGeom>
        </p:spPr>
      </p:pic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C8634DA2-48E5-7544-9814-F808CEAED58D}"/>
              </a:ext>
            </a:extLst>
          </p:cNvPr>
          <p:cNvCxnSpPr>
            <a:cxnSpLocks/>
          </p:cNvCxnSpPr>
          <p:nvPr/>
        </p:nvCxnSpPr>
        <p:spPr>
          <a:xfrm rot="10800000" flipV="1">
            <a:off x="8134597" y="2805825"/>
            <a:ext cx="1997222" cy="621352"/>
          </a:xfrm>
          <a:prstGeom prst="bentConnector3">
            <a:avLst>
              <a:gd name="adj1" fmla="val 875"/>
            </a:avLst>
          </a:prstGeom>
          <a:ln w="38100">
            <a:solidFill>
              <a:srgbClr val="FA274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DEE2D2E-6D7B-42F5-6EFD-8D2E95D369C8}"/>
              </a:ext>
            </a:extLst>
          </p:cNvPr>
          <p:cNvSpPr txBox="1"/>
          <p:nvPr/>
        </p:nvSpPr>
        <p:spPr>
          <a:xfrm>
            <a:off x="240033" y="6211458"/>
            <a:ext cx="4956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Disappointing, but closer to reality…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6F4B64-5A5F-9575-91B4-459E50D702B2}"/>
              </a:ext>
            </a:extLst>
          </p:cNvPr>
          <p:cNvSpPr txBox="1"/>
          <p:nvPr/>
        </p:nvSpPr>
        <p:spPr>
          <a:xfrm>
            <a:off x="240033" y="871200"/>
            <a:ext cx="11298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(2)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Example with </a:t>
            </a:r>
            <a:r>
              <a:rPr lang="en-FR" sz="24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financial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time series: predict CVX’s quotes based on other quotes</a:t>
            </a:r>
          </a:p>
        </p:txBody>
      </p:sp>
    </p:spTree>
    <p:extLst>
      <p:ext uri="{BB962C8B-B14F-4D97-AF65-F5344CB8AC3E}">
        <p14:creationId xmlns:p14="http://schemas.microsoft.com/office/powerpoint/2010/main" val="3058403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70DCA-978F-60E9-2F81-5AB284835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B915DF5-6D5B-B60A-1366-320B8A49B6C5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0B7BE-FA4F-61E5-FC71-C8C813D57C6A}"/>
              </a:ext>
            </a:extLst>
          </p:cNvPr>
          <p:cNvSpPr txBox="1"/>
          <p:nvPr/>
        </p:nvSpPr>
        <p:spPr>
          <a:xfrm>
            <a:off x="240033" y="-68478"/>
            <a:ext cx="8414360" cy="684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Cross-validation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BC5F19-88BF-818D-3B38-EF6FC95DB95B}"/>
              </a:ext>
            </a:extLst>
          </p:cNvPr>
          <p:cNvSpPr txBox="1"/>
          <p:nvPr/>
        </p:nvSpPr>
        <p:spPr>
          <a:xfrm>
            <a:off x="240033" y="871200"/>
            <a:ext cx="9733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(3)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Choosing the best order for the polynomial approximating a dataset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4C4E3ED-85D0-624A-9C1B-208C640543CC}"/>
              </a:ext>
            </a:extLst>
          </p:cNvPr>
          <p:cNvGrpSpPr/>
          <p:nvPr/>
        </p:nvGrpSpPr>
        <p:grpSpPr>
          <a:xfrm>
            <a:off x="242887" y="1581327"/>
            <a:ext cx="11706226" cy="4078023"/>
            <a:chOff x="240032" y="1468337"/>
            <a:chExt cx="11706226" cy="4078023"/>
          </a:xfrm>
        </p:grpSpPr>
        <p:pic>
          <p:nvPicPr>
            <p:cNvPr id="21" name="Picture 20" descr="A screenshot of a computer code&#10;&#10;AI-generated content may be incorrect.">
              <a:extLst>
                <a:ext uri="{FF2B5EF4-FFF2-40B4-BE49-F238E27FC236}">
                  <a16:creationId xmlns:a16="http://schemas.microsoft.com/office/drawing/2014/main" id="{D260F629-1DF7-31D6-8E9C-51FA71E63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9993" y="1581327"/>
              <a:ext cx="5257800" cy="3629025"/>
            </a:xfrm>
            <a:prstGeom prst="rect">
              <a:avLst/>
            </a:prstGeom>
          </p:spPr>
        </p:pic>
        <p:pic>
          <p:nvPicPr>
            <p:cNvPr id="23" name="Picture 22" descr="A screenshot of a computer code&#10;&#10;AI-generated content may be incorrect.">
              <a:extLst>
                <a:ext uri="{FF2B5EF4-FFF2-40B4-BE49-F238E27FC236}">
                  <a16:creationId xmlns:a16="http://schemas.microsoft.com/office/drawing/2014/main" id="{268A3DC0-33F0-9989-A2AA-FC3489F93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97833" y="1581327"/>
              <a:ext cx="6448425" cy="3829050"/>
            </a:xfrm>
            <a:prstGeom prst="rect">
              <a:avLst/>
            </a:prstGeom>
          </p:spPr>
        </p:pic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E62F1EB-CD18-4B20-E6CB-56869FCB3C5E}"/>
                </a:ext>
              </a:extLst>
            </p:cNvPr>
            <p:cNvSpPr/>
            <p:nvPr/>
          </p:nvSpPr>
          <p:spPr>
            <a:xfrm>
              <a:off x="240032" y="1468337"/>
              <a:ext cx="11706225" cy="4078023"/>
            </a:xfrm>
            <a:prstGeom prst="rect">
              <a:avLst/>
            </a:prstGeom>
            <a:noFill/>
            <a:ln w="50800">
              <a:solidFill>
                <a:srgbClr val="5E5E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R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62A74BDF-CCAC-45F2-051F-630A0A38896D}"/>
              </a:ext>
            </a:extLst>
          </p:cNvPr>
          <p:cNvSpPr txBox="1"/>
          <p:nvPr/>
        </p:nvSpPr>
        <p:spPr>
          <a:xfrm>
            <a:off x="115836" y="5907812"/>
            <a:ext cx="11960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We’re using several scikit-learn important concepts : transformers, pipelines, grid search</a:t>
            </a:r>
          </a:p>
        </p:txBody>
      </p:sp>
    </p:spTree>
    <p:extLst>
      <p:ext uri="{BB962C8B-B14F-4D97-AF65-F5344CB8AC3E}">
        <p14:creationId xmlns:p14="http://schemas.microsoft.com/office/powerpoint/2010/main" val="35963343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638A-803C-62B1-B859-10FCF975F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A194EAF-15AA-9655-AC46-7103F4FC2B11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DD8AE-DBC7-13B2-D836-1BCEB9412631}"/>
              </a:ext>
            </a:extLst>
          </p:cNvPr>
          <p:cNvSpPr txBox="1"/>
          <p:nvPr/>
        </p:nvSpPr>
        <p:spPr>
          <a:xfrm>
            <a:off x="240033" y="-68478"/>
            <a:ext cx="8414360" cy="684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Cross-validation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2A3B1C-8D58-ABD6-DB9C-6BD3B7145CF0}"/>
              </a:ext>
            </a:extLst>
          </p:cNvPr>
          <p:cNvSpPr txBox="1"/>
          <p:nvPr/>
        </p:nvSpPr>
        <p:spPr>
          <a:xfrm>
            <a:off x="240033" y="871200"/>
            <a:ext cx="9733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b="1" dirty="0">
                <a:solidFill>
                  <a:srgbClr val="FA274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(3)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Choosing the best order for the polynomial approximating a dataset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493931-5920-44F1-B6D7-FA253F142180}"/>
              </a:ext>
            </a:extLst>
          </p:cNvPr>
          <p:cNvSpPr txBox="1"/>
          <p:nvPr/>
        </p:nvSpPr>
        <p:spPr>
          <a:xfrm>
            <a:off x="115836" y="5907812"/>
            <a:ext cx="11960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We’re using several scikit-learn important concepts : transformers, pipelines, grid search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0040EB-7E82-3F8E-D850-1F64A11366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720" r="8106"/>
          <a:stretch/>
        </p:blipFill>
        <p:spPr>
          <a:xfrm>
            <a:off x="3320319" y="1447718"/>
            <a:ext cx="5041692" cy="4460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90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143BA-FED4-A065-A402-7A3599006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98B8239-FF03-5129-85F5-FE8BAEEA30C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pic>
        <p:nvPicPr>
          <p:cNvPr id="5" name="Graphic 4" descr="Right pointing backhand index outline">
            <a:extLst>
              <a:ext uri="{FF2B5EF4-FFF2-40B4-BE49-F238E27FC236}">
                <a16:creationId xmlns:a16="http://schemas.microsoft.com/office/drawing/2014/main" id="{29F4205E-C82C-8662-809D-E11C2C988E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0324" y="4638836"/>
            <a:ext cx="1083311" cy="10833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E6A051-8205-C8E2-C16E-31E466C59812}"/>
              </a:ext>
            </a:extLst>
          </p:cNvPr>
          <p:cNvSpPr txBox="1"/>
          <p:nvPr/>
        </p:nvSpPr>
        <p:spPr>
          <a:xfrm>
            <a:off x="2221177" y="2080988"/>
            <a:ext cx="8518679" cy="33239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What makes a model </a:t>
            </a:r>
            <a:r>
              <a:rPr lang="en-FR" sz="42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good</a:t>
            </a: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?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Estimating the quality of a model</a:t>
            </a:r>
          </a:p>
          <a:p>
            <a:pPr marL="571500" indent="-571500">
              <a:buFont typeface="Courier New" panose="02070309020205020404" pitchFamily="49" charset="0"/>
              <a:buChar char="o"/>
            </a:pPr>
            <a:endParaRPr lang="en-FR" sz="42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571500" indent="-571500">
              <a:buFont typeface="Courier New" panose="02070309020205020404" pitchFamily="49" charset="0"/>
              <a:buChar char="o"/>
            </a:pPr>
            <a:r>
              <a:rPr lang="en-FR" sz="4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Comparing and selecting models</a:t>
            </a:r>
          </a:p>
        </p:txBody>
      </p:sp>
    </p:spTree>
    <p:extLst>
      <p:ext uri="{BB962C8B-B14F-4D97-AF65-F5344CB8AC3E}">
        <p14:creationId xmlns:p14="http://schemas.microsoft.com/office/powerpoint/2010/main" val="20330077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E5ABBC-E592-BDEA-BDA0-9EB632F88E2C}"/>
              </a:ext>
            </a:extLst>
          </p:cNvPr>
          <p:cNvSpPr txBox="1"/>
          <p:nvPr/>
        </p:nvSpPr>
        <p:spPr>
          <a:xfrm>
            <a:off x="240033" y="-10863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Comparing and selecting models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18FDA-38CB-7DD6-6AC7-A7048281CA80}"/>
              </a:ext>
            </a:extLst>
          </p:cNvPr>
          <p:cNvSpPr txBox="1"/>
          <p:nvPr/>
        </p:nvSpPr>
        <p:spPr>
          <a:xfrm>
            <a:off x="240033" y="891034"/>
            <a:ext cx="11351076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Suppose we are given a dataset with </a:t>
            </a:r>
            <a:r>
              <a:rPr lang="en-FR" sz="2400" i="1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p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predictors.</a:t>
            </a:r>
          </a:p>
          <a:p>
            <a:endParaRPr lang="en-FR" sz="2200" dirty="0">
              <a:solidFill>
                <a:srgbClr val="5E5E5E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want to estimate a linear model with only a subset of them.</a:t>
            </a:r>
          </a:p>
          <a:p>
            <a:endParaRPr lang="en-FR" sz="2200" dirty="0">
              <a:solidFill>
                <a:srgbClr val="5E5E5E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There are mainly </a:t>
            </a:r>
            <a:r>
              <a:rPr lang="en-FR" sz="24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three strategies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for doing this properly:</a:t>
            </a:r>
          </a:p>
          <a:p>
            <a:endParaRPr lang="en-FR" sz="2200" dirty="0">
              <a:solidFill>
                <a:srgbClr val="5E5E5E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Shrinkage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fits a model with all p predictors but using a modified loss function that drives some parameters to zero automatically. 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(Razan will talk about this)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FR" sz="2400" dirty="0">
              <a:solidFill>
                <a:srgbClr val="FA2743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can use </a:t>
            </a:r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dimensionality reduction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techniques to project the </a:t>
            </a:r>
            <a:r>
              <a:rPr lang="en-FR" sz="2400" i="1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p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predictors to a lower-dimensional subspace. </a:t>
            </a:r>
            <a:r>
              <a:rPr lang="en-FR" sz="2400" dirty="0">
                <a:solidFill>
                  <a:srgbClr val="FA2743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(We will see how to do this in CM4 and TP2)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FR" sz="2400" dirty="0">
              <a:solidFill>
                <a:srgbClr val="5E5E5E"/>
              </a:solidFill>
              <a:latin typeface="Roboto Light" panose="02000000000000000000" pitchFamily="2" charset="0"/>
              <a:ea typeface="Roboto Light" panose="02000000000000000000" pitchFamily="2" charset="0"/>
              <a:cs typeface="Lato" panose="020F0502020204030203" pitchFamily="34" charset="0"/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In </a:t>
            </a:r>
            <a:r>
              <a:rPr lang="en-FR" sz="24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subset selection 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we identify a subset of the predictors that seems the most adequate and then fit a model with them.</a:t>
            </a:r>
          </a:p>
        </p:txBody>
      </p:sp>
    </p:spTree>
    <p:extLst>
      <p:ext uri="{BB962C8B-B14F-4D97-AF65-F5344CB8AC3E}">
        <p14:creationId xmlns:p14="http://schemas.microsoft.com/office/powerpoint/2010/main" val="25198812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3943688-A88C-5DC6-8B52-140F5B0C2E4B}"/>
              </a:ext>
            </a:extLst>
          </p:cNvPr>
          <p:cNvSpPr txBox="1"/>
          <p:nvPr/>
        </p:nvSpPr>
        <p:spPr>
          <a:xfrm>
            <a:off x="1670709" y="2246281"/>
            <a:ext cx="88999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Let          denote a model with no predictors (i.e. just the intercept) </a:t>
            </a:r>
            <a:endParaRPr lang="en-FR" sz="2400" b="1" dirty="0">
              <a:solidFill>
                <a:srgbClr val="00B050"/>
              </a:solidFill>
              <a:latin typeface="Roboto Black" panose="02000000000000000000" pitchFamily="2" charset="0"/>
              <a:ea typeface="Roboto Black" panose="02000000000000000000" pitchFamily="2" charset="0"/>
              <a:cs typeface="Lato" panose="020F0502020204030203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AF323-FAD1-DE30-4AFD-BDD8B28B0720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18FDA-38CB-7DD6-6AC7-A7048281CA80}"/>
              </a:ext>
            </a:extLst>
          </p:cNvPr>
          <p:cNvSpPr txBox="1"/>
          <p:nvPr/>
        </p:nvSpPr>
        <p:spPr>
          <a:xfrm>
            <a:off x="240033" y="1491945"/>
            <a:ext cx="11351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So we prefer to proceed greedily with e.g. </a:t>
            </a:r>
            <a:r>
              <a:rPr lang="en-FR" sz="24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forward stepwise selection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6F7EDC-5B5E-69DA-A938-18B199328BFB}"/>
              </a:ext>
            </a:extLst>
          </p:cNvPr>
          <p:cNvSpPr txBox="1"/>
          <p:nvPr/>
        </p:nvSpPr>
        <p:spPr>
          <a:xfrm>
            <a:off x="240033" y="-10863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Comparing and selecting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E55F4-7DB4-A2C1-3391-BD2856A35BEC}"/>
              </a:ext>
            </a:extLst>
          </p:cNvPr>
          <p:cNvSpPr txBox="1"/>
          <p:nvPr/>
        </p:nvSpPr>
        <p:spPr>
          <a:xfrm>
            <a:off x="240033" y="826509"/>
            <a:ext cx="11351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When p is large, testing all 2</a:t>
            </a:r>
            <a:r>
              <a:rPr lang="en-FR" sz="2400" baseline="300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p</a:t>
            </a:r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 possible models can be very time consuming…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503E19C-4259-BD32-0E54-A612DBC98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697" y="2350113"/>
            <a:ext cx="520700" cy="3048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565F4DF-6EFB-78A3-4C21-717B6142197E}"/>
              </a:ext>
            </a:extLst>
          </p:cNvPr>
          <p:cNvSpPr txBox="1"/>
          <p:nvPr/>
        </p:nvSpPr>
        <p:spPr>
          <a:xfrm>
            <a:off x="1069818" y="2246281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400" b="1" dirty="0">
                <a:latin typeface="Roboto Black" panose="02000000000000000000" pitchFamily="2" charset="0"/>
                <a:ea typeface="Roboto Black" panose="02000000000000000000" pitchFamily="2" charset="0"/>
              </a:rPr>
              <a:t>(1)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6890689-61D0-ADC2-139D-F56A954880D7}"/>
              </a:ext>
            </a:extLst>
          </p:cNvPr>
          <p:cNvGrpSpPr/>
          <p:nvPr/>
        </p:nvGrpSpPr>
        <p:grpSpPr>
          <a:xfrm>
            <a:off x="1059097" y="3119488"/>
            <a:ext cx="10092196" cy="2009445"/>
            <a:chOff x="229312" y="2835516"/>
            <a:chExt cx="10092196" cy="200944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5C97CEA-0180-4853-DB2D-939272E403AE}"/>
                </a:ext>
              </a:extLst>
            </p:cNvPr>
            <p:cNvSpPr txBox="1"/>
            <p:nvPr/>
          </p:nvSpPr>
          <p:spPr>
            <a:xfrm>
              <a:off x="840924" y="2835517"/>
              <a:ext cx="74648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FR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For  </a:t>
              </a:r>
              <a:endParaRPr lang="en-FR" sz="24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4D1ACC7F-AE03-B3A8-1039-898A98B17B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3541" y="2941582"/>
              <a:ext cx="2222500" cy="3048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F2D926E-F012-BD85-9349-CF92653E62C2}"/>
                </a:ext>
              </a:extLst>
            </p:cNvPr>
            <p:cNvSpPr txBox="1"/>
            <p:nvPr/>
          </p:nvSpPr>
          <p:spPr>
            <a:xfrm>
              <a:off x="229312" y="2835516"/>
              <a:ext cx="58060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sz="2400" b="1" dirty="0">
                  <a:latin typeface="Roboto Black" panose="02000000000000000000" pitchFamily="2" charset="0"/>
                  <a:ea typeface="Roboto Black" panose="02000000000000000000" pitchFamily="2" charset="0"/>
                </a:rPr>
                <a:t>(2)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AED68C1-EF0E-A673-FF01-363977CD3078}"/>
                </a:ext>
              </a:extLst>
            </p:cNvPr>
            <p:cNvSpPr txBox="1"/>
            <p:nvPr/>
          </p:nvSpPr>
          <p:spPr>
            <a:xfrm>
              <a:off x="840924" y="3429000"/>
              <a:ext cx="58060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sz="2400" b="1" dirty="0">
                  <a:latin typeface="Roboto Black" panose="02000000000000000000" pitchFamily="2" charset="0"/>
                  <a:ea typeface="Roboto Black" panose="02000000000000000000" pitchFamily="2" charset="0"/>
                </a:rPr>
                <a:t>(a)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59305C7-168B-4756-B1AD-F957C35C7CAC}"/>
                </a:ext>
              </a:extLst>
            </p:cNvPr>
            <p:cNvSpPr txBox="1"/>
            <p:nvPr/>
          </p:nvSpPr>
          <p:spPr>
            <a:xfrm>
              <a:off x="1421532" y="3457246"/>
              <a:ext cx="889997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FR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Consider all             models that augment the predictors in         by one extra predictor</a:t>
              </a:r>
              <a:endParaRPr lang="en-FR" sz="24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endParaRP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B502B1F-B1F6-958D-9F74-E7FA79C2933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75000" y="3548378"/>
              <a:ext cx="762000" cy="304800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5541D12-38FB-86BD-8FF0-C6DC4CC060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207500" y="3548378"/>
              <a:ext cx="533400" cy="3048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7918FE1-AA24-AFE5-B26D-3B04BC4A1745}"/>
                </a:ext>
              </a:extLst>
            </p:cNvPr>
            <p:cNvSpPr txBox="1"/>
            <p:nvPr/>
          </p:nvSpPr>
          <p:spPr>
            <a:xfrm>
              <a:off x="840924" y="4367750"/>
              <a:ext cx="58060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sz="2400" b="1" dirty="0">
                  <a:latin typeface="Roboto Black" panose="02000000000000000000" pitchFamily="2" charset="0"/>
                  <a:ea typeface="Roboto Black" panose="02000000000000000000" pitchFamily="2" charset="0"/>
                </a:rPr>
                <a:t>(b)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C91D453-BEED-538D-0894-68998229F71B}"/>
                </a:ext>
              </a:extLst>
            </p:cNvPr>
            <p:cNvSpPr txBox="1"/>
            <p:nvPr/>
          </p:nvSpPr>
          <p:spPr>
            <a:xfrm>
              <a:off x="1421532" y="4383296"/>
              <a:ext cx="88999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FR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Choose the </a:t>
              </a:r>
              <a:r>
                <a:rPr lang="en-FR" sz="2400" b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best</a:t>
              </a:r>
              <a:r>
                <a:rPr lang="en-FR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 among these             models and call it </a:t>
              </a:r>
              <a:endParaRPr lang="en-FR" sz="24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endParaRP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61834357-92C9-90CF-904C-FF2D76F71F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26100" y="4474428"/>
              <a:ext cx="762000" cy="304800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22406E1-8486-DDF5-8E2A-C80B8A50FFF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902700" y="4486515"/>
              <a:ext cx="850900" cy="317500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38DD529-F4DC-A5B9-9121-A83405B8AE32}"/>
              </a:ext>
            </a:extLst>
          </p:cNvPr>
          <p:cNvGrpSpPr/>
          <p:nvPr/>
        </p:nvGrpSpPr>
        <p:grpSpPr>
          <a:xfrm>
            <a:off x="1069818" y="5555999"/>
            <a:ext cx="11351076" cy="830998"/>
            <a:chOff x="240033" y="4946669"/>
            <a:chExt cx="11351076" cy="83099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3A263DB-8996-1BD5-D4CE-B1FBBA44E81F}"/>
                </a:ext>
              </a:extLst>
            </p:cNvPr>
            <p:cNvSpPr txBox="1"/>
            <p:nvPr/>
          </p:nvSpPr>
          <p:spPr>
            <a:xfrm>
              <a:off x="851645" y="4946670"/>
              <a:ext cx="1073946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FR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Select single </a:t>
              </a:r>
              <a:r>
                <a:rPr lang="en-FR" sz="2400" b="1" dirty="0">
                  <a:solidFill>
                    <a:srgbClr val="5E5E5E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Lato" panose="020F0502020204030203" pitchFamily="34" charset="0"/>
                </a:rPr>
                <a:t>best</a:t>
              </a:r>
              <a:r>
                <a:rPr lang="en-FR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 model among                           using cross-validated </a:t>
              </a:r>
            </a:p>
            <a:p>
              <a:r>
                <a:rPr lang="en-FR" sz="2400" dirty="0">
                  <a:solidFill>
                    <a:srgbClr val="5E5E5E"/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Lato" panose="020F0502020204030203" pitchFamily="34" charset="0"/>
                </a:rPr>
                <a:t>prediction error  </a:t>
              </a:r>
              <a:endParaRPr lang="en-FR" sz="2400" b="1" dirty="0">
                <a:solidFill>
                  <a:srgbClr val="00B050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F37C3B3-3184-3EA0-639D-7506C9E72A67}"/>
                </a:ext>
              </a:extLst>
            </p:cNvPr>
            <p:cNvSpPr txBox="1"/>
            <p:nvPr/>
          </p:nvSpPr>
          <p:spPr>
            <a:xfrm>
              <a:off x="240033" y="4946669"/>
              <a:ext cx="58060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FR" sz="2400" b="1" dirty="0">
                  <a:latin typeface="Roboto Black" panose="02000000000000000000" pitchFamily="2" charset="0"/>
                  <a:ea typeface="Roboto Black" panose="02000000000000000000" pitchFamily="2" charset="0"/>
                </a:rPr>
                <a:t>(3)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A244D19B-F823-CD68-67E0-CD03A11BCA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334000" y="5035855"/>
              <a:ext cx="1803400" cy="330200"/>
            </a:xfrm>
            <a:prstGeom prst="rect">
              <a:avLst/>
            </a:prstGeom>
          </p:spPr>
        </p:pic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745B5628-C649-801E-6782-4ACCF8012FA4}"/>
              </a:ext>
            </a:extLst>
          </p:cNvPr>
          <p:cNvSpPr/>
          <p:nvPr/>
        </p:nvSpPr>
        <p:spPr>
          <a:xfrm>
            <a:off x="955518" y="2157380"/>
            <a:ext cx="10283878" cy="646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0DCD8C4-15D4-3B4A-9AA0-786BFA54ECC0}"/>
              </a:ext>
            </a:extLst>
          </p:cNvPr>
          <p:cNvSpPr/>
          <p:nvPr/>
        </p:nvSpPr>
        <p:spPr>
          <a:xfrm>
            <a:off x="955518" y="3024610"/>
            <a:ext cx="10283878" cy="22621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71909C-6FDD-26BD-47F2-A6BE56EB902F}"/>
              </a:ext>
            </a:extLst>
          </p:cNvPr>
          <p:cNvSpPr/>
          <p:nvPr/>
        </p:nvSpPr>
        <p:spPr>
          <a:xfrm>
            <a:off x="955518" y="5510368"/>
            <a:ext cx="10283878" cy="9504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26583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1A10D6-70A5-ECD2-A7FB-FC168F6D59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387"/>
          <a:stretch/>
        </p:blipFill>
        <p:spPr>
          <a:xfrm>
            <a:off x="1863235" y="861953"/>
            <a:ext cx="8356232" cy="57771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ECC7A12-E133-90B6-FFF8-9DE40B438B09}"/>
              </a:ext>
            </a:extLst>
          </p:cNvPr>
          <p:cNvSpPr txBox="1"/>
          <p:nvPr/>
        </p:nvSpPr>
        <p:spPr>
          <a:xfrm>
            <a:off x="422306" y="218856"/>
            <a:ext cx="2881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sz="2400" b="1" u="sng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Example: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EF8F27-8371-8D0A-758C-E1B52C884BBB}"/>
              </a:ext>
            </a:extLst>
          </p:cNvPr>
          <p:cNvSpPr txBox="1"/>
          <p:nvPr/>
        </p:nvSpPr>
        <p:spPr>
          <a:xfrm>
            <a:off x="1863235" y="218855"/>
            <a:ext cx="10127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FR" sz="24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Lato" panose="020F0502020204030203" pitchFamily="34" charset="0"/>
              </a:rPr>
              <a:t>Consider the mtcars dataset – we want to predict </a:t>
            </a:r>
            <a:r>
              <a:rPr lang="en-FR" sz="2400" b="1" dirty="0">
                <a:solidFill>
                  <a:srgbClr val="5E5E5E"/>
                </a:solidFill>
                <a:latin typeface="Roboto ExtraBold" panose="02000000000000000000" pitchFamily="2" charset="0"/>
                <a:ea typeface="Roboto ExtraBold" panose="02000000000000000000" pitchFamily="2" charset="0"/>
                <a:cs typeface="Lato" panose="020F0502020204030203" pitchFamily="34" charset="0"/>
              </a:rPr>
              <a:t>mpg</a:t>
            </a:r>
            <a:endParaRPr lang="en-FR" sz="2400" b="1" dirty="0">
              <a:solidFill>
                <a:srgbClr val="00A2FF"/>
              </a:solidFill>
              <a:latin typeface="Roboto ExtraBold" panose="02000000000000000000" pitchFamily="2" charset="0"/>
              <a:ea typeface="Roboto ExtraBold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8733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B349BECF-5ED4-A15D-0B91-9B2DAFA58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494"/>
          <a:stretch/>
        </p:blipFill>
        <p:spPr>
          <a:xfrm>
            <a:off x="1294256" y="235854"/>
            <a:ext cx="9603487" cy="6386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4399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89070EF-9F2C-3346-9096-1090235AF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552" y="-201168"/>
            <a:ext cx="7168896" cy="716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6262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C8EAF8-74B0-1A4A-8068-D81DD984D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552" y="-201600"/>
            <a:ext cx="7168896" cy="716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4167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C8EAF8-74B0-1A4A-8068-D81DD984D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552" y="-201600"/>
            <a:ext cx="7168896" cy="7168896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9BE3C3EC-2384-A34D-B9F9-F1771923C25B}"/>
              </a:ext>
            </a:extLst>
          </p:cNvPr>
          <p:cNvSpPr/>
          <p:nvPr/>
        </p:nvSpPr>
        <p:spPr>
          <a:xfrm>
            <a:off x="4945712" y="4921857"/>
            <a:ext cx="524786" cy="524786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7FBE9AB-E311-C54A-9026-F28C2609F02C}"/>
              </a:ext>
            </a:extLst>
          </p:cNvPr>
          <p:cNvCxnSpPr>
            <a:cxnSpLocks/>
          </p:cNvCxnSpPr>
          <p:nvPr/>
        </p:nvCxnSpPr>
        <p:spPr>
          <a:xfrm flipV="1">
            <a:off x="5313145" y="3429000"/>
            <a:ext cx="952901" cy="1393257"/>
          </a:xfrm>
          <a:prstGeom prst="straightConnector1">
            <a:avLst/>
          </a:prstGeom>
          <a:ln w="38100">
            <a:solidFill>
              <a:srgbClr val="00B05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78F9FDC-01E2-E34F-8A57-2F391138A1FA}"/>
              </a:ext>
            </a:extLst>
          </p:cNvPr>
          <p:cNvSpPr txBox="1"/>
          <p:nvPr/>
        </p:nvSpPr>
        <p:spPr>
          <a:xfrm>
            <a:off x="5731844" y="2960068"/>
            <a:ext cx="1172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b="1" dirty="0">
                <a:solidFill>
                  <a:srgbClr val="00B050"/>
                </a:solidFill>
              </a:rPr>
              <a:t>sweetspot</a:t>
            </a:r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BBCE624E-B4D5-4E4F-A743-7E191247E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3547" y="2795074"/>
            <a:ext cx="4252851" cy="744698"/>
          </a:xfrm>
          <a:prstGeom prst="rect">
            <a:avLst/>
          </a:prstGeom>
          <a:ln w="38100"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107727175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61336-3069-E18B-E41D-448B8A7CE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06B18FF-2765-BA74-C835-25FA09E277FA}"/>
              </a:ext>
            </a:extLst>
          </p:cNvPr>
          <p:cNvSpPr/>
          <p:nvPr/>
        </p:nvSpPr>
        <p:spPr>
          <a:xfrm>
            <a:off x="0" y="0"/>
            <a:ext cx="12192000" cy="622738"/>
          </a:xfrm>
          <a:prstGeom prst="rect">
            <a:avLst/>
          </a:prstGeom>
          <a:solidFill>
            <a:srgbClr val="E8EB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0F297-91BE-DF59-5DEC-150D98B5F279}"/>
              </a:ext>
            </a:extLst>
          </p:cNvPr>
          <p:cNvSpPr txBox="1"/>
          <p:nvPr/>
        </p:nvSpPr>
        <p:spPr>
          <a:xfrm>
            <a:off x="240033" y="-108636"/>
            <a:ext cx="841436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800" b="1" dirty="0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Challenge 1 : </a:t>
            </a:r>
            <a:r>
              <a:rPr lang="en-GB" sz="2800" b="1" dirty="0" err="1">
                <a:solidFill>
                  <a:srgbClr val="5E5E5E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Lato" panose="020F0502020204030203" pitchFamily="34" charset="0"/>
              </a:rPr>
              <a:t>Epiclock</a:t>
            </a:r>
            <a:endParaRPr lang="en-GB" sz="2800" b="1" dirty="0">
              <a:solidFill>
                <a:srgbClr val="5E5E5E"/>
              </a:solidFill>
              <a:latin typeface="Roboto Black" panose="02000000000000000000" pitchFamily="2" charset="0"/>
              <a:ea typeface="Roboto Black" panose="02000000000000000000" pitchFamily="2" charset="0"/>
              <a:cs typeface="Lato" panose="020F0502020204030203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F49FCBC-0844-D052-D253-411EBAB25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470" y="1013136"/>
            <a:ext cx="10399059" cy="3325956"/>
          </a:xfrm>
          <a:prstGeom prst="rect">
            <a:avLst/>
          </a:prstGeom>
          <a:ln w="25400">
            <a:solidFill>
              <a:srgbClr val="5E5E5E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A16A5F-2AAE-3FF6-A4BF-06C78B847CF5}"/>
              </a:ext>
            </a:extLst>
          </p:cNvPr>
          <p:cNvSpPr txBox="1"/>
          <p:nvPr/>
        </p:nvSpPr>
        <p:spPr>
          <a:xfrm>
            <a:off x="2076308" y="4684174"/>
            <a:ext cx="80393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Roboto ExtraBold" panose="02000000000000000000" pitchFamily="2" charset="0"/>
                <a:ea typeface="Roboto ExtraBold" panose="02000000000000000000" pitchFamily="2" charset="0"/>
                <a:hlinkClick r:id="rId4"/>
              </a:rPr>
              <a:t>https://www.codabench.org/competitions/13881/</a:t>
            </a:r>
            <a:r>
              <a:rPr lang="en-GB" sz="2800" dirty="0">
                <a:latin typeface="Roboto ExtraBold" panose="02000000000000000000" pitchFamily="2" charset="0"/>
                <a:ea typeface="Roboto ExtraBold" panose="02000000000000000000" pitchFamily="2" charset="0"/>
              </a:rPr>
              <a:t> </a:t>
            </a:r>
            <a:endParaRPr lang="en-FR" sz="2800" dirty="0">
              <a:latin typeface="Roboto ExtraBold" panose="02000000000000000000" pitchFamily="2" charset="0"/>
              <a:ea typeface="Roboto ExtraBold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2E72F4-FE98-7CAE-D381-2C066CFC0D3E}"/>
              </a:ext>
            </a:extLst>
          </p:cNvPr>
          <p:cNvSpPr txBox="1"/>
          <p:nvPr/>
        </p:nvSpPr>
        <p:spPr>
          <a:xfrm>
            <a:off x="1201069" y="5552476"/>
            <a:ext cx="97898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3200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Challenge starts 23-February and goes until </a:t>
            </a:r>
            <a:r>
              <a:rPr lang="en-FR" sz="3200" u="sng" dirty="0">
                <a:solidFill>
                  <a:srgbClr val="5E5E5E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22-March</a:t>
            </a:r>
          </a:p>
        </p:txBody>
      </p:sp>
    </p:spTree>
    <p:extLst>
      <p:ext uri="{BB962C8B-B14F-4D97-AF65-F5344CB8AC3E}">
        <p14:creationId xmlns:p14="http://schemas.microsoft.com/office/powerpoint/2010/main" val="4007147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44238</TotalTime>
  <Words>2201</Words>
  <Application>Microsoft Macintosh PowerPoint</Application>
  <PresentationFormat>Widescreen</PresentationFormat>
  <Paragraphs>374</Paragraphs>
  <Slides>54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4" baseType="lpstr">
      <vt:lpstr>Arial</vt:lpstr>
      <vt:lpstr>Calibri</vt:lpstr>
      <vt:lpstr>Calibri Light</vt:lpstr>
      <vt:lpstr>Courier New</vt:lpstr>
      <vt:lpstr>Lato</vt:lpstr>
      <vt:lpstr>Roboto Black</vt:lpstr>
      <vt:lpstr>Roboto ExtraBold</vt:lpstr>
      <vt:lpstr>Roboto Light</vt:lpstr>
      <vt:lpstr>System Font 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 Rodrigues</dc:creator>
  <cp:lastModifiedBy>Pedro Rodrigues</cp:lastModifiedBy>
  <cp:revision>989</cp:revision>
  <dcterms:created xsi:type="dcterms:W3CDTF">2022-01-14T10:39:20Z</dcterms:created>
  <dcterms:modified xsi:type="dcterms:W3CDTF">2026-02-23T16:18:02Z</dcterms:modified>
</cp:coreProperties>
</file>