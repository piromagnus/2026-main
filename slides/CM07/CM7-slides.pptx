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382" r:id="rId2"/>
    <p:sldId id="702" r:id="rId3"/>
    <p:sldId id="703" r:id="rId4"/>
    <p:sldId id="513" r:id="rId5"/>
    <p:sldId id="515" r:id="rId6"/>
    <p:sldId id="516" r:id="rId7"/>
    <p:sldId id="518" r:id="rId8"/>
    <p:sldId id="689" r:id="rId9"/>
    <p:sldId id="690" r:id="rId10"/>
    <p:sldId id="672" r:id="rId11"/>
    <p:sldId id="691" r:id="rId12"/>
    <p:sldId id="679" r:id="rId13"/>
    <p:sldId id="692" r:id="rId14"/>
    <p:sldId id="519" r:id="rId15"/>
    <p:sldId id="535" r:id="rId16"/>
    <p:sldId id="693" r:id="rId17"/>
    <p:sldId id="694" r:id="rId18"/>
    <p:sldId id="695" r:id="rId19"/>
    <p:sldId id="523" r:id="rId20"/>
    <p:sldId id="526" r:id="rId21"/>
    <p:sldId id="528" r:id="rId22"/>
    <p:sldId id="530" r:id="rId23"/>
    <p:sldId id="537" r:id="rId24"/>
    <p:sldId id="538" r:id="rId25"/>
    <p:sldId id="539" r:id="rId26"/>
    <p:sldId id="540" r:id="rId27"/>
    <p:sldId id="541" r:id="rId28"/>
    <p:sldId id="542" r:id="rId29"/>
    <p:sldId id="543" r:id="rId30"/>
    <p:sldId id="544" r:id="rId31"/>
    <p:sldId id="545" r:id="rId32"/>
    <p:sldId id="536" r:id="rId33"/>
    <p:sldId id="673" r:id="rId34"/>
    <p:sldId id="532" r:id="rId35"/>
    <p:sldId id="701" r:id="rId36"/>
    <p:sldId id="697" r:id="rId37"/>
    <p:sldId id="698" r:id="rId38"/>
    <p:sldId id="696" r:id="rId39"/>
    <p:sldId id="699" r:id="rId40"/>
    <p:sldId id="683" r:id="rId41"/>
    <p:sldId id="700" r:id="rId42"/>
    <p:sldId id="684" r:id="rId43"/>
    <p:sldId id="688" r:id="rId44"/>
    <p:sldId id="667" r:id="rId45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E5E"/>
    <a:srgbClr val="FF871B"/>
    <a:srgbClr val="FF7E0E"/>
    <a:srgbClr val="FF7F0F"/>
    <a:srgbClr val="FA2743"/>
    <a:srgbClr val="E8EBE4"/>
    <a:srgbClr val="1F76B5"/>
    <a:srgbClr val="1E77B4"/>
    <a:srgbClr val="F5AE00"/>
    <a:srgbClr val="9B5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46"/>
    <p:restoredTop sz="94910"/>
  </p:normalViewPr>
  <p:slideViewPr>
    <p:cSldViewPr snapToGrid="0" snapToObjects="1">
      <p:cViewPr varScale="1">
        <p:scale>
          <a:sx n="110" d="100"/>
          <a:sy n="110" d="100"/>
        </p:scale>
        <p:origin x="12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FE6C1-AB26-3F44-9C87-C500B9817AF1}" type="datetimeFigureOut">
              <a:rPr lang="en-FR" smtClean="0"/>
              <a:t>22/03/2026</a:t>
            </a:fld>
            <a:endParaRPr lang="en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D39096-BE51-9C45-B82B-FA0E89D4584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85374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49930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60F0F-5D66-503B-8D29-DFFA33C61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AB18B1-97E7-1B01-4A93-F368916C28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A3A519-3E08-10DA-9F50-655D75363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40ECDF-3AEF-83DD-9746-F88A950F5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483148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9A675-142F-F04F-8CF7-BCE374460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C25349-423A-1806-8912-F25250B45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8936C6-5BB3-8AC0-36C6-2FE22B505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C70A3-095D-9CA1-D80C-B5E1675E20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523398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522765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93097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688418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7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6508881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77918-9C8B-799A-4839-9E546C3AA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B72AA3-353E-1E5F-FF93-2B1807AF1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14B1CF-98A6-80F2-D606-F6656D1B9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B5E29-C7DF-BDE5-F20F-DA2C6C1F4D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802599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D41EE-E29B-1637-352F-A46B87163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8EBBE-2EB9-8077-1B63-77BF9BB9A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CF5E47-C028-85F1-B675-4FEB3E8D9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73117-08F1-09FE-ADB0-EFF3D2D35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246527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470969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C3DCE-993F-0E42-8C94-1D0B6971D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50042-0D0D-83C9-E382-5875226D1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675B48-31BA-1EC5-CF39-EFB6A277E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FB163-2B7D-3FC4-2968-632E4D1598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3849241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3544700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BD173-0E0E-B732-4A73-97AF660FF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58F490-E2B5-6A8A-2302-9636A3FFF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80E2E0-2A12-7A5B-831E-A1F5E309A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4D890-B5B1-9A9B-C3DE-75CC9C14F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7869472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0060059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6557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962F7-B565-FAC8-D56C-77F0FA768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E5F344-23CC-1BF3-CE36-1C1E2E722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4F2C1D-FD73-B24C-0CD6-C25850572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2BC49-0288-166E-27E6-36D98CD8D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43948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4EF69-5760-DE11-981F-D7D84A3D6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79211-867B-773E-AE79-8A64224018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2A2BA-AFF1-1E44-5F98-778D3C2D6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CEEEC-8283-67B6-23A9-D4BC95A45C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17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7519140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D7A6A-5F25-EACA-2FDF-A56D799F4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1C87AA-5F8E-E0F7-035B-91B752F02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96D01E-0A87-2506-5199-F6B378B08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93056-9E4C-8626-065B-2112EA7B3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0571940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7074670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785942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084001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153202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493904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250096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251771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6855726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27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0414978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2913552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5050835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91541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2837345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2461346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3035247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24384346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9D4B2-F398-FC79-9049-EBDC039E2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56CEC-38A3-BFD3-0ADB-7120AE931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3BDE74-14A9-AABA-F5D3-B13A865D5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445C3-94F1-FE00-BCF6-B9782DA57F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56774989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79CA5-0D14-5397-D172-81919478E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7C9AD-0514-C9A2-191A-7CE38FFFF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34D9C5-F28B-DFD0-8BA1-B43104CC0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51828-54AF-04B8-F507-FA94675071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2015259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34EE2-FE5E-0D5A-04B4-80B96CBCF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A29A7B-CDB7-E462-8493-576B51DEA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9362DF-DE0D-8BB9-48BB-403E2CAB3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A4F4E-98C4-3055-1E5B-55B8840C8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37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08480917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E3F75-3B08-3E89-8FA6-7873638EE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9A97DF-962E-1C7F-D5D4-B91486DDC0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535E11-633A-A8BE-BB1C-E80C4DF22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B7FFC-C404-298D-F0A1-44A70CD5DE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55312071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467A5-464A-D173-C0C4-CC2F57255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1B12FC-85DF-1D4D-86D5-372105DA93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4BF6A9-6ED8-F96C-494F-99EBF6F02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F1BC2-FFE4-2573-6295-408F1A376C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65947333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57069099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30C66-EA36-A1E5-B797-DD9FBE532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42CD-E255-54C5-A98E-86D3CF63FA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75E511-4B31-D230-92F4-A949CF165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9DABD-5F3D-25A6-7DA2-858ACAF2C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3457092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79287851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59810670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702981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EC9B-787C-824C-894C-857B659FB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034B8-C425-C946-83B5-386EB7480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38366-FA73-7C40-9D66-F01278D97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22/03/2026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613DA-3627-824F-B630-E29488734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35195-A057-A740-ABFD-A4428E7E0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14469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87FAB-44BF-AB48-8D73-DA1AEA67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5A5C9-E435-904F-9A50-ED9242E28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B2556-21DE-C043-BE7B-9E2A54973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22/03/2026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DE1C2-7A56-054D-A23E-DD2241BED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48906-A5FE-FF4D-A27E-550C5990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25651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C4E8A-2B0D-EB42-A978-1FE768A3F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DEB75-EBFD-8E42-82F0-A331F604D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81795-369A-C94E-9F66-0A208AF18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22/03/2026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FBA02-0FCB-EA44-B7B5-96861116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CF71C-9EF7-0C4B-BDDD-FB6BA964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18604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8381-A6CF-6F47-A7A3-14C7831DB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E1EC3-D19C-DC4D-A5B9-9460AD4AAA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A3376-5078-194F-9992-6B02E62E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51E5D-D454-0943-B25A-DA182891A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22/03/2026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67DE1-3EE7-D943-B7FD-A51C83BA6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BA756-9D8E-C845-B692-3873FF00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608771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3190A-2F02-BD4E-9E22-FE2A2CC91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7E7DD-D354-C048-8942-567BCCBE7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92036-8FA2-734D-A0A4-540FA63FA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DEAE85-DEC4-6042-A589-63117EF752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0B7604-EC7A-9F4B-8B40-82D381275A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845EAB-187C-284A-B3CB-5EC78439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22/03/2026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7DA07A-26C9-CA4B-8592-EA2C357C0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29D14B-3E77-C64E-BBF4-00C096EE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26156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EED17-FBEF-0040-96E6-994DBD521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C2881A-CF7D-8C45-9008-E61A46B5E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22/03/2026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05F0EE-BDC6-3E43-BEAC-A339A9728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E1059-D3D9-064E-BFD5-C588BE342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5753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0CF8FB-7AEB-7147-A83A-4DF08A93E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22/03/2026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F6FAA-2A77-D645-B7D9-87AF35941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85873-66FC-0E4A-A249-F6FA16584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910419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E7F8-26AB-8045-9C68-095EB3F35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C37C8-7D1E-D745-A650-7BE338722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3687F2-0361-5E48-9242-1481CECC57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96C55-C72A-6346-9F4D-E7EBB9536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22/03/2026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2A30C-17EA-D843-AB84-DCC67550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58998-8FCD-4A48-8077-41D395F14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58731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E4506-CC8C-3948-98A1-3618A657C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E23419-833F-ED48-BCFF-3529729044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7541E-9161-9845-900C-0B7F4D6B4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F6B3E-FD83-2742-B704-CAA2A3EB7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22/03/2026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2EB9A-F8B6-4F40-A237-D183B7FA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D7B30-1A12-B54A-9EC7-A21A90204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489466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BF93D-B2C2-7048-94E6-5B0A39376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B1939D-3520-5A4E-AC60-F1060FE9B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3D6DC-E506-5049-B0CD-01E32D738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22/03/2026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69E02-B2EF-CC4E-A982-1A0F31306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DBA1F-361D-CF4C-A4FB-8D2BD097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10766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58988E-5C51-134D-8C79-867D44453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D2FE0-5CF2-8544-A5E3-F37FBDD35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776C2-05A5-5A4B-9AA6-732FC73A5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22/03/2026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24220-F883-2A4C-82CA-C524A70A3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0F099-3857-6B40-AE2C-2127FDED9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72570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95531-CC31-C242-807F-85E2E673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368A4-CCF7-2A40-831F-1C89AC50A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0E3EE-7349-1747-80AE-DCDB34EFE7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05F58-0AA8-724B-8DBF-E28AC2D343FC}" type="datetimeFigureOut">
              <a:rPr lang="en-FR" smtClean="0"/>
              <a:t>22/03/2026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ED396-5C82-A643-8632-51B3DE0CC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D28E0-1C6E-1140-BACB-EBB4D140C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82825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emf"/><Relationship Id="rId4" Type="http://schemas.openxmlformats.org/officeDocument/2006/relationships/image" Target="../media/image16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emf"/><Relationship Id="rId4" Type="http://schemas.openxmlformats.org/officeDocument/2006/relationships/image" Target="../media/image26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emf"/><Relationship Id="rId5" Type="http://schemas.openxmlformats.org/officeDocument/2006/relationships/image" Target="../media/image34.emf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emf"/><Relationship Id="rId5" Type="http://schemas.openxmlformats.org/officeDocument/2006/relationships/image" Target="../media/image41.emf"/><Relationship Id="rId4" Type="http://schemas.openxmlformats.org/officeDocument/2006/relationships/image" Target="../media/image40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emf"/><Relationship Id="rId4" Type="http://schemas.openxmlformats.org/officeDocument/2006/relationships/image" Target="../media/image26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e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emf"/><Relationship Id="rId4" Type="http://schemas.openxmlformats.org/officeDocument/2006/relationships/image" Target="../media/image48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emf"/><Relationship Id="rId5" Type="http://schemas.openxmlformats.org/officeDocument/2006/relationships/image" Target="../media/image52.emf"/><Relationship Id="rId4" Type="http://schemas.openxmlformats.org/officeDocument/2006/relationships/image" Target="../media/image5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B30E4DC-5BA1-4A88-3549-39BB252362F9}"/>
              </a:ext>
            </a:extLst>
          </p:cNvPr>
          <p:cNvSpPr/>
          <p:nvPr/>
        </p:nvSpPr>
        <p:spPr>
          <a:xfrm>
            <a:off x="0" y="5801193"/>
            <a:ext cx="12192000" cy="1056807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49F4F4-12FE-580B-E00C-CFCF2FCF9F40}"/>
              </a:ext>
            </a:extLst>
          </p:cNvPr>
          <p:cNvSpPr txBox="1"/>
          <p:nvPr/>
        </p:nvSpPr>
        <p:spPr>
          <a:xfrm>
            <a:off x="6742386" y="5960264"/>
            <a:ext cx="531908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42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Pedro L. C. Rodrigues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6537CB7-C4BB-7CE0-0825-9715A7575578}"/>
              </a:ext>
            </a:extLst>
          </p:cNvPr>
          <p:cNvSpPr/>
          <p:nvPr/>
        </p:nvSpPr>
        <p:spPr>
          <a:xfrm>
            <a:off x="1006145" y="663992"/>
            <a:ext cx="10179710" cy="2511684"/>
          </a:xfrm>
          <a:prstGeom prst="round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C973D-E8B9-CA36-F0E5-BE9D3B33A408}"/>
              </a:ext>
            </a:extLst>
          </p:cNvPr>
          <p:cNvSpPr txBox="1"/>
          <p:nvPr/>
        </p:nvSpPr>
        <p:spPr>
          <a:xfrm>
            <a:off x="945537" y="950338"/>
            <a:ext cx="103009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60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 to Statistical Learning with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F8D681-85A3-D3D9-0655-46D9193F23C1}"/>
              </a:ext>
            </a:extLst>
          </p:cNvPr>
          <p:cNvSpPr txBox="1"/>
          <p:nvPr/>
        </p:nvSpPr>
        <p:spPr>
          <a:xfrm>
            <a:off x="581859" y="3968671"/>
            <a:ext cx="11028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CM7: Decision trees</a:t>
            </a:r>
            <a:endParaRPr lang="en-FR" sz="48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990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69E96-1786-08C6-AF48-F343503FD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6D7DF0-0D74-823D-096A-DADB18616663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3069C3-6186-627D-3481-4F6048350179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About challenge #1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0162EC-EC51-C76D-5790-1774BA53AE7E}"/>
              </a:ext>
            </a:extLst>
          </p:cNvPr>
          <p:cNvSpPr txBox="1"/>
          <p:nvPr/>
        </p:nvSpPr>
        <p:spPr>
          <a:xfrm>
            <a:off x="952797" y="939145"/>
            <a:ext cx="109991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There was a problem with the challenge : </a:t>
            </a:r>
            <a:r>
              <a:rPr lang="en-GB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it was possible to find </a:t>
            </a:r>
            <a:r>
              <a:rPr lang="en-GB" sz="2400" b="1" dirty="0" err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Courier New" panose="02070309020205020404" pitchFamily="49" charset="0"/>
              </a:rPr>
              <a:t>y_test</a:t>
            </a:r>
            <a:r>
              <a:rPr lang="en-GB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 online 🤡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5454F6-AF82-5DFF-A992-F9FB1DE2208C}"/>
              </a:ext>
            </a:extLst>
          </p:cNvPr>
          <p:cNvSpPr txBox="1"/>
          <p:nvPr/>
        </p:nvSpPr>
        <p:spPr>
          <a:xfrm>
            <a:off x="240033" y="907615"/>
            <a:ext cx="7232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4200" dirty="0"/>
              <a:t>⚠️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35BC7F-51FE-3957-3EE7-6AC1D7111E19}"/>
              </a:ext>
            </a:extLst>
          </p:cNvPr>
          <p:cNvSpPr txBox="1"/>
          <p:nvPr/>
        </p:nvSpPr>
        <p:spPr>
          <a:xfrm>
            <a:off x="240032" y="1717217"/>
            <a:ext cx="11519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Our solution ensure grading as fair as possible (in less than ideal circumstances) </a:t>
            </a:r>
            <a:endParaRPr lang="en-GB" sz="24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F6BA2C-608C-0B21-7641-6B150BC056A4}"/>
              </a:ext>
            </a:extLst>
          </p:cNvPr>
          <p:cNvSpPr/>
          <p:nvPr/>
        </p:nvSpPr>
        <p:spPr>
          <a:xfrm>
            <a:off x="1432724" y="5393853"/>
            <a:ext cx="2049517" cy="735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7649BB-2E5F-E160-E2D7-BCDB3A6908EF}"/>
              </a:ext>
            </a:extLst>
          </p:cNvPr>
          <p:cNvSpPr/>
          <p:nvPr/>
        </p:nvSpPr>
        <p:spPr>
          <a:xfrm>
            <a:off x="3907910" y="4239732"/>
            <a:ext cx="2049517" cy="12276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3F1F52-3CEB-61E5-B030-FF2FB045B6AE}"/>
              </a:ext>
            </a:extLst>
          </p:cNvPr>
          <p:cNvSpPr/>
          <p:nvPr/>
        </p:nvSpPr>
        <p:spPr>
          <a:xfrm>
            <a:off x="6383096" y="3802083"/>
            <a:ext cx="2049517" cy="16758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3E4D4C-167E-077B-E1CA-2F05CB7CD54B}"/>
              </a:ext>
            </a:extLst>
          </p:cNvPr>
          <p:cNvSpPr/>
          <p:nvPr/>
        </p:nvSpPr>
        <p:spPr>
          <a:xfrm>
            <a:off x="8858282" y="3260254"/>
            <a:ext cx="2049517" cy="2217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A6C29A-CC37-3CE6-9A31-742C283567BE}"/>
              </a:ext>
            </a:extLst>
          </p:cNvPr>
          <p:cNvSpPr txBox="1"/>
          <p:nvPr/>
        </p:nvSpPr>
        <p:spPr>
          <a:xfrm>
            <a:off x="1895179" y="5604062"/>
            <a:ext cx="9685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8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0 pts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E56E0B-C6AB-2FD3-E333-8FFA7EC0E3E0}"/>
              </a:ext>
            </a:extLst>
          </p:cNvPr>
          <p:cNvSpPr txBox="1"/>
          <p:nvPr/>
        </p:nvSpPr>
        <p:spPr>
          <a:xfrm>
            <a:off x="4349014" y="5604062"/>
            <a:ext cx="1167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8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10 pts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00E453-DC3A-D45F-ED49-D51507755267}"/>
              </a:ext>
            </a:extLst>
          </p:cNvPr>
          <p:cNvSpPr txBox="1"/>
          <p:nvPr/>
        </p:nvSpPr>
        <p:spPr>
          <a:xfrm>
            <a:off x="6824200" y="5604062"/>
            <a:ext cx="1167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8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15 pts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66D8E4-51EF-D0B8-B46B-413EFBF4346D}"/>
              </a:ext>
            </a:extLst>
          </p:cNvPr>
          <p:cNvSpPr txBox="1"/>
          <p:nvPr/>
        </p:nvSpPr>
        <p:spPr>
          <a:xfrm>
            <a:off x="9299386" y="5675312"/>
            <a:ext cx="1167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800" dirty="0">
                <a:solidFill>
                  <a:srgbClr val="FF871B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20 pts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B3E6C6-9CAC-390F-6185-C62AFEBE4C3A}"/>
              </a:ext>
            </a:extLst>
          </p:cNvPr>
          <p:cNvSpPr txBox="1"/>
          <p:nvPr/>
        </p:nvSpPr>
        <p:spPr>
          <a:xfrm>
            <a:off x="1404148" y="4887885"/>
            <a:ext cx="2089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did not participate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8514DE-7F6B-1A47-06A8-B87A9367C372}"/>
              </a:ext>
            </a:extLst>
          </p:cNvPr>
          <p:cNvSpPr txBox="1"/>
          <p:nvPr/>
        </p:nvSpPr>
        <p:spPr>
          <a:xfrm>
            <a:off x="3989139" y="3802083"/>
            <a:ext cx="1887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solidFill>
                  <a:schemeClr val="accent6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did submissions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30CA70-E754-944E-7290-09B886383095}"/>
              </a:ext>
            </a:extLst>
          </p:cNvPr>
          <p:cNvSpPr txBox="1"/>
          <p:nvPr/>
        </p:nvSpPr>
        <p:spPr>
          <a:xfrm>
            <a:off x="6518827" y="3304786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solidFill>
                  <a:schemeClr val="accent6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top 25% scores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2C4FC0-9431-26A3-75F5-378E772DCA4E}"/>
              </a:ext>
            </a:extLst>
          </p:cNvPr>
          <p:cNvSpPr txBox="1"/>
          <p:nvPr/>
        </p:nvSpPr>
        <p:spPr>
          <a:xfrm>
            <a:off x="9146299" y="2764798"/>
            <a:ext cx="1473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solidFill>
                  <a:schemeClr val="accent6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top 3 scores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1F7AC5A-661C-D476-341A-B9726DAD9D10}"/>
              </a:ext>
            </a:extLst>
          </p:cNvPr>
          <p:cNvSpPr/>
          <p:nvPr/>
        </p:nvSpPr>
        <p:spPr>
          <a:xfrm>
            <a:off x="9146299" y="5633555"/>
            <a:ext cx="1473480" cy="606733"/>
          </a:xfrm>
          <a:prstGeom prst="roundRect">
            <a:avLst/>
          </a:prstGeom>
          <a:noFill/>
          <a:ln>
            <a:solidFill>
              <a:srgbClr val="FF7E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DB736B-83A2-524A-D356-FA67590B1174}"/>
              </a:ext>
            </a:extLst>
          </p:cNvPr>
          <p:cNvSpPr txBox="1"/>
          <p:nvPr/>
        </p:nvSpPr>
        <p:spPr>
          <a:xfrm>
            <a:off x="8227778" y="6317670"/>
            <a:ext cx="3310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871B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r>
              <a:rPr lang="en-FR" b="1" dirty="0">
                <a:solidFill>
                  <a:srgbClr val="FF871B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end me your code to validate</a:t>
            </a:r>
          </a:p>
        </p:txBody>
      </p:sp>
    </p:spTree>
    <p:extLst>
      <p:ext uri="{BB962C8B-B14F-4D97-AF65-F5344CB8AC3E}">
        <p14:creationId xmlns:p14="http://schemas.microsoft.com/office/powerpoint/2010/main" val="1858648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FF8EA-1990-CED6-CA9E-B1D57E18E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EAFD07-D7FD-7468-81EA-63D7EE476DA5}"/>
              </a:ext>
            </a:extLst>
          </p:cNvPr>
          <p:cNvSpPr/>
          <p:nvPr/>
        </p:nvSpPr>
        <p:spPr>
          <a:xfrm>
            <a:off x="0" y="5801193"/>
            <a:ext cx="12192000" cy="1056807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53ECF5-C89D-A13D-FE54-268D85BD6F86}"/>
              </a:ext>
            </a:extLst>
          </p:cNvPr>
          <p:cNvSpPr txBox="1"/>
          <p:nvPr/>
        </p:nvSpPr>
        <p:spPr>
          <a:xfrm>
            <a:off x="6742386" y="5960264"/>
            <a:ext cx="531908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42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Pedro L. C. Rodrigues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62CAC0A-C9B1-32BF-A250-B8B4DD5444DE}"/>
              </a:ext>
            </a:extLst>
          </p:cNvPr>
          <p:cNvSpPr/>
          <p:nvPr/>
        </p:nvSpPr>
        <p:spPr>
          <a:xfrm>
            <a:off x="1006145" y="663992"/>
            <a:ext cx="10179710" cy="2511684"/>
          </a:xfrm>
          <a:prstGeom prst="round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910A7A-6135-B740-7F1A-6B395D89D2A0}"/>
              </a:ext>
            </a:extLst>
          </p:cNvPr>
          <p:cNvSpPr txBox="1"/>
          <p:nvPr/>
        </p:nvSpPr>
        <p:spPr>
          <a:xfrm>
            <a:off x="945537" y="950338"/>
            <a:ext cx="103009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60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 to Statistical Learning with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109F12-C1D6-C821-1B8C-32A9FBF83C30}"/>
              </a:ext>
            </a:extLst>
          </p:cNvPr>
          <p:cNvSpPr txBox="1"/>
          <p:nvPr/>
        </p:nvSpPr>
        <p:spPr>
          <a:xfrm>
            <a:off x="581859" y="3968671"/>
            <a:ext cx="11028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CM7: Decision trees</a:t>
            </a:r>
            <a:endParaRPr lang="en-FR" sz="48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296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41E2808-127D-CB36-E864-78DA27569110}"/>
              </a:ext>
            </a:extLst>
          </p:cNvPr>
          <p:cNvSpPr/>
          <p:nvPr/>
        </p:nvSpPr>
        <p:spPr>
          <a:xfrm>
            <a:off x="2610918" y="1535879"/>
            <a:ext cx="6970163" cy="945728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3D9EC4-CEC7-36AE-5DDA-258033964660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Discriminative approaches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FB5076-F99D-A3EC-0690-C0CC215F2134}"/>
              </a:ext>
            </a:extLst>
          </p:cNvPr>
          <p:cNvSpPr txBox="1"/>
          <p:nvPr/>
        </p:nvSpPr>
        <p:spPr>
          <a:xfrm>
            <a:off x="240033" y="855064"/>
            <a:ext cx="11611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There are many strategies for approximating the Bayes classifier.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47910F-8B56-EA99-7E56-DDA41A98B76E}"/>
              </a:ext>
            </a:extLst>
          </p:cNvPr>
          <p:cNvSpPr txBox="1"/>
          <p:nvPr/>
        </p:nvSpPr>
        <p:spPr>
          <a:xfrm>
            <a:off x="733327" y="3090142"/>
            <a:ext cx="49977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K-nearest neighbours (</a:t>
            </a:r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kNN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002BBE-DF51-09D3-2CDB-34327A24569B}"/>
              </a:ext>
            </a:extLst>
          </p:cNvPr>
          <p:cNvSpPr txBox="1"/>
          <p:nvPr/>
        </p:nvSpPr>
        <p:spPr>
          <a:xfrm>
            <a:off x="733328" y="3584614"/>
            <a:ext cx="41755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Logistic regression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9870B-86CC-BFB7-ED15-95DCC068F4F7}"/>
              </a:ext>
            </a:extLst>
          </p:cNvPr>
          <p:cNvSpPr txBox="1"/>
          <p:nvPr/>
        </p:nvSpPr>
        <p:spPr>
          <a:xfrm>
            <a:off x="733328" y="4079086"/>
            <a:ext cx="67543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Linear and quadratic discriminant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438003-014A-E516-9CB9-14F6333BF8F4}"/>
              </a:ext>
            </a:extLst>
          </p:cNvPr>
          <p:cNvSpPr txBox="1"/>
          <p:nvPr/>
        </p:nvSpPr>
        <p:spPr>
          <a:xfrm>
            <a:off x="733328" y="4573558"/>
            <a:ext cx="3971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Naïve Bayes classifier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2E241C-F261-2E93-E67D-BB428811B00D}"/>
              </a:ext>
            </a:extLst>
          </p:cNvPr>
          <p:cNvSpPr/>
          <p:nvPr/>
        </p:nvSpPr>
        <p:spPr>
          <a:xfrm>
            <a:off x="7000602" y="4154587"/>
            <a:ext cx="72190" cy="86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DFD69B-AE1D-466E-9922-514A67CC2F55}"/>
              </a:ext>
            </a:extLst>
          </p:cNvPr>
          <p:cNvSpPr txBox="1"/>
          <p:nvPr/>
        </p:nvSpPr>
        <p:spPr>
          <a:xfrm>
            <a:off x="7108888" y="4358114"/>
            <a:ext cx="3401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Generative approaches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03193E-0770-4D77-4B49-AE30E12DD77F}"/>
              </a:ext>
            </a:extLst>
          </p:cNvPr>
          <p:cNvSpPr txBox="1"/>
          <p:nvPr/>
        </p:nvSpPr>
        <p:spPr>
          <a:xfrm>
            <a:off x="240032" y="2659833"/>
            <a:ext cx="6100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have seen so far: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92CB06-14A8-67AE-95A9-99E69518B65F}"/>
              </a:ext>
            </a:extLst>
          </p:cNvPr>
          <p:cNvSpPr/>
          <p:nvPr/>
        </p:nvSpPr>
        <p:spPr>
          <a:xfrm>
            <a:off x="7000602" y="3152186"/>
            <a:ext cx="72190" cy="864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20B42A-05A0-3FC9-5CC3-1281B23CBAF8}"/>
              </a:ext>
            </a:extLst>
          </p:cNvPr>
          <p:cNvSpPr txBox="1"/>
          <p:nvPr/>
        </p:nvSpPr>
        <p:spPr>
          <a:xfrm>
            <a:off x="7108888" y="3355713"/>
            <a:ext cx="38908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solidFill>
                  <a:srgbClr val="00B0F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Discriminative approaches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7AC831-8F7C-9792-A847-B4F630CA8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049" y="1675195"/>
            <a:ext cx="6311900" cy="673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16C2A71-BDB6-966D-7DA1-4BFEB8503C0C}"/>
              </a:ext>
            </a:extLst>
          </p:cNvPr>
          <p:cNvSpPr txBox="1"/>
          <p:nvPr/>
        </p:nvSpPr>
        <p:spPr>
          <a:xfrm>
            <a:off x="733328" y="5606158"/>
            <a:ext cx="3971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Random forests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AAC393-703D-0427-E032-37BC9CAD4D61}"/>
              </a:ext>
            </a:extLst>
          </p:cNvPr>
          <p:cNvSpPr txBox="1"/>
          <p:nvPr/>
        </p:nvSpPr>
        <p:spPr>
          <a:xfrm>
            <a:off x="733328" y="6100630"/>
            <a:ext cx="3971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Gradient boosted trees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FF1F2F-CEC5-E021-5586-5FC02120E8E1}"/>
              </a:ext>
            </a:extLst>
          </p:cNvPr>
          <p:cNvSpPr/>
          <p:nvPr/>
        </p:nvSpPr>
        <p:spPr>
          <a:xfrm>
            <a:off x="7000602" y="5706634"/>
            <a:ext cx="72190" cy="864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>
              <a:solidFill>
                <a:srgbClr val="7030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E31AF7-50CD-74C4-F12B-5AE497B18735}"/>
              </a:ext>
            </a:extLst>
          </p:cNvPr>
          <p:cNvSpPr txBox="1"/>
          <p:nvPr/>
        </p:nvSpPr>
        <p:spPr>
          <a:xfrm>
            <a:off x="7108888" y="5923190"/>
            <a:ext cx="35108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solidFill>
                  <a:srgbClr val="7030A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Ensembling approaches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DFB409-9806-986C-A019-8ADAFF406B1A}"/>
              </a:ext>
            </a:extLst>
          </p:cNvPr>
          <p:cNvSpPr txBox="1"/>
          <p:nvPr/>
        </p:nvSpPr>
        <p:spPr>
          <a:xfrm>
            <a:off x="240032" y="5144348"/>
            <a:ext cx="6100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the following lectures, we will see</a:t>
            </a:r>
          </a:p>
        </p:txBody>
      </p:sp>
    </p:spTree>
    <p:extLst>
      <p:ext uri="{BB962C8B-B14F-4D97-AF65-F5344CB8AC3E}">
        <p14:creationId xmlns:p14="http://schemas.microsoft.com/office/powerpoint/2010/main" val="4036600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FB5076-F99D-A3EC-0690-C0CC215F2134}"/>
              </a:ext>
            </a:extLst>
          </p:cNvPr>
          <p:cNvSpPr txBox="1"/>
          <p:nvPr/>
        </p:nvSpPr>
        <p:spPr>
          <a:xfrm>
            <a:off x="240033" y="855064"/>
            <a:ext cx="11611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There are many strategies for approximating the Bayes classifier.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6C2A71-BDB6-966D-7DA1-4BFEB8503C0C}"/>
              </a:ext>
            </a:extLst>
          </p:cNvPr>
          <p:cNvSpPr txBox="1"/>
          <p:nvPr/>
        </p:nvSpPr>
        <p:spPr>
          <a:xfrm>
            <a:off x="733328" y="1390839"/>
            <a:ext cx="3971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Random forests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AAC393-703D-0427-E032-37BC9CAD4D61}"/>
              </a:ext>
            </a:extLst>
          </p:cNvPr>
          <p:cNvSpPr txBox="1"/>
          <p:nvPr/>
        </p:nvSpPr>
        <p:spPr>
          <a:xfrm>
            <a:off x="733328" y="1915291"/>
            <a:ext cx="3971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Gradient boosted trees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FF1F2F-CEC5-E021-5586-5FC02120E8E1}"/>
              </a:ext>
            </a:extLst>
          </p:cNvPr>
          <p:cNvSpPr/>
          <p:nvPr/>
        </p:nvSpPr>
        <p:spPr>
          <a:xfrm>
            <a:off x="6460958" y="1491315"/>
            <a:ext cx="72190" cy="864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>
              <a:solidFill>
                <a:srgbClr val="7030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E31AF7-50CD-74C4-F12B-5AE497B18735}"/>
              </a:ext>
            </a:extLst>
          </p:cNvPr>
          <p:cNvSpPr txBox="1"/>
          <p:nvPr/>
        </p:nvSpPr>
        <p:spPr>
          <a:xfrm>
            <a:off x="6569244" y="1677891"/>
            <a:ext cx="32303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7030A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Ensembling approaches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5AE36F-D073-DF87-E56A-79886D7FDD51}"/>
              </a:ext>
            </a:extLst>
          </p:cNvPr>
          <p:cNvSpPr txBox="1"/>
          <p:nvPr/>
        </p:nvSpPr>
        <p:spPr>
          <a:xfrm>
            <a:off x="240033" y="2493850"/>
            <a:ext cx="11611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Both rely on </a:t>
            </a:r>
            <a:r>
              <a:rPr lang="en-GB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and can be used for regression and classification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05B722-BAE1-B46E-A3EC-3BC83C21D2C7}"/>
              </a:ext>
            </a:extLst>
          </p:cNvPr>
          <p:cNvSpPr txBox="1"/>
          <p:nvPr/>
        </p:nvSpPr>
        <p:spPr>
          <a:xfrm>
            <a:off x="240033" y="304242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u="sng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Example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: The Titanic survival dataset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26" name="Picture 25" descr="A person and person in water&#10;&#10;Description automatically generated">
            <a:extLst>
              <a:ext uri="{FF2B5EF4-FFF2-40B4-BE49-F238E27FC236}">
                <a16:creationId xmlns:a16="http://schemas.microsoft.com/office/drawing/2014/main" id="{66509FF4-EA0D-FC6A-FCB8-66B819370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674" y="3785816"/>
            <a:ext cx="4607668" cy="2587974"/>
          </a:xfrm>
          <a:prstGeom prst="rect">
            <a:avLst/>
          </a:prstGeom>
        </p:spPr>
      </p:pic>
      <p:pic>
        <p:nvPicPr>
          <p:cNvPr id="50" name="Picture 49" descr="A table of numbers and names&#10;&#10;Description automatically generated">
            <a:extLst>
              <a:ext uri="{FF2B5EF4-FFF2-40B4-BE49-F238E27FC236}">
                <a16:creationId xmlns:a16="http://schemas.microsoft.com/office/drawing/2014/main" id="{FEB44BBC-4331-1940-8E48-FBDC8786C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236" y="3785816"/>
            <a:ext cx="4324295" cy="25955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E2945A-2A6F-FE13-8EA0-EE775CCD8723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</a:p>
        </p:txBody>
      </p:sp>
    </p:spTree>
    <p:extLst>
      <p:ext uri="{BB962C8B-B14F-4D97-AF65-F5344CB8AC3E}">
        <p14:creationId xmlns:p14="http://schemas.microsoft.com/office/powerpoint/2010/main" val="2421598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26" name="Picture 25" descr="A person and person in water&#10;&#10;Description automatically generated">
            <a:extLst>
              <a:ext uri="{FF2B5EF4-FFF2-40B4-BE49-F238E27FC236}">
                <a16:creationId xmlns:a16="http://schemas.microsoft.com/office/drawing/2014/main" id="{66509FF4-EA0D-FC6A-FCB8-66B819370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674" y="3785816"/>
            <a:ext cx="4607668" cy="2587974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1931E0AC-E70F-9101-C5C4-A84D6AEAC367}"/>
              </a:ext>
            </a:extLst>
          </p:cNvPr>
          <p:cNvSpPr/>
          <p:nvPr/>
        </p:nvSpPr>
        <p:spPr>
          <a:xfrm>
            <a:off x="3495670" y="3914519"/>
            <a:ext cx="1037617" cy="486383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B0683C-E15B-46A6-8555-4B584229F236}"/>
              </a:ext>
            </a:extLst>
          </p:cNvPr>
          <p:cNvSpPr txBox="1"/>
          <p:nvPr/>
        </p:nvSpPr>
        <p:spPr>
          <a:xfrm>
            <a:off x="3571888" y="3973044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solidFill>
                  <a:srgbClr val="E8EBE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Gender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F79502B-F4BC-F5C3-680F-54708504A318}"/>
              </a:ext>
            </a:extLst>
          </p:cNvPr>
          <p:cNvSpPr/>
          <p:nvPr/>
        </p:nvSpPr>
        <p:spPr>
          <a:xfrm>
            <a:off x="2655937" y="4888720"/>
            <a:ext cx="1037617" cy="486383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54CC32-9156-6388-3CE8-35117FEAF1FE}"/>
              </a:ext>
            </a:extLst>
          </p:cNvPr>
          <p:cNvSpPr txBox="1"/>
          <p:nvPr/>
        </p:nvSpPr>
        <p:spPr>
          <a:xfrm>
            <a:off x="2875869" y="4947245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solidFill>
                  <a:srgbClr val="E8EBE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A68A55D-D06C-1524-DE64-EF0170A62424}"/>
              </a:ext>
            </a:extLst>
          </p:cNvPr>
          <p:cNvCxnSpPr>
            <a:stCxn id="28" idx="2"/>
            <a:endCxn id="31" idx="0"/>
          </p:cNvCxnSpPr>
          <p:nvPr/>
        </p:nvCxnSpPr>
        <p:spPr>
          <a:xfrm flipH="1">
            <a:off x="3174746" y="4400902"/>
            <a:ext cx="839733" cy="487818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024E6D9-0EF9-F779-C720-1DDF1D5EAE85}"/>
              </a:ext>
            </a:extLst>
          </p:cNvPr>
          <p:cNvCxnSpPr>
            <a:cxnSpLocks/>
          </p:cNvCxnSpPr>
          <p:nvPr/>
        </p:nvCxnSpPr>
        <p:spPr>
          <a:xfrm flipH="1" flipV="1">
            <a:off x="4014477" y="4400902"/>
            <a:ext cx="839733" cy="487818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8CBA91F-BB10-2F4F-4807-142FC093A44E}"/>
              </a:ext>
            </a:extLst>
          </p:cNvPr>
          <p:cNvSpPr txBox="1"/>
          <p:nvPr/>
        </p:nvSpPr>
        <p:spPr>
          <a:xfrm>
            <a:off x="4544978" y="4459428"/>
            <a:ext cx="7280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female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B1DB59-23C3-42CB-121C-69AC67E4A4C6}"/>
              </a:ext>
            </a:extLst>
          </p:cNvPr>
          <p:cNvSpPr txBox="1"/>
          <p:nvPr/>
        </p:nvSpPr>
        <p:spPr>
          <a:xfrm>
            <a:off x="2966320" y="4459427"/>
            <a:ext cx="567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male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7337673-1DC9-039B-696F-5EA150299CC3}"/>
              </a:ext>
            </a:extLst>
          </p:cNvPr>
          <p:cNvCxnSpPr>
            <a:cxnSpLocks/>
          </p:cNvCxnSpPr>
          <p:nvPr/>
        </p:nvCxnSpPr>
        <p:spPr>
          <a:xfrm flipH="1" flipV="1">
            <a:off x="3148892" y="5363889"/>
            <a:ext cx="839733" cy="487818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048E94E-0EA5-29CA-266B-38C45B172FDC}"/>
              </a:ext>
            </a:extLst>
          </p:cNvPr>
          <p:cNvCxnSpPr/>
          <p:nvPr/>
        </p:nvCxnSpPr>
        <p:spPr>
          <a:xfrm flipH="1">
            <a:off x="2309159" y="5363889"/>
            <a:ext cx="839733" cy="487818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4D9F5FB-08D5-D55A-F5C3-9752F8AC66FC}"/>
              </a:ext>
            </a:extLst>
          </p:cNvPr>
          <p:cNvSpPr txBox="1"/>
          <p:nvPr/>
        </p:nvSpPr>
        <p:spPr>
          <a:xfrm>
            <a:off x="3661127" y="5395851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 9.5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A288E1-D391-69AF-10F6-FFB6CC93D7D2}"/>
              </a:ext>
            </a:extLst>
          </p:cNvPr>
          <p:cNvSpPr txBox="1"/>
          <p:nvPr/>
        </p:nvSpPr>
        <p:spPr>
          <a:xfrm>
            <a:off x="2025113" y="5395851"/>
            <a:ext cx="5870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≤ 9.5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66BBF53-101D-6460-D5D4-7AFDB632F7A0}"/>
              </a:ext>
            </a:extLst>
          </p:cNvPr>
          <p:cNvSpPr txBox="1"/>
          <p:nvPr/>
        </p:nvSpPr>
        <p:spPr>
          <a:xfrm>
            <a:off x="4386774" y="4988007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SURVIVED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6B93B4B-4564-C04B-C077-D35B2D2CD609}"/>
              </a:ext>
            </a:extLst>
          </p:cNvPr>
          <p:cNvSpPr txBox="1"/>
          <p:nvPr/>
        </p:nvSpPr>
        <p:spPr>
          <a:xfrm>
            <a:off x="1841723" y="5968088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SURVIVED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1459E1B-4C9C-0AE1-BDCB-2EEC87FE095A}"/>
              </a:ext>
            </a:extLst>
          </p:cNvPr>
          <p:cNvSpPr txBox="1"/>
          <p:nvPr/>
        </p:nvSpPr>
        <p:spPr>
          <a:xfrm>
            <a:off x="3715468" y="5965739"/>
            <a:ext cx="5709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DIED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668AE2-4A2F-35B1-1B21-53788F28D2CC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FB3A9A-9C3E-E761-8E22-571CD5809538}"/>
              </a:ext>
            </a:extLst>
          </p:cNvPr>
          <p:cNvSpPr txBox="1"/>
          <p:nvPr/>
        </p:nvSpPr>
        <p:spPr>
          <a:xfrm>
            <a:off x="240033" y="855064"/>
            <a:ext cx="11611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There are many strategies for approximating the Bayes classifier.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9E6A53-65D3-B448-9276-54F5F9072FB5}"/>
              </a:ext>
            </a:extLst>
          </p:cNvPr>
          <p:cNvSpPr txBox="1"/>
          <p:nvPr/>
        </p:nvSpPr>
        <p:spPr>
          <a:xfrm>
            <a:off x="733328" y="1390839"/>
            <a:ext cx="3971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Random forests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D74C06-9B44-756A-7134-AE0E7369103E}"/>
              </a:ext>
            </a:extLst>
          </p:cNvPr>
          <p:cNvSpPr txBox="1"/>
          <p:nvPr/>
        </p:nvSpPr>
        <p:spPr>
          <a:xfrm>
            <a:off x="733328" y="1915291"/>
            <a:ext cx="3971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Gradient boosted trees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C80945-E95B-094C-36A7-C83ED528E965}"/>
              </a:ext>
            </a:extLst>
          </p:cNvPr>
          <p:cNvSpPr/>
          <p:nvPr/>
        </p:nvSpPr>
        <p:spPr>
          <a:xfrm>
            <a:off x="6460958" y="1491315"/>
            <a:ext cx="72190" cy="864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75493-2D6B-F2F7-0DAB-7EAE61D9B673}"/>
              </a:ext>
            </a:extLst>
          </p:cNvPr>
          <p:cNvSpPr txBox="1"/>
          <p:nvPr/>
        </p:nvSpPr>
        <p:spPr>
          <a:xfrm>
            <a:off x="6569244" y="1677891"/>
            <a:ext cx="32303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7030A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Ensembling approaches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120C9E-D344-8F21-9A53-943D3ABEBCE0}"/>
              </a:ext>
            </a:extLst>
          </p:cNvPr>
          <p:cNvSpPr txBox="1"/>
          <p:nvPr/>
        </p:nvSpPr>
        <p:spPr>
          <a:xfrm>
            <a:off x="240033" y="2493850"/>
            <a:ext cx="11611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Both rely on </a:t>
            </a:r>
            <a:r>
              <a:rPr lang="en-GB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and can be used for regression and classification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E588DE-5F57-4448-C5BC-775D1DE538BD}"/>
              </a:ext>
            </a:extLst>
          </p:cNvPr>
          <p:cNvSpPr txBox="1"/>
          <p:nvPr/>
        </p:nvSpPr>
        <p:spPr>
          <a:xfrm>
            <a:off x="240033" y="304242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u="sng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Example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: The Titanic survival dataset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301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383527-A36B-F229-E5A4-2FDC22346A22}"/>
              </a:ext>
            </a:extLst>
          </p:cNvPr>
          <p:cNvSpPr txBox="1"/>
          <p:nvPr/>
        </p:nvSpPr>
        <p:spPr>
          <a:xfrm>
            <a:off x="297408" y="1585087"/>
            <a:ext cx="110801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</a:t>
            </a:r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kNN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we approximate			     i.e. the set of K nearest neighbours of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EA568A-AF93-2EBF-88F7-B80337609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712" y="1625048"/>
            <a:ext cx="2501900" cy="355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B79E83-BC93-2F43-1B8F-319001AD9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3950" y="2361129"/>
            <a:ext cx="74041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3A78E5-15BF-8277-B899-1A619D5F3940}"/>
              </a:ext>
            </a:extLst>
          </p:cNvPr>
          <p:cNvSpPr txBox="1"/>
          <p:nvPr/>
        </p:nvSpPr>
        <p:spPr>
          <a:xfrm>
            <a:off x="278388" y="855062"/>
            <a:ext cx="8667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But first, we will talk again about </a:t>
            </a:r>
            <a:r>
              <a:rPr lang="en-GB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k-nearest neighbours (</a:t>
            </a:r>
            <a:r>
              <a:rPr lang="en-GB" sz="2400" dirty="0" err="1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kNN</a:t>
            </a:r>
            <a:r>
              <a:rPr lang="en-GB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7262D8-A44F-1F86-4662-DD76FA82E9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9318" y="1738436"/>
            <a:ext cx="317500" cy="2159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36542AD-F522-2A91-562C-15EF4BC1F679}"/>
              </a:ext>
            </a:extLst>
          </p:cNvPr>
          <p:cNvGrpSpPr/>
          <p:nvPr/>
        </p:nvGrpSpPr>
        <p:grpSpPr>
          <a:xfrm>
            <a:off x="2216508" y="3641586"/>
            <a:ext cx="7758984" cy="2485836"/>
            <a:chOff x="2818162" y="3641586"/>
            <a:chExt cx="7758984" cy="248583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7D2F4F4-8E96-A69B-C549-D2436193AB3E}"/>
                </a:ext>
              </a:extLst>
            </p:cNvPr>
            <p:cNvSpPr/>
            <p:nvPr/>
          </p:nvSpPr>
          <p:spPr>
            <a:xfrm>
              <a:off x="3301333" y="3920288"/>
              <a:ext cx="2071438" cy="2071438"/>
            </a:xfrm>
            <a:prstGeom prst="ellipse">
              <a:avLst/>
            </a:prstGeom>
            <a:noFill/>
            <a:ln w="2540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4FB527A-50A1-B6FE-4DC6-6DD8EC65CD91}"/>
                </a:ext>
              </a:extLst>
            </p:cNvPr>
            <p:cNvGrpSpPr/>
            <p:nvPr/>
          </p:nvGrpSpPr>
          <p:grpSpPr>
            <a:xfrm>
              <a:off x="4221848" y="4832142"/>
              <a:ext cx="528053" cy="439487"/>
              <a:chOff x="2749217" y="5011152"/>
              <a:chExt cx="528053" cy="439487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B321A25F-E684-802C-AEB4-3EBEF02CA7A7}"/>
                  </a:ext>
                </a:extLst>
              </p:cNvPr>
              <p:cNvSpPr/>
              <p:nvPr/>
            </p:nvSpPr>
            <p:spPr>
              <a:xfrm>
                <a:off x="2749217" y="5011152"/>
                <a:ext cx="210553" cy="210553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12A2C9D0-4E8B-5368-CDAC-6422EC5AE4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59770" y="5234739"/>
                <a:ext cx="317500" cy="215900"/>
              </a:xfrm>
              <a:prstGeom prst="rect">
                <a:avLst/>
              </a:prstGeom>
            </p:spPr>
          </p:pic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B1861B5-D8BB-042F-BCDF-80876C14944C}"/>
                </a:ext>
              </a:extLst>
            </p:cNvPr>
            <p:cNvSpPr/>
            <p:nvPr/>
          </p:nvSpPr>
          <p:spPr>
            <a:xfrm>
              <a:off x="4284586" y="5493125"/>
              <a:ext cx="210553" cy="21055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BF2845E-F7F8-55CA-2A90-7C3C67C853F3}"/>
                </a:ext>
              </a:extLst>
            </p:cNvPr>
            <p:cNvSpPr/>
            <p:nvPr/>
          </p:nvSpPr>
          <p:spPr>
            <a:xfrm>
              <a:off x="3779637" y="5239003"/>
              <a:ext cx="210553" cy="21055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327C039-4747-56BD-4F72-B11BFDF7D851}"/>
                </a:ext>
              </a:extLst>
            </p:cNvPr>
            <p:cNvSpPr/>
            <p:nvPr/>
          </p:nvSpPr>
          <p:spPr>
            <a:xfrm>
              <a:off x="4268971" y="4065882"/>
              <a:ext cx="210553" cy="21055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5AA272A-A64F-5CE7-48F2-78CEA5A2C5F5}"/>
                </a:ext>
              </a:extLst>
            </p:cNvPr>
            <p:cNvSpPr/>
            <p:nvPr/>
          </p:nvSpPr>
          <p:spPr>
            <a:xfrm>
              <a:off x="4956059" y="5166352"/>
              <a:ext cx="210553" cy="210553"/>
            </a:xfrm>
            <a:prstGeom prst="ellipse">
              <a:avLst/>
            </a:prstGeom>
            <a:solidFill>
              <a:srgbClr val="FA274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779ADC8-F9DC-B3B3-3DE2-08A272F728EB}"/>
                </a:ext>
              </a:extLst>
            </p:cNvPr>
            <p:cNvSpPr/>
            <p:nvPr/>
          </p:nvSpPr>
          <p:spPr>
            <a:xfrm>
              <a:off x="3626953" y="4360708"/>
              <a:ext cx="210553" cy="21055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148F7E3-B1CF-559A-B809-CDA6E8B8CBEA}"/>
                </a:ext>
              </a:extLst>
            </p:cNvPr>
            <p:cNvSpPr/>
            <p:nvPr/>
          </p:nvSpPr>
          <p:spPr>
            <a:xfrm>
              <a:off x="4784324" y="4581558"/>
              <a:ext cx="210553" cy="210553"/>
            </a:xfrm>
            <a:prstGeom prst="ellipse">
              <a:avLst/>
            </a:prstGeom>
            <a:solidFill>
              <a:srgbClr val="FA274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9B3D563-9288-44CE-CC1B-6ECE0BBF090A}"/>
                </a:ext>
              </a:extLst>
            </p:cNvPr>
            <p:cNvSpPr/>
            <p:nvPr/>
          </p:nvSpPr>
          <p:spPr>
            <a:xfrm>
              <a:off x="4221847" y="4422029"/>
              <a:ext cx="210553" cy="21055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EA56241-34D2-FC8F-D592-98CCA2FE7C44}"/>
                </a:ext>
              </a:extLst>
            </p:cNvPr>
            <p:cNvSpPr/>
            <p:nvPr/>
          </p:nvSpPr>
          <p:spPr>
            <a:xfrm>
              <a:off x="2818162" y="4787559"/>
              <a:ext cx="210553" cy="21055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42669E0-C685-C164-D3D0-E634106103D4}"/>
                </a:ext>
              </a:extLst>
            </p:cNvPr>
            <p:cNvSpPr/>
            <p:nvPr/>
          </p:nvSpPr>
          <p:spPr>
            <a:xfrm>
              <a:off x="3301333" y="3709735"/>
              <a:ext cx="210553" cy="21055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EA6F551-2D9F-9EE1-77A5-C2A912364534}"/>
                </a:ext>
              </a:extLst>
            </p:cNvPr>
            <p:cNvSpPr/>
            <p:nvPr/>
          </p:nvSpPr>
          <p:spPr>
            <a:xfrm>
              <a:off x="3634354" y="4858374"/>
              <a:ext cx="210553" cy="21055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437AECA-63A2-20D7-8C41-F8320DFCDF40}"/>
                </a:ext>
              </a:extLst>
            </p:cNvPr>
            <p:cNvSpPr/>
            <p:nvPr/>
          </p:nvSpPr>
          <p:spPr>
            <a:xfrm>
              <a:off x="3203457" y="5783360"/>
              <a:ext cx="210553" cy="21055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E3AFF8B-BC38-85E4-85AC-5285DF279F7D}"/>
                </a:ext>
              </a:extLst>
            </p:cNvPr>
            <p:cNvSpPr/>
            <p:nvPr/>
          </p:nvSpPr>
          <p:spPr>
            <a:xfrm>
              <a:off x="3003550" y="5239003"/>
              <a:ext cx="210553" cy="21055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D8DE883-E9B6-D4B5-3835-0DEF7272C0E9}"/>
                </a:ext>
              </a:extLst>
            </p:cNvPr>
            <p:cNvSpPr/>
            <p:nvPr/>
          </p:nvSpPr>
          <p:spPr>
            <a:xfrm>
              <a:off x="4644624" y="3678952"/>
              <a:ext cx="210553" cy="210553"/>
            </a:xfrm>
            <a:prstGeom prst="ellipse">
              <a:avLst/>
            </a:prstGeom>
            <a:solidFill>
              <a:srgbClr val="FA274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0ABD134-657A-BB35-2C84-76ED983636E0}"/>
                </a:ext>
              </a:extLst>
            </p:cNvPr>
            <p:cNvSpPr/>
            <p:nvPr/>
          </p:nvSpPr>
          <p:spPr>
            <a:xfrm>
              <a:off x="5460001" y="5261060"/>
              <a:ext cx="210553" cy="210553"/>
            </a:xfrm>
            <a:prstGeom prst="ellipse">
              <a:avLst/>
            </a:prstGeom>
            <a:solidFill>
              <a:srgbClr val="FA274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3D3ADF1-3ED9-05F7-E3A4-DAAAE1E5C286}"/>
                </a:ext>
              </a:extLst>
            </p:cNvPr>
            <p:cNvSpPr/>
            <p:nvPr/>
          </p:nvSpPr>
          <p:spPr>
            <a:xfrm>
              <a:off x="5173178" y="5886449"/>
              <a:ext cx="210553" cy="210553"/>
            </a:xfrm>
            <a:prstGeom prst="ellipse">
              <a:avLst/>
            </a:prstGeom>
            <a:solidFill>
              <a:srgbClr val="FA274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AAB0DC3-EE15-63E2-B0FD-9A066801063E}"/>
                </a:ext>
              </a:extLst>
            </p:cNvPr>
            <p:cNvSpPr/>
            <p:nvPr/>
          </p:nvSpPr>
          <p:spPr>
            <a:xfrm>
              <a:off x="5466300" y="4316752"/>
              <a:ext cx="210553" cy="210553"/>
            </a:xfrm>
            <a:prstGeom prst="ellipse">
              <a:avLst/>
            </a:prstGeom>
            <a:solidFill>
              <a:srgbClr val="FA274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927A60D-D9FA-044A-26D6-D5B357077F30}"/>
                </a:ext>
              </a:extLst>
            </p:cNvPr>
            <p:cNvSpPr/>
            <p:nvPr/>
          </p:nvSpPr>
          <p:spPr>
            <a:xfrm>
              <a:off x="5236609" y="3918101"/>
              <a:ext cx="210553" cy="210553"/>
            </a:xfrm>
            <a:prstGeom prst="ellipse">
              <a:avLst/>
            </a:prstGeom>
            <a:solidFill>
              <a:srgbClr val="FA274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D91A8D0A-932F-67BD-A980-4C8A3EEC0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66253" y="3641586"/>
              <a:ext cx="523609" cy="193664"/>
            </a:xfrm>
            <a:prstGeom prst="rect">
              <a:avLst/>
            </a:prstGeom>
          </p:spPr>
        </p:pic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F979BA33-9A42-8183-010E-10540AC541DA}"/>
                </a:ext>
              </a:extLst>
            </p:cNvPr>
            <p:cNvGrpSpPr/>
            <p:nvPr/>
          </p:nvGrpSpPr>
          <p:grpSpPr>
            <a:xfrm>
              <a:off x="8343045" y="4832142"/>
              <a:ext cx="528053" cy="439487"/>
              <a:chOff x="2749217" y="5011152"/>
              <a:chExt cx="528053" cy="439487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6A038E92-A209-BE44-D906-6F77BEF0A896}"/>
                  </a:ext>
                </a:extLst>
              </p:cNvPr>
              <p:cNvSpPr/>
              <p:nvPr/>
            </p:nvSpPr>
            <p:spPr>
              <a:xfrm>
                <a:off x="2749217" y="5011152"/>
                <a:ext cx="210553" cy="210553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8A1CCE82-44FE-DAC1-5F8A-6F1EBA984C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59770" y="5234739"/>
                <a:ext cx="317500" cy="215900"/>
              </a:xfrm>
              <a:prstGeom prst="rect">
                <a:avLst/>
              </a:prstGeom>
            </p:spPr>
          </p:pic>
        </p:grp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D39F44A-DD26-768B-559E-DEAA02553954}"/>
                </a:ext>
              </a:extLst>
            </p:cNvPr>
            <p:cNvSpPr/>
            <p:nvPr/>
          </p:nvSpPr>
          <p:spPr>
            <a:xfrm>
              <a:off x="8405783" y="5493125"/>
              <a:ext cx="210553" cy="21055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6301F55-AA53-3D3E-9FCE-1661B085E8B9}"/>
                </a:ext>
              </a:extLst>
            </p:cNvPr>
            <p:cNvSpPr/>
            <p:nvPr/>
          </p:nvSpPr>
          <p:spPr>
            <a:xfrm>
              <a:off x="7900834" y="5239003"/>
              <a:ext cx="210553" cy="21055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9C3FDF4-D348-3AC0-016F-8D32738E8C9D}"/>
                </a:ext>
              </a:extLst>
            </p:cNvPr>
            <p:cNvSpPr/>
            <p:nvPr/>
          </p:nvSpPr>
          <p:spPr>
            <a:xfrm>
              <a:off x="8390168" y="4065882"/>
              <a:ext cx="210553" cy="21055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2C7B9CD-6DA9-DD02-8C80-03C30F1C7787}"/>
                </a:ext>
              </a:extLst>
            </p:cNvPr>
            <p:cNvSpPr/>
            <p:nvPr/>
          </p:nvSpPr>
          <p:spPr>
            <a:xfrm>
              <a:off x="9077256" y="5166352"/>
              <a:ext cx="210553" cy="210553"/>
            </a:xfrm>
            <a:prstGeom prst="ellipse">
              <a:avLst/>
            </a:prstGeom>
            <a:solidFill>
              <a:srgbClr val="FA274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3B75BE7-B53B-028D-A0EF-BB56B2F0942D}"/>
                </a:ext>
              </a:extLst>
            </p:cNvPr>
            <p:cNvSpPr/>
            <p:nvPr/>
          </p:nvSpPr>
          <p:spPr>
            <a:xfrm>
              <a:off x="7748150" y="4360708"/>
              <a:ext cx="210553" cy="21055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2917CEE2-1757-9214-9DC7-7159EBB6189C}"/>
                </a:ext>
              </a:extLst>
            </p:cNvPr>
            <p:cNvSpPr/>
            <p:nvPr/>
          </p:nvSpPr>
          <p:spPr>
            <a:xfrm>
              <a:off x="8905521" y="4581558"/>
              <a:ext cx="210553" cy="210553"/>
            </a:xfrm>
            <a:prstGeom prst="ellipse">
              <a:avLst/>
            </a:prstGeom>
            <a:solidFill>
              <a:srgbClr val="FA274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9D34C786-58C4-F511-E36B-ED97EED5162C}"/>
                </a:ext>
              </a:extLst>
            </p:cNvPr>
            <p:cNvSpPr/>
            <p:nvPr/>
          </p:nvSpPr>
          <p:spPr>
            <a:xfrm>
              <a:off x="8343044" y="4422029"/>
              <a:ext cx="210553" cy="21055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A0007C8-436E-CED3-1221-8B3F9257C6A1}"/>
                </a:ext>
              </a:extLst>
            </p:cNvPr>
            <p:cNvSpPr/>
            <p:nvPr/>
          </p:nvSpPr>
          <p:spPr>
            <a:xfrm>
              <a:off x="6939359" y="4787559"/>
              <a:ext cx="210553" cy="21055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2036199-D9B7-88BC-0C3B-A6A3344F8FE7}"/>
                </a:ext>
              </a:extLst>
            </p:cNvPr>
            <p:cNvSpPr/>
            <p:nvPr/>
          </p:nvSpPr>
          <p:spPr>
            <a:xfrm>
              <a:off x="7422530" y="3709735"/>
              <a:ext cx="210553" cy="21055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47A605C-9A52-1F02-10E6-FDEA87A28787}"/>
                </a:ext>
              </a:extLst>
            </p:cNvPr>
            <p:cNvSpPr/>
            <p:nvPr/>
          </p:nvSpPr>
          <p:spPr>
            <a:xfrm>
              <a:off x="7755551" y="4858374"/>
              <a:ext cx="210553" cy="21055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0EC113FC-2CE6-AC6F-A088-5B279ED46202}"/>
                </a:ext>
              </a:extLst>
            </p:cNvPr>
            <p:cNvSpPr/>
            <p:nvPr/>
          </p:nvSpPr>
          <p:spPr>
            <a:xfrm>
              <a:off x="7324654" y="5783360"/>
              <a:ext cx="210553" cy="21055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1C39E668-BAE7-B02F-FC83-5A817C2D70DC}"/>
                </a:ext>
              </a:extLst>
            </p:cNvPr>
            <p:cNvSpPr/>
            <p:nvPr/>
          </p:nvSpPr>
          <p:spPr>
            <a:xfrm>
              <a:off x="7124747" y="5239003"/>
              <a:ext cx="210553" cy="21055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5783348-C253-14D9-9746-796DED4861BC}"/>
                </a:ext>
              </a:extLst>
            </p:cNvPr>
            <p:cNvSpPr/>
            <p:nvPr/>
          </p:nvSpPr>
          <p:spPr>
            <a:xfrm>
              <a:off x="8765821" y="3678952"/>
              <a:ext cx="210553" cy="210553"/>
            </a:xfrm>
            <a:prstGeom prst="ellipse">
              <a:avLst/>
            </a:prstGeom>
            <a:solidFill>
              <a:srgbClr val="FA274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388BEBB9-3B89-C099-0B92-91AAC04BC8DE}"/>
                </a:ext>
              </a:extLst>
            </p:cNvPr>
            <p:cNvSpPr/>
            <p:nvPr/>
          </p:nvSpPr>
          <p:spPr>
            <a:xfrm>
              <a:off x="9581198" y="5261060"/>
              <a:ext cx="210553" cy="210553"/>
            </a:xfrm>
            <a:prstGeom prst="ellipse">
              <a:avLst/>
            </a:prstGeom>
            <a:solidFill>
              <a:srgbClr val="FA274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39CBCD0-9D6A-ECE8-AE5A-B38239A8BA2E}"/>
                </a:ext>
              </a:extLst>
            </p:cNvPr>
            <p:cNvSpPr/>
            <p:nvPr/>
          </p:nvSpPr>
          <p:spPr>
            <a:xfrm>
              <a:off x="9294375" y="5886449"/>
              <a:ext cx="210553" cy="210553"/>
            </a:xfrm>
            <a:prstGeom prst="ellipse">
              <a:avLst/>
            </a:prstGeom>
            <a:solidFill>
              <a:srgbClr val="FA274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5A5925F-6D63-404B-F164-01345DB130CD}"/>
                </a:ext>
              </a:extLst>
            </p:cNvPr>
            <p:cNvSpPr/>
            <p:nvPr/>
          </p:nvSpPr>
          <p:spPr>
            <a:xfrm>
              <a:off x="9587497" y="4316752"/>
              <a:ext cx="210553" cy="210553"/>
            </a:xfrm>
            <a:prstGeom prst="ellipse">
              <a:avLst/>
            </a:prstGeom>
            <a:solidFill>
              <a:srgbClr val="FA274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32B70D6-D54B-4735-379F-E12E22EB402E}"/>
                </a:ext>
              </a:extLst>
            </p:cNvPr>
            <p:cNvSpPr/>
            <p:nvPr/>
          </p:nvSpPr>
          <p:spPr>
            <a:xfrm>
              <a:off x="9357806" y="3918101"/>
              <a:ext cx="210553" cy="210553"/>
            </a:xfrm>
            <a:prstGeom prst="ellipse">
              <a:avLst/>
            </a:prstGeom>
            <a:solidFill>
              <a:srgbClr val="FA274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A9269709-FD89-47BA-FD1D-11402821F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791751" y="5886449"/>
              <a:ext cx="785395" cy="240973"/>
            </a:xfrm>
            <a:prstGeom prst="rect">
              <a:avLst/>
            </a:prstGeom>
          </p:spPr>
        </p:pic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7ECFF5C0-B90D-5383-7B03-BB8DEC47F639}"/>
                </a:ext>
              </a:extLst>
            </p:cNvPr>
            <p:cNvSpPr/>
            <p:nvPr/>
          </p:nvSpPr>
          <p:spPr>
            <a:xfrm>
              <a:off x="8836440" y="4510780"/>
              <a:ext cx="352108" cy="352108"/>
            </a:xfrm>
            <a:prstGeom prst="ellipse">
              <a:avLst/>
            </a:prstGeom>
            <a:noFill/>
            <a:ln w="2540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1B4FD5D7-DAD3-D7BF-760E-6CB611C948ED}"/>
                </a:ext>
              </a:extLst>
            </p:cNvPr>
            <p:cNvSpPr/>
            <p:nvPr/>
          </p:nvSpPr>
          <p:spPr>
            <a:xfrm>
              <a:off x="8270244" y="4358466"/>
              <a:ext cx="352108" cy="352108"/>
            </a:xfrm>
            <a:prstGeom prst="ellipse">
              <a:avLst/>
            </a:prstGeom>
            <a:noFill/>
            <a:ln w="2540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092D96D9-5EA4-76C3-21FF-D7958F4BF54D}"/>
                </a:ext>
              </a:extLst>
            </p:cNvPr>
            <p:cNvSpPr/>
            <p:nvPr/>
          </p:nvSpPr>
          <p:spPr>
            <a:xfrm>
              <a:off x="7677372" y="4787596"/>
              <a:ext cx="352108" cy="352108"/>
            </a:xfrm>
            <a:prstGeom prst="ellipse">
              <a:avLst/>
            </a:prstGeom>
            <a:noFill/>
            <a:ln w="2540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D0357A6-A5E1-CE39-1061-7F0D48BAA8BA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690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E55C9-CBF5-4CBD-77CE-58478E4D5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1DDAC8-C09A-6273-7E32-375B531E4333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1E5547-AD83-AE69-9C5A-EEFAF0D2A3E1}"/>
              </a:ext>
            </a:extLst>
          </p:cNvPr>
          <p:cNvSpPr txBox="1"/>
          <p:nvPr/>
        </p:nvSpPr>
        <p:spPr>
          <a:xfrm>
            <a:off x="323534" y="3526137"/>
            <a:ext cx="10541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kNN is a 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nonparametric classifier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: it makes no assumptions about the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5C46E4-900B-B468-7DBB-38528414D89B}"/>
              </a:ext>
            </a:extLst>
          </p:cNvPr>
          <p:cNvSpPr txBox="1"/>
          <p:nvPr/>
        </p:nvSpPr>
        <p:spPr>
          <a:xfrm>
            <a:off x="360110" y="4023455"/>
            <a:ext cx="11296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Helvetica Neue" panose="02000503000000020004" pitchFamily="2" charset="0"/>
              <a:buChar char="⮑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It can be very flexible, but sub-optimal when we know something about the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02CD2E-E168-8E17-4EAB-1320F6A8F4CD}"/>
              </a:ext>
            </a:extLst>
          </p:cNvPr>
          <p:cNvSpPr txBox="1"/>
          <p:nvPr/>
        </p:nvSpPr>
        <p:spPr>
          <a:xfrm>
            <a:off x="345051" y="4686666"/>
            <a:ext cx="1085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It works well in low dimensions, but suffers from the </a:t>
            </a:r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curse of dimensionality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5A1426-8DE4-5DAC-4246-D1AFA883F9D4}"/>
              </a:ext>
            </a:extLst>
          </p:cNvPr>
          <p:cNvSpPr txBox="1"/>
          <p:nvPr/>
        </p:nvSpPr>
        <p:spPr>
          <a:xfrm>
            <a:off x="345051" y="5349877"/>
            <a:ext cx="87334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hyper-parameter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 is usually chosen via cross-validation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7A6487-66A6-441C-64CF-4ABBBF9FC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950" y="2361129"/>
            <a:ext cx="74041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8BDE2D2-511F-337E-7A90-3BC9730E9FE2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38A3E3-3683-29D3-2E12-63042F597495}"/>
              </a:ext>
            </a:extLst>
          </p:cNvPr>
          <p:cNvSpPr txBox="1"/>
          <p:nvPr/>
        </p:nvSpPr>
        <p:spPr>
          <a:xfrm>
            <a:off x="297408" y="1585087"/>
            <a:ext cx="110801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</a:t>
            </a:r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kNN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we approximate			     i.e. the set of K nearest neighbours of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49D0C2-9CAE-84F0-BEB1-55DD6550C2CC}"/>
              </a:ext>
            </a:extLst>
          </p:cNvPr>
          <p:cNvSpPr txBox="1"/>
          <p:nvPr/>
        </p:nvSpPr>
        <p:spPr>
          <a:xfrm>
            <a:off x="278388" y="855062"/>
            <a:ext cx="8667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But first, we will talk again about </a:t>
            </a:r>
            <a:r>
              <a:rPr lang="en-GB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k-nearest neighbours (</a:t>
            </a:r>
            <a:r>
              <a:rPr lang="en-GB" sz="2400" dirty="0" err="1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kNN</a:t>
            </a:r>
            <a:r>
              <a:rPr lang="en-GB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46625C-4BA0-45D0-9595-A9B2BED2BC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9318" y="1738436"/>
            <a:ext cx="317500" cy="215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666CC9C-45D2-EBC4-FD64-7DEFD42023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2712" y="1625048"/>
            <a:ext cx="25019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975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D35B1-5BEC-9D1D-6AD5-A67EFF641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D5EC8B9-D55D-DCC6-F63C-8C826E953226}"/>
              </a:ext>
            </a:extLst>
          </p:cNvPr>
          <p:cNvSpPr/>
          <p:nvPr/>
        </p:nvSpPr>
        <p:spPr>
          <a:xfrm>
            <a:off x="240033" y="4625060"/>
            <a:ext cx="10957669" cy="604622"/>
          </a:xfrm>
          <a:prstGeom prst="roundRect">
            <a:avLst/>
          </a:prstGeom>
          <a:solidFill>
            <a:srgbClr val="00B050">
              <a:alpha val="24699"/>
            </a:srgb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E8C0A0-A66A-7F85-C1BC-C5C1BCF9B15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45C6AA-126C-2FCA-637D-19AE70F05EB7}"/>
              </a:ext>
            </a:extLst>
          </p:cNvPr>
          <p:cNvSpPr txBox="1"/>
          <p:nvPr/>
        </p:nvSpPr>
        <p:spPr>
          <a:xfrm>
            <a:off x="323534" y="3526137"/>
            <a:ext cx="10541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kNN is a 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nonparametric classifier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: it makes no assumptions about the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DC77AB-0F48-9C13-EAB8-FE83A67D5F4C}"/>
              </a:ext>
            </a:extLst>
          </p:cNvPr>
          <p:cNvSpPr txBox="1"/>
          <p:nvPr/>
        </p:nvSpPr>
        <p:spPr>
          <a:xfrm>
            <a:off x="360110" y="4023455"/>
            <a:ext cx="11296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Helvetica Neue" panose="02000503000000020004" pitchFamily="2" charset="0"/>
              <a:buChar char="⮑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It can be very flexible, but sub-optimal when we know something about the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E01D6F-9E7A-F609-5131-D3C1037E3611}"/>
              </a:ext>
            </a:extLst>
          </p:cNvPr>
          <p:cNvSpPr txBox="1"/>
          <p:nvPr/>
        </p:nvSpPr>
        <p:spPr>
          <a:xfrm>
            <a:off x="345051" y="4686666"/>
            <a:ext cx="1085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It works well in low dimensions, but suffers from the </a:t>
            </a:r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curse of dimensionality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897734-71CB-63A1-28BA-363374915142}"/>
              </a:ext>
            </a:extLst>
          </p:cNvPr>
          <p:cNvSpPr txBox="1"/>
          <p:nvPr/>
        </p:nvSpPr>
        <p:spPr>
          <a:xfrm>
            <a:off x="345051" y="5349877"/>
            <a:ext cx="87334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hyper-parameter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 is usually chosen via cross-validation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19C805-83BB-35FB-E86A-4640F68EF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950" y="2361129"/>
            <a:ext cx="74041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648DA0-E903-D3E0-7800-568ACAB2558D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C4F48B-36B6-2190-7E26-C7DE9FE6A41C}"/>
              </a:ext>
            </a:extLst>
          </p:cNvPr>
          <p:cNvSpPr txBox="1"/>
          <p:nvPr/>
        </p:nvSpPr>
        <p:spPr>
          <a:xfrm>
            <a:off x="297408" y="1585087"/>
            <a:ext cx="110801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</a:t>
            </a:r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kNN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we approximate			     i.e. the set of K nearest neighbours of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654596-7B5D-EFD5-5460-47E6650DD75D}"/>
              </a:ext>
            </a:extLst>
          </p:cNvPr>
          <p:cNvSpPr txBox="1"/>
          <p:nvPr/>
        </p:nvSpPr>
        <p:spPr>
          <a:xfrm>
            <a:off x="278388" y="855062"/>
            <a:ext cx="8667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But first, we will talk again about </a:t>
            </a:r>
            <a:r>
              <a:rPr lang="en-GB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k-nearest neighbours (</a:t>
            </a:r>
            <a:r>
              <a:rPr lang="en-GB" sz="2400" dirty="0" err="1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kNN</a:t>
            </a:r>
            <a:r>
              <a:rPr lang="en-GB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D168A35-283C-A670-F212-AC6C8056F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9318" y="1738436"/>
            <a:ext cx="317500" cy="215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1B2C93-C247-4B0C-9CE0-110E974AAC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2712" y="1625048"/>
            <a:ext cx="25019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25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E904A-D913-DCD7-0EE5-283013BE5806}"/>
              </a:ext>
            </a:extLst>
          </p:cNvPr>
          <p:cNvSpPr txBox="1"/>
          <p:nvPr/>
        </p:nvSpPr>
        <p:spPr>
          <a:xfrm>
            <a:off x="345051" y="856800"/>
            <a:ext cx="10732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It works well in low dimensions, but suffers from 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curse of dimensionality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CED9CEE-ACF0-A5BB-7649-3FCABC21FFF6}"/>
              </a:ext>
            </a:extLst>
          </p:cNvPr>
          <p:cNvGrpSpPr/>
          <p:nvPr/>
        </p:nvGrpSpPr>
        <p:grpSpPr>
          <a:xfrm>
            <a:off x="613140" y="1521749"/>
            <a:ext cx="4745144" cy="4707350"/>
            <a:chOff x="906648" y="1618870"/>
            <a:chExt cx="4745144" cy="4707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609048B-1033-FE08-60A3-488C6EAE82B0}"/>
                </a:ext>
              </a:extLst>
            </p:cNvPr>
            <p:cNvSpPr/>
            <p:nvPr/>
          </p:nvSpPr>
          <p:spPr>
            <a:xfrm>
              <a:off x="1080000" y="1873700"/>
              <a:ext cx="4320000" cy="4320000"/>
            </a:xfrm>
            <a:prstGeom prst="rect">
              <a:avLst/>
            </a:prstGeom>
            <a:noFill/>
            <a:ln w="50800">
              <a:solidFill>
                <a:srgbClr val="5E5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10C8BEF-FF49-EE05-0073-57E5D8061600}"/>
                </a:ext>
              </a:extLst>
            </p:cNvPr>
            <p:cNvSpPr/>
            <p:nvPr/>
          </p:nvSpPr>
          <p:spPr>
            <a:xfrm>
              <a:off x="3240000" y="1873701"/>
              <a:ext cx="2160000" cy="2160000"/>
            </a:xfrm>
            <a:prstGeom prst="ellipse">
              <a:avLst/>
            </a:prstGeom>
            <a:solidFill>
              <a:srgbClr val="00B050">
                <a:alpha val="25000"/>
              </a:srgb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A67CBB8-C68E-42EA-0CF5-B91336EE810E}"/>
                </a:ext>
              </a:extLst>
            </p:cNvPr>
            <p:cNvSpPr/>
            <p:nvPr/>
          </p:nvSpPr>
          <p:spPr>
            <a:xfrm>
              <a:off x="1080000" y="1873701"/>
              <a:ext cx="2160000" cy="2160000"/>
            </a:xfrm>
            <a:prstGeom prst="ellipse">
              <a:avLst/>
            </a:prstGeom>
            <a:solidFill>
              <a:srgbClr val="00B050">
                <a:alpha val="25000"/>
              </a:srgb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D9D43C1-ED1B-05CA-3BA0-8CBDEBABDC6D}"/>
                </a:ext>
              </a:extLst>
            </p:cNvPr>
            <p:cNvSpPr/>
            <p:nvPr/>
          </p:nvSpPr>
          <p:spPr>
            <a:xfrm>
              <a:off x="3240000" y="4033701"/>
              <a:ext cx="2160000" cy="2160000"/>
            </a:xfrm>
            <a:prstGeom prst="ellipse">
              <a:avLst/>
            </a:prstGeom>
            <a:solidFill>
              <a:srgbClr val="00B050">
                <a:alpha val="25000"/>
              </a:srgb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C14894C-753E-4640-07E4-0BF32E8F0225}"/>
                </a:ext>
              </a:extLst>
            </p:cNvPr>
            <p:cNvSpPr/>
            <p:nvPr/>
          </p:nvSpPr>
          <p:spPr>
            <a:xfrm>
              <a:off x="1080000" y="4033701"/>
              <a:ext cx="2160000" cy="2160000"/>
            </a:xfrm>
            <a:prstGeom prst="ellipse">
              <a:avLst/>
            </a:prstGeom>
            <a:solidFill>
              <a:srgbClr val="00B050">
                <a:alpha val="25000"/>
              </a:srgb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EF5B8B2-16FA-C1A1-B92F-74CEF6F63AAD}"/>
                </a:ext>
              </a:extLst>
            </p:cNvPr>
            <p:cNvCxnSpPr>
              <a:cxnSpLocks/>
            </p:cNvCxnSpPr>
            <p:nvPr/>
          </p:nvCxnSpPr>
          <p:spPr>
            <a:xfrm>
              <a:off x="906648" y="4032000"/>
              <a:ext cx="4745144" cy="1700"/>
            </a:xfrm>
            <a:prstGeom prst="straightConnector1">
              <a:avLst/>
            </a:prstGeom>
            <a:ln w="508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50D5D68-A04C-755D-F32A-0B580EFC4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0000" y="1618870"/>
              <a:ext cx="0" cy="4707350"/>
            </a:xfrm>
            <a:prstGeom prst="straightConnector1">
              <a:avLst/>
            </a:prstGeom>
            <a:ln w="508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8D6ED64-20EE-7816-1372-FE6412879616}"/>
                </a:ext>
              </a:extLst>
            </p:cNvPr>
            <p:cNvSpPr/>
            <p:nvPr/>
          </p:nvSpPr>
          <p:spPr>
            <a:xfrm>
              <a:off x="2837433" y="3618144"/>
              <a:ext cx="827711" cy="827711"/>
            </a:xfrm>
            <a:prstGeom prst="ellipse">
              <a:avLst/>
            </a:prstGeom>
            <a:solidFill>
              <a:srgbClr val="1E77B4">
                <a:alpha val="25000"/>
              </a:srgbClr>
            </a:solidFill>
            <a:ln w="38100">
              <a:solidFill>
                <a:srgbClr val="1E77B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982CF41-B66A-18F8-890A-37EC81EC1C57}"/>
              </a:ext>
            </a:extLst>
          </p:cNvPr>
          <p:cNvSpPr txBox="1"/>
          <p:nvPr/>
        </p:nvSpPr>
        <p:spPr>
          <a:xfrm>
            <a:off x="5374149" y="1730890"/>
            <a:ext cx="67313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u="sng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Example of failure of intuition in high-dimensions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two-dimensional space R</a:t>
            </a:r>
            <a:r>
              <a:rPr lang="en-FR" sz="2400" baseline="30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2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3BF5A33-4F46-85E4-8500-8976684B0AA6}"/>
                  </a:ext>
                </a:extLst>
              </p:cNvPr>
              <p:cNvSpPr txBox="1"/>
              <p:nvPr/>
            </p:nvSpPr>
            <p:spPr>
              <a:xfrm>
                <a:off x="5643969" y="3132530"/>
                <a:ext cx="5896449" cy="33651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FR" sz="2400" dirty="0">
                    <a:solidFill>
                      <a:srgbClr val="5E5E5E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  <a:t>Four </a:t>
                </a:r>
                <a:r>
                  <a:rPr lang="en-FR" sz="2400" dirty="0">
                    <a:solidFill>
                      <a:srgbClr val="00B050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  <a:t>unit-radius circles </a:t>
                </a:r>
                <a:r>
                  <a:rPr lang="en-FR" sz="2400" dirty="0">
                    <a:solidFill>
                      <a:srgbClr val="5E5E5E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  <a:t>inside [-2, 2]</a:t>
                </a:r>
                <a:r>
                  <a:rPr lang="en-FR" sz="2400" baseline="30000" dirty="0">
                    <a:solidFill>
                      <a:srgbClr val="5E5E5E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  <a:t>2</a:t>
                </a:r>
                <a:endPara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FR" sz="2400" baseline="300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FR" sz="2400" dirty="0">
                    <a:solidFill>
                      <a:srgbClr val="1E77B4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  <a:t>Circle of radius r </a:t>
                </a:r>
                <a:r>
                  <a:rPr lang="en-FR" sz="2400" dirty="0">
                    <a:solidFill>
                      <a:srgbClr val="5E5E5E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  <a:t>centred at the origin, confined by the unit-radius circles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FR" sz="2400" dirty="0">
                    <a:solidFill>
                      <a:srgbClr val="5E5E5E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  <a:t>Distance from origin to centers: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FR" sz="2400" i="1" smtClean="0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radPr>
                      <m:deg/>
                      <m:e>
                        <m:r>
                          <a:rPr lang="en-US" sz="2400" b="0" i="0" smtClean="0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2</m:t>
                        </m:r>
                      </m:e>
                    </m:rad>
                  </m:oMath>
                </a14:m>
                <a:endPara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FR" sz="2400" dirty="0">
                    <a:solidFill>
                      <a:srgbClr val="5E5E5E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  <a:t>Radius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5E5E5E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r</m:t>
                    </m:r>
                    <m:r>
                      <a:rPr lang="en-US" sz="2400" b="0" i="0" smtClean="0">
                        <a:solidFill>
                          <a:srgbClr val="5E5E5E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2400" i="1" smtClean="0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radPr>
                      <m:deg/>
                      <m:e>
                        <m:r>
                          <a:rPr lang="en-US" sz="2400" b="0" i="0" smtClean="0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2</m:t>
                        </m:r>
                      </m:e>
                    </m:rad>
                    <m:r>
                      <a:rPr lang="en-US" sz="2400" b="0" i="0" smtClean="0">
                        <a:solidFill>
                          <a:srgbClr val="5E5E5E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 −1</m:t>
                    </m:r>
                  </m:oMath>
                </a14:m>
                <a:endPara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3BF5A33-4F46-85E4-8500-8976684B0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3969" y="3132530"/>
                <a:ext cx="5896449" cy="3365152"/>
              </a:xfrm>
              <a:prstGeom prst="rect">
                <a:avLst/>
              </a:prstGeom>
              <a:blipFill>
                <a:blip r:embed="rId3"/>
                <a:stretch>
                  <a:fillRect l="-1505" t="-1504"/>
                </a:stretch>
              </a:blipFill>
            </p:spPr>
            <p:txBody>
              <a:bodyPr/>
              <a:lstStyle/>
              <a:p>
                <a:r>
                  <a:rPr lang="en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41A0B7C3-D149-72B7-302B-AB38A4E1BF65}"/>
              </a:ext>
            </a:extLst>
          </p:cNvPr>
          <p:cNvSpPr txBox="1"/>
          <p:nvPr/>
        </p:nvSpPr>
        <p:spPr>
          <a:xfrm>
            <a:off x="663939" y="6394102"/>
            <a:ext cx="50032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 from JM Steele “The Cauchy-Schwarz master class”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615194-144F-A9C5-8418-B0BFA3911716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494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C2BFD-3CF4-0FD0-95CD-DE5753802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A5C3CF-D0B8-A476-D617-B4AC70EB71AF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ADA975-BCC4-4F3D-8ACF-37F64DDA4134}"/>
              </a:ext>
            </a:extLst>
          </p:cNvPr>
          <p:cNvSpPr txBox="1"/>
          <p:nvPr/>
        </p:nvSpPr>
        <p:spPr>
          <a:xfrm>
            <a:off x="345051" y="856800"/>
            <a:ext cx="10732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It works well in low dimensions, but suffers from 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curse of dimensionality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6A6B161-FC88-D382-81E6-0A6FFE431F58}"/>
              </a:ext>
            </a:extLst>
          </p:cNvPr>
          <p:cNvGrpSpPr/>
          <p:nvPr/>
        </p:nvGrpSpPr>
        <p:grpSpPr>
          <a:xfrm>
            <a:off x="613140" y="1521749"/>
            <a:ext cx="4745144" cy="4707350"/>
            <a:chOff x="906648" y="1618870"/>
            <a:chExt cx="4745144" cy="4707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CF37C6A-4D36-ECF7-2108-690485615B46}"/>
                </a:ext>
              </a:extLst>
            </p:cNvPr>
            <p:cNvSpPr/>
            <p:nvPr/>
          </p:nvSpPr>
          <p:spPr>
            <a:xfrm>
              <a:off x="1080000" y="1873700"/>
              <a:ext cx="4320000" cy="4320000"/>
            </a:xfrm>
            <a:prstGeom prst="rect">
              <a:avLst/>
            </a:prstGeom>
            <a:noFill/>
            <a:ln w="50800">
              <a:solidFill>
                <a:srgbClr val="5E5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95569A2-12F7-0E92-10D5-DE3C26A857B5}"/>
                </a:ext>
              </a:extLst>
            </p:cNvPr>
            <p:cNvSpPr/>
            <p:nvPr/>
          </p:nvSpPr>
          <p:spPr>
            <a:xfrm>
              <a:off x="3240000" y="1873701"/>
              <a:ext cx="2160000" cy="2160000"/>
            </a:xfrm>
            <a:prstGeom prst="ellipse">
              <a:avLst/>
            </a:prstGeom>
            <a:solidFill>
              <a:srgbClr val="00B050">
                <a:alpha val="25000"/>
              </a:srgb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C0C3EDF-85B0-0DE2-252D-5353247D4D95}"/>
                </a:ext>
              </a:extLst>
            </p:cNvPr>
            <p:cNvSpPr/>
            <p:nvPr/>
          </p:nvSpPr>
          <p:spPr>
            <a:xfrm>
              <a:off x="1080000" y="1873701"/>
              <a:ext cx="2160000" cy="2160000"/>
            </a:xfrm>
            <a:prstGeom prst="ellipse">
              <a:avLst/>
            </a:prstGeom>
            <a:solidFill>
              <a:srgbClr val="00B050">
                <a:alpha val="25000"/>
              </a:srgb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457946C-E724-6F15-E500-2180B8B8DAA8}"/>
                </a:ext>
              </a:extLst>
            </p:cNvPr>
            <p:cNvSpPr/>
            <p:nvPr/>
          </p:nvSpPr>
          <p:spPr>
            <a:xfrm>
              <a:off x="3240000" y="4033701"/>
              <a:ext cx="2160000" cy="2160000"/>
            </a:xfrm>
            <a:prstGeom prst="ellipse">
              <a:avLst/>
            </a:prstGeom>
            <a:solidFill>
              <a:srgbClr val="00B050">
                <a:alpha val="25000"/>
              </a:srgb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8D2B9A7-9BB5-3AE1-4954-91F2ACF664E4}"/>
                </a:ext>
              </a:extLst>
            </p:cNvPr>
            <p:cNvSpPr/>
            <p:nvPr/>
          </p:nvSpPr>
          <p:spPr>
            <a:xfrm>
              <a:off x="1080000" y="4033701"/>
              <a:ext cx="2160000" cy="2160000"/>
            </a:xfrm>
            <a:prstGeom prst="ellipse">
              <a:avLst/>
            </a:prstGeom>
            <a:solidFill>
              <a:srgbClr val="00B050">
                <a:alpha val="25000"/>
              </a:srgb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685C3F7-AF9A-AC4F-87C7-847D9AC6C3BB}"/>
                </a:ext>
              </a:extLst>
            </p:cNvPr>
            <p:cNvCxnSpPr>
              <a:cxnSpLocks/>
            </p:cNvCxnSpPr>
            <p:nvPr/>
          </p:nvCxnSpPr>
          <p:spPr>
            <a:xfrm>
              <a:off x="906648" y="4032000"/>
              <a:ext cx="4745144" cy="1700"/>
            </a:xfrm>
            <a:prstGeom prst="straightConnector1">
              <a:avLst/>
            </a:prstGeom>
            <a:ln w="508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D502D51-BD82-661D-E299-994F6F435B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0000" y="1618870"/>
              <a:ext cx="0" cy="4707350"/>
            </a:xfrm>
            <a:prstGeom prst="straightConnector1">
              <a:avLst/>
            </a:prstGeom>
            <a:ln w="508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C4951B6-EB41-88BE-1139-21B462CF0EFD}"/>
                </a:ext>
              </a:extLst>
            </p:cNvPr>
            <p:cNvSpPr/>
            <p:nvPr/>
          </p:nvSpPr>
          <p:spPr>
            <a:xfrm>
              <a:off x="2837433" y="3618144"/>
              <a:ext cx="827711" cy="827711"/>
            </a:xfrm>
            <a:prstGeom prst="ellipse">
              <a:avLst/>
            </a:prstGeom>
            <a:solidFill>
              <a:srgbClr val="1E77B4">
                <a:alpha val="25000"/>
              </a:srgbClr>
            </a:solidFill>
            <a:ln w="38100">
              <a:solidFill>
                <a:srgbClr val="1E77B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F94FA1D-7DC5-63D8-6A41-E725B7286A29}"/>
              </a:ext>
            </a:extLst>
          </p:cNvPr>
          <p:cNvSpPr txBox="1"/>
          <p:nvPr/>
        </p:nvSpPr>
        <p:spPr>
          <a:xfrm>
            <a:off x="5374149" y="1730890"/>
            <a:ext cx="67313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u="sng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Example of failure of intuition in high-dimensions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d-dimensional space R</a:t>
            </a:r>
            <a:r>
              <a:rPr lang="en-FR" sz="2400" baseline="30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23A4D62-024C-1A17-1F7A-64785DE50038}"/>
                  </a:ext>
                </a:extLst>
              </p:cNvPr>
              <p:cNvSpPr txBox="1"/>
              <p:nvPr/>
            </p:nvSpPr>
            <p:spPr>
              <a:xfrm>
                <a:off x="5643969" y="3132530"/>
                <a:ext cx="6977747" cy="3985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FR" sz="2400" dirty="0">
                    <a:solidFill>
                      <a:srgbClr val="5E5E5E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  <a:t>2</a:t>
                </a:r>
                <a:r>
                  <a:rPr lang="en-FR" sz="2400" baseline="30000" dirty="0">
                    <a:solidFill>
                      <a:srgbClr val="5E5E5E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  <a:t>d</a:t>
                </a:r>
                <a:r>
                  <a:rPr lang="en-FR" sz="2400" dirty="0">
                    <a:solidFill>
                      <a:srgbClr val="5E5E5E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  <a:t> </a:t>
                </a:r>
                <a:r>
                  <a:rPr lang="en-FR" sz="2400" dirty="0">
                    <a:solidFill>
                      <a:srgbClr val="00B050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  <a:t>unit-radius circles </a:t>
                </a:r>
                <a:r>
                  <a:rPr lang="en-FR" sz="2400" dirty="0">
                    <a:solidFill>
                      <a:srgbClr val="5E5E5E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  <a:t>inside [-2, 2]</a:t>
                </a:r>
                <a:r>
                  <a:rPr lang="en-FR" sz="2400" baseline="30000" dirty="0">
                    <a:solidFill>
                      <a:srgbClr val="5E5E5E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  <a:t>d</a:t>
                </a:r>
                <a:endPara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FR" sz="2400" baseline="300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FR" sz="2400" dirty="0">
                    <a:solidFill>
                      <a:srgbClr val="1E77B4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  <a:t>Sphere of radius r </a:t>
                </a:r>
                <a:r>
                  <a:rPr lang="en-FR" sz="2400" dirty="0">
                    <a:solidFill>
                      <a:srgbClr val="5E5E5E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  <a:t>centred at the origin, </a:t>
                </a:r>
                <a:br>
                  <a:rPr lang="en-FR" sz="2400" dirty="0">
                    <a:solidFill>
                      <a:srgbClr val="5E5E5E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</a:br>
                <a:r>
                  <a:rPr lang="en-FR" sz="2400" dirty="0">
                    <a:solidFill>
                      <a:srgbClr val="5E5E5E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  <a:t>confined by the unit-radius spheres</a:t>
                </a:r>
              </a:p>
              <a:p>
                <a:endPara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FR" sz="2400" dirty="0">
                    <a:solidFill>
                      <a:srgbClr val="5E5E5E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  <a:t>Distance from origins to centers: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FR" sz="2400" i="1" smtClean="0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d</m:t>
                        </m:r>
                      </m:e>
                    </m:rad>
                  </m:oMath>
                </a14:m>
                <a:endPara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FR" sz="2400" dirty="0">
                    <a:solidFill>
                      <a:srgbClr val="5E5E5E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  <a:t>Radius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5E5E5E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r</m:t>
                    </m:r>
                    <m:r>
                      <a:rPr lang="en-US" sz="2400" b="0" i="0" smtClean="0">
                        <a:solidFill>
                          <a:srgbClr val="5E5E5E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2400" i="1" smtClean="0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d</m:t>
                        </m:r>
                      </m:e>
                    </m:rad>
                    <m:r>
                      <a:rPr lang="en-US" sz="2400" b="0" i="0" smtClean="0">
                        <a:solidFill>
                          <a:srgbClr val="5E5E5E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 −1</m:t>
                    </m:r>
                  </m:oMath>
                </a14:m>
                <a:endPara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endParaRPr>
              </a:p>
              <a:p>
                <a:r>
                  <a:rPr lang="en-FR" sz="2400" dirty="0">
                    <a:solidFill>
                      <a:srgbClr val="5E5E5E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  <a:t>		But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srgbClr val="5E5E5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d</m:t>
                    </m:r>
                    <m:r>
                      <a:rPr lang="en-FR" sz="2400" b="0" i="0" dirty="0" smtClean="0">
                        <a:solidFill>
                          <a:srgbClr val="5E5E5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≥</m:t>
                    </m:r>
                    <m:r>
                      <a:rPr lang="en-US" sz="2400" b="0" i="0" dirty="0" smtClean="0">
                        <a:solidFill>
                          <a:srgbClr val="5E5E5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10</m:t>
                    </m:r>
                  </m:oMath>
                </a14:m>
                <a:r>
                  <a:rPr lang="en-FR" sz="2400" dirty="0">
                    <a:solidFill>
                      <a:srgbClr val="5E5E5E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  <a:t>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5E5E5E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r</m:t>
                    </m:r>
                    <m:r>
                      <a:rPr lang="en-US" sz="2400" b="0" i="0" smtClean="0">
                        <a:solidFill>
                          <a:srgbClr val="5E5E5E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&gt;2</m:t>
                    </m:r>
                  </m:oMath>
                </a14:m>
                <a:r>
                  <a:rPr lang="en-FR" sz="2400" dirty="0">
                    <a:solidFill>
                      <a:srgbClr val="5E5E5E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  <a:t>  </a:t>
                </a:r>
                <a:r>
                  <a:rPr lang="en-FR" sz="4000" dirty="0">
                    <a:solidFill>
                      <a:srgbClr val="5E5E5E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  <a:cs typeface="Lato" panose="020F0502020204030203" pitchFamily="34" charset="0"/>
                  </a:rPr>
                  <a:t>🤯</a:t>
                </a:r>
              </a:p>
              <a:p>
                <a:endPara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23A4D62-024C-1A17-1F7A-64785DE50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3969" y="3132530"/>
                <a:ext cx="6977747" cy="3985835"/>
              </a:xfrm>
              <a:prstGeom prst="rect">
                <a:avLst/>
              </a:prstGeom>
              <a:blipFill>
                <a:blip r:embed="rId3"/>
                <a:stretch>
                  <a:fillRect l="-1273" t="-1270"/>
                </a:stretch>
              </a:blipFill>
            </p:spPr>
            <p:txBody>
              <a:bodyPr/>
              <a:lstStyle/>
              <a:p>
                <a:r>
                  <a:rPr lang="en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2C635BBF-5841-D9A0-0DD3-6492A9AF8E1B}"/>
              </a:ext>
            </a:extLst>
          </p:cNvPr>
          <p:cNvSpPr txBox="1"/>
          <p:nvPr/>
        </p:nvSpPr>
        <p:spPr>
          <a:xfrm>
            <a:off x="663939" y="6394102"/>
            <a:ext cx="50032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 from JM Steele “The Cauchy-Schwarz master class”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E5322B-69AC-46A8-0ADB-1EE4EBB83ED8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468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D049B28-03FA-197F-5946-7F5DDD8A7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728" y="1730890"/>
            <a:ext cx="5935577" cy="29677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82CF41-B66A-18F8-890A-37EC81EC1C57}"/>
              </a:ext>
            </a:extLst>
          </p:cNvPr>
          <p:cNvSpPr txBox="1"/>
          <p:nvPr/>
        </p:nvSpPr>
        <p:spPr>
          <a:xfrm>
            <a:off x="345051" y="1730890"/>
            <a:ext cx="9385903" cy="4770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u="sng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Normal distribution in high-dimensions</a:t>
            </a:r>
          </a:p>
          <a:p>
            <a:endParaRPr lang="en-FR" sz="2400" u="sng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FR" sz="2400" u="sng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FR" sz="2400" u="sng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FR" sz="2400" u="sng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FR" sz="2400" u="sng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FR" sz="2400" u="sng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FR" sz="2400" u="sng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FR" sz="2400" baseline="30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FR" sz="2400" baseline="30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FR" sz="2400" baseline="30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FR" sz="2400" baseline="30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Note that the pdf of the radius concentrates quite far from the origin!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D4849E71-64B0-7F1D-4F5A-F49DB20B6706}"/>
              </a:ext>
            </a:extLst>
          </p:cNvPr>
          <p:cNvSpPr/>
          <p:nvPr/>
        </p:nvSpPr>
        <p:spPr>
          <a:xfrm>
            <a:off x="1250075" y="3594778"/>
            <a:ext cx="231648" cy="914400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7E3C53-4C40-54FF-B10E-6D7A2AB14807}"/>
              </a:ext>
            </a:extLst>
          </p:cNvPr>
          <p:cNvSpPr txBox="1"/>
          <p:nvPr/>
        </p:nvSpPr>
        <p:spPr>
          <a:xfrm>
            <a:off x="1528616" y="3753274"/>
            <a:ext cx="38298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Passing to polar coordinates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0BD4DC1-F2C0-0E2D-960F-2A6FE6F94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494" y="2499698"/>
            <a:ext cx="4445000" cy="8001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F727566-20EC-D50C-63EC-92205EAA88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694" y="4807206"/>
            <a:ext cx="3530600" cy="8001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7380134-B599-F13E-BE46-E3230E78EDA9}"/>
              </a:ext>
            </a:extLst>
          </p:cNvPr>
          <p:cNvSpPr txBox="1"/>
          <p:nvPr/>
        </p:nvSpPr>
        <p:spPr>
          <a:xfrm>
            <a:off x="4979425" y="5035017"/>
            <a:ext cx="6559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-- This is the marginal that we can get integrating on the angles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307FAA-C317-112F-26B1-0CBF16A1BDB5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9E7016-ABB6-3BB2-B5F0-046F8F98B23D}"/>
              </a:ext>
            </a:extLst>
          </p:cNvPr>
          <p:cNvSpPr txBox="1"/>
          <p:nvPr/>
        </p:nvSpPr>
        <p:spPr>
          <a:xfrm>
            <a:off x="345051" y="856800"/>
            <a:ext cx="10732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It works well in low dimensions, but suffers from 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curse of dimensionality</a:t>
            </a:r>
          </a:p>
        </p:txBody>
      </p:sp>
    </p:spTree>
    <p:extLst>
      <p:ext uri="{BB962C8B-B14F-4D97-AF65-F5344CB8AC3E}">
        <p14:creationId xmlns:p14="http://schemas.microsoft.com/office/powerpoint/2010/main" val="1613882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337F4-749D-ABFA-76D3-C1EB9892E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354051F-0B09-0718-81AF-EC51D097D236}"/>
              </a:ext>
            </a:extLst>
          </p:cNvPr>
          <p:cNvSpPr/>
          <p:nvPr/>
        </p:nvSpPr>
        <p:spPr>
          <a:xfrm>
            <a:off x="240033" y="5272913"/>
            <a:ext cx="8838499" cy="604622"/>
          </a:xfrm>
          <a:prstGeom prst="roundRect">
            <a:avLst/>
          </a:prstGeom>
          <a:solidFill>
            <a:srgbClr val="00B050">
              <a:alpha val="24699"/>
            </a:srgb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B4E2B4-08B8-4091-1E34-E897503C432C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7E0ECE-04BD-A7C6-FF56-B1F64BEA2B33}"/>
              </a:ext>
            </a:extLst>
          </p:cNvPr>
          <p:cNvSpPr txBox="1"/>
          <p:nvPr/>
        </p:nvSpPr>
        <p:spPr>
          <a:xfrm>
            <a:off x="323534" y="3526137"/>
            <a:ext cx="10541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kNN is a 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nonparametric classifier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: it makes no assumptions about the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F4A8E2-B0BE-984C-70AC-4C1EB8917A49}"/>
              </a:ext>
            </a:extLst>
          </p:cNvPr>
          <p:cNvSpPr txBox="1"/>
          <p:nvPr/>
        </p:nvSpPr>
        <p:spPr>
          <a:xfrm>
            <a:off x="360110" y="4023455"/>
            <a:ext cx="11296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Helvetica Neue" panose="02000503000000020004" pitchFamily="2" charset="0"/>
              <a:buChar char="⮑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It can be very flexible, but sub-optimal when we know something about the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D6A46D-B996-4345-B569-A97167023742}"/>
              </a:ext>
            </a:extLst>
          </p:cNvPr>
          <p:cNvSpPr txBox="1"/>
          <p:nvPr/>
        </p:nvSpPr>
        <p:spPr>
          <a:xfrm>
            <a:off x="345051" y="4686666"/>
            <a:ext cx="1085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It works well in low dimensions, but suffers from the </a:t>
            </a:r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curse of dimensionality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376FED-62C9-2D0C-326D-5813B75DB0E2}"/>
              </a:ext>
            </a:extLst>
          </p:cNvPr>
          <p:cNvSpPr txBox="1"/>
          <p:nvPr/>
        </p:nvSpPr>
        <p:spPr>
          <a:xfrm>
            <a:off x="345051" y="5349877"/>
            <a:ext cx="87334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hyper-parameter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 is usually chosen via cross-validation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E29F53-915F-A6C9-20CC-65C1BC3D6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950" y="2361129"/>
            <a:ext cx="74041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594785-1F09-FA9F-19C2-4877E3B0A116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FE4402-3593-5B04-4658-A16D8A5CE858}"/>
              </a:ext>
            </a:extLst>
          </p:cNvPr>
          <p:cNvSpPr txBox="1"/>
          <p:nvPr/>
        </p:nvSpPr>
        <p:spPr>
          <a:xfrm>
            <a:off x="297408" y="1585087"/>
            <a:ext cx="110801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</a:t>
            </a:r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kNN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we approximate			     i.e. the set of K nearest neighbours of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545A01-5FAE-35BE-1C1F-F0D48803F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041" y="1598736"/>
            <a:ext cx="2501900" cy="355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00E10C7-DBDD-2368-C934-BBB53CED6608}"/>
              </a:ext>
            </a:extLst>
          </p:cNvPr>
          <p:cNvSpPr txBox="1"/>
          <p:nvPr/>
        </p:nvSpPr>
        <p:spPr>
          <a:xfrm>
            <a:off x="278388" y="855062"/>
            <a:ext cx="8667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But first, we will talk again about </a:t>
            </a:r>
            <a:r>
              <a:rPr lang="en-GB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k-nearest neighbours (</a:t>
            </a:r>
            <a:r>
              <a:rPr lang="en-GB" sz="2400" dirty="0" err="1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kNN</a:t>
            </a:r>
            <a:r>
              <a:rPr lang="en-GB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551AD44-7372-38BD-A006-B4E8648B4B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9318" y="1738436"/>
            <a:ext cx="3175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969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B049656-2955-A45E-BEFC-620F7DB4E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6" y="1142256"/>
            <a:ext cx="5694284" cy="52875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2FDF94-A672-AC93-9DB7-E59C3F1BC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777" y="1142256"/>
            <a:ext cx="7050068" cy="52875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833FAC-08D9-D06C-E524-2183AE7FB4F9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8BAB9A-47CD-3C9D-996C-6218D8153679}"/>
              </a:ext>
            </a:extLst>
          </p:cNvPr>
          <p:cNvSpPr txBox="1"/>
          <p:nvPr/>
        </p:nvSpPr>
        <p:spPr>
          <a:xfrm>
            <a:off x="258146" y="806493"/>
            <a:ext cx="87334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hyper-parameter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 is usually chosen via cross-validation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186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7A0CA17-CE33-4B45-A3A5-FF957A9E2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600" y="1141200"/>
            <a:ext cx="5696712" cy="5289804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2F52346-318A-68F9-E1F7-1A7A9C3823B6}"/>
              </a:ext>
            </a:extLst>
          </p:cNvPr>
          <p:cNvSpPr/>
          <p:nvPr/>
        </p:nvSpPr>
        <p:spPr>
          <a:xfrm>
            <a:off x="240033" y="1518273"/>
            <a:ext cx="5532108" cy="728538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B4C70C-E4BE-4E2A-7303-25343DDF1CE9}"/>
              </a:ext>
            </a:extLst>
          </p:cNvPr>
          <p:cNvSpPr txBox="1"/>
          <p:nvPr/>
        </p:nvSpPr>
        <p:spPr>
          <a:xfrm>
            <a:off x="369829" y="1654035"/>
            <a:ext cx="5696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Q: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How exactly do we classify a point?</a:t>
            </a:r>
            <a:endParaRPr lang="en-GB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FAA409-CA6D-B1F5-AA6A-5B31CD6C6693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A4DBF3-80A6-2922-D3B3-ECFAD77F6D91}"/>
              </a:ext>
            </a:extLst>
          </p:cNvPr>
          <p:cNvSpPr txBox="1"/>
          <p:nvPr/>
        </p:nvSpPr>
        <p:spPr>
          <a:xfrm>
            <a:off x="278388" y="856800"/>
            <a:ext cx="8667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But first, we will talk again about K-nearest neighbours (</a:t>
            </a:r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kNN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64563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995C4-1FF5-6556-333D-2223A16F0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1835D3-8158-6038-F3AA-A132ABA0F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600" y="1141200"/>
            <a:ext cx="5696712" cy="5289804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7227143-9C67-A73C-8932-6773CA9885B0}"/>
              </a:ext>
            </a:extLst>
          </p:cNvPr>
          <p:cNvSpPr/>
          <p:nvPr/>
        </p:nvSpPr>
        <p:spPr>
          <a:xfrm>
            <a:off x="240033" y="1518273"/>
            <a:ext cx="5532108" cy="728538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AE7EB3-2EEA-9C22-45C7-27DF7109E985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204CB1-AD4A-6560-0E7C-CE7BE6831F32}"/>
              </a:ext>
            </a:extLst>
          </p:cNvPr>
          <p:cNvSpPr txBox="1"/>
          <p:nvPr/>
        </p:nvSpPr>
        <p:spPr>
          <a:xfrm>
            <a:off x="369829" y="1654035"/>
            <a:ext cx="5696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Q: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How exactly do we classify a point?</a:t>
            </a:r>
            <a:endParaRPr lang="en-GB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3DAE8B-DD64-E5B5-F9CF-264DD54026B2}"/>
              </a:ext>
            </a:extLst>
          </p:cNvPr>
          <p:cNvSpPr txBox="1"/>
          <p:nvPr/>
        </p:nvSpPr>
        <p:spPr>
          <a:xfrm>
            <a:off x="278388" y="2532949"/>
            <a:ext cx="66057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1E77B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(1)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each point find its K nearest neighbours 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b="1" dirty="0">
                <a:solidFill>
                  <a:srgbClr val="1E77B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(2)</a:t>
            </a:r>
            <a:r>
              <a:rPr lang="en-GB" sz="2400" dirty="0">
                <a:solidFill>
                  <a:srgbClr val="1E77B4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Assign the class with most representatives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BE81A8-EECB-5AF3-FC05-96DE6793F121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96FBF1-E826-9F4D-99FD-CDE48F386E18}"/>
              </a:ext>
            </a:extLst>
          </p:cNvPr>
          <p:cNvSpPr txBox="1"/>
          <p:nvPr/>
        </p:nvSpPr>
        <p:spPr>
          <a:xfrm>
            <a:off x="278388" y="856800"/>
            <a:ext cx="8667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But first, we will talk again about K-nearest neighbours (</a:t>
            </a:r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kNN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26062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19772-5AEF-0D00-7289-0017C7C6F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46EF53-49DA-77E8-5D49-67A36C55C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600" y="1141200"/>
            <a:ext cx="5696712" cy="5289804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36AF601-0771-58B9-1970-A0FC47AE9F9E}"/>
              </a:ext>
            </a:extLst>
          </p:cNvPr>
          <p:cNvSpPr/>
          <p:nvPr/>
        </p:nvSpPr>
        <p:spPr>
          <a:xfrm>
            <a:off x="240033" y="1518273"/>
            <a:ext cx="5532108" cy="728538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095CD9-5CC7-F1E2-8C3B-58F2EC594023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1CDC26-56A4-BC5E-FB11-5F6D303FBA84}"/>
              </a:ext>
            </a:extLst>
          </p:cNvPr>
          <p:cNvSpPr txBox="1"/>
          <p:nvPr/>
        </p:nvSpPr>
        <p:spPr>
          <a:xfrm>
            <a:off x="369829" y="1654035"/>
            <a:ext cx="5696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Q: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How exactly do we classify a point?</a:t>
            </a:r>
            <a:endParaRPr lang="en-GB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4EC944-FDFC-32F1-9D4F-3A5BEA513F10}"/>
              </a:ext>
            </a:extLst>
          </p:cNvPr>
          <p:cNvSpPr txBox="1"/>
          <p:nvPr/>
        </p:nvSpPr>
        <p:spPr>
          <a:xfrm>
            <a:off x="278388" y="2532949"/>
            <a:ext cx="660573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1E77B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(1)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each point find its K nearest neighbours 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b="1" dirty="0">
                <a:solidFill>
                  <a:srgbClr val="1E77B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(2)</a:t>
            </a:r>
            <a:r>
              <a:rPr lang="en-GB" sz="2400" dirty="0">
                <a:solidFill>
                  <a:srgbClr val="1E77B4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Assign the class with most representatives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N samples, do N(N-1) operations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Can we do better?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AE4918-B325-E7A2-92F4-DE0E05E39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1917" y="4044259"/>
            <a:ext cx="939800" cy="393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D9E634-0638-AC91-7B4E-B7B63AD20777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3DFE9F-8E5E-3C72-35A5-19940F557ABA}"/>
              </a:ext>
            </a:extLst>
          </p:cNvPr>
          <p:cNvSpPr txBox="1"/>
          <p:nvPr/>
        </p:nvSpPr>
        <p:spPr>
          <a:xfrm>
            <a:off x="278388" y="856800"/>
            <a:ext cx="8667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But first, we will talk again about K-nearest neighbours (</a:t>
            </a:r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kNN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09032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46528-41F2-6C67-D7BB-4F9187A6B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CD0A890-6626-A5AB-E563-D800C5FC2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600" y="1141200"/>
            <a:ext cx="5696712" cy="5289804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FAB0125-C24F-3369-F235-C30FF9EE5154}"/>
              </a:ext>
            </a:extLst>
          </p:cNvPr>
          <p:cNvSpPr/>
          <p:nvPr/>
        </p:nvSpPr>
        <p:spPr>
          <a:xfrm>
            <a:off x="240033" y="1518273"/>
            <a:ext cx="5532108" cy="728538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B595AC-D19F-E0E9-1974-6888B709381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78D650-A151-EA10-5EE9-2EC5F5F44C78}"/>
              </a:ext>
            </a:extLst>
          </p:cNvPr>
          <p:cNvSpPr txBox="1"/>
          <p:nvPr/>
        </p:nvSpPr>
        <p:spPr>
          <a:xfrm>
            <a:off x="369829" y="1654035"/>
            <a:ext cx="5696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Q: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How exactly do we classify a point?</a:t>
            </a:r>
            <a:endParaRPr lang="en-GB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6D8CC8-AA4D-F2A8-D151-7C8CA0B755DD}"/>
              </a:ext>
            </a:extLst>
          </p:cNvPr>
          <p:cNvSpPr txBox="1"/>
          <p:nvPr/>
        </p:nvSpPr>
        <p:spPr>
          <a:xfrm>
            <a:off x="278388" y="2532949"/>
            <a:ext cx="660573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1E77B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(1)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each point find its K nearest neighbours 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b="1" dirty="0">
                <a:solidFill>
                  <a:srgbClr val="1E77B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(2)</a:t>
            </a:r>
            <a:r>
              <a:rPr lang="en-GB" sz="2400" dirty="0">
                <a:solidFill>
                  <a:srgbClr val="1E77B4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Assign the class with most representatives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N samples, do N(N-1) operations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Can we do better? Yes, with 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Using KD-Trees (aka binary trees)!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A86402-EB26-F24D-A882-FBB0D10BF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1917" y="4044259"/>
            <a:ext cx="939800" cy="393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A47063-48AA-0982-0CED-A34E1430A2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6541" y="4820734"/>
            <a:ext cx="1625600" cy="342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39C845-FDE5-C6ED-C268-E602F4755DC0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A4D431-E352-7A81-96D4-8CD4BE1685FD}"/>
              </a:ext>
            </a:extLst>
          </p:cNvPr>
          <p:cNvSpPr txBox="1"/>
          <p:nvPr/>
        </p:nvSpPr>
        <p:spPr>
          <a:xfrm>
            <a:off x="278388" y="856800"/>
            <a:ext cx="8667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But first, we will talk again about K-nearest neighbours (</a:t>
            </a:r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kNN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83479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2462C8B5-D1C9-7421-2F45-F82F757DB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600" y="1141200"/>
            <a:ext cx="5696712" cy="528980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31BAAE-A3DF-C00B-6642-98F564288B61}"/>
              </a:ext>
            </a:extLst>
          </p:cNvPr>
          <p:cNvSpPr txBox="1"/>
          <p:nvPr/>
        </p:nvSpPr>
        <p:spPr>
          <a:xfrm>
            <a:off x="278388" y="1594032"/>
            <a:ext cx="66057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Can we do better? Yes, with 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Using KD-Trees (aka binary trees)!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51A0A3-6044-F8FD-BE41-04A429D47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5321" y="1673930"/>
            <a:ext cx="1625600" cy="34290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BF397990-F0C8-FD48-B7CA-6744FAEEB1AF}"/>
              </a:ext>
            </a:extLst>
          </p:cNvPr>
          <p:cNvGrpSpPr/>
          <p:nvPr/>
        </p:nvGrpSpPr>
        <p:grpSpPr>
          <a:xfrm>
            <a:off x="3258772" y="3095897"/>
            <a:ext cx="849086" cy="666205"/>
            <a:chOff x="2638697" y="3226526"/>
            <a:chExt cx="849086" cy="66620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02577B1-E3FF-6229-CC75-5DF4F5315965}"/>
                </a:ext>
              </a:extLst>
            </p:cNvPr>
            <p:cNvSpPr/>
            <p:nvPr/>
          </p:nvSpPr>
          <p:spPr>
            <a:xfrm>
              <a:off x="2638697" y="3226526"/>
              <a:ext cx="849086" cy="666205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66738DD-BE05-C649-E758-B2C985204FE8}"/>
                </a:ext>
              </a:extLst>
            </p:cNvPr>
            <p:cNvSpPr txBox="1"/>
            <p:nvPr/>
          </p:nvSpPr>
          <p:spPr>
            <a:xfrm>
              <a:off x="2821828" y="3344184"/>
              <a:ext cx="48282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200" b="1" dirty="0">
                  <a:solidFill>
                    <a:srgbClr val="E8EBE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X</a:t>
              </a:r>
              <a:r>
                <a:rPr lang="en-FR" sz="2200" b="1" baseline="-25000" dirty="0">
                  <a:solidFill>
                    <a:srgbClr val="E8EBE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6E62BE-AECE-838B-6550-CC2EA6BA4F07}"/>
              </a:ext>
            </a:extLst>
          </p:cNvPr>
          <p:cNvGrpSpPr/>
          <p:nvPr/>
        </p:nvGrpSpPr>
        <p:grpSpPr>
          <a:xfrm>
            <a:off x="1642116" y="4314147"/>
            <a:ext cx="849086" cy="666205"/>
            <a:chOff x="1223554" y="4597763"/>
            <a:chExt cx="849086" cy="66620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1DD756-BC2C-9096-F3C4-731C2318FDB4}"/>
                </a:ext>
              </a:extLst>
            </p:cNvPr>
            <p:cNvSpPr/>
            <p:nvPr/>
          </p:nvSpPr>
          <p:spPr>
            <a:xfrm>
              <a:off x="1223554" y="4597763"/>
              <a:ext cx="849086" cy="666205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9EB535-01F2-5AC5-C1F2-593CDAC8D485}"/>
                </a:ext>
              </a:extLst>
            </p:cNvPr>
            <p:cNvSpPr txBox="1"/>
            <p:nvPr/>
          </p:nvSpPr>
          <p:spPr>
            <a:xfrm>
              <a:off x="1406685" y="4715421"/>
              <a:ext cx="48282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200" b="1" dirty="0">
                  <a:solidFill>
                    <a:srgbClr val="E8EBE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X</a:t>
              </a:r>
              <a:r>
                <a:rPr lang="en-FR" sz="2200" b="1" baseline="-25000" dirty="0">
                  <a:solidFill>
                    <a:srgbClr val="E8EBE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AAA539F-CC72-1018-CC3A-2C61CFBD413C}"/>
              </a:ext>
            </a:extLst>
          </p:cNvPr>
          <p:cNvGrpSpPr/>
          <p:nvPr/>
        </p:nvGrpSpPr>
        <p:grpSpPr>
          <a:xfrm>
            <a:off x="4781227" y="4314149"/>
            <a:ext cx="849086" cy="666205"/>
            <a:chOff x="4309371" y="4597763"/>
            <a:chExt cx="849086" cy="66620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3068210-CD7A-7BAD-99B3-BB7BE9DF80C1}"/>
                </a:ext>
              </a:extLst>
            </p:cNvPr>
            <p:cNvSpPr/>
            <p:nvPr/>
          </p:nvSpPr>
          <p:spPr>
            <a:xfrm>
              <a:off x="4309371" y="4597763"/>
              <a:ext cx="849086" cy="666205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72335E6-16E1-B235-D207-B6DF3953B321}"/>
                </a:ext>
              </a:extLst>
            </p:cNvPr>
            <p:cNvSpPr txBox="1"/>
            <p:nvPr/>
          </p:nvSpPr>
          <p:spPr>
            <a:xfrm>
              <a:off x="4492502" y="4715421"/>
              <a:ext cx="48282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200" b="1" dirty="0">
                  <a:solidFill>
                    <a:srgbClr val="E8EBE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X</a:t>
              </a:r>
              <a:r>
                <a:rPr lang="en-FR" sz="2200" b="1" baseline="-25000" dirty="0">
                  <a:solidFill>
                    <a:srgbClr val="E8EBE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2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C91C36D-57CA-C212-A0D7-557005522701}"/>
              </a:ext>
            </a:extLst>
          </p:cNvPr>
          <p:cNvSpPr txBox="1"/>
          <p:nvPr/>
        </p:nvSpPr>
        <p:spPr>
          <a:xfrm>
            <a:off x="7291448" y="1766409"/>
            <a:ext cx="5341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(A)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429087-715B-40C4-12A9-B620F1A09DBA}"/>
              </a:ext>
            </a:extLst>
          </p:cNvPr>
          <p:cNvSpPr txBox="1"/>
          <p:nvPr/>
        </p:nvSpPr>
        <p:spPr>
          <a:xfrm>
            <a:off x="11153650" y="1766408"/>
            <a:ext cx="5341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(C)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CA7B4C-5420-6551-5B0B-733A1061FB2B}"/>
              </a:ext>
            </a:extLst>
          </p:cNvPr>
          <p:cNvSpPr txBox="1"/>
          <p:nvPr/>
        </p:nvSpPr>
        <p:spPr>
          <a:xfrm>
            <a:off x="7291448" y="3461844"/>
            <a:ext cx="5341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(B)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53CE94-9EB8-4D76-9FEF-B2444C64CBB6}"/>
              </a:ext>
            </a:extLst>
          </p:cNvPr>
          <p:cNvSpPr txBox="1"/>
          <p:nvPr/>
        </p:nvSpPr>
        <p:spPr>
          <a:xfrm>
            <a:off x="11153650" y="4098706"/>
            <a:ext cx="5533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(D)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2D005F6-5BA7-E122-4CC9-D30DC2527257}"/>
              </a:ext>
            </a:extLst>
          </p:cNvPr>
          <p:cNvCxnSpPr>
            <a:stCxn id="11" idx="2"/>
            <a:endCxn id="17" idx="0"/>
          </p:cNvCxnSpPr>
          <p:nvPr/>
        </p:nvCxnSpPr>
        <p:spPr>
          <a:xfrm>
            <a:off x="3683315" y="3762102"/>
            <a:ext cx="1522455" cy="552047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F067E6E-9731-33D5-C253-84369D6100F8}"/>
              </a:ext>
            </a:extLst>
          </p:cNvPr>
          <p:cNvCxnSpPr>
            <a:cxnSpLocks/>
          </p:cNvCxnSpPr>
          <p:nvPr/>
        </p:nvCxnSpPr>
        <p:spPr>
          <a:xfrm flipV="1">
            <a:off x="2160860" y="3767194"/>
            <a:ext cx="1522455" cy="552047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C49B41C-7DB2-0399-F052-1A68CEA5672B}"/>
              </a:ext>
            </a:extLst>
          </p:cNvPr>
          <p:cNvSpPr txBox="1"/>
          <p:nvPr/>
        </p:nvSpPr>
        <p:spPr>
          <a:xfrm>
            <a:off x="4349270" y="3644442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 1.25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70A9E2-B964-FF7F-9676-6D005316399B}"/>
              </a:ext>
            </a:extLst>
          </p:cNvPr>
          <p:cNvSpPr txBox="1"/>
          <p:nvPr/>
        </p:nvSpPr>
        <p:spPr>
          <a:xfrm>
            <a:off x="1988330" y="3666261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≤ 1.25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D42E9D-796F-F137-8243-212E854830B2}"/>
              </a:ext>
            </a:extLst>
          </p:cNvPr>
          <p:cNvSpPr txBox="1"/>
          <p:nvPr/>
        </p:nvSpPr>
        <p:spPr>
          <a:xfrm>
            <a:off x="1199114" y="5656025"/>
            <a:ext cx="5341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(A)</a:t>
            </a:r>
            <a:endParaRPr lang="en-FR" sz="2200" b="1" baseline="-25000" dirty="0">
              <a:solidFill>
                <a:srgbClr val="00B05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22FE58B-2D4B-0169-9897-3383E21D3F66}"/>
              </a:ext>
            </a:extLst>
          </p:cNvPr>
          <p:cNvCxnSpPr>
            <a:cxnSpLocks/>
          </p:cNvCxnSpPr>
          <p:nvPr/>
        </p:nvCxnSpPr>
        <p:spPr>
          <a:xfrm>
            <a:off x="2066862" y="4982882"/>
            <a:ext cx="595853" cy="664830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F083FB3-AD02-3F62-734D-86EBB87B8E77}"/>
              </a:ext>
            </a:extLst>
          </p:cNvPr>
          <p:cNvCxnSpPr>
            <a:cxnSpLocks/>
          </p:cNvCxnSpPr>
          <p:nvPr/>
        </p:nvCxnSpPr>
        <p:spPr>
          <a:xfrm flipV="1">
            <a:off x="1467786" y="4979163"/>
            <a:ext cx="595853" cy="664830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51E6F35-047A-6285-E70A-613BE0AD4052}"/>
              </a:ext>
            </a:extLst>
          </p:cNvPr>
          <p:cNvSpPr txBox="1"/>
          <p:nvPr/>
        </p:nvSpPr>
        <p:spPr>
          <a:xfrm>
            <a:off x="2409461" y="5643993"/>
            <a:ext cx="5341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(B)</a:t>
            </a:r>
            <a:endParaRPr lang="en-FR" sz="2200" b="1" baseline="-25000" dirty="0">
              <a:solidFill>
                <a:srgbClr val="00B05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10FC28-267C-84A9-FD0C-AD7F3718CEF6}"/>
              </a:ext>
            </a:extLst>
          </p:cNvPr>
          <p:cNvSpPr txBox="1"/>
          <p:nvPr/>
        </p:nvSpPr>
        <p:spPr>
          <a:xfrm>
            <a:off x="892783" y="5091855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 0.8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60C4A8-BDE3-7A36-4218-DF05468FBC3B}"/>
              </a:ext>
            </a:extLst>
          </p:cNvPr>
          <p:cNvSpPr txBox="1"/>
          <p:nvPr/>
        </p:nvSpPr>
        <p:spPr>
          <a:xfrm>
            <a:off x="2520217" y="5088730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≤ 0.8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9E0AD3A-F473-4CB9-BED3-8EF336B329A0}"/>
              </a:ext>
            </a:extLst>
          </p:cNvPr>
          <p:cNvCxnSpPr>
            <a:cxnSpLocks/>
          </p:cNvCxnSpPr>
          <p:nvPr/>
        </p:nvCxnSpPr>
        <p:spPr>
          <a:xfrm>
            <a:off x="5224262" y="4990215"/>
            <a:ext cx="595853" cy="664830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0E8D42B-3FC8-1973-BB50-572738A2B95E}"/>
              </a:ext>
            </a:extLst>
          </p:cNvPr>
          <p:cNvCxnSpPr>
            <a:cxnSpLocks/>
          </p:cNvCxnSpPr>
          <p:nvPr/>
        </p:nvCxnSpPr>
        <p:spPr>
          <a:xfrm flipV="1">
            <a:off x="4625186" y="4986496"/>
            <a:ext cx="595853" cy="664830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389A981-B1F9-7106-B794-F3057C6E287C}"/>
              </a:ext>
            </a:extLst>
          </p:cNvPr>
          <p:cNvSpPr txBox="1"/>
          <p:nvPr/>
        </p:nvSpPr>
        <p:spPr>
          <a:xfrm>
            <a:off x="4050183" y="5099188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 0.0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7FAF4E-1F4E-41CB-0894-D023FC3C0405}"/>
              </a:ext>
            </a:extLst>
          </p:cNvPr>
          <p:cNvSpPr txBox="1"/>
          <p:nvPr/>
        </p:nvSpPr>
        <p:spPr>
          <a:xfrm>
            <a:off x="5677617" y="5096063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≤ 0.0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3A5C09-8318-1914-F7EA-CA15D750AEAC}"/>
              </a:ext>
            </a:extLst>
          </p:cNvPr>
          <p:cNvSpPr txBox="1"/>
          <p:nvPr/>
        </p:nvSpPr>
        <p:spPr>
          <a:xfrm>
            <a:off x="4351532" y="5645913"/>
            <a:ext cx="5341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(C)</a:t>
            </a:r>
            <a:endParaRPr lang="en-FR" sz="2200" b="1" baseline="-25000" dirty="0">
              <a:solidFill>
                <a:srgbClr val="00B05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33F48C-A746-EEFA-FFB0-6FEDBA0953A7}"/>
              </a:ext>
            </a:extLst>
          </p:cNvPr>
          <p:cNvSpPr txBox="1"/>
          <p:nvPr/>
        </p:nvSpPr>
        <p:spPr>
          <a:xfrm>
            <a:off x="5561879" y="5633881"/>
            <a:ext cx="5533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(D)</a:t>
            </a:r>
            <a:endParaRPr lang="en-FR" sz="2200" b="1" baseline="-25000" dirty="0">
              <a:solidFill>
                <a:srgbClr val="00B05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A9EADABA-A62A-C278-E836-D3DCF1AE639B}"/>
              </a:ext>
            </a:extLst>
          </p:cNvPr>
          <p:cNvCxnSpPr>
            <a:cxnSpLocks/>
          </p:cNvCxnSpPr>
          <p:nvPr/>
        </p:nvCxnSpPr>
        <p:spPr>
          <a:xfrm rot="5400000">
            <a:off x="9352618" y="1448670"/>
            <a:ext cx="232323" cy="165902"/>
          </a:xfrm>
          <a:prstGeom prst="bentConnector3">
            <a:avLst>
              <a:gd name="adj1" fmla="val 5469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EF0BB25-3837-EA61-F72C-3EC20EA10D54}"/>
              </a:ext>
            </a:extLst>
          </p:cNvPr>
          <p:cNvSpPr txBox="1"/>
          <p:nvPr/>
        </p:nvSpPr>
        <p:spPr>
          <a:xfrm>
            <a:off x="9579017" y="1336520"/>
            <a:ext cx="2287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Split the population in half</a:t>
            </a: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AA97FBCF-003F-1FD5-A185-113054A7C8A1}"/>
              </a:ext>
            </a:extLst>
          </p:cNvPr>
          <p:cNvCxnSpPr>
            <a:cxnSpLocks/>
          </p:cNvCxnSpPr>
          <p:nvPr/>
        </p:nvCxnSpPr>
        <p:spPr>
          <a:xfrm>
            <a:off x="1448871" y="6198799"/>
            <a:ext cx="232323" cy="165902"/>
          </a:xfrm>
          <a:prstGeom prst="bentConnector3">
            <a:avLst>
              <a:gd name="adj1" fmla="val 5469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C65CF5C-2288-B710-ABE5-A20D2AB84DA4}"/>
              </a:ext>
            </a:extLst>
          </p:cNvPr>
          <p:cNvSpPr txBox="1"/>
          <p:nvPr/>
        </p:nvSpPr>
        <p:spPr>
          <a:xfrm>
            <a:off x="1681194" y="6210812"/>
            <a:ext cx="3799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Run kNN in each smaller group of data points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52D346-23A8-135B-8E3F-E185A8C3EB6E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330AF5-DDBC-2FBE-0A4A-D3DEA30A058D}"/>
              </a:ext>
            </a:extLst>
          </p:cNvPr>
          <p:cNvSpPr txBox="1"/>
          <p:nvPr/>
        </p:nvSpPr>
        <p:spPr>
          <a:xfrm>
            <a:off x="278388" y="856800"/>
            <a:ext cx="8667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But first, we will talk again about K-nearest neighbours (</a:t>
            </a:r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kNN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136035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710643-25C2-0AF5-01F6-D00BA2A51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600" y="1141200"/>
            <a:ext cx="5696712" cy="528980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3A78E5-15BF-8277-B899-1A619D5F3940}"/>
              </a:ext>
            </a:extLst>
          </p:cNvPr>
          <p:cNvSpPr txBox="1"/>
          <p:nvPr/>
        </p:nvSpPr>
        <p:spPr>
          <a:xfrm>
            <a:off x="278387" y="855062"/>
            <a:ext cx="114286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</a:t>
            </a:r>
            <a:r>
              <a:rPr lang="en-GB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simply assign the majority label to all points in each region</a:t>
            </a:r>
            <a:endParaRPr lang="en-GB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F397990-F0C8-FD48-B7CA-6744FAEEB1AF}"/>
              </a:ext>
            </a:extLst>
          </p:cNvPr>
          <p:cNvGrpSpPr/>
          <p:nvPr/>
        </p:nvGrpSpPr>
        <p:grpSpPr>
          <a:xfrm>
            <a:off x="3258772" y="1735221"/>
            <a:ext cx="849086" cy="666205"/>
            <a:chOff x="2638697" y="3226526"/>
            <a:chExt cx="849086" cy="66620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02577B1-E3FF-6229-CC75-5DF4F5315965}"/>
                </a:ext>
              </a:extLst>
            </p:cNvPr>
            <p:cNvSpPr/>
            <p:nvPr/>
          </p:nvSpPr>
          <p:spPr>
            <a:xfrm>
              <a:off x="2638697" y="3226526"/>
              <a:ext cx="849086" cy="666205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66738DD-BE05-C649-E758-B2C985204FE8}"/>
                </a:ext>
              </a:extLst>
            </p:cNvPr>
            <p:cNvSpPr txBox="1"/>
            <p:nvPr/>
          </p:nvSpPr>
          <p:spPr>
            <a:xfrm>
              <a:off x="2821828" y="3344184"/>
              <a:ext cx="48282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200" b="1" dirty="0">
                  <a:solidFill>
                    <a:srgbClr val="E8EBE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X</a:t>
              </a:r>
              <a:r>
                <a:rPr lang="en-FR" sz="2200" b="1" baseline="-25000" dirty="0">
                  <a:solidFill>
                    <a:srgbClr val="E8EBE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6E62BE-AECE-838B-6550-CC2EA6BA4F07}"/>
              </a:ext>
            </a:extLst>
          </p:cNvPr>
          <p:cNvGrpSpPr/>
          <p:nvPr/>
        </p:nvGrpSpPr>
        <p:grpSpPr>
          <a:xfrm>
            <a:off x="1642116" y="2953471"/>
            <a:ext cx="849086" cy="666205"/>
            <a:chOff x="1223554" y="4597763"/>
            <a:chExt cx="849086" cy="66620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1DD756-BC2C-9096-F3C4-731C2318FDB4}"/>
                </a:ext>
              </a:extLst>
            </p:cNvPr>
            <p:cNvSpPr/>
            <p:nvPr/>
          </p:nvSpPr>
          <p:spPr>
            <a:xfrm>
              <a:off x="1223554" y="4597763"/>
              <a:ext cx="849086" cy="666205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9EB535-01F2-5AC5-C1F2-593CDAC8D485}"/>
                </a:ext>
              </a:extLst>
            </p:cNvPr>
            <p:cNvSpPr txBox="1"/>
            <p:nvPr/>
          </p:nvSpPr>
          <p:spPr>
            <a:xfrm>
              <a:off x="1406685" y="4715421"/>
              <a:ext cx="48282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200" b="1" dirty="0">
                  <a:solidFill>
                    <a:srgbClr val="E8EBE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X</a:t>
              </a:r>
              <a:r>
                <a:rPr lang="en-FR" sz="2200" b="1" baseline="-25000" dirty="0">
                  <a:solidFill>
                    <a:srgbClr val="E8EBE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AAA539F-CC72-1018-CC3A-2C61CFBD413C}"/>
              </a:ext>
            </a:extLst>
          </p:cNvPr>
          <p:cNvGrpSpPr/>
          <p:nvPr/>
        </p:nvGrpSpPr>
        <p:grpSpPr>
          <a:xfrm>
            <a:off x="4781227" y="2953473"/>
            <a:ext cx="849086" cy="666205"/>
            <a:chOff x="4309371" y="4597763"/>
            <a:chExt cx="849086" cy="66620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3068210-CD7A-7BAD-99B3-BB7BE9DF80C1}"/>
                </a:ext>
              </a:extLst>
            </p:cNvPr>
            <p:cNvSpPr/>
            <p:nvPr/>
          </p:nvSpPr>
          <p:spPr>
            <a:xfrm>
              <a:off x="4309371" y="4597763"/>
              <a:ext cx="849086" cy="666205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72335E6-16E1-B235-D207-B6DF3953B321}"/>
                </a:ext>
              </a:extLst>
            </p:cNvPr>
            <p:cNvSpPr txBox="1"/>
            <p:nvPr/>
          </p:nvSpPr>
          <p:spPr>
            <a:xfrm>
              <a:off x="4492502" y="4715421"/>
              <a:ext cx="48282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200" b="1" dirty="0">
                  <a:solidFill>
                    <a:srgbClr val="E8EBE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X</a:t>
              </a:r>
              <a:r>
                <a:rPr lang="en-FR" sz="2200" b="1" baseline="-25000" dirty="0">
                  <a:solidFill>
                    <a:srgbClr val="E8EBE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2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C91C36D-57CA-C212-A0D7-557005522701}"/>
              </a:ext>
            </a:extLst>
          </p:cNvPr>
          <p:cNvSpPr txBox="1"/>
          <p:nvPr/>
        </p:nvSpPr>
        <p:spPr>
          <a:xfrm>
            <a:off x="7291448" y="1766409"/>
            <a:ext cx="5341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(A)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429087-715B-40C4-12A9-B620F1A09DBA}"/>
              </a:ext>
            </a:extLst>
          </p:cNvPr>
          <p:cNvSpPr txBox="1"/>
          <p:nvPr/>
        </p:nvSpPr>
        <p:spPr>
          <a:xfrm>
            <a:off x="11153650" y="1766408"/>
            <a:ext cx="5341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(C)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CA7B4C-5420-6551-5B0B-733A1061FB2B}"/>
              </a:ext>
            </a:extLst>
          </p:cNvPr>
          <p:cNvSpPr txBox="1"/>
          <p:nvPr/>
        </p:nvSpPr>
        <p:spPr>
          <a:xfrm>
            <a:off x="7291448" y="3461844"/>
            <a:ext cx="5341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(B)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53CE94-9EB8-4D76-9FEF-B2444C64CBB6}"/>
              </a:ext>
            </a:extLst>
          </p:cNvPr>
          <p:cNvSpPr txBox="1"/>
          <p:nvPr/>
        </p:nvSpPr>
        <p:spPr>
          <a:xfrm>
            <a:off x="11153650" y="4098706"/>
            <a:ext cx="5533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(D)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2D005F6-5BA7-E122-4CC9-D30DC2527257}"/>
              </a:ext>
            </a:extLst>
          </p:cNvPr>
          <p:cNvCxnSpPr>
            <a:stCxn id="11" idx="2"/>
            <a:endCxn id="17" idx="0"/>
          </p:cNvCxnSpPr>
          <p:nvPr/>
        </p:nvCxnSpPr>
        <p:spPr>
          <a:xfrm>
            <a:off x="3683315" y="2401426"/>
            <a:ext cx="1522455" cy="552047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F067E6E-9731-33D5-C253-84369D6100F8}"/>
              </a:ext>
            </a:extLst>
          </p:cNvPr>
          <p:cNvCxnSpPr>
            <a:cxnSpLocks/>
          </p:cNvCxnSpPr>
          <p:nvPr/>
        </p:nvCxnSpPr>
        <p:spPr>
          <a:xfrm flipV="1">
            <a:off x="2160860" y="2406518"/>
            <a:ext cx="1522455" cy="552047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C49B41C-7DB2-0399-F052-1A68CEA5672B}"/>
              </a:ext>
            </a:extLst>
          </p:cNvPr>
          <p:cNvSpPr txBox="1"/>
          <p:nvPr/>
        </p:nvSpPr>
        <p:spPr>
          <a:xfrm>
            <a:off x="4349270" y="2283766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 1.25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70A9E2-B964-FF7F-9676-6D005316399B}"/>
              </a:ext>
            </a:extLst>
          </p:cNvPr>
          <p:cNvSpPr txBox="1"/>
          <p:nvPr/>
        </p:nvSpPr>
        <p:spPr>
          <a:xfrm>
            <a:off x="1988330" y="2305585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≤ 1.25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22FE58B-2D4B-0169-9897-3383E21D3F66}"/>
              </a:ext>
            </a:extLst>
          </p:cNvPr>
          <p:cNvCxnSpPr>
            <a:cxnSpLocks/>
          </p:cNvCxnSpPr>
          <p:nvPr/>
        </p:nvCxnSpPr>
        <p:spPr>
          <a:xfrm>
            <a:off x="2066862" y="3622206"/>
            <a:ext cx="595853" cy="664830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F083FB3-AD02-3F62-734D-86EBB87B8E77}"/>
              </a:ext>
            </a:extLst>
          </p:cNvPr>
          <p:cNvCxnSpPr>
            <a:cxnSpLocks/>
          </p:cNvCxnSpPr>
          <p:nvPr/>
        </p:nvCxnSpPr>
        <p:spPr>
          <a:xfrm flipV="1">
            <a:off x="1467786" y="3618487"/>
            <a:ext cx="595853" cy="664830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510FC28-267C-84A9-FD0C-AD7F3718CEF6}"/>
              </a:ext>
            </a:extLst>
          </p:cNvPr>
          <p:cNvSpPr txBox="1"/>
          <p:nvPr/>
        </p:nvSpPr>
        <p:spPr>
          <a:xfrm>
            <a:off x="892783" y="3731179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 0.8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60C4A8-BDE3-7A36-4218-DF05468FBC3B}"/>
              </a:ext>
            </a:extLst>
          </p:cNvPr>
          <p:cNvSpPr txBox="1"/>
          <p:nvPr/>
        </p:nvSpPr>
        <p:spPr>
          <a:xfrm>
            <a:off x="2520217" y="3728054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≤ 0.8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9E0AD3A-F473-4CB9-BED3-8EF336B329A0}"/>
              </a:ext>
            </a:extLst>
          </p:cNvPr>
          <p:cNvCxnSpPr>
            <a:cxnSpLocks/>
          </p:cNvCxnSpPr>
          <p:nvPr/>
        </p:nvCxnSpPr>
        <p:spPr>
          <a:xfrm>
            <a:off x="5224262" y="3629539"/>
            <a:ext cx="595853" cy="664830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0E8D42B-3FC8-1973-BB50-572738A2B95E}"/>
              </a:ext>
            </a:extLst>
          </p:cNvPr>
          <p:cNvCxnSpPr>
            <a:cxnSpLocks/>
          </p:cNvCxnSpPr>
          <p:nvPr/>
        </p:nvCxnSpPr>
        <p:spPr>
          <a:xfrm flipV="1">
            <a:off x="4625186" y="3625820"/>
            <a:ext cx="595853" cy="664830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389A981-B1F9-7106-B794-F3057C6E287C}"/>
              </a:ext>
            </a:extLst>
          </p:cNvPr>
          <p:cNvSpPr txBox="1"/>
          <p:nvPr/>
        </p:nvSpPr>
        <p:spPr>
          <a:xfrm>
            <a:off x="4050183" y="3738512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 0.0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7FAF4E-1F4E-41CB-0894-D023FC3C0405}"/>
              </a:ext>
            </a:extLst>
          </p:cNvPr>
          <p:cNvSpPr txBox="1"/>
          <p:nvPr/>
        </p:nvSpPr>
        <p:spPr>
          <a:xfrm>
            <a:off x="5677617" y="3735387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≤ 0.0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7BD3F2-6A90-1090-D2A6-4FD89E7A5D08}"/>
              </a:ext>
            </a:extLst>
          </p:cNvPr>
          <p:cNvSpPr/>
          <p:nvPr/>
        </p:nvSpPr>
        <p:spPr>
          <a:xfrm>
            <a:off x="1290135" y="4402290"/>
            <a:ext cx="345822" cy="345822"/>
          </a:xfrm>
          <a:prstGeom prst="rect">
            <a:avLst/>
          </a:prstGeom>
          <a:solidFill>
            <a:srgbClr val="1E77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39CA53-E835-43D2-12B2-379F9DE903A8}"/>
              </a:ext>
            </a:extLst>
          </p:cNvPr>
          <p:cNvSpPr/>
          <p:nvPr/>
        </p:nvSpPr>
        <p:spPr>
          <a:xfrm>
            <a:off x="4435405" y="4404594"/>
            <a:ext cx="345822" cy="345822"/>
          </a:xfrm>
          <a:prstGeom prst="rect">
            <a:avLst/>
          </a:prstGeom>
          <a:solidFill>
            <a:srgbClr val="FF7F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809277-399E-2E8C-F9DE-05DB2DD41FDD}"/>
              </a:ext>
            </a:extLst>
          </p:cNvPr>
          <p:cNvSpPr/>
          <p:nvPr/>
        </p:nvSpPr>
        <p:spPr>
          <a:xfrm>
            <a:off x="2489804" y="4406591"/>
            <a:ext cx="345822" cy="345822"/>
          </a:xfrm>
          <a:prstGeom prst="rect">
            <a:avLst/>
          </a:prstGeom>
          <a:solidFill>
            <a:srgbClr val="1E77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3A8570-5811-6463-E325-48DFAE0AA744}"/>
              </a:ext>
            </a:extLst>
          </p:cNvPr>
          <p:cNvSpPr/>
          <p:nvPr/>
        </p:nvSpPr>
        <p:spPr>
          <a:xfrm>
            <a:off x="5647204" y="4402290"/>
            <a:ext cx="345822" cy="345822"/>
          </a:xfrm>
          <a:prstGeom prst="rect">
            <a:avLst/>
          </a:prstGeom>
          <a:solidFill>
            <a:srgbClr val="FF7F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F36771-5326-03D8-C52C-9CC72E149A36}"/>
              </a:ext>
            </a:extLst>
          </p:cNvPr>
          <p:cNvSpPr txBox="1"/>
          <p:nvPr/>
        </p:nvSpPr>
        <p:spPr>
          <a:xfrm>
            <a:off x="1416909" y="5109300"/>
            <a:ext cx="5403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This avoids storing the whole training dataset and repeating nearest-neighbour searches</a:t>
            </a:r>
            <a:endParaRPr lang="en-GB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471F84-749F-49D2-C851-6AD41E0366B1}"/>
              </a:ext>
            </a:extLst>
          </p:cNvPr>
          <p:cNvSpPr txBox="1"/>
          <p:nvPr/>
        </p:nvSpPr>
        <p:spPr>
          <a:xfrm>
            <a:off x="849151" y="517669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800" dirty="0"/>
              <a:t>👍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B732A4D-73CC-266F-7BCE-4602132E02BE}"/>
              </a:ext>
            </a:extLst>
          </p:cNvPr>
          <p:cNvSpPr txBox="1"/>
          <p:nvPr/>
        </p:nvSpPr>
        <p:spPr>
          <a:xfrm>
            <a:off x="1392891" y="5904553"/>
            <a:ext cx="5131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But maybe the splits should be done differently?</a:t>
            </a:r>
            <a:endParaRPr lang="en-GB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BB55EA-0858-7BAE-6537-831719036246}"/>
              </a:ext>
            </a:extLst>
          </p:cNvPr>
          <p:cNvSpPr txBox="1"/>
          <p:nvPr/>
        </p:nvSpPr>
        <p:spPr>
          <a:xfrm>
            <a:off x="825133" y="591551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800" dirty="0"/>
              <a:t>👎</a:t>
            </a:r>
          </a:p>
        </p:txBody>
      </p: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6CCD106F-FE62-BAF9-E72E-35E332F19256}"/>
              </a:ext>
            </a:extLst>
          </p:cNvPr>
          <p:cNvCxnSpPr>
            <a:cxnSpLocks/>
          </p:cNvCxnSpPr>
          <p:nvPr/>
        </p:nvCxnSpPr>
        <p:spPr>
          <a:xfrm rot="5400000">
            <a:off x="9352618" y="1448670"/>
            <a:ext cx="232323" cy="165902"/>
          </a:xfrm>
          <a:prstGeom prst="bentConnector3">
            <a:avLst>
              <a:gd name="adj1" fmla="val 5469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0A149ED-D189-65B9-4BC9-F7ED4BFBBCE3}"/>
              </a:ext>
            </a:extLst>
          </p:cNvPr>
          <p:cNvSpPr txBox="1"/>
          <p:nvPr/>
        </p:nvSpPr>
        <p:spPr>
          <a:xfrm>
            <a:off x="9579017" y="1336520"/>
            <a:ext cx="2287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Split the population in half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3D8060-5441-1268-B5F2-08F56B0D6CA9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017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D5D115E-0A92-F345-DD44-051FB8553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600" y="1141200"/>
            <a:ext cx="5696712" cy="528980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F397990-F0C8-FD48-B7CA-6744FAEEB1AF}"/>
              </a:ext>
            </a:extLst>
          </p:cNvPr>
          <p:cNvGrpSpPr/>
          <p:nvPr/>
        </p:nvGrpSpPr>
        <p:grpSpPr>
          <a:xfrm>
            <a:off x="3258772" y="1735221"/>
            <a:ext cx="849086" cy="666205"/>
            <a:chOff x="2638697" y="3226526"/>
            <a:chExt cx="849086" cy="66620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02577B1-E3FF-6229-CC75-5DF4F5315965}"/>
                </a:ext>
              </a:extLst>
            </p:cNvPr>
            <p:cNvSpPr/>
            <p:nvPr/>
          </p:nvSpPr>
          <p:spPr>
            <a:xfrm>
              <a:off x="2638697" y="3226526"/>
              <a:ext cx="849086" cy="666205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66738DD-BE05-C649-E758-B2C985204FE8}"/>
                </a:ext>
              </a:extLst>
            </p:cNvPr>
            <p:cNvSpPr txBox="1"/>
            <p:nvPr/>
          </p:nvSpPr>
          <p:spPr>
            <a:xfrm>
              <a:off x="2821828" y="3344184"/>
              <a:ext cx="48282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200" b="1" dirty="0">
                  <a:solidFill>
                    <a:srgbClr val="E8EBE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X</a:t>
              </a:r>
              <a:r>
                <a:rPr lang="en-FR" sz="2200" b="1" baseline="-25000" dirty="0">
                  <a:solidFill>
                    <a:srgbClr val="E8EBE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AAA539F-CC72-1018-CC3A-2C61CFBD413C}"/>
              </a:ext>
            </a:extLst>
          </p:cNvPr>
          <p:cNvGrpSpPr/>
          <p:nvPr/>
        </p:nvGrpSpPr>
        <p:grpSpPr>
          <a:xfrm>
            <a:off x="4781227" y="2953473"/>
            <a:ext cx="849086" cy="666205"/>
            <a:chOff x="4309371" y="4597763"/>
            <a:chExt cx="849086" cy="66620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3068210-CD7A-7BAD-99B3-BB7BE9DF80C1}"/>
                </a:ext>
              </a:extLst>
            </p:cNvPr>
            <p:cNvSpPr/>
            <p:nvPr/>
          </p:nvSpPr>
          <p:spPr>
            <a:xfrm>
              <a:off x="4309371" y="4597763"/>
              <a:ext cx="849086" cy="666205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72335E6-16E1-B235-D207-B6DF3953B321}"/>
                </a:ext>
              </a:extLst>
            </p:cNvPr>
            <p:cNvSpPr txBox="1"/>
            <p:nvPr/>
          </p:nvSpPr>
          <p:spPr>
            <a:xfrm>
              <a:off x="4492502" y="4715421"/>
              <a:ext cx="48282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200" b="1" dirty="0">
                  <a:solidFill>
                    <a:srgbClr val="E8EBE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X</a:t>
              </a:r>
              <a:r>
                <a:rPr lang="en-FR" sz="2200" b="1" baseline="-25000" dirty="0">
                  <a:solidFill>
                    <a:srgbClr val="E8EBE4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2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C91C36D-57CA-C212-A0D7-557005522701}"/>
              </a:ext>
            </a:extLst>
          </p:cNvPr>
          <p:cNvSpPr txBox="1"/>
          <p:nvPr/>
        </p:nvSpPr>
        <p:spPr>
          <a:xfrm>
            <a:off x="7291448" y="1766409"/>
            <a:ext cx="5341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(A)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429087-715B-40C4-12A9-B620F1A09DBA}"/>
              </a:ext>
            </a:extLst>
          </p:cNvPr>
          <p:cNvSpPr txBox="1"/>
          <p:nvPr/>
        </p:nvSpPr>
        <p:spPr>
          <a:xfrm>
            <a:off x="11153650" y="1766408"/>
            <a:ext cx="5341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(B)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53CE94-9EB8-4D76-9FEF-B2444C64CBB6}"/>
              </a:ext>
            </a:extLst>
          </p:cNvPr>
          <p:cNvSpPr txBox="1"/>
          <p:nvPr/>
        </p:nvSpPr>
        <p:spPr>
          <a:xfrm>
            <a:off x="11153650" y="4713465"/>
            <a:ext cx="5245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(C)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2D005F6-5BA7-E122-4CC9-D30DC2527257}"/>
              </a:ext>
            </a:extLst>
          </p:cNvPr>
          <p:cNvCxnSpPr>
            <a:stCxn id="11" idx="2"/>
            <a:endCxn id="17" idx="0"/>
          </p:cNvCxnSpPr>
          <p:nvPr/>
        </p:nvCxnSpPr>
        <p:spPr>
          <a:xfrm>
            <a:off x="3683315" y="2401426"/>
            <a:ext cx="1522455" cy="552047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F067E6E-9731-33D5-C253-84369D6100F8}"/>
              </a:ext>
            </a:extLst>
          </p:cNvPr>
          <p:cNvCxnSpPr>
            <a:cxnSpLocks/>
          </p:cNvCxnSpPr>
          <p:nvPr/>
        </p:nvCxnSpPr>
        <p:spPr>
          <a:xfrm flipV="1">
            <a:off x="2160860" y="2406518"/>
            <a:ext cx="1522455" cy="552047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C49B41C-7DB2-0399-F052-1A68CEA5672B}"/>
              </a:ext>
            </a:extLst>
          </p:cNvPr>
          <p:cNvSpPr txBox="1"/>
          <p:nvPr/>
        </p:nvSpPr>
        <p:spPr>
          <a:xfrm>
            <a:off x="4349270" y="2283766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 1.0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70A9E2-B964-FF7F-9676-6D005316399B}"/>
              </a:ext>
            </a:extLst>
          </p:cNvPr>
          <p:cNvSpPr txBox="1"/>
          <p:nvPr/>
        </p:nvSpPr>
        <p:spPr>
          <a:xfrm>
            <a:off x="1988330" y="2305585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≤ 1.0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9E0AD3A-F473-4CB9-BED3-8EF336B329A0}"/>
              </a:ext>
            </a:extLst>
          </p:cNvPr>
          <p:cNvCxnSpPr>
            <a:cxnSpLocks/>
          </p:cNvCxnSpPr>
          <p:nvPr/>
        </p:nvCxnSpPr>
        <p:spPr>
          <a:xfrm>
            <a:off x="5224262" y="3629539"/>
            <a:ext cx="595853" cy="664830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0E8D42B-3FC8-1973-BB50-572738A2B95E}"/>
              </a:ext>
            </a:extLst>
          </p:cNvPr>
          <p:cNvCxnSpPr>
            <a:cxnSpLocks/>
          </p:cNvCxnSpPr>
          <p:nvPr/>
        </p:nvCxnSpPr>
        <p:spPr>
          <a:xfrm flipV="1">
            <a:off x="4625186" y="3625820"/>
            <a:ext cx="595853" cy="664830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389A981-B1F9-7106-B794-F3057C6E287C}"/>
              </a:ext>
            </a:extLst>
          </p:cNvPr>
          <p:cNvSpPr txBox="1"/>
          <p:nvPr/>
        </p:nvSpPr>
        <p:spPr>
          <a:xfrm>
            <a:off x="3996267" y="3738512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 -0.8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7FAF4E-1F4E-41CB-0894-D023FC3C0405}"/>
              </a:ext>
            </a:extLst>
          </p:cNvPr>
          <p:cNvSpPr txBox="1"/>
          <p:nvPr/>
        </p:nvSpPr>
        <p:spPr>
          <a:xfrm>
            <a:off x="5677617" y="3735387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≤ -0.8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39CA53-E835-43D2-12B2-379F9DE903A8}"/>
              </a:ext>
            </a:extLst>
          </p:cNvPr>
          <p:cNvSpPr/>
          <p:nvPr/>
        </p:nvSpPr>
        <p:spPr>
          <a:xfrm>
            <a:off x="4435405" y="4404594"/>
            <a:ext cx="345822" cy="345822"/>
          </a:xfrm>
          <a:prstGeom prst="rect">
            <a:avLst/>
          </a:prstGeom>
          <a:solidFill>
            <a:srgbClr val="FF7F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809277-399E-2E8C-F9DE-05DB2DD41FDD}"/>
              </a:ext>
            </a:extLst>
          </p:cNvPr>
          <p:cNvSpPr/>
          <p:nvPr/>
        </p:nvSpPr>
        <p:spPr>
          <a:xfrm>
            <a:off x="1976804" y="3088256"/>
            <a:ext cx="345822" cy="345822"/>
          </a:xfrm>
          <a:prstGeom prst="rect">
            <a:avLst/>
          </a:prstGeom>
          <a:solidFill>
            <a:srgbClr val="1E77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3A8570-5811-6463-E325-48DFAE0AA744}"/>
              </a:ext>
            </a:extLst>
          </p:cNvPr>
          <p:cNvSpPr/>
          <p:nvPr/>
        </p:nvSpPr>
        <p:spPr>
          <a:xfrm>
            <a:off x="5647204" y="4402290"/>
            <a:ext cx="345822" cy="345822"/>
          </a:xfrm>
          <a:prstGeom prst="rect">
            <a:avLst/>
          </a:prstGeom>
          <a:solidFill>
            <a:srgbClr val="1E77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09FC91-10D2-D9A9-3FED-8A953C83F4CC}"/>
              </a:ext>
            </a:extLst>
          </p:cNvPr>
          <p:cNvSpPr txBox="1"/>
          <p:nvPr/>
        </p:nvSpPr>
        <p:spPr>
          <a:xfrm>
            <a:off x="278388" y="4987729"/>
            <a:ext cx="7013060" cy="1137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But what is a good criterium to split the data?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➞ Aim for </a:t>
            </a:r>
            <a:r>
              <a:rPr lang="en-GB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homogeneous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splits!</a:t>
            </a:r>
            <a:endParaRPr lang="en-GB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A8CFDA-EE2A-8D91-60C7-928F9C08D276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A72529-D6E9-43F5-CB60-7C913CB19946}"/>
              </a:ext>
            </a:extLst>
          </p:cNvPr>
          <p:cNvSpPr txBox="1"/>
          <p:nvPr/>
        </p:nvSpPr>
        <p:spPr>
          <a:xfrm>
            <a:off x="278387" y="855062"/>
            <a:ext cx="114286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</a:t>
            </a:r>
            <a:r>
              <a:rPr lang="en-GB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simply assign the majority label to all points in each region</a:t>
            </a:r>
            <a:endParaRPr lang="en-GB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5034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CE74276-11D3-C271-56F8-E534E86B7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844" y="1583479"/>
            <a:ext cx="5300666" cy="494398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04B75D-F528-CD47-5878-E9A7D73A7157}"/>
              </a:ext>
            </a:extLst>
          </p:cNvPr>
          <p:cNvSpPr txBox="1"/>
          <p:nvPr/>
        </p:nvSpPr>
        <p:spPr>
          <a:xfrm>
            <a:off x="278388" y="855062"/>
            <a:ext cx="11259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When splitting a feature, we want the partitions to be </a:t>
            </a:r>
            <a:r>
              <a:rPr lang="en-GB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homogeneous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1E80CE-F551-81EE-6B00-2C421DB4DCE1}"/>
              </a:ext>
            </a:extLst>
          </p:cNvPr>
          <p:cNvSpPr txBox="1"/>
          <p:nvPr/>
        </p:nvSpPr>
        <p:spPr>
          <a:xfrm>
            <a:off x="278388" y="1518273"/>
            <a:ext cx="54967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Take for example the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ourier New" panose="02070309020205020404" pitchFamily="49" charset="0"/>
              </a:rPr>
              <a:t>penguins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dataset</a:t>
            </a:r>
            <a:endParaRPr lang="en-GB" sz="2400" dirty="0">
              <a:solidFill>
                <a:srgbClr val="FF000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02BF7E-AE5E-C47A-FA4F-7E748E89FD6A}"/>
              </a:ext>
            </a:extLst>
          </p:cNvPr>
          <p:cNvGrpSpPr/>
          <p:nvPr/>
        </p:nvGrpSpPr>
        <p:grpSpPr>
          <a:xfrm>
            <a:off x="808058" y="2100271"/>
            <a:ext cx="5146175" cy="3487781"/>
            <a:chOff x="6965450" y="2929864"/>
            <a:chExt cx="3308994" cy="2234903"/>
          </a:xfrm>
        </p:grpSpPr>
        <p:pic>
          <p:nvPicPr>
            <p:cNvPr id="14" name="Picture 13" descr="A picture containing diagram&#10;&#10;Description automatically generated">
              <a:extLst>
                <a:ext uri="{FF2B5EF4-FFF2-40B4-BE49-F238E27FC236}">
                  <a16:creationId xmlns:a16="http://schemas.microsoft.com/office/drawing/2014/main" id="{AE593935-8C0D-1895-F1E2-3EAF70C6A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65450" y="2929864"/>
              <a:ext cx="3288900" cy="2133340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01DA841-F22A-404D-617D-5C4D83B3159D}"/>
                </a:ext>
              </a:extLst>
            </p:cNvPr>
            <p:cNvSpPr/>
            <p:nvPr/>
          </p:nvSpPr>
          <p:spPr>
            <a:xfrm>
              <a:off x="8572126" y="4244805"/>
              <a:ext cx="1702318" cy="9199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5B6113C-ADB2-1739-2097-B4118FAE9CD8}"/>
              </a:ext>
            </a:extLst>
          </p:cNvPr>
          <p:cNvSpPr txBox="1"/>
          <p:nvPr/>
        </p:nvSpPr>
        <p:spPr>
          <a:xfrm>
            <a:off x="278387" y="5430313"/>
            <a:ext cx="60294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will look for a split in terms of bill depth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49352C1-23AD-3C0B-2F06-77BB8473A690}"/>
              </a:ext>
            </a:extLst>
          </p:cNvPr>
          <p:cNvSpPr/>
          <p:nvPr/>
        </p:nvSpPr>
        <p:spPr>
          <a:xfrm>
            <a:off x="7007109" y="5486316"/>
            <a:ext cx="162426" cy="162426"/>
          </a:xfrm>
          <a:prstGeom prst="ellipse">
            <a:avLst/>
          </a:prstGeom>
          <a:solidFill>
            <a:srgbClr val="1F76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C0656FA-D807-C79E-5363-A6039DA31EA9}"/>
              </a:ext>
            </a:extLst>
          </p:cNvPr>
          <p:cNvSpPr/>
          <p:nvPr/>
        </p:nvSpPr>
        <p:spPr>
          <a:xfrm>
            <a:off x="7007109" y="5783226"/>
            <a:ext cx="162426" cy="162426"/>
          </a:xfrm>
          <a:prstGeom prst="ellipse">
            <a:avLst/>
          </a:prstGeom>
          <a:solidFill>
            <a:srgbClr val="FF7E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BCB338-FA07-99DA-7692-9A7922DB298D}"/>
              </a:ext>
            </a:extLst>
          </p:cNvPr>
          <p:cNvSpPr txBox="1"/>
          <p:nvPr/>
        </p:nvSpPr>
        <p:spPr>
          <a:xfrm>
            <a:off x="7169535" y="5429029"/>
            <a:ext cx="619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2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Adelie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51B0DA-D52A-F44F-7242-12CF6F5B9ABC}"/>
              </a:ext>
            </a:extLst>
          </p:cNvPr>
          <p:cNvSpPr txBox="1"/>
          <p:nvPr/>
        </p:nvSpPr>
        <p:spPr>
          <a:xfrm>
            <a:off x="7169535" y="5725939"/>
            <a:ext cx="699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2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Gentoo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961AEF-11CC-EBFF-5AF8-5563A415B799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0202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CE74276-11D3-C271-56F8-E534E86B7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844" y="1583479"/>
            <a:ext cx="5300666" cy="494398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2B01763-BCFC-A4F9-9223-BBBCDF328E78}"/>
              </a:ext>
            </a:extLst>
          </p:cNvPr>
          <p:cNvSpPr/>
          <p:nvPr/>
        </p:nvSpPr>
        <p:spPr>
          <a:xfrm>
            <a:off x="7007109" y="5486316"/>
            <a:ext cx="162426" cy="162426"/>
          </a:xfrm>
          <a:prstGeom prst="ellipse">
            <a:avLst/>
          </a:prstGeom>
          <a:solidFill>
            <a:srgbClr val="1F76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4B395F-A53F-B544-BC8D-CF7F2221FEDB}"/>
              </a:ext>
            </a:extLst>
          </p:cNvPr>
          <p:cNvSpPr/>
          <p:nvPr/>
        </p:nvSpPr>
        <p:spPr>
          <a:xfrm>
            <a:off x="7007109" y="5783226"/>
            <a:ext cx="162426" cy="162426"/>
          </a:xfrm>
          <a:prstGeom prst="ellipse">
            <a:avLst/>
          </a:prstGeom>
          <a:solidFill>
            <a:srgbClr val="FF7E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7884AC-EEB0-0F42-7C26-C2BFCC4F35C3}"/>
              </a:ext>
            </a:extLst>
          </p:cNvPr>
          <p:cNvSpPr txBox="1"/>
          <p:nvPr/>
        </p:nvSpPr>
        <p:spPr>
          <a:xfrm>
            <a:off x="7169535" y="5429029"/>
            <a:ext cx="619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2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Adelie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7C0D0D-A8EA-43E0-7166-2899211D0F6C}"/>
              </a:ext>
            </a:extLst>
          </p:cNvPr>
          <p:cNvSpPr txBox="1"/>
          <p:nvPr/>
        </p:nvSpPr>
        <p:spPr>
          <a:xfrm>
            <a:off x="7169535" y="5725939"/>
            <a:ext cx="699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2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Gentoo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3B3824-FCA7-F53B-6CF1-5DFED4C18F56}"/>
              </a:ext>
            </a:extLst>
          </p:cNvPr>
          <p:cNvSpPr/>
          <p:nvPr/>
        </p:nvSpPr>
        <p:spPr>
          <a:xfrm>
            <a:off x="2261937" y="1518273"/>
            <a:ext cx="1665247" cy="666205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159E2-D2DF-6B70-EDDE-8D55EE7950B7}"/>
              </a:ext>
            </a:extLst>
          </p:cNvPr>
          <p:cNvSpPr txBox="1"/>
          <p:nvPr/>
        </p:nvSpPr>
        <p:spPr>
          <a:xfrm>
            <a:off x="2317448" y="1549779"/>
            <a:ext cx="1609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baseline="-25000" dirty="0">
                <a:solidFill>
                  <a:srgbClr val="E8EBE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BILL DEPTH</a:t>
            </a:r>
            <a:endParaRPr lang="en-FR" sz="3000" b="1" baseline="-25000" dirty="0">
              <a:solidFill>
                <a:srgbClr val="E8EBE4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D06AD8-FC11-61B1-D949-AA7004CF2BB6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094561" y="2184478"/>
            <a:ext cx="1593851" cy="552047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61DFBFD-8B9C-4EFD-C00F-5DB38C012EBE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1643502" y="2184478"/>
            <a:ext cx="1451059" cy="557139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EA8181F-F427-8037-8221-E773F3FCC803}"/>
              </a:ext>
            </a:extLst>
          </p:cNvPr>
          <p:cNvSpPr txBox="1"/>
          <p:nvPr/>
        </p:nvSpPr>
        <p:spPr>
          <a:xfrm>
            <a:off x="4005408" y="2158474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 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644FA0-C29C-C41D-CB7F-F1FFFA1AD5D9}"/>
              </a:ext>
            </a:extLst>
          </p:cNvPr>
          <p:cNvSpPr txBox="1"/>
          <p:nvPr/>
        </p:nvSpPr>
        <p:spPr>
          <a:xfrm>
            <a:off x="1721727" y="2178597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≤ t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1099037-7CF8-78B1-4F70-4E2007B34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8229" y="2897599"/>
            <a:ext cx="550545" cy="24828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9852AEF-28D4-43BB-20FE-3D6B35FCE8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2972" y="2860542"/>
            <a:ext cx="690880" cy="280670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E2122A9-96A8-7122-FCB0-EAA86520050B}"/>
              </a:ext>
            </a:extLst>
          </p:cNvPr>
          <p:cNvCxnSpPr/>
          <p:nvPr/>
        </p:nvCxnSpPr>
        <p:spPr>
          <a:xfrm>
            <a:off x="8916690" y="1583479"/>
            <a:ext cx="0" cy="4570674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959145E-7004-5BA2-5389-0FC9026E9917}"/>
              </a:ext>
            </a:extLst>
          </p:cNvPr>
          <p:cNvGrpSpPr/>
          <p:nvPr/>
        </p:nvGrpSpPr>
        <p:grpSpPr>
          <a:xfrm>
            <a:off x="1197796" y="3301866"/>
            <a:ext cx="891410" cy="759759"/>
            <a:chOff x="996175" y="3511022"/>
            <a:chExt cx="891410" cy="759759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533D10A-BCAF-83E4-7940-967F990E3A6E}"/>
                </a:ext>
              </a:extLst>
            </p:cNvPr>
            <p:cNvSpPr/>
            <p:nvPr/>
          </p:nvSpPr>
          <p:spPr>
            <a:xfrm>
              <a:off x="996175" y="3565432"/>
              <a:ext cx="248285" cy="248285"/>
            </a:xfrm>
            <a:prstGeom prst="ellipse">
              <a:avLst/>
            </a:prstGeom>
            <a:solidFill>
              <a:srgbClr val="1F76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2FD5E93-0837-412A-70C9-F405A12BBB85}"/>
                </a:ext>
              </a:extLst>
            </p:cNvPr>
            <p:cNvSpPr/>
            <p:nvPr/>
          </p:nvSpPr>
          <p:spPr>
            <a:xfrm>
              <a:off x="996175" y="3961973"/>
              <a:ext cx="248285" cy="248285"/>
            </a:xfrm>
            <a:prstGeom prst="ellipse">
              <a:avLst/>
            </a:prstGeom>
            <a:solidFill>
              <a:srgbClr val="FF7E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106EC0D-E813-2998-6BED-2A13101F6F51}"/>
                </a:ext>
              </a:extLst>
            </p:cNvPr>
            <p:cNvSpPr txBox="1"/>
            <p:nvPr/>
          </p:nvSpPr>
          <p:spPr>
            <a:xfrm>
              <a:off x="1244460" y="3511022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0.07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F410FD3-B1F2-DE4B-FD41-BC227BA068E4}"/>
                </a:ext>
              </a:extLst>
            </p:cNvPr>
            <p:cNvSpPr txBox="1"/>
            <p:nvPr/>
          </p:nvSpPr>
          <p:spPr>
            <a:xfrm>
              <a:off x="1244460" y="3901449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0.93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24AD154-FE2C-AE33-CAB9-F0CB74E5E88E}"/>
              </a:ext>
            </a:extLst>
          </p:cNvPr>
          <p:cNvGrpSpPr/>
          <p:nvPr/>
        </p:nvGrpSpPr>
        <p:grpSpPr>
          <a:xfrm>
            <a:off x="4260329" y="3304368"/>
            <a:ext cx="891410" cy="759759"/>
            <a:chOff x="996175" y="3511022"/>
            <a:chExt cx="891410" cy="759759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B4EB0B1-B54C-4818-129D-EF161C57AD58}"/>
                </a:ext>
              </a:extLst>
            </p:cNvPr>
            <p:cNvSpPr/>
            <p:nvPr/>
          </p:nvSpPr>
          <p:spPr>
            <a:xfrm>
              <a:off x="996175" y="3565432"/>
              <a:ext cx="248285" cy="248285"/>
            </a:xfrm>
            <a:prstGeom prst="ellipse">
              <a:avLst/>
            </a:prstGeom>
            <a:solidFill>
              <a:srgbClr val="1F76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C1BF66E8-91E4-0988-DFA4-4B20D6E413A9}"/>
                </a:ext>
              </a:extLst>
            </p:cNvPr>
            <p:cNvSpPr/>
            <p:nvPr/>
          </p:nvSpPr>
          <p:spPr>
            <a:xfrm>
              <a:off x="996175" y="3961973"/>
              <a:ext cx="248285" cy="248285"/>
            </a:xfrm>
            <a:prstGeom prst="ellipse">
              <a:avLst/>
            </a:prstGeom>
            <a:solidFill>
              <a:srgbClr val="FF7E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36E43F0-6BD1-B40D-DD1D-8109375129C6}"/>
                </a:ext>
              </a:extLst>
            </p:cNvPr>
            <p:cNvSpPr txBox="1"/>
            <p:nvPr/>
          </p:nvSpPr>
          <p:spPr>
            <a:xfrm>
              <a:off x="1244460" y="3511022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0.95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52CEF24-0964-6F69-1C6D-5066BDA39BA0}"/>
                </a:ext>
              </a:extLst>
            </p:cNvPr>
            <p:cNvSpPr txBox="1"/>
            <p:nvPr/>
          </p:nvSpPr>
          <p:spPr>
            <a:xfrm>
              <a:off x="1244460" y="3901449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0.05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9BA7FCFA-7A56-216C-067A-8A7BD540C284}"/>
              </a:ext>
            </a:extLst>
          </p:cNvPr>
          <p:cNvSpPr txBox="1"/>
          <p:nvPr/>
        </p:nvSpPr>
        <p:spPr>
          <a:xfrm>
            <a:off x="2684890" y="3499484"/>
            <a:ext cx="979755" cy="369332"/>
          </a:xfrm>
          <a:prstGeom prst="rect">
            <a:avLst/>
          </a:prstGeom>
          <a:noFill/>
          <a:ln w="25400">
            <a:solidFill>
              <a:srgbClr val="5E5E5E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</a:t>
            </a:r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= 16.7</a:t>
            </a: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709B0E89-4147-922F-7124-5E8083555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221" y="1746507"/>
            <a:ext cx="550545" cy="248285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CFA100F9-D368-98B4-4B55-D785AAE9D7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7404" y="1728571"/>
            <a:ext cx="690880" cy="2806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43878E-2793-F764-6AD5-47D1AF844D9D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FA66CD-A2B0-A046-233A-D49A817D064E}"/>
              </a:ext>
            </a:extLst>
          </p:cNvPr>
          <p:cNvSpPr txBox="1"/>
          <p:nvPr/>
        </p:nvSpPr>
        <p:spPr>
          <a:xfrm>
            <a:off x="278388" y="855062"/>
            <a:ext cx="11259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When splitting a feature, we want the partitions to be </a:t>
            </a:r>
            <a:r>
              <a:rPr lang="en-GB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homogeneous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CC984E-04D7-7B0E-EBB5-9E08EFB7B445}"/>
              </a:ext>
            </a:extLst>
          </p:cNvPr>
          <p:cNvCxnSpPr/>
          <p:nvPr/>
        </p:nvCxnSpPr>
        <p:spPr>
          <a:xfrm>
            <a:off x="1049311" y="4332157"/>
            <a:ext cx="1039895" cy="0"/>
          </a:xfrm>
          <a:prstGeom prst="line">
            <a:avLst/>
          </a:prstGeom>
          <a:ln w="50800">
            <a:solidFill>
              <a:srgbClr val="FA27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D5EC8B05-01B6-D87F-958F-1EB849FC5BD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42120" y="4474997"/>
            <a:ext cx="721474" cy="435794"/>
          </a:xfrm>
          <a:prstGeom prst="bentConnector3">
            <a:avLst>
              <a:gd name="adj1" fmla="val 99825"/>
            </a:avLst>
          </a:prstGeom>
          <a:ln w="50800">
            <a:solidFill>
              <a:srgbClr val="FA27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57A4AEA-1D6A-041B-78C4-A013C46D64C2}"/>
              </a:ext>
            </a:extLst>
          </p:cNvPr>
          <p:cNvSpPr txBox="1"/>
          <p:nvPr/>
        </p:nvSpPr>
        <p:spPr>
          <a:xfrm>
            <a:off x="2183713" y="4724082"/>
            <a:ext cx="3320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These are the proportions of each class in the left region</a:t>
            </a:r>
            <a:endParaRPr lang="en-GB" b="1" dirty="0">
              <a:solidFill>
                <a:srgbClr val="FA2743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819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CE74276-11D3-C271-56F8-E534E86B7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844" y="1583479"/>
            <a:ext cx="5300666" cy="494398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2B01763-BCFC-A4F9-9223-BBBCDF328E78}"/>
              </a:ext>
            </a:extLst>
          </p:cNvPr>
          <p:cNvSpPr/>
          <p:nvPr/>
        </p:nvSpPr>
        <p:spPr>
          <a:xfrm>
            <a:off x="7007109" y="5486316"/>
            <a:ext cx="162426" cy="162426"/>
          </a:xfrm>
          <a:prstGeom prst="ellipse">
            <a:avLst/>
          </a:prstGeom>
          <a:solidFill>
            <a:srgbClr val="1F76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4B395F-A53F-B544-BC8D-CF7F2221FEDB}"/>
              </a:ext>
            </a:extLst>
          </p:cNvPr>
          <p:cNvSpPr/>
          <p:nvPr/>
        </p:nvSpPr>
        <p:spPr>
          <a:xfrm>
            <a:off x="7007109" y="5783226"/>
            <a:ext cx="162426" cy="162426"/>
          </a:xfrm>
          <a:prstGeom prst="ellipse">
            <a:avLst/>
          </a:prstGeom>
          <a:solidFill>
            <a:srgbClr val="FF7E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7884AC-EEB0-0F42-7C26-C2BFCC4F35C3}"/>
              </a:ext>
            </a:extLst>
          </p:cNvPr>
          <p:cNvSpPr txBox="1"/>
          <p:nvPr/>
        </p:nvSpPr>
        <p:spPr>
          <a:xfrm>
            <a:off x="7169535" y="5429029"/>
            <a:ext cx="619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2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Adelie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7C0D0D-A8EA-43E0-7166-2899211D0F6C}"/>
              </a:ext>
            </a:extLst>
          </p:cNvPr>
          <p:cNvSpPr txBox="1"/>
          <p:nvPr/>
        </p:nvSpPr>
        <p:spPr>
          <a:xfrm>
            <a:off x="7169535" y="5725939"/>
            <a:ext cx="699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2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Gentoo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3B3824-FCA7-F53B-6CF1-5DFED4C18F56}"/>
              </a:ext>
            </a:extLst>
          </p:cNvPr>
          <p:cNvSpPr/>
          <p:nvPr/>
        </p:nvSpPr>
        <p:spPr>
          <a:xfrm>
            <a:off x="2261937" y="1518273"/>
            <a:ext cx="1665247" cy="666205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159E2-D2DF-6B70-EDDE-8D55EE7950B7}"/>
              </a:ext>
            </a:extLst>
          </p:cNvPr>
          <p:cNvSpPr txBox="1"/>
          <p:nvPr/>
        </p:nvSpPr>
        <p:spPr>
          <a:xfrm>
            <a:off x="2317448" y="1549779"/>
            <a:ext cx="1609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baseline="-25000" dirty="0">
                <a:solidFill>
                  <a:srgbClr val="E8EBE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BILL DEPTH</a:t>
            </a:r>
            <a:endParaRPr lang="en-FR" sz="3000" b="1" baseline="-25000" dirty="0">
              <a:solidFill>
                <a:srgbClr val="E8EBE4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D06AD8-FC11-61B1-D949-AA7004CF2BB6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094561" y="2184478"/>
            <a:ext cx="1593851" cy="552047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61DFBFD-8B9C-4EFD-C00F-5DB38C012EBE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1643502" y="2184478"/>
            <a:ext cx="1451059" cy="557139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EA8181F-F427-8037-8221-E773F3FCC803}"/>
              </a:ext>
            </a:extLst>
          </p:cNvPr>
          <p:cNvSpPr txBox="1"/>
          <p:nvPr/>
        </p:nvSpPr>
        <p:spPr>
          <a:xfrm>
            <a:off x="4005408" y="2158474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 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644FA0-C29C-C41D-CB7F-F1FFFA1AD5D9}"/>
              </a:ext>
            </a:extLst>
          </p:cNvPr>
          <p:cNvSpPr txBox="1"/>
          <p:nvPr/>
        </p:nvSpPr>
        <p:spPr>
          <a:xfrm>
            <a:off x="1721727" y="2178597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≤ t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1099037-7CF8-78B1-4F70-4E2007B34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8229" y="2897599"/>
            <a:ext cx="550545" cy="24828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9852AEF-28D4-43BB-20FE-3D6B35FCE8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2972" y="2860542"/>
            <a:ext cx="690880" cy="280670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E2122A9-96A8-7122-FCB0-EAA86520050B}"/>
              </a:ext>
            </a:extLst>
          </p:cNvPr>
          <p:cNvCxnSpPr/>
          <p:nvPr/>
        </p:nvCxnSpPr>
        <p:spPr>
          <a:xfrm>
            <a:off x="8188143" y="1583479"/>
            <a:ext cx="0" cy="4570674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>
            <a:extLst>
              <a:ext uri="{FF2B5EF4-FFF2-40B4-BE49-F238E27FC236}">
                <a16:creationId xmlns:a16="http://schemas.microsoft.com/office/drawing/2014/main" id="{4065E9CF-1250-529B-FA39-AD0B22D56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221" y="1746507"/>
            <a:ext cx="550545" cy="24828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17AAA8AF-67E8-C5A8-AA74-A7D72ED42A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7404" y="1728571"/>
            <a:ext cx="690880" cy="280670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B959145E-7004-5BA2-5389-0FC9026E9917}"/>
              </a:ext>
            </a:extLst>
          </p:cNvPr>
          <p:cNvGrpSpPr/>
          <p:nvPr/>
        </p:nvGrpSpPr>
        <p:grpSpPr>
          <a:xfrm>
            <a:off x="1197796" y="3301866"/>
            <a:ext cx="891410" cy="759759"/>
            <a:chOff x="996175" y="3511022"/>
            <a:chExt cx="891410" cy="759759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533D10A-BCAF-83E4-7940-967F990E3A6E}"/>
                </a:ext>
              </a:extLst>
            </p:cNvPr>
            <p:cNvSpPr/>
            <p:nvPr/>
          </p:nvSpPr>
          <p:spPr>
            <a:xfrm>
              <a:off x="996175" y="3565432"/>
              <a:ext cx="248285" cy="248285"/>
            </a:xfrm>
            <a:prstGeom prst="ellipse">
              <a:avLst/>
            </a:prstGeom>
            <a:solidFill>
              <a:srgbClr val="1F76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2FD5E93-0837-412A-70C9-F405A12BBB85}"/>
                </a:ext>
              </a:extLst>
            </p:cNvPr>
            <p:cNvSpPr/>
            <p:nvPr/>
          </p:nvSpPr>
          <p:spPr>
            <a:xfrm>
              <a:off x="996175" y="3961973"/>
              <a:ext cx="248285" cy="248285"/>
            </a:xfrm>
            <a:prstGeom prst="ellipse">
              <a:avLst/>
            </a:prstGeom>
            <a:solidFill>
              <a:srgbClr val="FF7E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106EC0D-E813-2998-6BED-2A13101F6F51}"/>
                </a:ext>
              </a:extLst>
            </p:cNvPr>
            <p:cNvSpPr txBox="1"/>
            <p:nvPr/>
          </p:nvSpPr>
          <p:spPr>
            <a:xfrm>
              <a:off x="1244460" y="3511022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0.07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F410FD3-B1F2-DE4B-FD41-BC227BA068E4}"/>
                </a:ext>
              </a:extLst>
            </p:cNvPr>
            <p:cNvSpPr txBox="1"/>
            <p:nvPr/>
          </p:nvSpPr>
          <p:spPr>
            <a:xfrm>
              <a:off x="1244460" y="3901449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0.93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24AD154-FE2C-AE33-CAB9-F0CB74E5E88E}"/>
              </a:ext>
            </a:extLst>
          </p:cNvPr>
          <p:cNvGrpSpPr/>
          <p:nvPr/>
        </p:nvGrpSpPr>
        <p:grpSpPr>
          <a:xfrm>
            <a:off x="4260329" y="3304368"/>
            <a:ext cx="891410" cy="759759"/>
            <a:chOff x="996175" y="3511022"/>
            <a:chExt cx="891410" cy="759759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B4EB0B1-B54C-4818-129D-EF161C57AD58}"/>
                </a:ext>
              </a:extLst>
            </p:cNvPr>
            <p:cNvSpPr/>
            <p:nvPr/>
          </p:nvSpPr>
          <p:spPr>
            <a:xfrm>
              <a:off x="996175" y="3565432"/>
              <a:ext cx="248285" cy="248285"/>
            </a:xfrm>
            <a:prstGeom prst="ellipse">
              <a:avLst/>
            </a:prstGeom>
            <a:solidFill>
              <a:srgbClr val="1F76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C1BF66E8-91E4-0988-DFA4-4B20D6E413A9}"/>
                </a:ext>
              </a:extLst>
            </p:cNvPr>
            <p:cNvSpPr/>
            <p:nvPr/>
          </p:nvSpPr>
          <p:spPr>
            <a:xfrm>
              <a:off x="996175" y="3961973"/>
              <a:ext cx="248285" cy="248285"/>
            </a:xfrm>
            <a:prstGeom prst="ellipse">
              <a:avLst/>
            </a:prstGeom>
            <a:solidFill>
              <a:srgbClr val="FF7E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36E43F0-6BD1-B40D-DD1D-8109375129C6}"/>
                </a:ext>
              </a:extLst>
            </p:cNvPr>
            <p:cNvSpPr txBox="1"/>
            <p:nvPr/>
          </p:nvSpPr>
          <p:spPr>
            <a:xfrm>
              <a:off x="1244460" y="3511022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0.95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52CEF24-0964-6F69-1C6D-5066BDA39BA0}"/>
                </a:ext>
              </a:extLst>
            </p:cNvPr>
            <p:cNvSpPr txBox="1"/>
            <p:nvPr/>
          </p:nvSpPr>
          <p:spPr>
            <a:xfrm>
              <a:off x="1244460" y="3901449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0.05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9BA7FCFA-7A56-216C-067A-8A7BD540C284}"/>
              </a:ext>
            </a:extLst>
          </p:cNvPr>
          <p:cNvSpPr txBox="1"/>
          <p:nvPr/>
        </p:nvSpPr>
        <p:spPr>
          <a:xfrm>
            <a:off x="2684890" y="3499484"/>
            <a:ext cx="979755" cy="369332"/>
          </a:xfrm>
          <a:prstGeom prst="rect">
            <a:avLst/>
          </a:prstGeom>
          <a:noFill/>
          <a:ln w="25400">
            <a:solidFill>
              <a:srgbClr val="5E5E5E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</a:t>
            </a:r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= 16.7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0C24AF3-E546-26DF-B5FB-A4E81AFB0140}"/>
              </a:ext>
            </a:extLst>
          </p:cNvPr>
          <p:cNvGrpSpPr/>
          <p:nvPr/>
        </p:nvGrpSpPr>
        <p:grpSpPr>
          <a:xfrm>
            <a:off x="1197797" y="4285216"/>
            <a:ext cx="891410" cy="759759"/>
            <a:chOff x="996175" y="3511022"/>
            <a:chExt cx="891410" cy="759759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D08469F0-6F72-D048-27F5-054EC3E22140}"/>
                </a:ext>
              </a:extLst>
            </p:cNvPr>
            <p:cNvSpPr/>
            <p:nvPr/>
          </p:nvSpPr>
          <p:spPr>
            <a:xfrm>
              <a:off x="996175" y="3565432"/>
              <a:ext cx="248285" cy="248285"/>
            </a:xfrm>
            <a:prstGeom prst="ellipse">
              <a:avLst/>
            </a:prstGeom>
            <a:solidFill>
              <a:srgbClr val="1F76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FD235F89-206C-5C8E-53BA-DA4DFE1C3683}"/>
                </a:ext>
              </a:extLst>
            </p:cNvPr>
            <p:cNvSpPr/>
            <p:nvPr/>
          </p:nvSpPr>
          <p:spPr>
            <a:xfrm>
              <a:off x="996175" y="3961973"/>
              <a:ext cx="248285" cy="248285"/>
            </a:xfrm>
            <a:prstGeom prst="ellipse">
              <a:avLst/>
            </a:prstGeom>
            <a:solidFill>
              <a:srgbClr val="FF7E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D8AEC25-D9FF-ECE3-1E93-CAA9A291F1F2}"/>
                </a:ext>
              </a:extLst>
            </p:cNvPr>
            <p:cNvSpPr txBox="1"/>
            <p:nvPr/>
          </p:nvSpPr>
          <p:spPr>
            <a:xfrm>
              <a:off x="1244460" y="3511022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0.00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7F9FE0D-7B9A-814A-D9D1-585CABE47886}"/>
                </a:ext>
              </a:extLst>
            </p:cNvPr>
            <p:cNvSpPr txBox="1"/>
            <p:nvPr/>
          </p:nvSpPr>
          <p:spPr>
            <a:xfrm>
              <a:off x="1244460" y="3901449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1.00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694731C2-ACA9-9C6B-0CF0-7FB8A67FB90A}"/>
              </a:ext>
            </a:extLst>
          </p:cNvPr>
          <p:cNvGrpSpPr/>
          <p:nvPr/>
        </p:nvGrpSpPr>
        <p:grpSpPr>
          <a:xfrm>
            <a:off x="4260330" y="4287718"/>
            <a:ext cx="891410" cy="759759"/>
            <a:chOff x="996175" y="3511022"/>
            <a:chExt cx="891410" cy="759759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FDDB2E36-29A1-1CCE-6D85-01E5FCBB9533}"/>
                </a:ext>
              </a:extLst>
            </p:cNvPr>
            <p:cNvSpPr/>
            <p:nvPr/>
          </p:nvSpPr>
          <p:spPr>
            <a:xfrm>
              <a:off x="996175" y="3565432"/>
              <a:ext cx="248285" cy="248285"/>
            </a:xfrm>
            <a:prstGeom prst="ellipse">
              <a:avLst/>
            </a:prstGeom>
            <a:solidFill>
              <a:srgbClr val="1F76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2B1BE43E-23B5-DC49-4D77-76605E5C102D}"/>
                </a:ext>
              </a:extLst>
            </p:cNvPr>
            <p:cNvSpPr/>
            <p:nvPr/>
          </p:nvSpPr>
          <p:spPr>
            <a:xfrm>
              <a:off x="996175" y="3961973"/>
              <a:ext cx="248285" cy="248285"/>
            </a:xfrm>
            <a:prstGeom prst="ellipse">
              <a:avLst/>
            </a:prstGeom>
            <a:solidFill>
              <a:srgbClr val="FF7E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449CA9A-67BD-18FD-938C-727022CA924A}"/>
                </a:ext>
              </a:extLst>
            </p:cNvPr>
            <p:cNvSpPr txBox="1"/>
            <p:nvPr/>
          </p:nvSpPr>
          <p:spPr>
            <a:xfrm>
              <a:off x="1244460" y="3511022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0.80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932266DD-C254-BF99-6821-17836817247D}"/>
                </a:ext>
              </a:extLst>
            </p:cNvPr>
            <p:cNvSpPr txBox="1"/>
            <p:nvPr/>
          </p:nvSpPr>
          <p:spPr>
            <a:xfrm>
              <a:off x="1244460" y="3901449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0.20</a:t>
              </a: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2B186E49-7B80-2B59-2113-DB2BFAA1E6A2}"/>
              </a:ext>
            </a:extLst>
          </p:cNvPr>
          <p:cNvSpPr txBox="1"/>
          <p:nvPr/>
        </p:nvSpPr>
        <p:spPr>
          <a:xfrm>
            <a:off x="2684891" y="4482834"/>
            <a:ext cx="979755" cy="369332"/>
          </a:xfrm>
          <a:prstGeom prst="rect">
            <a:avLst/>
          </a:prstGeom>
          <a:noFill/>
          <a:ln w="25400">
            <a:solidFill>
              <a:srgbClr val="5E5E5E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</a:t>
            </a:r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= 15.5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D9FF07-5482-1C5E-A15E-8B0E00E9BAC9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FC379E-6116-C510-13F0-2835E13301CE}"/>
              </a:ext>
            </a:extLst>
          </p:cNvPr>
          <p:cNvSpPr txBox="1"/>
          <p:nvPr/>
        </p:nvSpPr>
        <p:spPr>
          <a:xfrm>
            <a:off x="278388" y="855062"/>
            <a:ext cx="11259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When splitting a feature, we want the partitions to be </a:t>
            </a:r>
            <a:r>
              <a:rPr lang="en-GB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homogeneous</a:t>
            </a:r>
          </a:p>
        </p:txBody>
      </p:sp>
    </p:spTree>
    <p:extLst>
      <p:ext uri="{BB962C8B-B14F-4D97-AF65-F5344CB8AC3E}">
        <p14:creationId xmlns:p14="http://schemas.microsoft.com/office/powerpoint/2010/main" val="14260572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CE74276-11D3-C271-56F8-E534E86B7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844" y="1583479"/>
            <a:ext cx="5300666" cy="494398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2B01763-BCFC-A4F9-9223-BBBCDF328E78}"/>
              </a:ext>
            </a:extLst>
          </p:cNvPr>
          <p:cNvSpPr/>
          <p:nvPr/>
        </p:nvSpPr>
        <p:spPr>
          <a:xfrm>
            <a:off x="7007109" y="5486316"/>
            <a:ext cx="162426" cy="162426"/>
          </a:xfrm>
          <a:prstGeom prst="ellipse">
            <a:avLst/>
          </a:prstGeom>
          <a:solidFill>
            <a:srgbClr val="1F76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4B395F-A53F-B544-BC8D-CF7F2221FEDB}"/>
              </a:ext>
            </a:extLst>
          </p:cNvPr>
          <p:cNvSpPr/>
          <p:nvPr/>
        </p:nvSpPr>
        <p:spPr>
          <a:xfrm>
            <a:off x="7007109" y="5783226"/>
            <a:ext cx="162426" cy="162426"/>
          </a:xfrm>
          <a:prstGeom prst="ellipse">
            <a:avLst/>
          </a:prstGeom>
          <a:solidFill>
            <a:srgbClr val="FF7E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7884AC-EEB0-0F42-7C26-C2BFCC4F35C3}"/>
              </a:ext>
            </a:extLst>
          </p:cNvPr>
          <p:cNvSpPr txBox="1"/>
          <p:nvPr/>
        </p:nvSpPr>
        <p:spPr>
          <a:xfrm>
            <a:off x="7169535" y="5429029"/>
            <a:ext cx="619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2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Adelie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7C0D0D-A8EA-43E0-7166-2899211D0F6C}"/>
              </a:ext>
            </a:extLst>
          </p:cNvPr>
          <p:cNvSpPr txBox="1"/>
          <p:nvPr/>
        </p:nvSpPr>
        <p:spPr>
          <a:xfrm>
            <a:off x="7169535" y="5725939"/>
            <a:ext cx="699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2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Gentoo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3B3824-FCA7-F53B-6CF1-5DFED4C18F56}"/>
              </a:ext>
            </a:extLst>
          </p:cNvPr>
          <p:cNvSpPr/>
          <p:nvPr/>
        </p:nvSpPr>
        <p:spPr>
          <a:xfrm>
            <a:off x="2261937" y="1518273"/>
            <a:ext cx="1665247" cy="666205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159E2-D2DF-6B70-EDDE-8D55EE7950B7}"/>
              </a:ext>
            </a:extLst>
          </p:cNvPr>
          <p:cNvSpPr txBox="1"/>
          <p:nvPr/>
        </p:nvSpPr>
        <p:spPr>
          <a:xfrm>
            <a:off x="2317448" y="1549779"/>
            <a:ext cx="1609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baseline="-25000" dirty="0">
                <a:solidFill>
                  <a:srgbClr val="E8EBE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BILL DEPTH</a:t>
            </a:r>
            <a:endParaRPr lang="en-FR" sz="3000" b="1" baseline="-25000" dirty="0">
              <a:solidFill>
                <a:srgbClr val="E8EBE4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D06AD8-FC11-61B1-D949-AA7004CF2BB6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094561" y="2184478"/>
            <a:ext cx="1593851" cy="552047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61DFBFD-8B9C-4EFD-C00F-5DB38C012EBE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1643502" y="2184478"/>
            <a:ext cx="1451059" cy="557139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EA8181F-F427-8037-8221-E773F3FCC803}"/>
              </a:ext>
            </a:extLst>
          </p:cNvPr>
          <p:cNvSpPr txBox="1"/>
          <p:nvPr/>
        </p:nvSpPr>
        <p:spPr>
          <a:xfrm>
            <a:off x="4005408" y="2158474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 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644FA0-C29C-C41D-CB7F-F1FFFA1AD5D9}"/>
              </a:ext>
            </a:extLst>
          </p:cNvPr>
          <p:cNvSpPr txBox="1"/>
          <p:nvPr/>
        </p:nvSpPr>
        <p:spPr>
          <a:xfrm>
            <a:off x="1721727" y="2178597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≤ t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1099037-7CF8-78B1-4F70-4E2007B34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8229" y="2897599"/>
            <a:ext cx="550545" cy="24828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9852AEF-28D4-43BB-20FE-3D6B35FCE8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2972" y="2860542"/>
            <a:ext cx="690880" cy="280670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E2122A9-96A8-7122-FCB0-EAA86520050B}"/>
              </a:ext>
            </a:extLst>
          </p:cNvPr>
          <p:cNvCxnSpPr/>
          <p:nvPr/>
        </p:nvCxnSpPr>
        <p:spPr>
          <a:xfrm>
            <a:off x="10165627" y="1583479"/>
            <a:ext cx="0" cy="4570674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959145E-7004-5BA2-5389-0FC9026E9917}"/>
              </a:ext>
            </a:extLst>
          </p:cNvPr>
          <p:cNvGrpSpPr/>
          <p:nvPr/>
        </p:nvGrpSpPr>
        <p:grpSpPr>
          <a:xfrm>
            <a:off x="1197796" y="3301866"/>
            <a:ext cx="891410" cy="759759"/>
            <a:chOff x="996175" y="3511022"/>
            <a:chExt cx="891410" cy="759759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533D10A-BCAF-83E4-7940-967F990E3A6E}"/>
                </a:ext>
              </a:extLst>
            </p:cNvPr>
            <p:cNvSpPr/>
            <p:nvPr/>
          </p:nvSpPr>
          <p:spPr>
            <a:xfrm>
              <a:off x="996175" y="3565432"/>
              <a:ext cx="248285" cy="248285"/>
            </a:xfrm>
            <a:prstGeom prst="ellipse">
              <a:avLst/>
            </a:prstGeom>
            <a:solidFill>
              <a:srgbClr val="1F76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2FD5E93-0837-412A-70C9-F405A12BBB85}"/>
                </a:ext>
              </a:extLst>
            </p:cNvPr>
            <p:cNvSpPr/>
            <p:nvPr/>
          </p:nvSpPr>
          <p:spPr>
            <a:xfrm>
              <a:off x="996175" y="3961973"/>
              <a:ext cx="248285" cy="248285"/>
            </a:xfrm>
            <a:prstGeom prst="ellipse">
              <a:avLst/>
            </a:prstGeom>
            <a:solidFill>
              <a:srgbClr val="FF7E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106EC0D-E813-2998-6BED-2A13101F6F51}"/>
                </a:ext>
              </a:extLst>
            </p:cNvPr>
            <p:cNvSpPr txBox="1"/>
            <p:nvPr/>
          </p:nvSpPr>
          <p:spPr>
            <a:xfrm>
              <a:off x="1244460" y="3511022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0.07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F410FD3-B1F2-DE4B-FD41-BC227BA068E4}"/>
                </a:ext>
              </a:extLst>
            </p:cNvPr>
            <p:cNvSpPr txBox="1"/>
            <p:nvPr/>
          </p:nvSpPr>
          <p:spPr>
            <a:xfrm>
              <a:off x="1244460" y="3901449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0.93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24AD154-FE2C-AE33-CAB9-F0CB74E5E88E}"/>
              </a:ext>
            </a:extLst>
          </p:cNvPr>
          <p:cNvGrpSpPr/>
          <p:nvPr/>
        </p:nvGrpSpPr>
        <p:grpSpPr>
          <a:xfrm>
            <a:off x="4260329" y="3304368"/>
            <a:ext cx="891410" cy="759759"/>
            <a:chOff x="996175" y="3511022"/>
            <a:chExt cx="891410" cy="759759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B4EB0B1-B54C-4818-129D-EF161C57AD58}"/>
                </a:ext>
              </a:extLst>
            </p:cNvPr>
            <p:cNvSpPr/>
            <p:nvPr/>
          </p:nvSpPr>
          <p:spPr>
            <a:xfrm>
              <a:off x="996175" y="3565432"/>
              <a:ext cx="248285" cy="248285"/>
            </a:xfrm>
            <a:prstGeom prst="ellipse">
              <a:avLst/>
            </a:prstGeom>
            <a:solidFill>
              <a:srgbClr val="1F76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C1BF66E8-91E4-0988-DFA4-4B20D6E413A9}"/>
                </a:ext>
              </a:extLst>
            </p:cNvPr>
            <p:cNvSpPr/>
            <p:nvPr/>
          </p:nvSpPr>
          <p:spPr>
            <a:xfrm>
              <a:off x="996175" y="3961973"/>
              <a:ext cx="248285" cy="248285"/>
            </a:xfrm>
            <a:prstGeom prst="ellipse">
              <a:avLst/>
            </a:prstGeom>
            <a:solidFill>
              <a:srgbClr val="FF7E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36E43F0-6BD1-B40D-DD1D-8109375129C6}"/>
                </a:ext>
              </a:extLst>
            </p:cNvPr>
            <p:cNvSpPr txBox="1"/>
            <p:nvPr/>
          </p:nvSpPr>
          <p:spPr>
            <a:xfrm>
              <a:off x="1244460" y="3511022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0.95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52CEF24-0964-6F69-1C6D-5066BDA39BA0}"/>
                </a:ext>
              </a:extLst>
            </p:cNvPr>
            <p:cNvSpPr txBox="1"/>
            <p:nvPr/>
          </p:nvSpPr>
          <p:spPr>
            <a:xfrm>
              <a:off x="1244460" y="3901449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0.05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9BA7FCFA-7A56-216C-067A-8A7BD540C284}"/>
              </a:ext>
            </a:extLst>
          </p:cNvPr>
          <p:cNvSpPr txBox="1"/>
          <p:nvPr/>
        </p:nvSpPr>
        <p:spPr>
          <a:xfrm>
            <a:off x="2684890" y="3499484"/>
            <a:ext cx="979755" cy="369332"/>
          </a:xfrm>
          <a:prstGeom prst="rect">
            <a:avLst/>
          </a:prstGeom>
          <a:noFill/>
          <a:ln w="25400">
            <a:solidFill>
              <a:srgbClr val="5E5E5E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</a:t>
            </a:r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= 16.7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5E7B86F-4626-9FE9-6366-4655BAB3F231}"/>
              </a:ext>
            </a:extLst>
          </p:cNvPr>
          <p:cNvGrpSpPr/>
          <p:nvPr/>
        </p:nvGrpSpPr>
        <p:grpSpPr>
          <a:xfrm>
            <a:off x="1197797" y="5274085"/>
            <a:ext cx="891410" cy="759759"/>
            <a:chOff x="996175" y="3511022"/>
            <a:chExt cx="891410" cy="759759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4988928B-5BC0-B5BD-8A35-9BDFA806D258}"/>
                </a:ext>
              </a:extLst>
            </p:cNvPr>
            <p:cNvSpPr/>
            <p:nvPr/>
          </p:nvSpPr>
          <p:spPr>
            <a:xfrm>
              <a:off x="996175" y="3565432"/>
              <a:ext cx="248285" cy="248285"/>
            </a:xfrm>
            <a:prstGeom prst="ellipse">
              <a:avLst/>
            </a:prstGeom>
            <a:solidFill>
              <a:srgbClr val="1F76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31C95C2C-98A2-B6B0-2379-E86AC91DB594}"/>
                </a:ext>
              </a:extLst>
            </p:cNvPr>
            <p:cNvSpPr/>
            <p:nvPr/>
          </p:nvSpPr>
          <p:spPr>
            <a:xfrm>
              <a:off x="996175" y="3961973"/>
              <a:ext cx="248285" cy="248285"/>
            </a:xfrm>
            <a:prstGeom prst="ellipse">
              <a:avLst/>
            </a:prstGeom>
            <a:solidFill>
              <a:srgbClr val="FF7E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885B47FC-A1FB-8D5E-49A8-60BCB25BEF21}"/>
                </a:ext>
              </a:extLst>
            </p:cNvPr>
            <p:cNvSpPr txBox="1"/>
            <p:nvPr/>
          </p:nvSpPr>
          <p:spPr>
            <a:xfrm>
              <a:off x="1244460" y="3511022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0.47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F20B928-8C7E-31BF-C5C4-FC4E2969C31F}"/>
                </a:ext>
              </a:extLst>
            </p:cNvPr>
            <p:cNvSpPr txBox="1"/>
            <p:nvPr/>
          </p:nvSpPr>
          <p:spPr>
            <a:xfrm>
              <a:off x="1244460" y="3901449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0.53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3E696BF-55D4-9379-7EC3-48D69FC6A281}"/>
              </a:ext>
            </a:extLst>
          </p:cNvPr>
          <p:cNvGrpSpPr/>
          <p:nvPr/>
        </p:nvGrpSpPr>
        <p:grpSpPr>
          <a:xfrm>
            <a:off x="4260330" y="5276587"/>
            <a:ext cx="891410" cy="759759"/>
            <a:chOff x="996175" y="3511022"/>
            <a:chExt cx="891410" cy="759759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4D95DBA3-0C9E-C27F-56BF-F3571D3331CE}"/>
                </a:ext>
              </a:extLst>
            </p:cNvPr>
            <p:cNvSpPr/>
            <p:nvPr/>
          </p:nvSpPr>
          <p:spPr>
            <a:xfrm>
              <a:off x="996175" y="3565432"/>
              <a:ext cx="248285" cy="248285"/>
            </a:xfrm>
            <a:prstGeom prst="ellipse">
              <a:avLst/>
            </a:prstGeom>
            <a:solidFill>
              <a:srgbClr val="1F76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72EBDE8D-4194-6BF3-5C8C-4BE05FD87DE6}"/>
                </a:ext>
              </a:extLst>
            </p:cNvPr>
            <p:cNvSpPr/>
            <p:nvPr/>
          </p:nvSpPr>
          <p:spPr>
            <a:xfrm>
              <a:off x="996175" y="3961973"/>
              <a:ext cx="248285" cy="248285"/>
            </a:xfrm>
            <a:prstGeom prst="ellipse">
              <a:avLst/>
            </a:prstGeom>
            <a:solidFill>
              <a:srgbClr val="FF7E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74A31AB-8F23-D9B5-2B35-26A3F57142EB}"/>
                </a:ext>
              </a:extLst>
            </p:cNvPr>
            <p:cNvSpPr txBox="1"/>
            <p:nvPr/>
          </p:nvSpPr>
          <p:spPr>
            <a:xfrm>
              <a:off x="1244460" y="3511022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1.00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97612B7F-2120-1D41-F495-CA5CDD2DFAFF}"/>
                </a:ext>
              </a:extLst>
            </p:cNvPr>
            <p:cNvSpPr txBox="1"/>
            <p:nvPr/>
          </p:nvSpPr>
          <p:spPr>
            <a:xfrm>
              <a:off x="1244460" y="3901449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0.00</a:t>
              </a:r>
              <a:endParaRPr lang="en-FR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CEFC3C7D-CE99-1CF3-4D9C-8F92C4BCE639}"/>
              </a:ext>
            </a:extLst>
          </p:cNvPr>
          <p:cNvSpPr txBox="1"/>
          <p:nvPr/>
        </p:nvSpPr>
        <p:spPr>
          <a:xfrm>
            <a:off x="2684891" y="5471703"/>
            <a:ext cx="979755" cy="369332"/>
          </a:xfrm>
          <a:prstGeom prst="rect">
            <a:avLst/>
          </a:prstGeom>
          <a:noFill/>
          <a:ln w="25400">
            <a:solidFill>
              <a:srgbClr val="5E5E5E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</a:t>
            </a:r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= 19.0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5AB448-C885-13D0-EE2A-870EC46931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221" y="1746507"/>
            <a:ext cx="550545" cy="2482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BEB802-88EB-963D-4FFF-803FD8C7D8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7404" y="1728571"/>
            <a:ext cx="690880" cy="28067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7D672E7-6DD3-CBFF-F915-057F016CFAF7}"/>
              </a:ext>
            </a:extLst>
          </p:cNvPr>
          <p:cNvGrpSpPr/>
          <p:nvPr/>
        </p:nvGrpSpPr>
        <p:grpSpPr>
          <a:xfrm>
            <a:off x="1197797" y="4285216"/>
            <a:ext cx="891410" cy="759759"/>
            <a:chOff x="996175" y="3511022"/>
            <a:chExt cx="891410" cy="759759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C721FF7-863F-A8B1-08A6-8FDE179FE1A1}"/>
                </a:ext>
              </a:extLst>
            </p:cNvPr>
            <p:cNvSpPr/>
            <p:nvPr/>
          </p:nvSpPr>
          <p:spPr>
            <a:xfrm>
              <a:off x="996175" y="3565432"/>
              <a:ext cx="248285" cy="248285"/>
            </a:xfrm>
            <a:prstGeom prst="ellipse">
              <a:avLst/>
            </a:prstGeom>
            <a:solidFill>
              <a:srgbClr val="1F76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55BCDBC-6D79-AE1D-6924-CEBD64A103D3}"/>
                </a:ext>
              </a:extLst>
            </p:cNvPr>
            <p:cNvSpPr/>
            <p:nvPr/>
          </p:nvSpPr>
          <p:spPr>
            <a:xfrm>
              <a:off x="996175" y="3961973"/>
              <a:ext cx="248285" cy="248285"/>
            </a:xfrm>
            <a:prstGeom prst="ellipse">
              <a:avLst/>
            </a:prstGeom>
            <a:solidFill>
              <a:srgbClr val="FF7E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2665685-439B-B960-E241-B07EB27A30E0}"/>
                </a:ext>
              </a:extLst>
            </p:cNvPr>
            <p:cNvSpPr txBox="1"/>
            <p:nvPr/>
          </p:nvSpPr>
          <p:spPr>
            <a:xfrm>
              <a:off x="1244460" y="3511022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0.00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B0FE26A-FC98-F236-F483-DB0C39202422}"/>
                </a:ext>
              </a:extLst>
            </p:cNvPr>
            <p:cNvSpPr txBox="1"/>
            <p:nvPr/>
          </p:nvSpPr>
          <p:spPr>
            <a:xfrm>
              <a:off x="1244460" y="3901449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1.00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265465F-45F9-B474-322E-81415013050D}"/>
              </a:ext>
            </a:extLst>
          </p:cNvPr>
          <p:cNvGrpSpPr/>
          <p:nvPr/>
        </p:nvGrpSpPr>
        <p:grpSpPr>
          <a:xfrm>
            <a:off x="4260330" y="4287718"/>
            <a:ext cx="891410" cy="759759"/>
            <a:chOff x="996175" y="3511022"/>
            <a:chExt cx="891410" cy="759759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0AB6E54-3821-4FDF-315B-9CA9252A82AE}"/>
                </a:ext>
              </a:extLst>
            </p:cNvPr>
            <p:cNvSpPr/>
            <p:nvPr/>
          </p:nvSpPr>
          <p:spPr>
            <a:xfrm>
              <a:off x="996175" y="3565432"/>
              <a:ext cx="248285" cy="248285"/>
            </a:xfrm>
            <a:prstGeom prst="ellipse">
              <a:avLst/>
            </a:prstGeom>
            <a:solidFill>
              <a:srgbClr val="1F76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5D7A632-0745-42D3-BC62-7FA7A2106483}"/>
                </a:ext>
              </a:extLst>
            </p:cNvPr>
            <p:cNvSpPr/>
            <p:nvPr/>
          </p:nvSpPr>
          <p:spPr>
            <a:xfrm>
              <a:off x="996175" y="3961973"/>
              <a:ext cx="248285" cy="248285"/>
            </a:xfrm>
            <a:prstGeom prst="ellipse">
              <a:avLst/>
            </a:prstGeom>
            <a:solidFill>
              <a:srgbClr val="FF7E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2A58AD-8E9C-4F48-02C7-30458E6C208D}"/>
                </a:ext>
              </a:extLst>
            </p:cNvPr>
            <p:cNvSpPr txBox="1"/>
            <p:nvPr/>
          </p:nvSpPr>
          <p:spPr>
            <a:xfrm>
              <a:off x="1244460" y="3511022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0.80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8F329BE-A096-CE8B-3262-6AC78F9ABC97}"/>
                </a:ext>
              </a:extLst>
            </p:cNvPr>
            <p:cNvSpPr txBox="1"/>
            <p:nvPr/>
          </p:nvSpPr>
          <p:spPr>
            <a:xfrm>
              <a:off x="1244460" y="3901449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0.20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3F5EC495-99A1-5AC4-D464-B8D993C9A90E}"/>
              </a:ext>
            </a:extLst>
          </p:cNvPr>
          <p:cNvSpPr txBox="1"/>
          <p:nvPr/>
        </p:nvSpPr>
        <p:spPr>
          <a:xfrm>
            <a:off x="2684891" y="4482834"/>
            <a:ext cx="979755" cy="369332"/>
          </a:xfrm>
          <a:prstGeom prst="rect">
            <a:avLst/>
          </a:prstGeom>
          <a:noFill/>
          <a:ln w="25400">
            <a:solidFill>
              <a:srgbClr val="5E5E5E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</a:t>
            </a:r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= 15.5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BBFE9F-CAE9-3E26-497F-AAD5BA5686EA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4D45F9-7F8E-BF17-D206-3BE7055BE967}"/>
              </a:ext>
            </a:extLst>
          </p:cNvPr>
          <p:cNvSpPr txBox="1"/>
          <p:nvPr/>
        </p:nvSpPr>
        <p:spPr>
          <a:xfrm>
            <a:off x="278388" y="855062"/>
            <a:ext cx="11259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When splitting a feature, we want the partitions to be </a:t>
            </a:r>
            <a:r>
              <a:rPr lang="en-GB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homogeneous</a:t>
            </a:r>
          </a:p>
        </p:txBody>
      </p:sp>
    </p:spTree>
    <p:extLst>
      <p:ext uri="{BB962C8B-B14F-4D97-AF65-F5344CB8AC3E}">
        <p14:creationId xmlns:p14="http://schemas.microsoft.com/office/powerpoint/2010/main" val="21318388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94A4F1-A000-7825-8D00-D9C5B61ABEF6}"/>
              </a:ext>
            </a:extLst>
          </p:cNvPr>
          <p:cNvSpPr txBox="1"/>
          <p:nvPr/>
        </p:nvSpPr>
        <p:spPr>
          <a:xfrm>
            <a:off x="278388" y="1411709"/>
            <a:ext cx="11002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One common way of assessing the homogeneity of a set is via its entropy</a:t>
            </a:r>
            <a:endParaRPr lang="en-GB" sz="2400" dirty="0">
              <a:solidFill>
                <a:srgbClr val="FF000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988F5D6-93A8-DCD1-7AD7-34D1AF6DDCA0}"/>
              </a:ext>
            </a:extLst>
          </p:cNvPr>
          <p:cNvSpPr/>
          <p:nvPr/>
        </p:nvSpPr>
        <p:spPr>
          <a:xfrm>
            <a:off x="9147110" y="1867098"/>
            <a:ext cx="1044000" cy="74950"/>
          </a:xfrm>
          <a:prstGeom prst="rect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7192F8A-2890-01BF-53B4-F23E5554CE26}"/>
              </a:ext>
            </a:extLst>
          </p:cNvPr>
          <p:cNvGrpSpPr/>
          <p:nvPr/>
        </p:nvGrpSpPr>
        <p:grpSpPr>
          <a:xfrm>
            <a:off x="1683488" y="2174421"/>
            <a:ext cx="8825023" cy="2349795"/>
            <a:chOff x="1683488" y="2484096"/>
            <a:chExt cx="8825023" cy="234979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112C1D1-61C7-0E38-9D60-669282F220D2}"/>
                </a:ext>
              </a:extLst>
            </p:cNvPr>
            <p:cNvSpPr/>
            <p:nvPr/>
          </p:nvSpPr>
          <p:spPr>
            <a:xfrm>
              <a:off x="1683488" y="2484096"/>
              <a:ext cx="8825023" cy="2349795"/>
            </a:xfrm>
            <a:prstGeom prst="rect">
              <a:avLst/>
            </a:prstGeom>
            <a:solidFill>
              <a:srgbClr val="E8EBE4"/>
            </a:solidFill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92590A3-219E-594E-BD16-8A329249B5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02050" y="3414381"/>
              <a:ext cx="4787900" cy="406400"/>
            </a:xfrm>
            <a:prstGeom prst="rect">
              <a:avLst/>
            </a:prstGeom>
          </p:spPr>
        </p:pic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CF2C41A-2399-3EA3-2635-216E2E24571B}"/>
                </a:ext>
              </a:extLst>
            </p:cNvPr>
            <p:cNvGrpSpPr/>
            <p:nvPr/>
          </p:nvGrpSpPr>
          <p:grpSpPr>
            <a:xfrm>
              <a:off x="2465618" y="2676220"/>
              <a:ext cx="7272521" cy="430887"/>
              <a:chOff x="2115111" y="2752925"/>
              <a:chExt cx="7272521" cy="430887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BAB1A7B-A16D-118B-7EB8-261F6D377A0C}"/>
                  </a:ext>
                </a:extLst>
              </p:cNvPr>
              <p:cNvSpPr txBox="1"/>
              <p:nvPr/>
            </p:nvSpPr>
            <p:spPr>
              <a:xfrm>
                <a:off x="2115111" y="2752925"/>
                <a:ext cx="7272521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200" dirty="0">
                    <a:solidFill>
                      <a:srgbClr val="5E5E5E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For a given dataset       with classes      and       we define: </a:t>
                </a:r>
                <a:endParaRPr lang="en-GB" sz="2200" b="1" dirty="0">
                  <a:solidFill>
                    <a:srgbClr val="FF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52B0D56-260C-D30F-B97A-3D3FA627F23B}"/>
                  </a:ext>
                </a:extLst>
              </p:cNvPr>
              <p:cNvSpPr/>
              <p:nvPr/>
            </p:nvSpPr>
            <p:spPr>
              <a:xfrm>
                <a:off x="6614825" y="2880132"/>
                <a:ext cx="215590" cy="215590"/>
              </a:xfrm>
              <a:prstGeom prst="rect">
                <a:avLst/>
              </a:prstGeom>
              <a:solidFill>
                <a:srgbClr val="1F76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F66C8EF3-90B5-7D19-B9DB-8AFC5B18D9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68513" y="2844820"/>
                <a:ext cx="254000" cy="241300"/>
              </a:xfrm>
              <a:prstGeom prst="rect">
                <a:avLst/>
              </a:prstGeom>
            </p:spPr>
          </p:pic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78E3A346-730F-EBDE-D826-E7BB61E755CA}"/>
                  </a:ext>
                </a:extLst>
              </p:cNvPr>
              <p:cNvSpPr/>
              <p:nvPr/>
            </p:nvSpPr>
            <p:spPr>
              <a:xfrm>
                <a:off x="7507167" y="2880132"/>
                <a:ext cx="215590" cy="215590"/>
              </a:xfrm>
              <a:prstGeom prst="rect">
                <a:avLst/>
              </a:prstGeom>
              <a:solidFill>
                <a:srgbClr val="FF7E0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</p:grp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76FE64BB-BEB1-C8C0-9660-C7F4BBF0E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40501" y="4271964"/>
              <a:ext cx="381000" cy="228600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45BF836-01C2-FB38-BDDB-0B04356651A4}"/>
                </a:ext>
              </a:extLst>
            </p:cNvPr>
            <p:cNvSpPr txBox="1"/>
            <p:nvPr/>
          </p:nvSpPr>
          <p:spPr>
            <a:xfrm>
              <a:off x="2282034" y="4129149"/>
              <a:ext cx="791459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200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where        is the proportion of data points in      of the class </a:t>
              </a:r>
              <a:endParaRPr lang="en-GB" sz="22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ADC8EAC-1215-FBC4-2038-D1A8174F0109}"/>
                </a:ext>
              </a:extLst>
            </p:cNvPr>
            <p:cNvSpPr/>
            <p:nvPr/>
          </p:nvSpPr>
          <p:spPr>
            <a:xfrm>
              <a:off x="9746776" y="4266015"/>
              <a:ext cx="215590" cy="215590"/>
            </a:xfrm>
            <a:prstGeom prst="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326B5D1F-D10F-E1B8-43D5-68A50EF1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09679" y="4225136"/>
              <a:ext cx="254000" cy="241300"/>
            </a:xfrm>
            <a:prstGeom prst="rect">
              <a:avLst/>
            </a:prstGeom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F12D8B17-AC99-7648-2527-2CD7010E11CC}"/>
              </a:ext>
            </a:extLst>
          </p:cNvPr>
          <p:cNvSpPr txBox="1"/>
          <p:nvPr/>
        </p:nvSpPr>
        <p:spPr>
          <a:xfrm>
            <a:off x="240033" y="4856042"/>
            <a:ext cx="11041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This is a well known measure of </a:t>
            </a:r>
            <a:r>
              <a:rPr lang="en-GB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disorder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used in Physics, Information theory, etc.</a:t>
            </a:r>
            <a:endParaRPr lang="en-GB" sz="2400" dirty="0">
              <a:solidFill>
                <a:srgbClr val="FF000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04A8B82-A3C2-231F-0C64-AD763BE3834E}"/>
              </a:ext>
            </a:extLst>
          </p:cNvPr>
          <p:cNvSpPr txBox="1"/>
          <p:nvPr/>
        </p:nvSpPr>
        <p:spPr>
          <a:xfrm>
            <a:off x="240032" y="5412689"/>
            <a:ext cx="112982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entropy is maximized when the probabilities for each class are the same. </a:t>
            </a:r>
            <a:r>
              <a:rPr lang="en-GB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Why?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C9DF74A-E97F-E8FC-AAF6-C80244A9A87E}"/>
              </a:ext>
            </a:extLst>
          </p:cNvPr>
          <p:cNvSpPr txBox="1"/>
          <p:nvPr/>
        </p:nvSpPr>
        <p:spPr>
          <a:xfrm>
            <a:off x="240032" y="5969336"/>
            <a:ext cx="115224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the case of decision trees we would like to have splits that have </a:t>
            </a:r>
            <a:r>
              <a:rPr lang="en-GB" sz="2400" dirty="0">
                <a:solidFill>
                  <a:srgbClr val="FF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minimum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entropy.</a:t>
            </a:r>
            <a:endParaRPr lang="en-GB" sz="2400" dirty="0">
              <a:solidFill>
                <a:srgbClr val="FF000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1D3FE7-A04E-3B43-DC16-60711BEB2A9E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F52BC7-B667-FB2D-CB10-EDD67FC06718}"/>
              </a:ext>
            </a:extLst>
          </p:cNvPr>
          <p:cNvSpPr txBox="1"/>
          <p:nvPr/>
        </p:nvSpPr>
        <p:spPr>
          <a:xfrm>
            <a:off x="278388" y="855062"/>
            <a:ext cx="11259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When splitting a feature, we want the partitions to be </a:t>
            </a:r>
            <a:r>
              <a:rPr lang="en-GB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homogeneous</a:t>
            </a:r>
          </a:p>
        </p:txBody>
      </p:sp>
    </p:spTree>
    <p:extLst>
      <p:ext uri="{BB962C8B-B14F-4D97-AF65-F5344CB8AC3E}">
        <p14:creationId xmlns:p14="http://schemas.microsoft.com/office/powerpoint/2010/main" val="10729093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CE74276-11D3-C271-56F8-E534E86B7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844" y="1583479"/>
            <a:ext cx="5300666" cy="494398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2B01763-BCFC-A4F9-9223-BBBCDF328E78}"/>
              </a:ext>
            </a:extLst>
          </p:cNvPr>
          <p:cNvSpPr/>
          <p:nvPr/>
        </p:nvSpPr>
        <p:spPr>
          <a:xfrm>
            <a:off x="7007109" y="5486316"/>
            <a:ext cx="162426" cy="162426"/>
          </a:xfrm>
          <a:prstGeom prst="ellipse">
            <a:avLst/>
          </a:prstGeom>
          <a:solidFill>
            <a:srgbClr val="1F76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4B395F-A53F-B544-BC8D-CF7F2221FEDB}"/>
              </a:ext>
            </a:extLst>
          </p:cNvPr>
          <p:cNvSpPr/>
          <p:nvPr/>
        </p:nvSpPr>
        <p:spPr>
          <a:xfrm>
            <a:off x="7007109" y="5783226"/>
            <a:ext cx="162426" cy="162426"/>
          </a:xfrm>
          <a:prstGeom prst="ellipse">
            <a:avLst/>
          </a:prstGeom>
          <a:solidFill>
            <a:srgbClr val="FF7E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7884AC-EEB0-0F42-7C26-C2BFCC4F35C3}"/>
              </a:ext>
            </a:extLst>
          </p:cNvPr>
          <p:cNvSpPr txBox="1"/>
          <p:nvPr/>
        </p:nvSpPr>
        <p:spPr>
          <a:xfrm>
            <a:off x="7169535" y="5429029"/>
            <a:ext cx="619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2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Adelie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7C0D0D-A8EA-43E0-7166-2899211D0F6C}"/>
              </a:ext>
            </a:extLst>
          </p:cNvPr>
          <p:cNvSpPr txBox="1"/>
          <p:nvPr/>
        </p:nvSpPr>
        <p:spPr>
          <a:xfrm>
            <a:off x="7169535" y="5725939"/>
            <a:ext cx="699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2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Gentoo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3B3824-FCA7-F53B-6CF1-5DFED4C18F56}"/>
              </a:ext>
            </a:extLst>
          </p:cNvPr>
          <p:cNvSpPr/>
          <p:nvPr/>
        </p:nvSpPr>
        <p:spPr>
          <a:xfrm>
            <a:off x="2261937" y="1518273"/>
            <a:ext cx="1665247" cy="666205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159E2-D2DF-6B70-EDDE-8D55EE7950B7}"/>
              </a:ext>
            </a:extLst>
          </p:cNvPr>
          <p:cNvSpPr txBox="1"/>
          <p:nvPr/>
        </p:nvSpPr>
        <p:spPr>
          <a:xfrm>
            <a:off x="2317448" y="1549779"/>
            <a:ext cx="1609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baseline="-25000" dirty="0">
                <a:solidFill>
                  <a:srgbClr val="E8EBE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BILL DEPTH</a:t>
            </a:r>
            <a:endParaRPr lang="en-FR" sz="3000" b="1" baseline="-25000" dirty="0">
              <a:solidFill>
                <a:srgbClr val="E8EBE4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D06AD8-FC11-61B1-D949-AA7004CF2BB6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094561" y="2184478"/>
            <a:ext cx="1593851" cy="552047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61DFBFD-8B9C-4EFD-C00F-5DB38C012EBE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1643502" y="2184478"/>
            <a:ext cx="1451059" cy="557139"/>
          </a:xfrm>
          <a:prstGeom prst="line">
            <a:avLst/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EA8181F-F427-8037-8221-E773F3FCC803}"/>
              </a:ext>
            </a:extLst>
          </p:cNvPr>
          <p:cNvSpPr txBox="1"/>
          <p:nvPr/>
        </p:nvSpPr>
        <p:spPr>
          <a:xfrm>
            <a:off x="4005408" y="2158474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 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644FA0-C29C-C41D-CB7F-F1FFFA1AD5D9}"/>
              </a:ext>
            </a:extLst>
          </p:cNvPr>
          <p:cNvSpPr txBox="1"/>
          <p:nvPr/>
        </p:nvSpPr>
        <p:spPr>
          <a:xfrm>
            <a:off x="1721727" y="2178597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≤ t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1099037-7CF8-78B1-4F70-4E2007B34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8229" y="2897599"/>
            <a:ext cx="550545" cy="24828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9852AEF-28D4-43BB-20FE-3D6B35FCE8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2972" y="2860542"/>
            <a:ext cx="690880" cy="280670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E2122A9-96A8-7122-FCB0-EAA86520050B}"/>
              </a:ext>
            </a:extLst>
          </p:cNvPr>
          <p:cNvCxnSpPr/>
          <p:nvPr/>
        </p:nvCxnSpPr>
        <p:spPr>
          <a:xfrm>
            <a:off x="10165627" y="1583479"/>
            <a:ext cx="0" cy="4570674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959145E-7004-5BA2-5389-0FC9026E9917}"/>
              </a:ext>
            </a:extLst>
          </p:cNvPr>
          <p:cNvGrpSpPr/>
          <p:nvPr/>
        </p:nvGrpSpPr>
        <p:grpSpPr>
          <a:xfrm>
            <a:off x="1197796" y="3301866"/>
            <a:ext cx="891410" cy="759759"/>
            <a:chOff x="996175" y="3511022"/>
            <a:chExt cx="891410" cy="759759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533D10A-BCAF-83E4-7940-967F990E3A6E}"/>
                </a:ext>
              </a:extLst>
            </p:cNvPr>
            <p:cNvSpPr/>
            <p:nvPr/>
          </p:nvSpPr>
          <p:spPr>
            <a:xfrm>
              <a:off x="996175" y="3565432"/>
              <a:ext cx="248285" cy="248285"/>
            </a:xfrm>
            <a:prstGeom prst="ellipse">
              <a:avLst/>
            </a:prstGeom>
            <a:solidFill>
              <a:srgbClr val="1F76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2FD5E93-0837-412A-70C9-F405A12BBB85}"/>
                </a:ext>
              </a:extLst>
            </p:cNvPr>
            <p:cNvSpPr/>
            <p:nvPr/>
          </p:nvSpPr>
          <p:spPr>
            <a:xfrm>
              <a:off x="996175" y="3961973"/>
              <a:ext cx="248285" cy="248285"/>
            </a:xfrm>
            <a:prstGeom prst="ellipse">
              <a:avLst/>
            </a:prstGeom>
            <a:solidFill>
              <a:srgbClr val="FF7E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106EC0D-E813-2998-6BED-2A13101F6F51}"/>
                </a:ext>
              </a:extLst>
            </p:cNvPr>
            <p:cNvSpPr txBox="1"/>
            <p:nvPr/>
          </p:nvSpPr>
          <p:spPr>
            <a:xfrm>
              <a:off x="1244460" y="3511022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0.07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F410FD3-B1F2-DE4B-FD41-BC227BA068E4}"/>
                </a:ext>
              </a:extLst>
            </p:cNvPr>
            <p:cNvSpPr txBox="1"/>
            <p:nvPr/>
          </p:nvSpPr>
          <p:spPr>
            <a:xfrm>
              <a:off x="1244460" y="3901449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0.93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24AD154-FE2C-AE33-CAB9-F0CB74E5E88E}"/>
              </a:ext>
            </a:extLst>
          </p:cNvPr>
          <p:cNvGrpSpPr/>
          <p:nvPr/>
        </p:nvGrpSpPr>
        <p:grpSpPr>
          <a:xfrm>
            <a:off x="4260329" y="3304368"/>
            <a:ext cx="891410" cy="759759"/>
            <a:chOff x="996175" y="3511022"/>
            <a:chExt cx="891410" cy="759759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B4EB0B1-B54C-4818-129D-EF161C57AD58}"/>
                </a:ext>
              </a:extLst>
            </p:cNvPr>
            <p:cNvSpPr/>
            <p:nvPr/>
          </p:nvSpPr>
          <p:spPr>
            <a:xfrm>
              <a:off x="996175" y="3565432"/>
              <a:ext cx="248285" cy="248285"/>
            </a:xfrm>
            <a:prstGeom prst="ellipse">
              <a:avLst/>
            </a:prstGeom>
            <a:solidFill>
              <a:srgbClr val="1F76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C1BF66E8-91E4-0988-DFA4-4B20D6E413A9}"/>
                </a:ext>
              </a:extLst>
            </p:cNvPr>
            <p:cNvSpPr/>
            <p:nvPr/>
          </p:nvSpPr>
          <p:spPr>
            <a:xfrm>
              <a:off x="996175" y="3961973"/>
              <a:ext cx="248285" cy="248285"/>
            </a:xfrm>
            <a:prstGeom prst="ellipse">
              <a:avLst/>
            </a:prstGeom>
            <a:solidFill>
              <a:srgbClr val="FF7E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36E43F0-6BD1-B40D-DD1D-8109375129C6}"/>
                </a:ext>
              </a:extLst>
            </p:cNvPr>
            <p:cNvSpPr txBox="1"/>
            <p:nvPr/>
          </p:nvSpPr>
          <p:spPr>
            <a:xfrm>
              <a:off x="1244460" y="3511022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0.95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52CEF24-0964-6F69-1C6D-5066BDA39BA0}"/>
                </a:ext>
              </a:extLst>
            </p:cNvPr>
            <p:cNvSpPr txBox="1"/>
            <p:nvPr/>
          </p:nvSpPr>
          <p:spPr>
            <a:xfrm>
              <a:off x="1244460" y="3901449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0.05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9BA7FCFA-7A56-216C-067A-8A7BD540C284}"/>
              </a:ext>
            </a:extLst>
          </p:cNvPr>
          <p:cNvSpPr txBox="1"/>
          <p:nvPr/>
        </p:nvSpPr>
        <p:spPr>
          <a:xfrm>
            <a:off x="2684890" y="3499484"/>
            <a:ext cx="979755" cy="369332"/>
          </a:xfrm>
          <a:prstGeom prst="rect">
            <a:avLst/>
          </a:prstGeom>
          <a:noFill/>
          <a:ln w="25400">
            <a:solidFill>
              <a:srgbClr val="5E5E5E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</a:t>
            </a:r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= 16.7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5E7B86F-4626-9FE9-6366-4655BAB3F231}"/>
              </a:ext>
            </a:extLst>
          </p:cNvPr>
          <p:cNvGrpSpPr/>
          <p:nvPr/>
        </p:nvGrpSpPr>
        <p:grpSpPr>
          <a:xfrm>
            <a:off x="1197797" y="5274085"/>
            <a:ext cx="891410" cy="759759"/>
            <a:chOff x="996175" y="3511022"/>
            <a:chExt cx="891410" cy="759759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4988928B-5BC0-B5BD-8A35-9BDFA806D258}"/>
                </a:ext>
              </a:extLst>
            </p:cNvPr>
            <p:cNvSpPr/>
            <p:nvPr/>
          </p:nvSpPr>
          <p:spPr>
            <a:xfrm>
              <a:off x="996175" y="3565432"/>
              <a:ext cx="248285" cy="248285"/>
            </a:xfrm>
            <a:prstGeom prst="ellipse">
              <a:avLst/>
            </a:prstGeom>
            <a:solidFill>
              <a:srgbClr val="1F76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31C95C2C-98A2-B6B0-2379-E86AC91DB594}"/>
                </a:ext>
              </a:extLst>
            </p:cNvPr>
            <p:cNvSpPr/>
            <p:nvPr/>
          </p:nvSpPr>
          <p:spPr>
            <a:xfrm>
              <a:off x="996175" y="3961973"/>
              <a:ext cx="248285" cy="248285"/>
            </a:xfrm>
            <a:prstGeom prst="ellipse">
              <a:avLst/>
            </a:prstGeom>
            <a:solidFill>
              <a:srgbClr val="FF7E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885B47FC-A1FB-8D5E-49A8-60BCB25BEF21}"/>
                </a:ext>
              </a:extLst>
            </p:cNvPr>
            <p:cNvSpPr txBox="1"/>
            <p:nvPr/>
          </p:nvSpPr>
          <p:spPr>
            <a:xfrm>
              <a:off x="1244460" y="3511022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0.47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F20B928-8C7E-31BF-C5C4-FC4E2969C31F}"/>
                </a:ext>
              </a:extLst>
            </p:cNvPr>
            <p:cNvSpPr txBox="1"/>
            <p:nvPr/>
          </p:nvSpPr>
          <p:spPr>
            <a:xfrm>
              <a:off x="1244460" y="3901449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0.53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3E696BF-55D4-9379-7EC3-48D69FC6A281}"/>
              </a:ext>
            </a:extLst>
          </p:cNvPr>
          <p:cNvGrpSpPr/>
          <p:nvPr/>
        </p:nvGrpSpPr>
        <p:grpSpPr>
          <a:xfrm>
            <a:off x="4260330" y="5276587"/>
            <a:ext cx="891410" cy="759759"/>
            <a:chOff x="996175" y="3511022"/>
            <a:chExt cx="891410" cy="759759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4D95DBA3-0C9E-C27F-56BF-F3571D3331CE}"/>
                </a:ext>
              </a:extLst>
            </p:cNvPr>
            <p:cNvSpPr/>
            <p:nvPr/>
          </p:nvSpPr>
          <p:spPr>
            <a:xfrm>
              <a:off x="996175" y="3565432"/>
              <a:ext cx="248285" cy="248285"/>
            </a:xfrm>
            <a:prstGeom prst="ellipse">
              <a:avLst/>
            </a:prstGeom>
            <a:solidFill>
              <a:srgbClr val="1F76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72EBDE8D-4194-6BF3-5C8C-4BE05FD87DE6}"/>
                </a:ext>
              </a:extLst>
            </p:cNvPr>
            <p:cNvSpPr/>
            <p:nvPr/>
          </p:nvSpPr>
          <p:spPr>
            <a:xfrm>
              <a:off x="996175" y="3961973"/>
              <a:ext cx="248285" cy="248285"/>
            </a:xfrm>
            <a:prstGeom prst="ellipse">
              <a:avLst/>
            </a:prstGeom>
            <a:solidFill>
              <a:srgbClr val="FF7E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74A31AB-8F23-D9B5-2B35-26A3F57142EB}"/>
                </a:ext>
              </a:extLst>
            </p:cNvPr>
            <p:cNvSpPr txBox="1"/>
            <p:nvPr/>
          </p:nvSpPr>
          <p:spPr>
            <a:xfrm>
              <a:off x="1244460" y="3511022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1.00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97612B7F-2120-1D41-F495-CA5CDD2DFAFF}"/>
                </a:ext>
              </a:extLst>
            </p:cNvPr>
            <p:cNvSpPr txBox="1"/>
            <p:nvPr/>
          </p:nvSpPr>
          <p:spPr>
            <a:xfrm>
              <a:off x="1244460" y="3901449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0.00</a:t>
              </a:r>
              <a:endParaRPr lang="en-FR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CEFC3C7D-CE99-1CF3-4D9C-8F92C4BCE639}"/>
              </a:ext>
            </a:extLst>
          </p:cNvPr>
          <p:cNvSpPr txBox="1"/>
          <p:nvPr/>
        </p:nvSpPr>
        <p:spPr>
          <a:xfrm>
            <a:off x="2684891" y="5471703"/>
            <a:ext cx="979755" cy="369332"/>
          </a:xfrm>
          <a:prstGeom prst="rect">
            <a:avLst/>
          </a:prstGeom>
          <a:noFill/>
          <a:ln w="25400">
            <a:solidFill>
              <a:srgbClr val="5E5E5E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</a:t>
            </a:r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= 19.0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5AB448-C885-13D0-EE2A-870EC46931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221" y="1746507"/>
            <a:ext cx="550545" cy="2482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BEB802-88EB-963D-4FFF-803FD8C7D8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7404" y="1728571"/>
            <a:ext cx="690880" cy="28067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7D672E7-6DD3-CBFF-F915-057F016CFAF7}"/>
              </a:ext>
            </a:extLst>
          </p:cNvPr>
          <p:cNvGrpSpPr/>
          <p:nvPr/>
        </p:nvGrpSpPr>
        <p:grpSpPr>
          <a:xfrm>
            <a:off x="1197797" y="4285216"/>
            <a:ext cx="891410" cy="759759"/>
            <a:chOff x="996175" y="3511022"/>
            <a:chExt cx="891410" cy="759759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C721FF7-863F-A8B1-08A6-8FDE179FE1A1}"/>
                </a:ext>
              </a:extLst>
            </p:cNvPr>
            <p:cNvSpPr/>
            <p:nvPr/>
          </p:nvSpPr>
          <p:spPr>
            <a:xfrm>
              <a:off x="996175" y="3565432"/>
              <a:ext cx="248285" cy="248285"/>
            </a:xfrm>
            <a:prstGeom prst="ellipse">
              <a:avLst/>
            </a:prstGeom>
            <a:solidFill>
              <a:srgbClr val="1F76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55BCDBC-6D79-AE1D-6924-CEBD64A103D3}"/>
                </a:ext>
              </a:extLst>
            </p:cNvPr>
            <p:cNvSpPr/>
            <p:nvPr/>
          </p:nvSpPr>
          <p:spPr>
            <a:xfrm>
              <a:off x="996175" y="3961973"/>
              <a:ext cx="248285" cy="248285"/>
            </a:xfrm>
            <a:prstGeom prst="ellipse">
              <a:avLst/>
            </a:prstGeom>
            <a:solidFill>
              <a:srgbClr val="FF7E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2665685-439B-B960-E241-B07EB27A30E0}"/>
                </a:ext>
              </a:extLst>
            </p:cNvPr>
            <p:cNvSpPr txBox="1"/>
            <p:nvPr/>
          </p:nvSpPr>
          <p:spPr>
            <a:xfrm>
              <a:off x="1244460" y="3511022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0.00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B0FE26A-FC98-F236-F483-DB0C39202422}"/>
                </a:ext>
              </a:extLst>
            </p:cNvPr>
            <p:cNvSpPr txBox="1"/>
            <p:nvPr/>
          </p:nvSpPr>
          <p:spPr>
            <a:xfrm>
              <a:off x="1244460" y="3901449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1.00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265465F-45F9-B474-322E-81415013050D}"/>
              </a:ext>
            </a:extLst>
          </p:cNvPr>
          <p:cNvGrpSpPr/>
          <p:nvPr/>
        </p:nvGrpSpPr>
        <p:grpSpPr>
          <a:xfrm>
            <a:off x="4260330" y="4287718"/>
            <a:ext cx="891410" cy="759759"/>
            <a:chOff x="996175" y="3511022"/>
            <a:chExt cx="891410" cy="759759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0AB6E54-3821-4FDF-315B-9CA9252A82AE}"/>
                </a:ext>
              </a:extLst>
            </p:cNvPr>
            <p:cNvSpPr/>
            <p:nvPr/>
          </p:nvSpPr>
          <p:spPr>
            <a:xfrm>
              <a:off x="996175" y="3565432"/>
              <a:ext cx="248285" cy="248285"/>
            </a:xfrm>
            <a:prstGeom prst="ellipse">
              <a:avLst/>
            </a:prstGeom>
            <a:solidFill>
              <a:srgbClr val="1F76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5D7A632-0745-42D3-BC62-7FA7A2106483}"/>
                </a:ext>
              </a:extLst>
            </p:cNvPr>
            <p:cNvSpPr/>
            <p:nvPr/>
          </p:nvSpPr>
          <p:spPr>
            <a:xfrm>
              <a:off x="996175" y="3961973"/>
              <a:ext cx="248285" cy="248285"/>
            </a:xfrm>
            <a:prstGeom prst="ellipse">
              <a:avLst/>
            </a:prstGeom>
            <a:solidFill>
              <a:srgbClr val="FF7E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2A58AD-8E9C-4F48-02C7-30458E6C208D}"/>
                </a:ext>
              </a:extLst>
            </p:cNvPr>
            <p:cNvSpPr txBox="1"/>
            <p:nvPr/>
          </p:nvSpPr>
          <p:spPr>
            <a:xfrm>
              <a:off x="1244460" y="3511022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0.80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8F329BE-A096-CE8B-3262-6AC78F9ABC97}"/>
                </a:ext>
              </a:extLst>
            </p:cNvPr>
            <p:cNvSpPr txBox="1"/>
            <p:nvPr/>
          </p:nvSpPr>
          <p:spPr>
            <a:xfrm>
              <a:off x="1244460" y="3901449"/>
              <a:ext cx="643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0.20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3F5EC495-99A1-5AC4-D464-B8D993C9A90E}"/>
              </a:ext>
            </a:extLst>
          </p:cNvPr>
          <p:cNvSpPr txBox="1"/>
          <p:nvPr/>
        </p:nvSpPr>
        <p:spPr>
          <a:xfrm>
            <a:off x="2684891" y="4482834"/>
            <a:ext cx="979755" cy="369332"/>
          </a:xfrm>
          <a:prstGeom prst="rect">
            <a:avLst/>
          </a:prstGeom>
          <a:noFill/>
          <a:ln w="25400">
            <a:solidFill>
              <a:srgbClr val="5E5E5E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</a:t>
            </a:r>
            <a:r>
              <a:rPr lang="en-F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= 15.5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9DCD14-1EF3-18BF-0D5B-56FECB279CE5}"/>
              </a:ext>
            </a:extLst>
          </p:cNvPr>
          <p:cNvSpPr txBox="1"/>
          <p:nvPr/>
        </p:nvSpPr>
        <p:spPr>
          <a:xfrm>
            <a:off x="92677" y="3499484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 = 0.28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C304CB-02CC-E0CB-90CF-64967AB4E2A7}"/>
              </a:ext>
            </a:extLst>
          </p:cNvPr>
          <p:cNvSpPr txBox="1"/>
          <p:nvPr/>
        </p:nvSpPr>
        <p:spPr>
          <a:xfrm>
            <a:off x="5098996" y="3499484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 = 0.19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9F38B6-BADA-550B-4A4B-0E2EF2F21F5B}"/>
              </a:ext>
            </a:extLst>
          </p:cNvPr>
          <p:cNvSpPr txBox="1"/>
          <p:nvPr/>
        </p:nvSpPr>
        <p:spPr>
          <a:xfrm>
            <a:off x="95766" y="4482834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 = 0.00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9B6293-944A-C867-625E-D019EC0AD8B0}"/>
              </a:ext>
            </a:extLst>
          </p:cNvPr>
          <p:cNvSpPr txBox="1"/>
          <p:nvPr/>
        </p:nvSpPr>
        <p:spPr>
          <a:xfrm>
            <a:off x="5098996" y="5477628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 = 0.00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0E6F8-02BB-961D-823B-039A761AF88C}"/>
              </a:ext>
            </a:extLst>
          </p:cNvPr>
          <p:cNvSpPr txBox="1"/>
          <p:nvPr/>
        </p:nvSpPr>
        <p:spPr>
          <a:xfrm>
            <a:off x="92677" y="549510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 = 0.69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BECF35-93F6-18E6-1118-23CCE42AB792}"/>
              </a:ext>
            </a:extLst>
          </p:cNvPr>
          <p:cNvSpPr txBox="1"/>
          <p:nvPr/>
        </p:nvSpPr>
        <p:spPr>
          <a:xfrm>
            <a:off x="5098996" y="4446817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 = 0.51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6525EA-A253-814F-AB68-9E1CBDD76057}"/>
              </a:ext>
            </a:extLst>
          </p:cNvPr>
          <p:cNvSpPr txBox="1"/>
          <p:nvPr/>
        </p:nvSpPr>
        <p:spPr>
          <a:xfrm>
            <a:off x="4001196" y="1671848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 = 0.68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E2EE3A-86D8-2D0A-D8ED-8670297017C5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FEB2ED-52AB-279D-5848-FC4F5D92A4B9}"/>
              </a:ext>
            </a:extLst>
          </p:cNvPr>
          <p:cNvSpPr txBox="1"/>
          <p:nvPr/>
        </p:nvSpPr>
        <p:spPr>
          <a:xfrm>
            <a:off x="278388" y="855062"/>
            <a:ext cx="11259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When splitting a feature, we want the partitions to be </a:t>
            </a:r>
            <a:r>
              <a:rPr lang="en-GB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homogeneous</a:t>
            </a:r>
          </a:p>
        </p:txBody>
      </p:sp>
    </p:spTree>
    <p:extLst>
      <p:ext uri="{BB962C8B-B14F-4D97-AF65-F5344CB8AC3E}">
        <p14:creationId xmlns:p14="http://schemas.microsoft.com/office/powerpoint/2010/main" val="11748536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6BB3E4-541B-DD76-269A-2EC93AB9F0D0}"/>
              </a:ext>
            </a:extLst>
          </p:cNvPr>
          <p:cNvSpPr txBox="1"/>
          <p:nvPr/>
        </p:nvSpPr>
        <p:spPr>
          <a:xfrm>
            <a:off x="278388" y="1518273"/>
            <a:ext cx="11259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can build a single criterium based on entropy called information gain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BCF7837-9B9C-B0DE-A0CA-C1FD0F05C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454997"/>
            <a:ext cx="7772400" cy="760076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674549D1-A14E-0B19-5DE7-860FBB0A8C7E}"/>
              </a:ext>
            </a:extLst>
          </p:cNvPr>
          <p:cNvSpPr/>
          <p:nvPr/>
        </p:nvSpPr>
        <p:spPr>
          <a:xfrm>
            <a:off x="7712620" y="1949160"/>
            <a:ext cx="2269579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CEC596-00E5-A50C-A30D-3B08BA87CAF9}"/>
              </a:ext>
            </a:extLst>
          </p:cNvPr>
          <p:cNvSpPr txBox="1"/>
          <p:nvPr/>
        </p:nvSpPr>
        <p:spPr>
          <a:xfrm>
            <a:off x="278388" y="4262510"/>
            <a:ext cx="117057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where the input argument t is the threshold value that defines how to split the dataset</a:t>
            </a:r>
          </a:p>
        </p:txBody>
      </p:sp>
      <p:sp>
        <p:nvSpPr>
          <p:cNvPr id="44" name="Right Brace 43">
            <a:extLst>
              <a:ext uri="{FF2B5EF4-FFF2-40B4-BE49-F238E27FC236}">
                <a16:creationId xmlns:a16="http://schemas.microsoft.com/office/drawing/2014/main" id="{5C21C5A5-3C23-F0AB-AC7B-577DA2922B73}"/>
              </a:ext>
            </a:extLst>
          </p:cNvPr>
          <p:cNvSpPr/>
          <p:nvPr/>
        </p:nvSpPr>
        <p:spPr>
          <a:xfrm rot="5400000">
            <a:off x="4656634" y="2940389"/>
            <a:ext cx="235580" cy="977222"/>
          </a:xfrm>
          <a:prstGeom prst="rightBrace">
            <a:avLst/>
          </a:prstGeom>
          <a:ln w="25400">
            <a:solidFill>
              <a:srgbClr val="1F76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5" name="Right Brace 44">
            <a:extLst>
              <a:ext uri="{FF2B5EF4-FFF2-40B4-BE49-F238E27FC236}">
                <a16:creationId xmlns:a16="http://schemas.microsoft.com/office/drawing/2014/main" id="{1D7074FA-0755-E638-AD5C-48F726028DDD}"/>
              </a:ext>
            </a:extLst>
          </p:cNvPr>
          <p:cNvSpPr/>
          <p:nvPr/>
        </p:nvSpPr>
        <p:spPr>
          <a:xfrm rot="5400000">
            <a:off x="7582183" y="2940389"/>
            <a:ext cx="235580" cy="977222"/>
          </a:xfrm>
          <a:prstGeom prst="rightBrace">
            <a:avLst/>
          </a:prstGeom>
          <a:ln w="25400">
            <a:solidFill>
              <a:srgbClr val="1F76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CC00134-943C-A0A2-EB35-0DF2CCA50037}"/>
              </a:ext>
            </a:extLst>
          </p:cNvPr>
          <p:cNvSpPr txBox="1"/>
          <p:nvPr/>
        </p:nvSpPr>
        <p:spPr>
          <a:xfrm>
            <a:off x="3590971" y="3692625"/>
            <a:ext cx="5854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These terms ensure that the entropies are comparable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E8815D-5374-9D2F-E09A-495756642E21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D98423-4DBC-3C8B-D5AF-678A16D79D44}"/>
              </a:ext>
            </a:extLst>
          </p:cNvPr>
          <p:cNvSpPr txBox="1"/>
          <p:nvPr/>
        </p:nvSpPr>
        <p:spPr>
          <a:xfrm>
            <a:off x="278388" y="855062"/>
            <a:ext cx="11259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When splitting a feature, we want the partitions to be </a:t>
            </a:r>
            <a:r>
              <a:rPr lang="en-GB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homogeneous</a:t>
            </a:r>
          </a:p>
        </p:txBody>
      </p:sp>
    </p:spTree>
    <p:extLst>
      <p:ext uri="{BB962C8B-B14F-4D97-AF65-F5344CB8AC3E}">
        <p14:creationId xmlns:p14="http://schemas.microsoft.com/office/powerpoint/2010/main" val="14866539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956651-2F25-614D-3333-C1E7866B2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772" y="870997"/>
            <a:ext cx="6183817" cy="584878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8AFD91D-45F1-9C39-0CE7-BE960EB92F44}"/>
              </a:ext>
            </a:extLst>
          </p:cNvPr>
          <p:cNvCxnSpPr>
            <a:cxnSpLocks/>
          </p:cNvCxnSpPr>
          <p:nvPr/>
        </p:nvCxnSpPr>
        <p:spPr>
          <a:xfrm>
            <a:off x="5006340" y="1512498"/>
            <a:ext cx="0" cy="4834962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DB0BA1A0-83BF-590D-9F1D-2BBAB984D3D4}"/>
              </a:ext>
            </a:extLst>
          </p:cNvPr>
          <p:cNvSpPr/>
          <p:nvPr/>
        </p:nvSpPr>
        <p:spPr>
          <a:xfrm>
            <a:off x="4948830" y="1420482"/>
            <a:ext cx="115019" cy="1150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9811ED-3A8B-7139-03B7-A99D127261DD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1312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956651-2F25-614D-3333-C1E7866B2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772" y="870997"/>
            <a:ext cx="6183817" cy="584878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8AFD91D-45F1-9C39-0CE7-BE960EB92F44}"/>
              </a:ext>
            </a:extLst>
          </p:cNvPr>
          <p:cNvCxnSpPr>
            <a:cxnSpLocks/>
          </p:cNvCxnSpPr>
          <p:nvPr/>
        </p:nvCxnSpPr>
        <p:spPr>
          <a:xfrm>
            <a:off x="5512423" y="1207698"/>
            <a:ext cx="0" cy="5139762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DB0BA1A0-83BF-590D-9F1D-2BBAB984D3D4}"/>
              </a:ext>
            </a:extLst>
          </p:cNvPr>
          <p:cNvSpPr/>
          <p:nvPr/>
        </p:nvSpPr>
        <p:spPr>
          <a:xfrm>
            <a:off x="5454913" y="1150188"/>
            <a:ext cx="115019" cy="1150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06D75-C238-3B78-604B-FF6E86F39222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8515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956651-2F25-614D-3333-C1E7866B2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772" y="870997"/>
            <a:ext cx="6183817" cy="584878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8AFD91D-45F1-9C39-0CE7-BE960EB92F44}"/>
              </a:ext>
            </a:extLst>
          </p:cNvPr>
          <p:cNvCxnSpPr>
            <a:cxnSpLocks/>
          </p:cNvCxnSpPr>
          <p:nvPr/>
        </p:nvCxnSpPr>
        <p:spPr>
          <a:xfrm>
            <a:off x="6426823" y="1351472"/>
            <a:ext cx="0" cy="4995988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DB0BA1A0-83BF-590D-9F1D-2BBAB984D3D4}"/>
              </a:ext>
            </a:extLst>
          </p:cNvPr>
          <p:cNvSpPr/>
          <p:nvPr/>
        </p:nvSpPr>
        <p:spPr>
          <a:xfrm>
            <a:off x="6369313" y="1293962"/>
            <a:ext cx="115019" cy="1150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DECCFC-7686-F49D-64BB-3493C1686BCD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1256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B1EE32F-A1DA-F37E-5C6B-0AAC57CB0AA6}"/>
              </a:ext>
            </a:extLst>
          </p:cNvPr>
          <p:cNvSpPr txBox="1"/>
          <p:nvPr/>
        </p:nvSpPr>
        <p:spPr>
          <a:xfrm>
            <a:off x="552070" y="2120594"/>
            <a:ext cx="10326866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each feature P</a:t>
            </a:r>
            <a:r>
              <a:rPr lang="en-FR" sz="2000" baseline="-25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</a:t>
            </a:r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:</a:t>
            </a:r>
          </a:p>
          <a:p>
            <a:endParaRPr lang="en-FR" sz="2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F</a:t>
            </a:r>
            <a:r>
              <a:rPr lang="en-GB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</a:t>
            </a:r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 each possible split S</a:t>
            </a:r>
            <a:r>
              <a:rPr lang="en-FR" sz="2000" baseline="-25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j</a:t>
            </a:r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:</a:t>
            </a:r>
          </a:p>
          <a:p>
            <a:endParaRPr lang="en-FR" sz="2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	Calculate each one of the K probabilities p</a:t>
            </a:r>
            <a:r>
              <a:rPr lang="en-FR" sz="2000" baseline="-25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</a:t>
            </a:r>
            <a:endParaRPr lang="en-FR" sz="2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FR" sz="2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	Calculate the </a:t>
            </a:r>
            <a:r>
              <a:rPr lang="en-FR" sz="2000" b="1" dirty="0">
                <a:solidFill>
                  <a:srgbClr val="5E5E5E"/>
                </a:solidFill>
                <a:latin typeface="Roboto ExtraBold" panose="02000000000000000000" pitchFamily="2" charset="0"/>
                <a:ea typeface="Roboto ExtraBold" panose="02000000000000000000" pitchFamily="2" charset="0"/>
                <a:cs typeface="Lato" panose="020F0502020204030203" pitchFamily="34" charset="0"/>
              </a:rPr>
              <a:t>entropies</a:t>
            </a:r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of each side</a:t>
            </a:r>
          </a:p>
          <a:p>
            <a:endParaRPr lang="en-FR" sz="2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Get the feature P</a:t>
            </a:r>
            <a:r>
              <a:rPr lang="en-FR" sz="2000" baseline="-25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</a:t>
            </a:r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and split S</a:t>
            </a:r>
            <a:r>
              <a:rPr lang="en-FR" sz="2000" baseline="-25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j</a:t>
            </a:r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that yield </a:t>
            </a:r>
            <a:r>
              <a:rPr lang="en-FR" sz="20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maximum</a:t>
            </a:r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r>
              <a:rPr lang="en-FR" sz="20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information gain</a:t>
            </a:r>
          </a:p>
          <a:p>
            <a:endParaRPr lang="en-FR" sz="2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Split the dataset according to these values</a:t>
            </a:r>
          </a:p>
          <a:p>
            <a:endParaRPr lang="en-FR" sz="2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Continue recursively (stop criterium can be depth of tree, number of points in each leaf, etc)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4490960-F9EE-AC14-E2D8-0FED8ABE7564}"/>
              </a:ext>
            </a:extLst>
          </p:cNvPr>
          <p:cNvSpPr/>
          <p:nvPr/>
        </p:nvSpPr>
        <p:spPr>
          <a:xfrm>
            <a:off x="8632946" y="3180583"/>
            <a:ext cx="3357454" cy="1528653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5F1E2-7E7D-70F5-6998-404058140B00}"/>
              </a:ext>
            </a:extLst>
          </p:cNvPr>
          <p:cNvSpPr txBox="1"/>
          <p:nvPr/>
        </p:nvSpPr>
        <p:spPr>
          <a:xfrm>
            <a:off x="278388" y="855062"/>
            <a:ext cx="11259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algorithm for </a:t>
            </a:r>
            <a:r>
              <a:rPr lang="en-GB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growing a tree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is therefore:</a:t>
            </a:r>
          </a:p>
        </p:txBody>
      </p:sp>
      <p:pic>
        <p:nvPicPr>
          <p:cNvPr id="10" name="Picture 9" descr="A person planting a tree&#10;&#10;Description automatically generated">
            <a:extLst>
              <a:ext uri="{FF2B5EF4-FFF2-40B4-BE49-F238E27FC236}">
                <a16:creationId xmlns:a16="http://schemas.microsoft.com/office/drawing/2014/main" id="{401C2DE5-9730-9BD2-ACDF-5B85C41C7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685" y="855062"/>
            <a:ext cx="2103715" cy="209319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75A7288-3B49-6F49-D9F1-EB31A1C4CC97}"/>
              </a:ext>
            </a:extLst>
          </p:cNvPr>
          <p:cNvSpPr txBox="1"/>
          <p:nvPr/>
        </p:nvSpPr>
        <p:spPr>
          <a:xfrm>
            <a:off x="552069" y="1545985"/>
            <a:ext cx="90865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Start with dataset       with N points of P dimensions and K classes</a:t>
            </a:r>
            <a:endParaRPr lang="en-FR" sz="2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056A30-AB8A-3FD3-F172-163996393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4862" y="1626047"/>
            <a:ext cx="254000" cy="241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8A3967-7DB4-C02F-3EFE-747E2B1AF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8573" y="3803882"/>
            <a:ext cx="1346200" cy="3429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FDF275C-1F8E-AA91-4E03-9514A043B316}"/>
              </a:ext>
            </a:extLst>
          </p:cNvPr>
          <p:cNvSpPr txBox="1"/>
          <p:nvPr/>
        </p:nvSpPr>
        <p:spPr>
          <a:xfrm>
            <a:off x="8823124" y="3290828"/>
            <a:ext cx="297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algorithm complexity 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2D9CED-36B2-C440-C42A-33C6EA1FF09C}"/>
              </a:ext>
            </a:extLst>
          </p:cNvPr>
          <p:cNvSpPr txBox="1"/>
          <p:nvPr/>
        </p:nvSpPr>
        <p:spPr>
          <a:xfrm>
            <a:off x="9176585" y="4227467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</a:t>
            </a:r>
            <a:r>
              <a:rPr lang="en-FR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ut can be improved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178826-0633-9A68-057F-9D198FED25C8}"/>
              </a:ext>
            </a:extLst>
          </p:cNvPr>
          <p:cNvSpPr/>
          <p:nvPr/>
        </p:nvSpPr>
        <p:spPr>
          <a:xfrm>
            <a:off x="391779" y="1473433"/>
            <a:ext cx="77347" cy="492810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54E08-BAFA-AD5A-8F58-92B212F21C24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6413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21C5CA-60D1-74A3-05B2-20A66622C83F}"/>
              </a:ext>
            </a:extLst>
          </p:cNvPr>
          <p:cNvSpPr txBox="1"/>
          <p:nvPr/>
        </p:nvSpPr>
        <p:spPr>
          <a:xfrm>
            <a:off x="240033" y="4824628"/>
            <a:ext cx="11259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Note that the default criterion for splitting is based on </a:t>
            </a:r>
            <a:r>
              <a:rPr lang="en-GB" sz="2400" b="1" dirty="0" err="1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gini</a:t>
            </a:r>
            <a:r>
              <a:rPr lang="en-GB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 index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569E48-4F5A-3E01-4DEB-18F32D191322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7" name="Picture 6" descr="A black and orange logo&#10;&#10;Description automatically generated">
            <a:extLst>
              <a:ext uri="{FF2B5EF4-FFF2-40B4-BE49-F238E27FC236}">
                <a16:creationId xmlns:a16="http://schemas.microsoft.com/office/drawing/2014/main" id="{7452393C-98DD-F838-92C9-22087A3F5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392" y="728161"/>
            <a:ext cx="1625600" cy="584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D1E5BD-3FE1-7D7B-9F5A-9D5F6F2C5E04}"/>
              </a:ext>
            </a:extLst>
          </p:cNvPr>
          <p:cNvSpPr txBox="1"/>
          <p:nvPr/>
        </p:nvSpPr>
        <p:spPr>
          <a:xfrm>
            <a:off x="240033" y="751805"/>
            <a:ext cx="981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Using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9DD3A7D-7EAB-B3AA-5D8E-9B3C665BC43B}"/>
              </a:ext>
            </a:extLst>
          </p:cNvPr>
          <p:cNvGrpSpPr/>
          <p:nvPr/>
        </p:nvGrpSpPr>
        <p:grpSpPr>
          <a:xfrm>
            <a:off x="2022764" y="1546034"/>
            <a:ext cx="8146472" cy="3110126"/>
            <a:chOff x="1956955" y="1807681"/>
            <a:chExt cx="8146472" cy="311012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89D3CA4-F8AF-5CBA-073D-AB8C2A95A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88572" y="1853304"/>
              <a:ext cx="8014855" cy="30645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E50D012-36CF-2490-CD6C-2BBE3996C944}"/>
                </a:ext>
              </a:extLst>
            </p:cNvPr>
            <p:cNvSpPr/>
            <p:nvPr/>
          </p:nvSpPr>
          <p:spPr>
            <a:xfrm>
              <a:off x="1956955" y="1807681"/>
              <a:ext cx="8146472" cy="3110126"/>
            </a:xfrm>
            <a:prstGeom prst="rect">
              <a:avLst/>
            </a:prstGeom>
            <a:noFill/>
            <a:ln w="50800">
              <a:solidFill>
                <a:srgbClr val="5E5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29ECBC94-BDE7-FE38-233A-9937895F2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7812" y="5496326"/>
            <a:ext cx="3365500" cy="965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D1E97F8-F23D-B4D7-D6A0-ED87CCC31A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8117" y="5496326"/>
            <a:ext cx="2603500" cy="965200"/>
          </a:xfrm>
          <a:prstGeom prst="rect">
            <a:avLst/>
          </a:prstGeom>
        </p:spPr>
      </p:pic>
      <p:sp>
        <p:nvSpPr>
          <p:cNvPr id="15" name="Right Arrow 14">
            <a:extLst>
              <a:ext uri="{FF2B5EF4-FFF2-40B4-BE49-F238E27FC236}">
                <a16:creationId xmlns:a16="http://schemas.microsoft.com/office/drawing/2014/main" id="{74C6844C-B60E-E2EF-7A8D-CF83C499DDAE}"/>
              </a:ext>
            </a:extLst>
          </p:cNvPr>
          <p:cNvSpPr/>
          <p:nvPr/>
        </p:nvSpPr>
        <p:spPr>
          <a:xfrm>
            <a:off x="5918569" y="5822425"/>
            <a:ext cx="734291" cy="313002"/>
          </a:xfrm>
          <a:prstGeom prst="rightArrow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62E013F5-DAE6-B2F2-7496-3EFC40FEE0F5}"/>
              </a:ext>
            </a:extLst>
          </p:cNvPr>
          <p:cNvSpPr/>
          <p:nvPr/>
        </p:nvSpPr>
        <p:spPr>
          <a:xfrm>
            <a:off x="9138302" y="5321020"/>
            <a:ext cx="762000" cy="414760"/>
          </a:xfrm>
          <a:custGeom>
            <a:avLst/>
            <a:gdLst>
              <a:gd name="connsiteX0" fmla="*/ 0 w 762000"/>
              <a:gd name="connsiteY0" fmla="*/ 137669 h 414760"/>
              <a:gd name="connsiteX1" fmla="*/ 318654 w 762000"/>
              <a:gd name="connsiteY1" fmla="*/ 12978 h 414760"/>
              <a:gd name="connsiteX2" fmla="*/ 762000 w 762000"/>
              <a:gd name="connsiteY2" fmla="*/ 414760 h 414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2000" h="414760">
                <a:moveTo>
                  <a:pt x="0" y="137669"/>
                </a:moveTo>
                <a:cubicBezTo>
                  <a:pt x="95827" y="52232"/>
                  <a:pt x="191654" y="-33204"/>
                  <a:pt x="318654" y="12978"/>
                </a:cubicBezTo>
                <a:cubicBezTo>
                  <a:pt x="445654" y="59160"/>
                  <a:pt x="603827" y="236960"/>
                  <a:pt x="762000" y="414760"/>
                </a:cubicBezTo>
              </a:path>
            </a:pathLst>
          </a:custGeom>
          <a:noFill/>
          <a:ln w="50800">
            <a:solidFill>
              <a:srgbClr val="FA2743"/>
            </a:solidFill>
            <a:head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7DDE32-4A88-DAA6-E1D3-DA4A6589793A}"/>
              </a:ext>
            </a:extLst>
          </p:cNvPr>
          <p:cNvSpPr txBox="1"/>
          <p:nvPr/>
        </p:nvSpPr>
        <p:spPr>
          <a:xfrm>
            <a:off x="9989784" y="5412614"/>
            <a:ext cx="1510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n</a:t>
            </a:r>
            <a:r>
              <a:rPr lang="en-FR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umber of classes</a:t>
            </a:r>
          </a:p>
        </p:txBody>
      </p:sp>
    </p:spTree>
    <p:extLst>
      <p:ext uri="{BB962C8B-B14F-4D97-AF65-F5344CB8AC3E}">
        <p14:creationId xmlns:p14="http://schemas.microsoft.com/office/powerpoint/2010/main" val="12832320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46A1E9-39E4-DCFE-D300-57231AD4F9E9}"/>
              </a:ext>
            </a:extLst>
          </p:cNvPr>
          <p:cNvSpPr txBox="1"/>
          <p:nvPr/>
        </p:nvSpPr>
        <p:spPr>
          <a:xfrm>
            <a:off x="278387" y="855062"/>
            <a:ext cx="117889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Note that a decision tree </a:t>
            </a:r>
            <a:r>
              <a:rPr lang="en-GB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classifier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can be written as a sum of indicator functions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757587-1360-A627-6847-935826207351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62D8AD-FFD1-CCA1-1BFF-C13F2D6A1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197" y="1809120"/>
            <a:ext cx="3530600" cy="1016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B81119F-C8C5-BA3D-D0F3-39AC361F9741}"/>
              </a:ext>
            </a:extLst>
          </p:cNvPr>
          <p:cNvSpPr/>
          <p:nvPr/>
        </p:nvSpPr>
        <p:spPr>
          <a:xfrm>
            <a:off x="4173588" y="1678482"/>
            <a:ext cx="4017818" cy="1277276"/>
          </a:xfrm>
          <a:prstGeom prst="rect">
            <a:avLst/>
          </a:prstGeom>
          <a:noFill/>
          <a:ln w="50800">
            <a:solidFill>
              <a:srgbClr val="5E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37B1598F-1445-4F2F-A38D-348AC83CE3C7}"/>
              </a:ext>
            </a:extLst>
          </p:cNvPr>
          <p:cNvSpPr/>
          <p:nvPr/>
        </p:nvSpPr>
        <p:spPr>
          <a:xfrm>
            <a:off x="5906528" y="1446158"/>
            <a:ext cx="2891484" cy="734494"/>
          </a:xfrm>
          <a:custGeom>
            <a:avLst/>
            <a:gdLst>
              <a:gd name="connsiteX0" fmla="*/ 0 w 2730843"/>
              <a:gd name="connsiteY0" fmla="*/ 378004 h 674566"/>
              <a:gd name="connsiteX1" fmla="*/ 1235676 w 2730843"/>
              <a:gd name="connsiteY1" fmla="*/ 7302 h 674566"/>
              <a:gd name="connsiteX2" fmla="*/ 2730843 w 2730843"/>
              <a:gd name="connsiteY2" fmla="*/ 674566 h 674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30843" h="674566">
                <a:moveTo>
                  <a:pt x="0" y="378004"/>
                </a:moveTo>
                <a:cubicBezTo>
                  <a:pt x="390268" y="167939"/>
                  <a:pt x="780536" y="-42125"/>
                  <a:pt x="1235676" y="7302"/>
                </a:cubicBezTo>
                <a:cubicBezTo>
                  <a:pt x="1690816" y="56729"/>
                  <a:pt x="2210829" y="365647"/>
                  <a:pt x="2730843" y="674566"/>
                </a:cubicBezTo>
              </a:path>
            </a:pathLst>
          </a:custGeom>
          <a:noFill/>
          <a:ln w="50800">
            <a:solidFill>
              <a:srgbClr val="FA2743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21C612-FDD3-8295-1E6F-42440E5B899F}"/>
              </a:ext>
            </a:extLst>
          </p:cNvPr>
          <p:cNvCxnSpPr/>
          <p:nvPr/>
        </p:nvCxnSpPr>
        <p:spPr>
          <a:xfrm>
            <a:off x="6009000" y="2576068"/>
            <a:ext cx="488939" cy="0"/>
          </a:xfrm>
          <a:prstGeom prst="line">
            <a:avLst/>
          </a:prstGeom>
          <a:ln w="50800">
            <a:solidFill>
              <a:srgbClr val="FA27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7ED5B7A-1079-5309-5753-4F1996E5BCE6}"/>
              </a:ext>
            </a:extLst>
          </p:cNvPr>
          <p:cNvSpPr txBox="1"/>
          <p:nvPr/>
        </p:nvSpPr>
        <p:spPr>
          <a:xfrm>
            <a:off x="8936704" y="1788862"/>
            <a:ext cx="2792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N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umber of regions in feature space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8C1B0878-B4AB-707D-F371-B72E577DE7DA}"/>
              </a:ext>
            </a:extLst>
          </p:cNvPr>
          <p:cNvSpPr/>
          <p:nvPr/>
        </p:nvSpPr>
        <p:spPr>
          <a:xfrm>
            <a:off x="3352800" y="2753696"/>
            <a:ext cx="2895600" cy="654760"/>
          </a:xfrm>
          <a:custGeom>
            <a:avLst/>
            <a:gdLst>
              <a:gd name="connsiteX0" fmla="*/ 2895600 w 2895600"/>
              <a:gd name="connsiteY0" fmla="*/ 0 h 654760"/>
              <a:gd name="connsiteX1" fmla="*/ 1866900 w 2895600"/>
              <a:gd name="connsiteY1" fmla="*/ 647700 h 654760"/>
              <a:gd name="connsiteX2" fmla="*/ 0 w 2895600"/>
              <a:gd name="connsiteY2" fmla="*/ 361950 h 654760"/>
              <a:gd name="connsiteX3" fmla="*/ 0 w 2895600"/>
              <a:gd name="connsiteY3" fmla="*/ 361950 h 654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0" h="654760">
                <a:moveTo>
                  <a:pt x="2895600" y="0"/>
                </a:moveTo>
                <a:cubicBezTo>
                  <a:pt x="2622550" y="293687"/>
                  <a:pt x="2349500" y="587375"/>
                  <a:pt x="1866900" y="647700"/>
                </a:cubicBezTo>
                <a:cubicBezTo>
                  <a:pt x="1384300" y="708025"/>
                  <a:pt x="0" y="361950"/>
                  <a:pt x="0" y="361950"/>
                </a:cubicBezTo>
                <a:lnTo>
                  <a:pt x="0" y="361950"/>
                </a:lnTo>
              </a:path>
            </a:pathLst>
          </a:custGeom>
          <a:noFill/>
          <a:ln w="50800">
            <a:solidFill>
              <a:srgbClr val="FA2743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486343-556D-DFA6-A3E5-40C780C47915}"/>
              </a:ext>
            </a:extLst>
          </p:cNvPr>
          <p:cNvSpPr txBox="1"/>
          <p:nvPr/>
        </p:nvSpPr>
        <p:spPr>
          <a:xfrm>
            <a:off x="774355" y="2453068"/>
            <a:ext cx="2792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Class of all data points in region </a:t>
            </a:r>
            <a:r>
              <a:rPr lang="en-US" sz="2400" dirty="0" err="1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R</a:t>
            </a:r>
            <a:r>
              <a:rPr lang="en-US" sz="2400" baseline="-25000" dirty="0" err="1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j</a:t>
            </a:r>
            <a:endParaRPr lang="en-FR" sz="2400" baseline="-250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2CE1BC-8DA5-1063-80BB-4E0D4E8C27A2}"/>
              </a:ext>
            </a:extLst>
          </p:cNvPr>
          <p:cNvSpPr txBox="1"/>
          <p:nvPr/>
        </p:nvSpPr>
        <p:spPr>
          <a:xfrm>
            <a:off x="288036" y="3584693"/>
            <a:ext cx="11788921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same formulation could be used to describe a decision tree </a:t>
            </a:r>
            <a:r>
              <a:rPr lang="en-GB" sz="2400" b="1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regressor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-- Instead of assigning a class to a region, we associate a real number.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-- However, the splitting criterium must change… though we still aim for </a:t>
            </a:r>
            <a:r>
              <a:rPr lang="en-GB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homogeneity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59F1661-9AEA-4581-57CD-350C4E44F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4797" y="5506292"/>
            <a:ext cx="4356100" cy="8890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E206D03-306A-7C8C-658C-19EC9287CF0C}"/>
              </a:ext>
            </a:extLst>
          </p:cNvPr>
          <p:cNvSpPr txBox="1"/>
          <p:nvPr/>
        </p:nvSpPr>
        <p:spPr>
          <a:xfrm>
            <a:off x="8087947" y="6226655"/>
            <a:ext cx="29706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of the observations in region</a:t>
            </a:r>
          </a:p>
        </p:txBody>
      </p: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F167A87D-6319-D733-E9F7-05A03D9350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851484" y="6230236"/>
            <a:ext cx="211891" cy="166746"/>
          </a:xfrm>
          <a:prstGeom prst="bentConnector3">
            <a:avLst>
              <a:gd name="adj1" fmla="val 6845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3386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20A66-1392-DE0E-A052-5BD7EFA8F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D25C2C-D1F9-85C4-F56A-1915C75A5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592" y="876576"/>
            <a:ext cx="9826816" cy="589609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413927-7ECF-C835-6BA5-4F4D2D24AAE6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A7CF7F-07BE-2E50-2517-EF666ABF3668}"/>
              </a:ext>
            </a:extLst>
          </p:cNvPr>
          <p:cNvSpPr txBox="1"/>
          <p:nvPr/>
        </p:nvSpPr>
        <p:spPr>
          <a:xfrm>
            <a:off x="278387" y="722004"/>
            <a:ext cx="117889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same formulation could be used to describe a decision tree </a:t>
            </a:r>
            <a:r>
              <a:rPr lang="en-GB" sz="2400" b="1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regressor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8ABE11-E060-FD31-2F5C-A2D6C4E333F7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3531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E2422-AE05-04D6-A5C3-69257EABA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2538D0-F7F0-BB32-46AA-DFF89FC19C29}"/>
              </a:ext>
            </a:extLst>
          </p:cNvPr>
          <p:cNvSpPr txBox="1"/>
          <p:nvPr/>
        </p:nvSpPr>
        <p:spPr>
          <a:xfrm>
            <a:off x="278388" y="781320"/>
            <a:ext cx="12192000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Decision trees can also be used for </a:t>
            </a:r>
            <a:r>
              <a:rPr lang="en-GB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regression</a:t>
            </a:r>
          </a:p>
          <a:p>
            <a:endParaRPr lang="en-GB" sz="2200" b="1" dirty="0">
              <a:solidFill>
                <a:srgbClr val="FA2743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There are basically two steps involved: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457200" indent="-457200">
              <a:buAutoNum type="arabicParenBoth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Divide predictor space into J distinct and non-overlapping regions R</a:t>
            </a:r>
            <a:r>
              <a:rPr lang="en-GB" sz="2400" baseline="-25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1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,</a:t>
            </a:r>
            <a:r>
              <a:rPr lang="en-GB" sz="2400" baseline="-25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… , R</a:t>
            </a:r>
            <a:r>
              <a:rPr lang="en-GB" sz="2400" baseline="-25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J</a:t>
            </a:r>
          </a:p>
          <a:p>
            <a:pPr marL="457200" indent="-457200">
              <a:buAutoNum type="arabicParenBoth"/>
            </a:pPr>
            <a:endParaRPr lang="en-GB" sz="2400" baseline="-25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457200" indent="-457200">
              <a:buAutoNum type="arabicParenBoth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every observation that falls into the region </a:t>
            </a:r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</a:t>
            </a:r>
            <a:r>
              <a:rPr lang="en-GB" sz="2400" baseline="-250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j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make the same prediction</a:t>
            </a:r>
          </a:p>
          <a:p>
            <a:pPr marL="457200" indent="-457200">
              <a:buAutoNum type="arabicParenBoth"/>
            </a:pP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each predictor j and candidate for splitting value s, we define two regions: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	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and calculate	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A08B37-FC5C-0E22-4831-C51C3DC9B94A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A59B81-2F86-99CA-31D2-0D498ECF7A02}"/>
              </a:ext>
            </a:extLst>
          </p:cNvPr>
          <p:cNvSpPr txBox="1"/>
          <p:nvPr/>
        </p:nvSpPr>
        <p:spPr>
          <a:xfrm>
            <a:off x="6858000" y="599685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AEEA1C-B067-D44F-8C82-E093C607F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803" y="4252774"/>
            <a:ext cx="3505200" cy="355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552BB9-932B-DF35-9EE5-C0F3CC715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999" y="4252774"/>
            <a:ext cx="3683000" cy="355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2ABFA3-2B04-5672-34DB-155BF049CE71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473EDFE-99FC-A083-965C-7425D9903B33}"/>
              </a:ext>
            </a:extLst>
          </p:cNvPr>
          <p:cNvGrpSpPr/>
          <p:nvPr/>
        </p:nvGrpSpPr>
        <p:grpSpPr>
          <a:xfrm>
            <a:off x="405659" y="5939080"/>
            <a:ext cx="11380682" cy="622024"/>
            <a:chOff x="273138" y="5850182"/>
            <a:chExt cx="11380682" cy="62202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78EC469-5E87-2A55-01D0-F9EB286B4D02}"/>
                </a:ext>
              </a:extLst>
            </p:cNvPr>
            <p:cNvSpPr/>
            <p:nvPr/>
          </p:nvSpPr>
          <p:spPr>
            <a:xfrm>
              <a:off x="273138" y="5850182"/>
              <a:ext cx="11380682" cy="622024"/>
            </a:xfrm>
            <a:prstGeom prst="rect">
              <a:avLst/>
            </a:prstGeom>
            <a:solidFill>
              <a:srgbClr val="E8EBE4"/>
            </a:solidFill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A10DFD6-C5F5-CBAE-1259-C724FCC01C97}"/>
                </a:ext>
              </a:extLst>
            </p:cNvPr>
            <p:cNvSpPr txBox="1"/>
            <p:nvPr/>
          </p:nvSpPr>
          <p:spPr>
            <a:xfrm>
              <a:off x="405659" y="5904525"/>
              <a:ext cx="111156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 We use the same </a:t>
              </a:r>
              <a:r>
                <a:rPr lang="en-GB" sz="2400" b="1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  <a:cs typeface="Lato" panose="020F0502020204030203" pitchFamily="34" charset="0"/>
                </a:rPr>
                <a:t>recursive binary splitting</a:t>
              </a:r>
              <a:r>
                <a:rPr lang="en-GB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 from before to construct the regions</a:t>
              </a:r>
              <a:endParaRPr lang="en-FR" sz="2400" dirty="0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67148D89-3F8B-014F-0A3E-450F3F99A5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1182" y="846356"/>
            <a:ext cx="3492500" cy="1016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24B1745-76B5-2342-315E-B4FC58BA8810}"/>
              </a:ext>
            </a:extLst>
          </p:cNvPr>
          <p:cNvSpPr/>
          <p:nvPr/>
        </p:nvSpPr>
        <p:spPr>
          <a:xfrm>
            <a:off x="7768523" y="754770"/>
            <a:ext cx="4017818" cy="1223204"/>
          </a:xfrm>
          <a:prstGeom prst="rect">
            <a:avLst/>
          </a:prstGeom>
          <a:noFill/>
          <a:ln w="50800">
            <a:solidFill>
              <a:srgbClr val="5E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AF55CA8-17A3-9E29-8AD7-25B8702C93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7239" y="4880027"/>
            <a:ext cx="84836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2993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6782B-2F94-4EDE-22E4-73DBDDC21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05FC8E0-2A0C-484D-F483-B54914A85B35}"/>
              </a:ext>
            </a:extLst>
          </p:cNvPr>
          <p:cNvSpPr txBox="1"/>
          <p:nvPr/>
        </p:nvSpPr>
        <p:spPr>
          <a:xfrm>
            <a:off x="552070" y="2120594"/>
            <a:ext cx="10326866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each feature P</a:t>
            </a:r>
            <a:r>
              <a:rPr lang="en-FR" sz="2000" baseline="-25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</a:t>
            </a:r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:</a:t>
            </a:r>
          </a:p>
          <a:p>
            <a:endParaRPr lang="en-FR" sz="2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F</a:t>
            </a:r>
            <a:r>
              <a:rPr lang="en-GB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</a:t>
            </a:r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 each possible split S</a:t>
            </a:r>
            <a:r>
              <a:rPr lang="en-FR" sz="2000" baseline="-25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j</a:t>
            </a:r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:</a:t>
            </a:r>
          </a:p>
          <a:p>
            <a:endParaRPr lang="en-FR" sz="2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	Calculate each one of the K probabilities p</a:t>
            </a:r>
            <a:r>
              <a:rPr lang="en-FR" sz="2000" baseline="-25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</a:t>
            </a:r>
            <a:endParaRPr lang="en-FR" sz="2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FR" sz="2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	Calculate the </a:t>
            </a:r>
            <a:r>
              <a:rPr lang="en-FR" sz="20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variances</a:t>
            </a:r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of each side</a:t>
            </a:r>
          </a:p>
          <a:p>
            <a:endParaRPr lang="en-FR" sz="2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Get the feature P</a:t>
            </a:r>
            <a:r>
              <a:rPr lang="en-FR" sz="2000" baseline="-25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</a:t>
            </a:r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and split S</a:t>
            </a:r>
            <a:r>
              <a:rPr lang="en-FR" sz="2000" baseline="-25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j</a:t>
            </a:r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that yield </a:t>
            </a:r>
            <a:r>
              <a:rPr lang="en-FR" sz="20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minimum total variance</a:t>
            </a:r>
          </a:p>
          <a:p>
            <a:endParaRPr lang="en-FR" sz="2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Split the dataset according to these values</a:t>
            </a:r>
          </a:p>
          <a:p>
            <a:endParaRPr lang="en-FR" sz="2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Continue recursively (stop criterium can be depth of tree, number of points in each leaf, etc)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0AE3E4A-1EA5-AFCA-6B08-B68C4EB911F0}"/>
              </a:ext>
            </a:extLst>
          </p:cNvPr>
          <p:cNvSpPr/>
          <p:nvPr/>
        </p:nvSpPr>
        <p:spPr>
          <a:xfrm>
            <a:off x="8632946" y="3180583"/>
            <a:ext cx="3357454" cy="1528653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86259C-3629-9AFD-6BB8-E73D4EA1E5BB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95DE63-A8C7-B5A6-9384-D629CAFD267D}"/>
              </a:ext>
            </a:extLst>
          </p:cNvPr>
          <p:cNvSpPr txBox="1"/>
          <p:nvPr/>
        </p:nvSpPr>
        <p:spPr>
          <a:xfrm>
            <a:off x="278388" y="855062"/>
            <a:ext cx="11259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algorithm for </a:t>
            </a:r>
            <a:r>
              <a:rPr lang="en-GB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growing a tree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is therefore:</a:t>
            </a:r>
          </a:p>
        </p:txBody>
      </p:sp>
      <p:pic>
        <p:nvPicPr>
          <p:cNvPr id="10" name="Picture 9" descr="A person planting a tree&#10;&#10;Description automatically generated">
            <a:extLst>
              <a:ext uri="{FF2B5EF4-FFF2-40B4-BE49-F238E27FC236}">
                <a16:creationId xmlns:a16="http://schemas.microsoft.com/office/drawing/2014/main" id="{6AA198EC-0492-361C-AF58-A189AFFEE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685" y="855062"/>
            <a:ext cx="2103715" cy="209319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A88A39-D3C2-DA60-12EF-296BC806BA60}"/>
              </a:ext>
            </a:extLst>
          </p:cNvPr>
          <p:cNvSpPr txBox="1"/>
          <p:nvPr/>
        </p:nvSpPr>
        <p:spPr>
          <a:xfrm>
            <a:off x="552069" y="1545985"/>
            <a:ext cx="90865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Start with dataset       with N points of P dimensions and K classes</a:t>
            </a:r>
            <a:endParaRPr lang="en-FR" sz="20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A6A9860-666E-8A83-EEB4-14E1A5DF0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4862" y="1626047"/>
            <a:ext cx="254000" cy="241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A0BCB27-B706-5893-65A8-3EA27A2297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8573" y="3803882"/>
            <a:ext cx="1346200" cy="3429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20224F8-7795-4248-AB13-8E14B56F752D}"/>
              </a:ext>
            </a:extLst>
          </p:cNvPr>
          <p:cNvSpPr txBox="1"/>
          <p:nvPr/>
        </p:nvSpPr>
        <p:spPr>
          <a:xfrm>
            <a:off x="8823124" y="3290828"/>
            <a:ext cx="297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algorithm complexity 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8C2FB4-5D15-9997-FA91-C12614FE8B83}"/>
              </a:ext>
            </a:extLst>
          </p:cNvPr>
          <p:cNvSpPr txBox="1"/>
          <p:nvPr/>
        </p:nvSpPr>
        <p:spPr>
          <a:xfrm>
            <a:off x="9176585" y="4227467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</a:t>
            </a:r>
            <a:r>
              <a:rPr lang="en-FR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ut can be improved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5DD9AC-BA68-E383-326F-7685A26CCBF6}"/>
              </a:ext>
            </a:extLst>
          </p:cNvPr>
          <p:cNvSpPr/>
          <p:nvPr/>
        </p:nvSpPr>
        <p:spPr>
          <a:xfrm>
            <a:off x="391779" y="1473433"/>
            <a:ext cx="77347" cy="492810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21C0A-8A5B-ED0A-66E7-13C24C979261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3214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45B6C-5D78-2327-333A-6ADAC699D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C2F7CA-5B5A-991D-7D32-A973FE8496FF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371402-1E6F-6C8D-DEE7-6D46F2074BCE}"/>
              </a:ext>
            </a:extLst>
          </p:cNvPr>
          <p:cNvSpPr txBox="1"/>
          <p:nvPr/>
        </p:nvSpPr>
        <p:spPr>
          <a:xfrm>
            <a:off x="278387" y="855062"/>
            <a:ext cx="117889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Decision trees can also be used for </a:t>
            </a:r>
            <a:r>
              <a:rPr lang="en-GB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regression</a:t>
            </a:r>
            <a:endParaRPr lang="en-GB" sz="2400" dirty="0">
              <a:solidFill>
                <a:srgbClr val="FF000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9E61BD-343A-6BD9-EC0D-583CCBC0CBCF}"/>
              </a:ext>
            </a:extLst>
          </p:cNvPr>
          <p:cNvSpPr txBox="1"/>
          <p:nvPr/>
        </p:nvSpPr>
        <p:spPr>
          <a:xfrm>
            <a:off x="278387" y="1512943"/>
            <a:ext cx="8376006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Take for example the </a:t>
            </a:r>
            <a:r>
              <a:rPr lang="en-GB" sz="2400" dirty="0">
                <a:solidFill>
                  <a:srgbClr val="5E5E5E"/>
                </a:solidFill>
                <a:latin typeface="Courier New" panose="02070309020205020404" pitchFamily="49" charset="0"/>
                <a:ea typeface="Roboto Light" panose="02000000000000000000" pitchFamily="2" charset="0"/>
                <a:cs typeface="Courier New" panose="02070309020205020404" pitchFamily="49" charset="0"/>
              </a:rPr>
              <a:t>hitters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dataset in which</a:t>
            </a:r>
            <a:br>
              <a:rPr lang="en-GB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</a:b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try to predict the salary of a baseball player </a:t>
            </a:r>
            <a:b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</a:b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based 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number of years that he has played in major leagues and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number of hits that he made in the previous year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solidFill>
                <a:srgbClr val="FF000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7" name="Picture 6" descr="A baseball player swinging his bat&#10;&#10;Description automatically generated">
            <a:extLst>
              <a:ext uri="{FF2B5EF4-FFF2-40B4-BE49-F238E27FC236}">
                <a16:creationId xmlns:a16="http://schemas.microsoft.com/office/drawing/2014/main" id="{5989D9F4-7740-3AF7-1EE1-14A71BEFCF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232" r="10485"/>
          <a:stretch/>
        </p:blipFill>
        <p:spPr>
          <a:xfrm>
            <a:off x="2056467" y="4005933"/>
            <a:ext cx="3226653" cy="2410878"/>
          </a:xfrm>
          <a:prstGeom prst="rect">
            <a:avLst/>
          </a:prstGeom>
        </p:spPr>
      </p:pic>
      <p:pic>
        <p:nvPicPr>
          <p:cNvPr id="9" name="Picture 8" descr="A chart with many colored dots&#10;&#10;Description automatically generated">
            <a:extLst>
              <a:ext uri="{FF2B5EF4-FFF2-40B4-BE49-F238E27FC236}">
                <a16:creationId xmlns:a16="http://schemas.microsoft.com/office/drawing/2014/main" id="{5FA0E00E-2809-FC97-7414-BF739C0CE6F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096" b="6433"/>
          <a:stretch/>
        </p:blipFill>
        <p:spPr>
          <a:xfrm>
            <a:off x="7061200" y="2203363"/>
            <a:ext cx="4891413" cy="42983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7F8E4A-19C8-979C-7682-1FE0AE9CEA0F}"/>
              </a:ext>
            </a:extLst>
          </p:cNvPr>
          <p:cNvSpPr txBox="1"/>
          <p:nvPr/>
        </p:nvSpPr>
        <p:spPr>
          <a:xfrm rot="16200000">
            <a:off x="6586230" y="4007097"/>
            <a:ext cx="5806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850F32-C17B-C65C-B800-4F6FECBD4AB5}"/>
              </a:ext>
            </a:extLst>
          </p:cNvPr>
          <p:cNvSpPr txBox="1"/>
          <p:nvPr/>
        </p:nvSpPr>
        <p:spPr>
          <a:xfrm>
            <a:off x="6458906" y="644375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FR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YEARS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88A829-C214-AC28-43F9-727FBC0C144C}"/>
              </a:ext>
            </a:extLst>
          </p:cNvPr>
          <p:cNvSpPr txBox="1"/>
          <p:nvPr/>
        </p:nvSpPr>
        <p:spPr>
          <a:xfrm>
            <a:off x="8902089" y="1512943"/>
            <a:ext cx="2654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Salaries are color-coded from </a:t>
            </a:r>
          </a:p>
          <a:p>
            <a:r>
              <a:rPr lang="en-FR" sz="1400" b="1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low (blue) </a:t>
            </a:r>
            <a:r>
              <a:rPr lang="en-FR" sz="1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to</a:t>
            </a:r>
            <a:r>
              <a:rPr lang="en-FR" sz="1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 </a:t>
            </a:r>
            <a:r>
              <a:rPr lang="en-FR" sz="14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high (red)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802399D1-9F4C-FA8D-6F55-B6F3F1B302BE}"/>
              </a:ext>
            </a:extLst>
          </p:cNvPr>
          <p:cNvCxnSpPr>
            <a:cxnSpLocks/>
          </p:cNvCxnSpPr>
          <p:nvPr/>
        </p:nvCxnSpPr>
        <p:spPr>
          <a:xfrm rot="5400000">
            <a:off x="8637590" y="1808481"/>
            <a:ext cx="232323" cy="165902"/>
          </a:xfrm>
          <a:prstGeom prst="bentConnector3">
            <a:avLst>
              <a:gd name="adj1" fmla="val 5469"/>
            </a:avLst>
          </a:prstGeom>
          <a:ln w="25400">
            <a:solidFill>
              <a:srgbClr val="5E5E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367B7F0-CA0D-5DA2-392E-49A4FC36CDDA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7727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96463-BF0E-E3AD-7AA3-3731383B7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DF27C4F-8152-1563-D01F-C19EC8A3037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D9691F-A858-2CD8-7DB8-A49D3760C0D4}"/>
              </a:ext>
            </a:extLst>
          </p:cNvPr>
          <p:cNvSpPr txBox="1"/>
          <p:nvPr/>
        </p:nvSpPr>
        <p:spPr>
          <a:xfrm>
            <a:off x="278387" y="855062"/>
            <a:ext cx="117889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Decision trees can also be used for </a:t>
            </a:r>
            <a:r>
              <a:rPr lang="en-GB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regression</a:t>
            </a:r>
            <a:endParaRPr lang="en-GB" sz="2400" dirty="0">
              <a:solidFill>
                <a:srgbClr val="FF000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7" name="Picture 6" descr="A baseball player swinging his bat&#10;&#10;Description automatically generated">
            <a:extLst>
              <a:ext uri="{FF2B5EF4-FFF2-40B4-BE49-F238E27FC236}">
                <a16:creationId xmlns:a16="http://schemas.microsoft.com/office/drawing/2014/main" id="{7024E71C-00AB-E266-FD96-AAB6457110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232" r="10485"/>
          <a:stretch/>
        </p:blipFill>
        <p:spPr>
          <a:xfrm>
            <a:off x="2056467" y="4005933"/>
            <a:ext cx="3226653" cy="24108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0F4F6F-4CDB-6F7A-0C8C-5635B55B8927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47477C-7838-00AB-82C5-AB0A5833F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6788" y="1632612"/>
            <a:ext cx="4800520" cy="48005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2D75324-2F59-097F-C824-294E991DA924}"/>
              </a:ext>
            </a:extLst>
          </p:cNvPr>
          <p:cNvSpPr txBox="1"/>
          <p:nvPr/>
        </p:nvSpPr>
        <p:spPr>
          <a:xfrm>
            <a:off x="7995262" y="6398912"/>
            <a:ext cx="29306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NB: we took the log of the salaries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10C2C5-6731-1B7C-01E8-9B1392F6BE71}"/>
              </a:ext>
            </a:extLst>
          </p:cNvPr>
          <p:cNvSpPr txBox="1"/>
          <p:nvPr/>
        </p:nvSpPr>
        <p:spPr>
          <a:xfrm>
            <a:off x="278387" y="1512943"/>
            <a:ext cx="8376006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Take for example the </a:t>
            </a:r>
            <a:r>
              <a:rPr lang="en-GB" sz="2400" dirty="0">
                <a:solidFill>
                  <a:srgbClr val="5E5E5E"/>
                </a:solidFill>
                <a:latin typeface="Courier New" panose="02070309020205020404" pitchFamily="49" charset="0"/>
                <a:ea typeface="Roboto Light" panose="02000000000000000000" pitchFamily="2" charset="0"/>
                <a:cs typeface="Courier New" panose="02070309020205020404" pitchFamily="49" charset="0"/>
              </a:rPr>
              <a:t>hitters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dataset in which</a:t>
            </a:r>
            <a:br>
              <a:rPr lang="en-GB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</a:b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try to predict the salary of a baseball player </a:t>
            </a:r>
            <a:b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</a:b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based 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number of years that he has played in major leagues and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number of hits that he made in the previous year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solidFill>
                <a:srgbClr val="FF000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5535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E74CBF-56DC-0732-05B5-4186AB20BA9A}"/>
              </a:ext>
            </a:extLst>
          </p:cNvPr>
          <p:cNvSpPr txBox="1"/>
          <p:nvPr/>
        </p:nvSpPr>
        <p:spPr>
          <a:xfrm>
            <a:off x="6858000" y="6070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21F85A-8E7E-0AF0-16A9-B76C292D5DC8}"/>
              </a:ext>
            </a:extLst>
          </p:cNvPr>
          <p:cNvSpPr txBox="1"/>
          <p:nvPr/>
        </p:nvSpPr>
        <p:spPr>
          <a:xfrm>
            <a:off x="278387" y="1518273"/>
            <a:ext cx="1219199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Trees are very easy to explain to people, even more than regression!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Some say that decision trees mirror more closely human decision-making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Trees can be displayed graphically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Trees can easily/naturally handle categorical predictors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9E904BC2-1828-B605-247F-C5464944109E}"/>
              </a:ext>
            </a:extLst>
          </p:cNvPr>
          <p:cNvSpPr/>
          <p:nvPr/>
        </p:nvSpPr>
        <p:spPr>
          <a:xfrm>
            <a:off x="278388" y="1609344"/>
            <a:ext cx="268712" cy="231648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7D15F089-9619-1C23-43A5-9B65B8168072}"/>
              </a:ext>
            </a:extLst>
          </p:cNvPr>
          <p:cNvSpPr/>
          <p:nvPr/>
        </p:nvSpPr>
        <p:spPr>
          <a:xfrm>
            <a:off x="278388" y="2276889"/>
            <a:ext cx="268712" cy="231648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09A6D8C1-4E3D-8F4A-86B0-C01BACB81D8E}"/>
              </a:ext>
            </a:extLst>
          </p:cNvPr>
          <p:cNvSpPr/>
          <p:nvPr/>
        </p:nvSpPr>
        <p:spPr>
          <a:xfrm>
            <a:off x="278388" y="3092958"/>
            <a:ext cx="268712" cy="231648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1F9A47F9-2DCC-947B-05AF-95D89B64ED83}"/>
              </a:ext>
            </a:extLst>
          </p:cNvPr>
          <p:cNvSpPr/>
          <p:nvPr/>
        </p:nvSpPr>
        <p:spPr>
          <a:xfrm>
            <a:off x="278388" y="3816191"/>
            <a:ext cx="268712" cy="231648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CC703-28EE-7AD7-20AB-C2F2C943AC01}"/>
              </a:ext>
            </a:extLst>
          </p:cNvPr>
          <p:cNvSpPr txBox="1"/>
          <p:nvPr/>
        </p:nvSpPr>
        <p:spPr>
          <a:xfrm>
            <a:off x="278387" y="855062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summary, decision trees have many </a:t>
            </a:r>
            <a:r>
              <a:rPr lang="en-GB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advantages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vs other approaches we’ve seen</a:t>
            </a:r>
            <a:endParaRPr lang="en-GB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F889A8-7A27-110D-E731-756B2BFAF267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4220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B32CC-E637-FA92-5DF7-FB9FAA944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3CE862-1D90-2C86-E6B8-C9DAC489C202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7D13D0-E9FF-7527-23C8-698AD2ADC216}"/>
              </a:ext>
            </a:extLst>
          </p:cNvPr>
          <p:cNvSpPr txBox="1"/>
          <p:nvPr/>
        </p:nvSpPr>
        <p:spPr>
          <a:xfrm>
            <a:off x="6858000" y="6070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7C534D-13C8-EBE4-3742-1378FEDF4C77}"/>
              </a:ext>
            </a:extLst>
          </p:cNvPr>
          <p:cNvSpPr txBox="1"/>
          <p:nvPr/>
        </p:nvSpPr>
        <p:spPr>
          <a:xfrm>
            <a:off x="278387" y="1518273"/>
            <a:ext cx="1219199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Trees are very easy to explain to people, even more than regression!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Some say that decision trees mirror more closely human decision-making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Trees can be displayed graphically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Trees can easily/naturally handle categorical predictors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However, they also have some important </a:t>
            </a:r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disadvantages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They do not have the same level of accuracy as other approaches we’ve seen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Trees can be very non-robust to small changes in the training set</a:t>
            </a:r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98F010C0-B7D8-0239-A9DC-0D952F94E415}"/>
              </a:ext>
            </a:extLst>
          </p:cNvPr>
          <p:cNvSpPr/>
          <p:nvPr/>
        </p:nvSpPr>
        <p:spPr>
          <a:xfrm>
            <a:off x="278388" y="1609344"/>
            <a:ext cx="268712" cy="231648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85102EFD-741D-F69E-F851-8120E30D21BE}"/>
              </a:ext>
            </a:extLst>
          </p:cNvPr>
          <p:cNvSpPr/>
          <p:nvPr/>
        </p:nvSpPr>
        <p:spPr>
          <a:xfrm>
            <a:off x="278388" y="2276889"/>
            <a:ext cx="268712" cy="231648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85A59370-A39F-DB1C-A3BF-40A60D70B519}"/>
              </a:ext>
            </a:extLst>
          </p:cNvPr>
          <p:cNvSpPr/>
          <p:nvPr/>
        </p:nvSpPr>
        <p:spPr>
          <a:xfrm>
            <a:off x="278388" y="3092958"/>
            <a:ext cx="268712" cy="231648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21C4A34E-AF9D-749D-D5F8-B2C1B6335D69}"/>
              </a:ext>
            </a:extLst>
          </p:cNvPr>
          <p:cNvSpPr/>
          <p:nvPr/>
        </p:nvSpPr>
        <p:spPr>
          <a:xfrm>
            <a:off x="278388" y="3816191"/>
            <a:ext cx="268712" cy="231648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8" name="Triangle 17">
            <a:extLst>
              <a:ext uri="{FF2B5EF4-FFF2-40B4-BE49-F238E27FC236}">
                <a16:creationId xmlns:a16="http://schemas.microsoft.com/office/drawing/2014/main" id="{F8B655BF-8022-505F-6174-8A90E8050D13}"/>
              </a:ext>
            </a:extLst>
          </p:cNvPr>
          <p:cNvSpPr/>
          <p:nvPr/>
        </p:nvSpPr>
        <p:spPr>
          <a:xfrm rot="10800000">
            <a:off x="278388" y="5297306"/>
            <a:ext cx="268712" cy="231648"/>
          </a:xfrm>
          <a:prstGeom prst="triangl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C7039321-9371-FA2C-0F32-1BD45FE8737B}"/>
              </a:ext>
            </a:extLst>
          </p:cNvPr>
          <p:cNvSpPr/>
          <p:nvPr/>
        </p:nvSpPr>
        <p:spPr>
          <a:xfrm rot="10800000">
            <a:off x="278388" y="6061297"/>
            <a:ext cx="268712" cy="231648"/>
          </a:xfrm>
          <a:prstGeom prst="triangl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467CAB-BDE3-27CD-F97D-F51799B79B35}"/>
              </a:ext>
            </a:extLst>
          </p:cNvPr>
          <p:cNvSpPr txBox="1"/>
          <p:nvPr/>
        </p:nvSpPr>
        <p:spPr>
          <a:xfrm>
            <a:off x="278387" y="855062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summary, decision trees have many </a:t>
            </a:r>
            <a:r>
              <a:rPr lang="en-GB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advantages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vs other approaches we’ve seen</a:t>
            </a:r>
            <a:endParaRPr lang="en-GB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C2093C-8F2C-8581-4169-158ED9A8D05D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915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3A2080-70C6-80CC-0921-D5F725992FC2}"/>
              </a:ext>
            </a:extLst>
          </p:cNvPr>
          <p:cNvSpPr txBox="1"/>
          <p:nvPr/>
        </p:nvSpPr>
        <p:spPr>
          <a:xfrm>
            <a:off x="240033" y="855062"/>
            <a:ext cx="119136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Consider the two moons dataset. 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Simulate </a:t>
            </a:r>
            <a:r>
              <a:rPr lang="en-GB" sz="2400" u="sng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three different training datasets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with 200 points and one test set with 1000.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scatter dots are points from the test set and the boundary is for a </a:t>
            </a:r>
            <a:r>
              <a:rPr lang="en-GB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 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AE9A9E9-9D81-3CE9-9C66-D4F464E20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3" y="2934691"/>
            <a:ext cx="11198870" cy="34458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7D58F3-B06F-8025-D03C-D7E9D6E1D3F6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 trees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1857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7941FF0-CA08-11F3-5BD5-CCA4D9A292C3}"/>
              </a:ext>
            </a:extLst>
          </p:cNvPr>
          <p:cNvSpPr txBox="1"/>
          <p:nvPr/>
        </p:nvSpPr>
        <p:spPr>
          <a:xfrm>
            <a:off x="240033" y="4308947"/>
            <a:ext cx="10326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here the        are IID realizations of the distribution generating the dataset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918E77-0341-8CAA-2B3D-7FF65B10BC97}"/>
              </a:ext>
            </a:extLst>
          </p:cNvPr>
          <p:cNvSpPr txBox="1"/>
          <p:nvPr/>
        </p:nvSpPr>
        <p:spPr>
          <a:xfrm>
            <a:off x="240033" y="746721"/>
            <a:ext cx="93538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Note that the variance of an estimator along different training sets 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1508DF-B2A0-F505-FE5C-1C2373DF266C}"/>
              </a:ext>
            </a:extLst>
          </p:cNvPr>
          <p:cNvSpPr txBox="1"/>
          <p:nvPr/>
        </p:nvSpPr>
        <p:spPr>
          <a:xfrm>
            <a:off x="240033" y="2506615"/>
            <a:ext cx="11703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Note that we could try to reduce the variance by proposing a </a:t>
            </a:r>
            <a:r>
              <a:rPr lang="en-FR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meta-estimator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given by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F78974-CB67-3D33-F59C-4B9C636D5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371" y="4405768"/>
            <a:ext cx="393700" cy="2921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2B669F8-E049-F8D0-AFE4-F7B357BD8DF9}"/>
              </a:ext>
            </a:extLst>
          </p:cNvPr>
          <p:cNvSpPr txBox="1"/>
          <p:nvPr/>
        </p:nvSpPr>
        <p:spPr>
          <a:xfrm>
            <a:off x="240033" y="5237572"/>
            <a:ext cx="1526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Question: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3ECB751-9E85-656D-843E-1DB497C13A19}"/>
              </a:ext>
            </a:extLst>
          </p:cNvPr>
          <p:cNvGrpSpPr/>
          <p:nvPr/>
        </p:nvGrpSpPr>
        <p:grpSpPr>
          <a:xfrm>
            <a:off x="1797083" y="5084775"/>
            <a:ext cx="9228208" cy="757237"/>
            <a:chOff x="1644069" y="4347903"/>
            <a:chExt cx="9228208" cy="757237"/>
          </a:xfrm>
        </p:grpSpPr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4C0EFEAE-44D0-BF14-1407-2F16ED3280D4}"/>
                </a:ext>
              </a:extLst>
            </p:cNvPr>
            <p:cNvSpPr/>
            <p:nvPr/>
          </p:nvSpPr>
          <p:spPr>
            <a:xfrm>
              <a:off x="1644069" y="4347903"/>
              <a:ext cx="9228208" cy="757237"/>
            </a:xfrm>
            <a:prstGeom prst="roundRect">
              <a:avLst/>
            </a:prstGeom>
            <a:solidFill>
              <a:srgbClr val="E8EBE4"/>
            </a:solidFill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8FE7A39-E33C-3330-EF0F-0D05DA9B9E52}"/>
                </a:ext>
              </a:extLst>
            </p:cNvPr>
            <p:cNvSpPr txBox="1"/>
            <p:nvPr/>
          </p:nvSpPr>
          <p:spPr>
            <a:xfrm>
              <a:off x="1768503" y="4514988"/>
              <a:ext cx="91037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How can we do this in practice if we have a fixed training dataset?</a:t>
              </a:r>
              <a:endPara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F90822AC-4561-7581-074B-6FD051742C0E}"/>
              </a:ext>
            </a:extLst>
          </p:cNvPr>
          <p:cNvSpPr txBox="1"/>
          <p:nvPr/>
        </p:nvSpPr>
        <p:spPr>
          <a:xfrm>
            <a:off x="240033" y="6111279"/>
            <a:ext cx="119507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Helvetica Neue" panose="02000503000000020004" pitchFamily="2" charset="0"/>
              <a:buChar char="⮑"/>
            </a:pP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Splitting the dataset would yield IID sub-datasets, but would not work well -- Why ?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BBA7F6-F6BF-0F11-5C6B-4443A4C268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2602" y="1355850"/>
            <a:ext cx="7327900" cy="1003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56491F-D262-E20F-C566-AD7B3D57AA4C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Ensemble methods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B4A681-3109-B8CC-C339-3862C8D1B1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5955" y="3135365"/>
            <a:ext cx="71120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1374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963C97-C617-F1AE-8FB2-D6F03298AA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39D1E89-82FA-1F14-4B7F-22DB384CC884}"/>
              </a:ext>
            </a:extLst>
          </p:cNvPr>
          <p:cNvSpPr txBox="1"/>
          <p:nvPr/>
        </p:nvSpPr>
        <p:spPr>
          <a:xfrm>
            <a:off x="240033" y="825046"/>
            <a:ext cx="10189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use 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bootstrap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: generate M datasets by sampling      with replacement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9C552C-B128-08D2-0EB4-0F4C52FDC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977" y="919839"/>
            <a:ext cx="254000" cy="24130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81C7F84F-8239-D231-E542-40442C60E0EC}"/>
              </a:ext>
            </a:extLst>
          </p:cNvPr>
          <p:cNvGrpSpPr/>
          <p:nvPr/>
        </p:nvGrpSpPr>
        <p:grpSpPr>
          <a:xfrm>
            <a:off x="3748840" y="1495457"/>
            <a:ext cx="3657137" cy="1712983"/>
            <a:chOff x="3426994" y="1539440"/>
            <a:chExt cx="3657137" cy="1712983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8451D1B-6BB9-B00B-8069-950C17161C6E}"/>
                </a:ext>
              </a:extLst>
            </p:cNvPr>
            <p:cNvGrpSpPr/>
            <p:nvPr/>
          </p:nvGrpSpPr>
          <p:grpSpPr>
            <a:xfrm>
              <a:off x="4261476" y="1774668"/>
              <a:ext cx="2634532" cy="1359049"/>
              <a:chOff x="4447213" y="1735414"/>
              <a:chExt cx="2634532" cy="1359049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5012500-1A18-7944-60E5-6044FEF61963}"/>
                  </a:ext>
                </a:extLst>
              </p:cNvPr>
              <p:cNvSpPr/>
              <p:nvPr/>
            </p:nvSpPr>
            <p:spPr>
              <a:xfrm>
                <a:off x="5922078" y="2109305"/>
                <a:ext cx="257175" cy="2571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EEAFF72-CB60-81E1-CA56-021F12BFF860}"/>
                  </a:ext>
                </a:extLst>
              </p:cNvPr>
              <p:cNvSpPr/>
              <p:nvPr/>
            </p:nvSpPr>
            <p:spPr>
              <a:xfrm>
                <a:off x="6431666" y="2237892"/>
                <a:ext cx="257175" cy="257175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FACE3BD4-A1B1-9A6B-71BD-72546CCEDD26}"/>
                  </a:ext>
                </a:extLst>
              </p:cNvPr>
              <p:cNvSpPr/>
              <p:nvPr/>
            </p:nvSpPr>
            <p:spPr>
              <a:xfrm>
                <a:off x="6172110" y="2513518"/>
                <a:ext cx="257175" cy="25717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F915F63-2BA3-D7AA-F5A8-46430C645905}"/>
                  </a:ext>
                </a:extLst>
              </p:cNvPr>
              <p:cNvSpPr/>
              <p:nvPr/>
            </p:nvSpPr>
            <p:spPr>
              <a:xfrm>
                <a:off x="5664903" y="2521844"/>
                <a:ext cx="257175" cy="257175"/>
              </a:xfrm>
              <a:prstGeom prst="ellipse">
                <a:avLst/>
              </a:prstGeom>
              <a:solidFill>
                <a:srgbClr val="02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A3560B4E-93D5-20DE-BCB3-776C49D3C907}"/>
                  </a:ext>
                </a:extLst>
              </p:cNvPr>
              <p:cNvSpPr/>
              <p:nvPr/>
            </p:nvSpPr>
            <p:spPr>
              <a:xfrm>
                <a:off x="5252951" y="1782090"/>
                <a:ext cx="257175" cy="25717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02CE742-8284-9339-7696-B32439D9BB96}"/>
                  </a:ext>
                </a:extLst>
              </p:cNvPr>
              <p:cNvSpPr/>
              <p:nvPr/>
            </p:nvSpPr>
            <p:spPr>
              <a:xfrm>
                <a:off x="6300697" y="1825856"/>
                <a:ext cx="257175" cy="257175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4ACBA3A-CC54-D34E-B399-D2825778ECA3}"/>
                  </a:ext>
                </a:extLst>
              </p:cNvPr>
              <p:cNvSpPr/>
              <p:nvPr/>
            </p:nvSpPr>
            <p:spPr>
              <a:xfrm>
                <a:off x="6824570" y="1942687"/>
                <a:ext cx="257175" cy="257175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FA55818-F0F3-2C9C-188D-12D6EA15BB65}"/>
                  </a:ext>
                </a:extLst>
              </p:cNvPr>
              <p:cNvSpPr/>
              <p:nvPr/>
            </p:nvSpPr>
            <p:spPr>
              <a:xfrm>
                <a:off x="5776824" y="1735414"/>
                <a:ext cx="257175" cy="257175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6A59181-2873-0DA8-05C2-2F5EB4A26F0A}"/>
                  </a:ext>
                </a:extLst>
              </p:cNvPr>
              <p:cNvSpPr/>
              <p:nvPr/>
            </p:nvSpPr>
            <p:spPr>
              <a:xfrm>
                <a:off x="5444744" y="2121792"/>
                <a:ext cx="257175" cy="257175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D1D1A991-E643-88AC-4D59-C26A3EE68955}"/>
                  </a:ext>
                </a:extLst>
              </p:cNvPr>
              <p:cNvSpPr/>
              <p:nvPr/>
            </p:nvSpPr>
            <p:spPr>
              <a:xfrm>
                <a:off x="5247104" y="2521844"/>
                <a:ext cx="257175" cy="257175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83D1B19-EF91-14D4-D034-522F019D6A5D}"/>
                  </a:ext>
                </a:extLst>
              </p:cNvPr>
              <p:cNvSpPr/>
              <p:nvPr/>
            </p:nvSpPr>
            <p:spPr>
              <a:xfrm>
                <a:off x="6527998" y="2684377"/>
                <a:ext cx="257175" cy="25717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5B25630-9D28-E611-ECD9-97A64F155172}"/>
                  </a:ext>
                </a:extLst>
              </p:cNvPr>
              <p:cNvSpPr/>
              <p:nvPr/>
            </p:nvSpPr>
            <p:spPr>
              <a:xfrm>
                <a:off x="4961563" y="2126623"/>
                <a:ext cx="257175" cy="257175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D4B4074-1F08-9AA1-CAA6-6D3D8C8C5073}"/>
                  </a:ext>
                </a:extLst>
              </p:cNvPr>
              <p:cNvSpPr/>
              <p:nvPr/>
            </p:nvSpPr>
            <p:spPr>
              <a:xfrm>
                <a:off x="5887551" y="2837288"/>
                <a:ext cx="257175" cy="25717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1B48AE4A-8849-3937-BE44-225A73F780CB}"/>
                  </a:ext>
                </a:extLst>
              </p:cNvPr>
              <p:cNvSpPr/>
              <p:nvPr/>
            </p:nvSpPr>
            <p:spPr>
              <a:xfrm>
                <a:off x="4447213" y="2356678"/>
                <a:ext cx="257175" cy="25717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8C112D38-A119-A1F0-2405-2FCD8BC267DF}"/>
                  </a:ext>
                </a:extLst>
              </p:cNvPr>
              <p:cNvSpPr/>
              <p:nvPr/>
            </p:nvSpPr>
            <p:spPr>
              <a:xfrm>
                <a:off x="4820425" y="2686678"/>
                <a:ext cx="257175" cy="257175"/>
              </a:xfrm>
              <a:prstGeom prst="ellipse">
                <a:avLst/>
              </a:prstGeom>
              <a:solidFill>
                <a:srgbClr val="02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4008C974-D470-85B9-DA4B-12907FF43C68}"/>
                  </a:ext>
                </a:extLst>
              </p:cNvPr>
              <p:cNvSpPr/>
              <p:nvPr/>
            </p:nvSpPr>
            <p:spPr>
              <a:xfrm>
                <a:off x="4704388" y="1782089"/>
                <a:ext cx="257175" cy="25717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</p:grp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E41F50A2-9556-11DE-7111-0261905C2D0A}"/>
                </a:ext>
              </a:extLst>
            </p:cNvPr>
            <p:cNvSpPr/>
            <p:nvPr/>
          </p:nvSpPr>
          <p:spPr>
            <a:xfrm>
              <a:off x="4098043" y="1539440"/>
              <a:ext cx="2986088" cy="1712983"/>
            </a:xfrm>
            <a:prstGeom prst="round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50A4D2D1-FC28-EF0B-9CA9-7711FB941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26994" y="2239116"/>
              <a:ext cx="254000" cy="24130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BD4906F-AFD0-7471-B938-8CFCB7B38318}"/>
                </a:ext>
              </a:extLst>
            </p:cNvPr>
            <p:cNvSpPr txBox="1"/>
            <p:nvPr/>
          </p:nvSpPr>
          <p:spPr>
            <a:xfrm>
              <a:off x="3688259" y="2097758"/>
              <a:ext cx="378630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600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=</a:t>
              </a: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7DE90728-A733-360D-39D0-882444C10022}"/>
              </a:ext>
            </a:extLst>
          </p:cNvPr>
          <p:cNvSpPr txBox="1"/>
          <p:nvPr/>
        </p:nvSpPr>
        <p:spPr>
          <a:xfrm>
            <a:off x="5303948" y="3835572"/>
            <a:ext cx="5309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3600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…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198A8DD-9E5D-D543-A5FF-B2FB2C705726}"/>
              </a:ext>
            </a:extLst>
          </p:cNvPr>
          <p:cNvGrpSpPr/>
          <p:nvPr/>
        </p:nvGrpSpPr>
        <p:grpSpPr>
          <a:xfrm>
            <a:off x="5983269" y="3534110"/>
            <a:ext cx="3923837" cy="1712983"/>
            <a:chOff x="5977537" y="3607070"/>
            <a:chExt cx="3923837" cy="1712983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39FA1E5E-75D6-B466-4072-B9933A57E64A}"/>
                </a:ext>
              </a:extLst>
            </p:cNvPr>
            <p:cNvGrpSpPr/>
            <p:nvPr/>
          </p:nvGrpSpPr>
          <p:grpSpPr>
            <a:xfrm>
              <a:off x="7078719" y="3842298"/>
              <a:ext cx="2634532" cy="1359049"/>
              <a:chOff x="4447213" y="1735414"/>
              <a:chExt cx="2634532" cy="1359049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E13DB15-6B51-11EF-333E-ACD458CA998A}"/>
                  </a:ext>
                </a:extLst>
              </p:cNvPr>
              <p:cNvSpPr/>
              <p:nvPr/>
            </p:nvSpPr>
            <p:spPr>
              <a:xfrm>
                <a:off x="5922078" y="2109305"/>
                <a:ext cx="257175" cy="2571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41C19114-DAC0-D163-39B8-DDF42595E78A}"/>
                  </a:ext>
                </a:extLst>
              </p:cNvPr>
              <p:cNvSpPr/>
              <p:nvPr/>
            </p:nvSpPr>
            <p:spPr>
              <a:xfrm>
                <a:off x="6431666" y="2237892"/>
                <a:ext cx="257175" cy="257175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DDAD5F33-0193-BE3A-134C-7173967F0CF8}"/>
                  </a:ext>
                </a:extLst>
              </p:cNvPr>
              <p:cNvSpPr/>
              <p:nvPr/>
            </p:nvSpPr>
            <p:spPr>
              <a:xfrm>
                <a:off x="6172110" y="2513518"/>
                <a:ext cx="257175" cy="25717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F4E53B1F-5A94-C7D6-353B-87A541F8E360}"/>
                  </a:ext>
                </a:extLst>
              </p:cNvPr>
              <p:cNvSpPr/>
              <p:nvPr/>
            </p:nvSpPr>
            <p:spPr>
              <a:xfrm>
                <a:off x="5664903" y="2521844"/>
                <a:ext cx="257175" cy="257175"/>
              </a:xfrm>
              <a:prstGeom prst="ellipse">
                <a:avLst/>
              </a:prstGeom>
              <a:solidFill>
                <a:srgbClr val="02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501BA12-F3E0-0005-9A16-83BFC4CA4F10}"/>
                  </a:ext>
                </a:extLst>
              </p:cNvPr>
              <p:cNvSpPr/>
              <p:nvPr/>
            </p:nvSpPr>
            <p:spPr>
              <a:xfrm>
                <a:off x="5252951" y="1782090"/>
                <a:ext cx="257175" cy="25717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8A0BB564-929A-1281-E13C-42ECCF36745D}"/>
                  </a:ext>
                </a:extLst>
              </p:cNvPr>
              <p:cNvSpPr/>
              <p:nvPr/>
            </p:nvSpPr>
            <p:spPr>
              <a:xfrm>
                <a:off x="6300697" y="1825856"/>
                <a:ext cx="257175" cy="257175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A39515B6-F657-3E95-CA1E-2586BCC26A79}"/>
                  </a:ext>
                </a:extLst>
              </p:cNvPr>
              <p:cNvSpPr/>
              <p:nvPr/>
            </p:nvSpPr>
            <p:spPr>
              <a:xfrm>
                <a:off x="6824570" y="1942687"/>
                <a:ext cx="257175" cy="257175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A4B6A26A-A6B7-96AA-797E-EAD4ADCD35AF}"/>
                  </a:ext>
                </a:extLst>
              </p:cNvPr>
              <p:cNvSpPr/>
              <p:nvPr/>
            </p:nvSpPr>
            <p:spPr>
              <a:xfrm>
                <a:off x="5776824" y="1735414"/>
                <a:ext cx="257175" cy="257175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B603E1D8-2451-65E8-9E81-4AFB06D70CA7}"/>
                  </a:ext>
                </a:extLst>
              </p:cNvPr>
              <p:cNvSpPr/>
              <p:nvPr/>
            </p:nvSpPr>
            <p:spPr>
              <a:xfrm>
                <a:off x="5444744" y="2121792"/>
                <a:ext cx="257175" cy="257175"/>
              </a:xfrm>
              <a:prstGeom prst="ellipse">
                <a:avLst/>
              </a:prstGeom>
              <a:solidFill>
                <a:srgbClr val="FA274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3241D2FF-D4EE-7C74-CABF-140C936C9DC8}"/>
                  </a:ext>
                </a:extLst>
              </p:cNvPr>
              <p:cNvSpPr/>
              <p:nvPr/>
            </p:nvSpPr>
            <p:spPr>
              <a:xfrm>
                <a:off x="5247104" y="2521844"/>
                <a:ext cx="257175" cy="257175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A42E4E91-F3DF-B4A3-7DAA-D76B26052BA9}"/>
                  </a:ext>
                </a:extLst>
              </p:cNvPr>
              <p:cNvSpPr/>
              <p:nvPr/>
            </p:nvSpPr>
            <p:spPr>
              <a:xfrm>
                <a:off x="6527998" y="2684377"/>
                <a:ext cx="257175" cy="25717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20B48FA8-D0D0-AFF4-C071-48359ABCF7BB}"/>
                  </a:ext>
                </a:extLst>
              </p:cNvPr>
              <p:cNvSpPr/>
              <p:nvPr/>
            </p:nvSpPr>
            <p:spPr>
              <a:xfrm>
                <a:off x="4961563" y="2126623"/>
                <a:ext cx="257175" cy="257175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F0226F33-4354-2DAA-3039-7DF9C72257BE}"/>
                  </a:ext>
                </a:extLst>
              </p:cNvPr>
              <p:cNvSpPr/>
              <p:nvPr/>
            </p:nvSpPr>
            <p:spPr>
              <a:xfrm>
                <a:off x="5887551" y="2837288"/>
                <a:ext cx="257175" cy="25717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A6916590-5AD4-E178-B45F-E69FF6F4360C}"/>
                  </a:ext>
                </a:extLst>
              </p:cNvPr>
              <p:cNvSpPr/>
              <p:nvPr/>
            </p:nvSpPr>
            <p:spPr>
              <a:xfrm>
                <a:off x="4447213" y="2356678"/>
                <a:ext cx="257175" cy="25717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2C4AFA4-7814-C1B4-64D5-EA52C4BD762D}"/>
                  </a:ext>
                </a:extLst>
              </p:cNvPr>
              <p:cNvSpPr/>
              <p:nvPr/>
            </p:nvSpPr>
            <p:spPr>
              <a:xfrm>
                <a:off x="4820425" y="2686678"/>
                <a:ext cx="257175" cy="257175"/>
              </a:xfrm>
              <a:prstGeom prst="ellipse">
                <a:avLst/>
              </a:prstGeom>
              <a:solidFill>
                <a:srgbClr val="02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BE232D19-1046-3A49-2DF8-D93F90EC5614}"/>
                  </a:ext>
                </a:extLst>
              </p:cNvPr>
              <p:cNvSpPr/>
              <p:nvPr/>
            </p:nvSpPr>
            <p:spPr>
              <a:xfrm>
                <a:off x="4704388" y="1782089"/>
                <a:ext cx="257175" cy="25717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</p:grpSp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ABBADE65-C4E7-6E41-0529-49AA03716BBC}"/>
                </a:ext>
              </a:extLst>
            </p:cNvPr>
            <p:cNvSpPr/>
            <p:nvPr/>
          </p:nvSpPr>
          <p:spPr>
            <a:xfrm>
              <a:off x="6915286" y="3607070"/>
              <a:ext cx="2986088" cy="1712983"/>
            </a:xfrm>
            <a:prstGeom prst="round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A181BED-4BB4-4D6A-D0FD-426B22C9D400}"/>
                </a:ext>
              </a:extLst>
            </p:cNvPr>
            <p:cNvSpPr txBox="1"/>
            <p:nvPr/>
          </p:nvSpPr>
          <p:spPr>
            <a:xfrm>
              <a:off x="6505502" y="4165388"/>
              <a:ext cx="378630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600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=</a:t>
              </a:r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DD8E3384-A991-B1F7-C748-6FB2E85AF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77537" y="4232657"/>
              <a:ext cx="520700" cy="292100"/>
            </a:xfrm>
            <a:prstGeom prst="rect">
              <a:avLst/>
            </a:prstGeom>
          </p:spPr>
        </p:pic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7221E00-58F8-FC57-2E5F-83B18BD08B0D}"/>
              </a:ext>
            </a:extLst>
          </p:cNvPr>
          <p:cNvGrpSpPr/>
          <p:nvPr/>
        </p:nvGrpSpPr>
        <p:grpSpPr>
          <a:xfrm>
            <a:off x="1265454" y="3510441"/>
            <a:ext cx="3762327" cy="1712983"/>
            <a:chOff x="1387152" y="3626156"/>
            <a:chExt cx="3762327" cy="171298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CAD31D0-647D-65A7-097C-DDB681DFEBAE}"/>
                </a:ext>
              </a:extLst>
            </p:cNvPr>
            <p:cNvGrpSpPr/>
            <p:nvPr/>
          </p:nvGrpSpPr>
          <p:grpSpPr>
            <a:xfrm>
              <a:off x="2326824" y="3861384"/>
              <a:ext cx="2634532" cy="1359049"/>
              <a:chOff x="4447213" y="1735414"/>
              <a:chExt cx="2634532" cy="135904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7ACA196F-13FE-5719-DB13-CDBC081DB4FE}"/>
                  </a:ext>
                </a:extLst>
              </p:cNvPr>
              <p:cNvSpPr/>
              <p:nvPr/>
            </p:nvSpPr>
            <p:spPr>
              <a:xfrm>
                <a:off x="5922078" y="2109305"/>
                <a:ext cx="257175" cy="2571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515F981-BBE4-8103-E7FF-63D8B41BAF52}"/>
                  </a:ext>
                </a:extLst>
              </p:cNvPr>
              <p:cNvSpPr/>
              <p:nvPr/>
            </p:nvSpPr>
            <p:spPr>
              <a:xfrm>
                <a:off x="6431666" y="2237892"/>
                <a:ext cx="257175" cy="257175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C76F4EBC-085E-7B18-022D-73A5C2E7B2C9}"/>
                  </a:ext>
                </a:extLst>
              </p:cNvPr>
              <p:cNvSpPr/>
              <p:nvPr/>
            </p:nvSpPr>
            <p:spPr>
              <a:xfrm>
                <a:off x="6172110" y="2513518"/>
                <a:ext cx="257175" cy="25717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8C1D6866-AE2C-7ECD-18E5-02CE2FCCEC3C}"/>
                  </a:ext>
                </a:extLst>
              </p:cNvPr>
              <p:cNvSpPr/>
              <p:nvPr/>
            </p:nvSpPr>
            <p:spPr>
              <a:xfrm>
                <a:off x="5664903" y="2521844"/>
                <a:ext cx="257175" cy="257175"/>
              </a:xfrm>
              <a:prstGeom prst="ellipse">
                <a:avLst/>
              </a:prstGeom>
              <a:solidFill>
                <a:srgbClr val="02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3E54972C-B1F4-CCFF-E0A4-A827A56EE290}"/>
                  </a:ext>
                </a:extLst>
              </p:cNvPr>
              <p:cNvSpPr/>
              <p:nvPr/>
            </p:nvSpPr>
            <p:spPr>
              <a:xfrm>
                <a:off x="5252951" y="1782090"/>
                <a:ext cx="257175" cy="25717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5A7365F7-4869-B20F-1F7E-F988E1978736}"/>
                  </a:ext>
                </a:extLst>
              </p:cNvPr>
              <p:cNvSpPr/>
              <p:nvPr/>
            </p:nvSpPr>
            <p:spPr>
              <a:xfrm>
                <a:off x="6300697" y="1825856"/>
                <a:ext cx="257175" cy="257175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60B485F-EFC4-8104-9C1B-1613C5CD2AAB}"/>
                  </a:ext>
                </a:extLst>
              </p:cNvPr>
              <p:cNvSpPr/>
              <p:nvPr/>
            </p:nvSpPr>
            <p:spPr>
              <a:xfrm>
                <a:off x="6824570" y="1942687"/>
                <a:ext cx="257175" cy="257175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623E661-1241-FFB0-4472-05590D374B31}"/>
                  </a:ext>
                </a:extLst>
              </p:cNvPr>
              <p:cNvSpPr/>
              <p:nvPr/>
            </p:nvSpPr>
            <p:spPr>
              <a:xfrm>
                <a:off x="5776824" y="1735414"/>
                <a:ext cx="257175" cy="257175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3960B318-DD84-DE71-9043-7080186B4FDE}"/>
                  </a:ext>
                </a:extLst>
              </p:cNvPr>
              <p:cNvSpPr/>
              <p:nvPr/>
            </p:nvSpPr>
            <p:spPr>
              <a:xfrm>
                <a:off x="5444744" y="2121792"/>
                <a:ext cx="257175" cy="257175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EE6F52BA-28D3-98E4-29D5-9EFBF169B1A8}"/>
                  </a:ext>
                </a:extLst>
              </p:cNvPr>
              <p:cNvSpPr/>
              <p:nvPr/>
            </p:nvSpPr>
            <p:spPr>
              <a:xfrm>
                <a:off x="5247104" y="2521844"/>
                <a:ext cx="257175" cy="257175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E57EFC5C-3E58-1F87-09CA-5C557ECB5459}"/>
                  </a:ext>
                </a:extLst>
              </p:cNvPr>
              <p:cNvSpPr/>
              <p:nvPr/>
            </p:nvSpPr>
            <p:spPr>
              <a:xfrm>
                <a:off x="6527998" y="2684377"/>
                <a:ext cx="257175" cy="25717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76E174AC-C23B-AC54-6CEB-C30F4DE02CCA}"/>
                  </a:ext>
                </a:extLst>
              </p:cNvPr>
              <p:cNvSpPr/>
              <p:nvPr/>
            </p:nvSpPr>
            <p:spPr>
              <a:xfrm>
                <a:off x="4961563" y="2126623"/>
                <a:ext cx="257175" cy="257175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5CAB29C7-1853-F9CE-86B7-E95116DEBEA1}"/>
                  </a:ext>
                </a:extLst>
              </p:cNvPr>
              <p:cNvSpPr/>
              <p:nvPr/>
            </p:nvSpPr>
            <p:spPr>
              <a:xfrm>
                <a:off x="5887551" y="2837288"/>
                <a:ext cx="257175" cy="25717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F710AFA9-742C-B640-127F-0521D29AB935}"/>
                  </a:ext>
                </a:extLst>
              </p:cNvPr>
              <p:cNvSpPr/>
              <p:nvPr/>
            </p:nvSpPr>
            <p:spPr>
              <a:xfrm>
                <a:off x="4447213" y="2356678"/>
                <a:ext cx="257175" cy="25717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157B8359-EFB3-EDC9-DFD8-4D8E790E849E}"/>
                  </a:ext>
                </a:extLst>
              </p:cNvPr>
              <p:cNvSpPr/>
              <p:nvPr/>
            </p:nvSpPr>
            <p:spPr>
              <a:xfrm>
                <a:off x="4820425" y="2686678"/>
                <a:ext cx="257175" cy="257175"/>
              </a:xfrm>
              <a:prstGeom prst="ellipse">
                <a:avLst/>
              </a:prstGeom>
              <a:solidFill>
                <a:srgbClr val="02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A154087B-143D-D1CD-F0C8-725A760927F2}"/>
                  </a:ext>
                </a:extLst>
              </p:cNvPr>
              <p:cNvSpPr/>
              <p:nvPr/>
            </p:nvSpPr>
            <p:spPr>
              <a:xfrm>
                <a:off x="4704388" y="1782089"/>
                <a:ext cx="257175" cy="25717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</p:grp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E358272B-20D5-2EAE-74D1-6054C85A352F}"/>
                </a:ext>
              </a:extLst>
            </p:cNvPr>
            <p:cNvSpPr/>
            <p:nvPr/>
          </p:nvSpPr>
          <p:spPr>
            <a:xfrm>
              <a:off x="2163391" y="3626156"/>
              <a:ext cx="2986088" cy="1712983"/>
            </a:xfrm>
            <a:prstGeom prst="round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BD5F9D4-1725-43E3-54B1-CEE6B200FD04}"/>
                </a:ext>
              </a:extLst>
            </p:cNvPr>
            <p:cNvSpPr txBox="1"/>
            <p:nvPr/>
          </p:nvSpPr>
          <p:spPr>
            <a:xfrm>
              <a:off x="1753607" y="4184474"/>
              <a:ext cx="378630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600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=</a:t>
              </a:r>
            </a:p>
          </p:txBody>
        </p: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7BE95B50-C49E-D36E-F433-D3EA4629B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87152" y="4280157"/>
              <a:ext cx="368300" cy="292100"/>
            </a:xfrm>
            <a:prstGeom prst="rect">
              <a:avLst/>
            </a:prstGeom>
          </p:spPr>
        </p:pic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3794E25A-38FF-AB2D-76C0-E40CF45EB5B9}"/>
              </a:ext>
            </a:extLst>
          </p:cNvPr>
          <p:cNvSpPr/>
          <p:nvPr/>
        </p:nvSpPr>
        <p:spPr>
          <a:xfrm>
            <a:off x="7765041" y="1329251"/>
            <a:ext cx="2324356" cy="8622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>
              <a:solidFill>
                <a:srgbClr val="00B05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ACA1CDD-D36D-6863-3BE7-014F64C64A59}"/>
              </a:ext>
            </a:extLst>
          </p:cNvPr>
          <p:cNvSpPr txBox="1"/>
          <p:nvPr/>
        </p:nvSpPr>
        <p:spPr>
          <a:xfrm>
            <a:off x="7722602" y="1447957"/>
            <a:ext cx="2773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</a:t>
            </a:r>
            <a:r>
              <a:rPr lang="en-FR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atasets of the same size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9B363AB-2472-FDCC-80F7-FC9871177309}"/>
              </a:ext>
            </a:extLst>
          </p:cNvPr>
          <p:cNvSpPr txBox="1"/>
          <p:nvPr/>
        </p:nvSpPr>
        <p:spPr>
          <a:xfrm>
            <a:off x="241200" y="5776348"/>
            <a:ext cx="11527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Estimator			                will reduce the variance, but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slower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than IID case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86BBF7A-F35F-958C-2FAC-D0D0CE41B7E5}"/>
              </a:ext>
            </a:extLst>
          </p:cNvPr>
          <p:cNvSpPr txBox="1"/>
          <p:nvPr/>
        </p:nvSpPr>
        <p:spPr>
          <a:xfrm>
            <a:off x="8797145" y="6226662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(Why?)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AEB593-EAA4-D896-D15D-10A42EE573A4}"/>
              </a:ext>
            </a:extLst>
          </p:cNvPr>
          <p:cNvSpPr txBox="1"/>
          <p:nvPr/>
        </p:nvSpPr>
        <p:spPr>
          <a:xfrm>
            <a:off x="240033" y="-99266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Ensemble methods</a:t>
            </a:r>
            <a:endParaRPr lang="en-GB" sz="28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1567F2-025D-8850-FA49-D1F933DC73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5154" y="5544004"/>
            <a:ext cx="32512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624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43422</TotalTime>
  <Words>2400</Words>
  <Application>Microsoft Macintosh PowerPoint</Application>
  <PresentationFormat>Widescreen</PresentationFormat>
  <Paragraphs>487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5" baseType="lpstr">
      <vt:lpstr>Arial</vt:lpstr>
      <vt:lpstr>Calibri</vt:lpstr>
      <vt:lpstr>Calibri Light</vt:lpstr>
      <vt:lpstr>Cambria Math</vt:lpstr>
      <vt:lpstr>Courier New</vt:lpstr>
      <vt:lpstr>Helvetica Neue</vt:lpstr>
      <vt:lpstr>Lato</vt:lpstr>
      <vt:lpstr>Roboto Black</vt:lpstr>
      <vt:lpstr>Roboto ExtraBold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 Rodrigues</dc:creator>
  <cp:lastModifiedBy>Pedro Rodrigues</cp:lastModifiedBy>
  <cp:revision>1598</cp:revision>
  <dcterms:created xsi:type="dcterms:W3CDTF">2022-01-14T10:39:20Z</dcterms:created>
  <dcterms:modified xsi:type="dcterms:W3CDTF">2026-03-22T20:49:28Z</dcterms:modified>
</cp:coreProperties>
</file>