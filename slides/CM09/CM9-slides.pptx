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82" r:id="rId2"/>
    <p:sldId id="634" r:id="rId3"/>
    <p:sldId id="647" r:id="rId4"/>
    <p:sldId id="648" r:id="rId5"/>
    <p:sldId id="632" r:id="rId6"/>
    <p:sldId id="641" r:id="rId7"/>
    <p:sldId id="643" r:id="rId8"/>
    <p:sldId id="650" r:id="rId9"/>
    <p:sldId id="649" r:id="rId10"/>
    <p:sldId id="645" r:id="rId11"/>
    <p:sldId id="675" r:id="rId12"/>
    <p:sldId id="639" r:id="rId13"/>
    <p:sldId id="657" r:id="rId14"/>
    <p:sldId id="659" r:id="rId15"/>
    <p:sldId id="660" r:id="rId16"/>
    <p:sldId id="665" r:id="rId17"/>
    <p:sldId id="661" r:id="rId18"/>
    <p:sldId id="662" r:id="rId19"/>
    <p:sldId id="663" r:id="rId20"/>
    <p:sldId id="664" r:id="rId21"/>
    <p:sldId id="676" r:id="rId22"/>
    <p:sldId id="678" r:id="rId23"/>
    <p:sldId id="677" r:id="rId24"/>
    <p:sldId id="680" r:id="rId25"/>
    <p:sldId id="681" r:id="rId26"/>
    <p:sldId id="682" r:id="rId27"/>
    <p:sldId id="683" r:id="rId28"/>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2743"/>
    <a:srgbClr val="5E5E5E"/>
    <a:srgbClr val="1E77B4"/>
    <a:srgbClr val="E8EBE4"/>
    <a:srgbClr val="02FF00"/>
    <a:srgbClr val="00A2FF"/>
    <a:srgbClr val="FF7F0F"/>
    <a:srgbClr val="F5AE00"/>
    <a:srgbClr val="9B5222"/>
    <a:srgbClr val="FF87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61"/>
    <p:restoredTop sz="94915"/>
  </p:normalViewPr>
  <p:slideViewPr>
    <p:cSldViewPr snapToGrid="0" snapToObjects="1">
      <p:cViewPr varScale="1">
        <p:scale>
          <a:sx n="134" d="100"/>
          <a:sy n="134" d="100"/>
        </p:scale>
        <p:origin x="207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FE6C1-AB26-3F44-9C87-C500B9817AF1}" type="datetimeFigureOut">
              <a:rPr lang="en-FR" smtClean="0"/>
              <a:t>12/04/2026</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39096-BE51-9C45-B82B-FA0E89D45848}" type="slidenum">
              <a:rPr lang="en-FR" smtClean="0"/>
              <a:t>‹#›</a:t>
            </a:fld>
            <a:endParaRPr lang="en-FR"/>
          </a:p>
        </p:txBody>
      </p:sp>
    </p:spTree>
    <p:extLst>
      <p:ext uri="{BB962C8B-B14F-4D97-AF65-F5344CB8AC3E}">
        <p14:creationId xmlns:p14="http://schemas.microsoft.com/office/powerpoint/2010/main" val="85374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BAD39096-BE51-9C45-B82B-FA0E89D45848}" type="slidenum">
              <a:rPr lang="en-FR" smtClean="0"/>
              <a:t>1</a:t>
            </a:fld>
            <a:endParaRPr lang="en-FR"/>
          </a:p>
        </p:txBody>
      </p:sp>
    </p:spTree>
    <p:extLst>
      <p:ext uri="{BB962C8B-B14F-4D97-AF65-F5344CB8AC3E}">
        <p14:creationId xmlns:p14="http://schemas.microsoft.com/office/powerpoint/2010/main" val="149930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BAD39096-BE51-9C45-B82B-FA0E89D45848}" type="slidenum">
              <a:rPr lang="en-FR" smtClean="0"/>
              <a:t>8</a:t>
            </a:fld>
            <a:endParaRPr lang="en-FR"/>
          </a:p>
        </p:txBody>
      </p:sp>
    </p:spTree>
    <p:extLst>
      <p:ext uri="{BB962C8B-B14F-4D97-AF65-F5344CB8AC3E}">
        <p14:creationId xmlns:p14="http://schemas.microsoft.com/office/powerpoint/2010/main" val="903435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EC9B-787C-824C-894C-857B659FBDB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1D1034B8-C425-C946-83B5-386EB7480D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8C538366-FA73-7C40-9D66-F01278D975BB}"/>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4C9613DA-3627-824F-B630-E29488734FB6}"/>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C1535195-A057-A740-ABFD-A4428E7E0D17}"/>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2114469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7FAB-44BF-AB48-8D73-DA1AEA67DC02}"/>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DF55A5C9-E435-904F-9A50-ED9242E2877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93FB2556-21DE-C043-BE7B-9E2A549734E1}"/>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27EDE1C2-7A56-054D-A23E-DD2241BED1FB}"/>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CE648906-A5FE-FF4D-A27E-550C599041A7}"/>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1725651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4E8A-2B0D-EB42-A978-1FE768A3FA8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EF5DEB75-EBFD-8E42-82F0-A331F604D0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6C81795-369A-C94E-9F66-0A208AF18284}"/>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A64FBA02-0FCB-EA44-B7B5-968611166905}"/>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B3FCF71C-9EF7-0C4B-BDDD-FB6BA96406E1}"/>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1718604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98381-A6CF-6F47-A7A3-14C7831DB35B}"/>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2D1E1EC3-D19C-DC4D-A5B9-9460AD4AAAE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5B4A3376-5078-194F-9992-6B02E62EB77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38E51E5D-D454-0943-B25A-DA182891A4F7}"/>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6" name="Footer Placeholder 5">
            <a:extLst>
              <a:ext uri="{FF2B5EF4-FFF2-40B4-BE49-F238E27FC236}">
                <a16:creationId xmlns:a16="http://schemas.microsoft.com/office/drawing/2014/main" id="{C2567DE1-3EE7-D943-B7FD-A51C83BA63A0}"/>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005BA756-9D8E-C845-B692-3873FF009E96}"/>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2608771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3190A-2F02-BD4E-9E22-FE2A2CC917CA}"/>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F857E7DD-D354-C048-8942-567BCCBE7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A892036-8FA2-734D-A0A4-540FA63FA66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C4DEAE85-DEC4-6042-A589-63117EF752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60B7604-EC7A-9F4B-8B40-82D381275A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57845EAB-187C-284A-B3CB-5EC784398222}"/>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8" name="Footer Placeholder 7">
            <a:extLst>
              <a:ext uri="{FF2B5EF4-FFF2-40B4-BE49-F238E27FC236}">
                <a16:creationId xmlns:a16="http://schemas.microsoft.com/office/drawing/2014/main" id="{227DA07A-26C9-CA4B-8592-EA2C357C0641}"/>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9A29D14B-3E77-C64E-BBF4-00C096EE7E41}"/>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232615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ED17-FBEF-0040-96E6-994DBD521D8B}"/>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FEC2881A-CF7D-8C45-9008-E61A46B5E200}"/>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4" name="Footer Placeholder 3">
            <a:extLst>
              <a:ext uri="{FF2B5EF4-FFF2-40B4-BE49-F238E27FC236}">
                <a16:creationId xmlns:a16="http://schemas.microsoft.com/office/drawing/2014/main" id="{DF05F0EE-BDC6-3E43-BEAC-A339A97289FD}"/>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A7BE1059-D3D9-064E-BFD5-C588BE342490}"/>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255753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CF8FB-7AEB-7147-A83A-4DF08A93E0F7}"/>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3" name="Footer Placeholder 2">
            <a:extLst>
              <a:ext uri="{FF2B5EF4-FFF2-40B4-BE49-F238E27FC236}">
                <a16:creationId xmlns:a16="http://schemas.microsoft.com/office/drawing/2014/main" id="{751F6FAA-2A77-D645-B7D9-87AF35941448}"/>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05585873-66FC-0E4A-A249-F6FA16584EFF}"/>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910419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EE7F8-26AB-8045-9C68-095EB3F356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BE8C37C8-7D1E-D745-A650-7BE338722B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8D3687F2-0361-5E48-9242-1481CECC5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D96C55-C72A-6346-9F4D-E7EBB9536809}"/>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6" name="Footer Placeholder 5">
            <a:extLst>
              <a:ext uri="{FF2B5EF4-FFF2-40B4-BE49-F238E27FC236}">
                <a16:creationId xmlns:a16="http://schemas.microsoft.com/office/drawing/2014/main" id="{1E12A30C-17EA-D843-AB84-DCC67550C492}"/>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02858998-8FCD-4A48-8077-41D395F14EE9}"/>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3158731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4506-CC8C-3948-98A1-3618A657C5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26E23419-833F-ED48-BCFF-352972904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7EF7541E-9161-9845-900C-0B7F4D6B4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8F6B3E-FD83-2742-B704-CAA2A3EB7593}"/>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6" name="Footer Placeholder 5">
            <a:extLst>
              <a:ext uri="{FF2B5EF4-FFF2-40B4-BE49-F238E27FC236}">
                <a16:creationId xmlns:a16="http://schemas.microsoft.com/office/drawing/2014/main" id="{DE02EB9A-F8B6-4F40-A237-D183B7FAB757}"/>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5BAD7B30-1A12-B54A-9EC7-A21A90204448}"/>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348946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F93D-B2C2-7048-94E6-5B0A39376E82}"/>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55B1939D-3520-5A4E-AC60-F1060FE9B4D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2CE3D6DC-E506-5049-B0CD-01E32D7383CB}"/>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6A669E02-B2EF-CC4E-A982-1A0F31306703}"/>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50BDBA1F-361D-CF4C-A4FB-8D2BD09746AA}"/>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1910766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58988E-5C51-134D-8C79-867D4445378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841D2FE0-5CF2-8544-A5E3-F37FBDD3520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16F776C2-05A5-5A4B-9AA6-732FC73A5E7A}"/>
              </a:ext>
            </a:extLst>
          </p:cNvPr>
          <p:cNvSpPr>
            <a:spLocks noGrp="1"/>
          </p:cNvSpPr>
          <p:nvPr>
            <p:ph type="dt" sz="half" idx="10"/>
          </p:nvPr>
        </p:nvSpPr>
        <p:spPr/>
        <p:txBody>
          <a:body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C3824220-F883-2A4C-82CA-C524A70A321C}"/>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6EF0F099-3857-6B40-AE2C-2127FDED9739}"/>
              </a:ext>
            </a:extLst>
          </p:cNvPr>
          <p:cNvSpPr>
            <a:spLocks noGrp="1"/>
          </p:cNvSpPr>
          <p:nvPr>
            <p:ph type="sldNum" sz="quarter" idx="12"/>
          </p:nvPr>
        </p:nvSpPr>
        <p:spPr/>
        <p:txBody>
          <a:bodyPr/>
          <a:lstStyle/>
          <a:p>
            <a:fld id="{730D13FD-52B6-3A43-8809-9B737C0501F5}" type="slidenum">
              <a:rPr lang="en-FR" smtClean="0"/>
              <a:t>‹#›</a:t>
            </a:fld>
            <a:endParaRPr lang="en-FR"/>
          </a:p>
        </p:txBody>
      </p:sp>
    </p:spTree>
    <p:extLst>
      <p:ext uri="{BB962C8B-B14F-4D97-AF65-F5344CB8AC3E}">
        <p14:creationId xmlns:p14="http://schemas.microsoft.com/office/powerpoint/2010/main" val="2472570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95531-CC31-C242-807F-85E2E673FA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005368A4-CCF7-2A40-831F-1C89AC50A7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81D0E3EE-7349-1747-80AE-DCDB34EFE7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05F58-0AA8-724B-8DBF-E28AC2D343FC}" type="datetimeFigureOut">
              <a:rPr lang="en-FR" smtClean="0"/>
              <a:t>12/04/2026</a:t>
            </a:fld>
            <a:endParaRPr lang="en-FR"/>
          </a:p>
        </p:txBody>
      </p:sp>
      <p:sp>
        <p:nvSpPr>
          <p:cNvPr id="5" name="Footer Placeholder 4">
            <a:extLst>
              <a:ext uri="{FF2B5EF4-FFF2-40B4-BE49-F238E27FC236}">
                <a16:creationId xmlns:a16="http://schemas.microsoft.com/office/drawing/2014/main" id="{526ED396-5C82-A643-8632-51B3DE0CC0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ACFD28E0-1C6E-1140-BACB-EBB4D140CC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0D13FD-52B6-3A43-8809-9B737C0501F5}" type="slidenum">
              <a:rPr lang="en-FR" smtClean="0"/>
              <a:t>‹#›</a:t>
            </a:fld>
            <a:endParaRPr lang="en-FR"/>
          </a:p>
        </p:txBody>
      </p:sp>
    </p:spTree>
    <p:extLst>
      <p:ext uri="{BB962C8B-B14F-4D97-AF65-F5344CB8AC3E}">
        <p14:creationId xmlns:p14="http://schemas.microsoft.com/office/powerpoint/2010/main" val="1782825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rillist.com/entertainment/nation/the-netflix-priz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competitions/mayo-clinic-strip-ai/overview" TargetMode="External"/><Relationship Id="rId7" Type="http://schemas.openxmlformats.org/officeDocument/2006/relationships/hyperlink" Target="https://www.kaggle.com/c/happy-whale-and-dolphin"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www.kaggle.com/competitions/amex-default-prediction"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competitions/mayo-clinic-strip-ai/overview"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competitions/house-prices-advanced-regression-techniques/overview" TargetMode="External"/><Relationship Id="rId2" Type="http://schemas.openxmlformats.org/officeDocument/2006/relationships/hyperlink" Target="https://www.kaggle.com/competitions/titanic" TargetMode="External"/><Relationship Id="rId1" Type="http://schemas.openxmlformats.org/officeDocument/2006/relationships/slideLayout" Target="../slideLayouts/slideLayout2.xml"/><Relationship Id="rId4" Type="http://schemas.openxmlformats.org/officeDocument/2006/relationships/hyperlink" Target="https://www.youtube.com/watch?v=8IAcJmP9bdU"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28.emf"/></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hyperlink" Target="https://medium.com/data-science" TargetMode="External"/><Relationship Id="rId5" Type="http://schemas.openxmlformats.org/officeDocument/2006/relationships/image" Target="../media/image31.gif"/><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0.emf"/></Relationships>
</file>

<file path=ppt/slides/_rels/slide2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8.emf"/><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image" Target="../media/image3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30E4DC-5BA1-4A88-3549-39BB252362F9}"/>
              </a:ext>
            </a:extLst>
          </p:cNvPr>
          <p:cNvSpPr/>
          <p:nvPr/>
        </p:nvSpPr>
        <p:spPr>
          <a:xfrm>
            <a:off x="0" y="5801193"/>
            <a:ext cx="12192000" cy="1056807"/>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TextBox 9">
            <a:extLst>
              <a:ext uri="{FF2B5EF4-FFF2-40B4-BE49-F238E27FC236}">
                <a16:creationId xmlns:a16="http://schemas.microsoft.com/office/drawing/2014/main" id="{8349F4F4-12FE-580B-E00C-CFCF2FCF9F40}"/>
              </a:ext>
            </a:extLst>
          </p:cNvPr>
          <p:cNvSpPr txBox="1"/>
          <p:nvPr/>
        </p:nvSpPr>
        <p:spPr>
          <a:xfrm>
            <a:off x="6742386" y="5960264"/>
            <a:ext cx="5319085" cy="738664"/>
          </a:xfrm>
          <a:prstGeom prst="rect">
            <a:avLst/>
          </a:prstGeom>
          <a:noFill/>
        </p:spPr>
        <p:txBody>
          <a:bodyPr wrap="none" rtlCol="0">
            <a:spAutoFit/>
          </a:bodyPr>
          <a:lstStyle/>
          <a:p>
            <a:r>
              <a:rPr lang="en-FR" sz="4200" b="1" dirty="0">
                <a:solidFill>
                  <a:srgbClr val="5E5E5E"/>
                </a:solidFill>
                <a:latin typeface="Lato" panose="020F0502020204030203" pitchFamily="34" charset="0"/>
                <a:ea typeface="Lato" panose="020F0502020204030203" pitchFamily="34" charset="0"/>
                <a:cs typeface="Lato" panose="020F0502020204030203" pitchFamily="34" charset="0"/>
              </a:rPr>
              <a:t>Pedro L. C. Rodrigues</a:t>
            </a:r>
          </a:p>
        </p:txBody>
      </p:sp>
      <p:sp>
        <p:nvSpPr>
          <p:cNvPr id="6" name="Rounded Rectangle 5">
            <a:extLst>
              <a:ext uri="{FF2B5EF4-FFF2-40B4-BE49-F238E27FC236}">
                <a16:creationId xmlns:a16="http://schemas.microsoft.com/office/drawing/2014/main" id="{C6537CB7-C4BB-7CE0-0825-9715A7575578}"/>
              </a:ext>
            </a:extLst>
          </p:cNvPr>
          <p:cNvSpPr/>
          <p:nvPr/>
        </p:nvSpPr>
        <p:spPr>
          <a:xfrm>
            <a:off x="1006145" y="663992"/>
            <a:ext cx="10179710" cy="2511684"/>
          </a:xfrm>
          <a:prstGeom prst="round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TextBox 3">
            <a:extLst>
              <a:ext uri="{FF2B5EF4-FFF2-40B4-BE49-F238E27FC236}">
                <a16:creationId xmlns:a16="http://schemas.microsoft.com/office/drawing/2014/main" id="{D7AC973D-E8B9-CA36-F0E5-BE9D3B33A408}"/>
              </a:ext>
            </a:extLst>
          </p:cNvPr>
          <p:cNvSpPr txBox="1"/>
          <p:nvPr/>
        </p:nvSpPr>
        <p:spPr>
          <a:xfrm>
            <a:off x="945537" y="950338"/>
            <a:ext cx="10300926" cy="1938992"/>
          </a:xfrm>
          <a:prstGeom prst="rect">
            <a:avLst/>
          </a:prstGeom>
          <a:noFill/>
        </p:spPr>
        <p:txBody>
          <a:bodyPr wrap="square" rtlCol="0">
            <a:spAutoFit/>
          </a:bodyPr>
          <a:lstStyle/>
          <a:p>
            <a:pPr algn="ctr"/>
            <a:r>
              <a:rPr lang="en-FR" sz="6000" b="1" dirty="0">
                <a:solidFill>
                  <a:srgbClr val="5E5E5E"/>
                </a:solidFill>
                <a:latin typeface="Roboto Black" panose="02000000000000000000" pitchFamily="2" charset="0"/>
                <a:ea typeface="Roboto Black" panose="02000000000000000000" pitchFamily="2" charset="0"/>
                <a:cs typeface="Lato" panose="020F0502020204030203" pitchFamily="34" charset="0"/>
              </a:rPr>
              <a:t>Introduction to Statistical Learning with Applications</a:t>
            </a:r>
          </a:p>
        </p:txBody>
      </p:sp>
      <p:sp>
        <p:nvSpPr>
          <p:cNvPr id="3" name="TextBox 2">
            <a:extLst>
              <a:ext uri="{FF2B5EF4-FFF2-40B4-BE49-F238E27FC236}">
                <a16:creationId xmlns:a16="http://schemas.microsoft.com/office/drawing/2014/main" id="{1CF8D681-85A3-D3D9-0655-46D9193F23C1}"/>
              </a:ext>
            </a:extLst>
          </p:cNvPr>
          <p:cNvSpPr txBox="1"/>
          <p:nvPr/>
        </p:nvSpPr>
        <p:spPr>
          <a:xfrm>
            <a:off x="581859" y="3968671"/>
            <a:ext cx="11028282" cy="830997"/>
          </a:xfrm>
          <a:prstGeom prst="rect">
            <a:avLst/>
          </a:prstGeom>
          <a:noFill/>
        </p:spPr>
        <p:txBody>
          <a:bodyPr wrap="square" rtlCol="0">
            <a:spAutoFit/>
          </a:bodyPr>
          <a:lstStyle/>
          <a:p>
            <a:pPr algn="ctr"/>
            <a:r>
              <a:rPr lang="en-US" sz="4800" dirty="0">
                <a:solidFill>
                  <a:srgbClr val="5E5E5E"/>
                </a:solidFill>
                <a:latin typeface="Roboto Light" panose="02000000000000000000" pitchFamily="2" charset="0"/>
                <a:ea typeface="Roboto Light" panose="02000000000000000000" pitchFamily="2" charset="0"/>
                <a:cs typeface="Lato" panose="020F0502020204030203" pitchFamily="34" charset="0"/>
              </a:rPr>
              <a:t>CM9: ML competitions, metrics, etc.</a:t>
            </a:r>
            <a:endParaRPr lang="en-FR" sz="4800"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p:txBody>
      </p:sp>
    </p:spTree>
    <p:extLst>
      <p:ext uri="{BB962C8B-B14F-4D97-AF65-F5344CB8AC3E}">
        <p14:creationId xmlns:p14="http://schemas.microsoft.com/office/powerpoint/2010/main" val="301299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ical user interface, website&#10;&#10;Description automatically generated">
            <a:extLst>
              <a:ext uri="{FF2B5EF4-FFF2-40B4-BE49-F238E27FC236}">
                <a16:creationId xmlns:a16="http://schemas.microsoft.com/office/drawing/2014/main" id="{6FA9767A-DFFE-9777-14B5-A58134EA16E7}"/>
              </a:ext>
            </a:extLst>
          </p:cNvPr>
          <p:cNvPicPr>
            <a:picLocks noChangeAspect="1"/>
          </p:cNvPicPr>
          <p:nvPr/>
        </p:nvPicPr>
        <p:blipFill>
          <a:blip r:embed="rId2"/>
          <a:stretch>
            <a:fillRect/>
          </a:stretch>
        </p:blipFill>
        <p:spPr>
          <a:xfrm>
            <a:off x="1127472" y="1250911"/>
            <a:ext cx="9937053" cy="4679950"/>
          </a:xfrm>
          <a:prstGeom prst="rect">
            <a:avLst/>
          </a:prstGeom>
        </p:spPr>
      </p:pic>
      <p:sp>
        <p:nvSpPr>
          <p:cNvPr id="6" name="TextBox 5">
            <a:extLst>
              <a:ext uri="{FF2B5EF4-FFF2-40B4-BE49-F238E27FC236}">
                <a16:creationId xmlns:a16="http://schemas.microsoft.com/office/drawing/2014/main" id="{FA45669A-0DAE-B7C0-ED24-1FBF66859CCF}"/>
              </a:ext>
            </a:extLst>
          </p:cNvPr>
          <p:cNvSpPr txBox="1"/>
          <p:nvPr/>
        </p:nvSpPr>
        <p:spPr>
          <a:xfrm>
            <a:off x="1650999" y="6194350"/>
            <a:ext cx="8890000" cy="369332"/>
          </a:xfrm>
          <a:prstGeom prst="rect">
            <a:avLst/>
          </a:prstGeom>
          <a:noFill/>
        </p:spPr>
        <p:txBody>
          <a:bodyPr wrap="square">
            <a:spAutoFit/>
          </a:bodyPr>
          <a:lstStyle/>
          <a:p>
            <a:r>
              <a:rPr lang="en-FR" dirty="0">
                <a:solidFill>
                  <a:srgbClr val="5E5E5E"/>
                </a:solidFill>
                <a:latin typeface="Lato" panose="020F0502020204030203" pitchFamily="34" charset="0"/>
                <a:ea typeface="Lato" panose="020F0502020204030203" pitchFamily="34" charset="0"/>
                <a:cs typeface="Lato" panose="020F0502020204030203" pitchFamily="34" charset="0"/>
              </a:rPr>
              <a:t>See more details at: </a:t>
            </a:r>
            <a:r>
              <a:rPr lang="en-FR" dirty="0">
                <a:latin typeface="Lato" panose="020F0502020204030203" pitchFamily="34" charset="0"/>
                <a:ea typeface="Lato" panose="020F0502020204030203" pitchFamily="34" charset="0"/>
                <a:cs typeface="Lato" panose="020F0502020204030203" pitchFamily="34" charset="0"/>
                <a:hlinkClick r:id="rId3"/>
              </a:rPr>
              <a:t>https://www.thrillist.com/entertainment/nation/the-netflix-prize</a:t>
            </a:r>
            <a:endParaRPr lang="en-FR" dirty="0">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CA14C22A-B591-797C-6025-00C85E4E9F8F}"/>
              </a:ext>
            </a:extLst>
          </p:cNvPr>
          <p:cNvSpPr txBox="1"/>
          <p:nvPr/>
        </p:nvSpPr>
        <p:spPr>
          <a:xfrm>
            <a:off x="2089933" y="248758"/>
            <a:ext cx="8012130" cy="738664"/>
          </a:xfrm>
          <a:prstGeom prst="rect">
            <a:avLst/>
          </a:prstGeom>
          <a:noFill/>
        </p:spPr>
        <p:txBody>
          <a:bodyPr wrap="none" rtlCol="0">
            <a:spAutoFit/>
          </a:bodyPr>
          <a:lstStyle/>
          <a:p>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The </a:t>
            </a:r>
            <a:r>
              <a:rPr lang="en-FR" sz="4200" b="1" dirty="0">
                <a:solidFill>
                  <a:srgbClr val="FA2743"/>
                </a:solidFill>
                <a:latin typeface="Roboto Black" panose="02000000000000000000" pitchFamily="2" charset="0"/>
                <a:ea typeface="Roboto Black" panose="02000000000000000000" pitchFamily="2" charset="0"/>
                <a:cs typeface="Lato" panose="020F0502020204030203" pitchFamily="34" charset="0"/>
              </a:rPr>
              <a:t>Netflix</a:t>
            </a:r>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 prize (2006 to 2009)</a:t>
            </a:r>
          </a:p>
        </p:txBody>
      </p:sp>
    </p:spTree>
    <p:extLst>
      <p:ext uri="{BB962C8B-B14F-4D97-AF65-F5344CB8AC3E}">
        <p14:creationId xmlns:p14="http://schemas.microsoft.com/office/powerpoint/2010/main" val="123090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7F9277-1ACC-C0EB-D8E4-D2E99124E95C}"/>
              </a:ext>
            </a:extLst>
          </p:cNvPr>
          <p:cNvSpPr txBox="1"/>
          <p:nvPr/>
        </p:nvSpPr>
        <p:spPr>
          <a:xfrm>
            <a:off x="816015" y="2741571"/>
            <a:ext cx="1731564"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17k movies</a:t>
            </a:r>
          </a:p>
        </p:txBody>
      </p:sp>
      <p:sp>
        <p:nvSpPr>
          <p:cNvPr id="3" name="TextBox 2">
            <a:extLst>
              <a:ext uri="{FF2B5EF4-FFF2-40B4-BE49-F238E27FC236}">
                <a16:creationId xmlns:a16="http://schemas.microsoft.com/office/drawing/2014/main" id="{CFCF8A1E-C4A4-43A5-A085-0A8522BADC91}"/>
              </a:ext>
            </a:extLst>
          </p:cNvPr>
          <p:cNvSpPr txBox="1"/>
          <p:nvPr/>
        </p:nvSpPr>
        <p:spPr>
          <a:xfrm>
            <a:off x="816015" y="2131971"/>
            <a:ext cx="1665841"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480k users</a:t>
            </a:r>
          </a:p>
        </p:txBody>
      </p:sp>
      <p:sp>
        <p:nvSpPr>
          <p:cNvPr id="5" name="Oval 4">
            <a:extLst>
              <a:ext uri="{FF2B5EF4-FFF2-40B4-BE49-F238E27FC236}">
                <a16:creationId xmlns:a16="http://schemas.microsoft.com/office/drawing/2014/main" id="{E689665F-4995-CA2C-B4D0-4DB42E2E2D4A}"/>
              </a:ext>
            </a:extLst>
          </p:cNvPr>
          <p:cNvSpPr/>
          <p:nvPr/>
        </p:nvSpPr>
        <p:spPr>
          <a:xfrm>
            <a:off x="589521" y="2272793"/>
            <a:ext cx="149242" cy="149242"/>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Oval 7">
            <a:extLst>
              <a:ext uri="{FF2B5EF4-FFF2-40B4-BE49-F238E27FC236}">
                <a16:creationId xmlns:a16="http://schemas.microsoft.com/office/drawing/2014/main" id="{1BF3DC50-BE91-58FD-76E2-A6BDC6115C02}"/>
              </a:ext>
            </a:extLst>
          </p:cNvPr>
          <p:cNvSpPr/>
          <p:nvPr/>
        </p:nvSpPr>
        <p:spPr>
          <a:xfrm>
            <a:off x="589521" y="2882393"/>
            <a:ext cx="149242" cy="149242"/>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9" name="Rectangle 8">
            <a:extLst>
              <a:ext uri="{FF2B5EF4-FFF2-40B4-BE49-F238E27FC236}">
                <a16:creationId xmlns:a16="http://schemas.microsoft.com/office/drawing/2014/main" id="{0F1277D1-2B02-F484-509A-7C8331C2EEE1}"/>
              </a:ext>
            </a:extLst>
          </p:cNvPr>
          <p:cNvSpPr/>
          <p:nvPr/>
        </p:nvSpPr>
        <p:spPr>
          <a:xfrm>
            <a:off x="4154536" y="1459508"/>
            <a:ext cx="7447936" cy="2581514"/>
          </a:xfrm>
          <a:prstGeom prst="rect">
            <a:avLst/>
          </a:prstGeom>
          <a:noFill/>
          <a:ln w="635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Rectangle 9">
            <a:extLst>
              <a:ext uri="{FF2B5EF4-FFF2-40B4-BE49-F238E27FC236}">
                <a16:creationId xmlns:a16="http://schemas.microsoft.com/office/drawing/2014/main" id="{A6767C95-FA40-11FB-E1EB-617FD034AB0C}"/>
              </a:ext>
            </a:extLst>
          </p:cNvPr>
          <p:cNvSpPr/>
          <p:nvPr/>
        </p:nvSpPr>
        <p:spPr>
          <a:xfrm>
            <a:off x="4535532" y="1253577"/>
            <a:ext cx="6784258" cy="3067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1" name="Rectangle 10">
            <a:extLst>
              <a:ext uri="{FF2B5EF4-FFF2-40B4-BE49-F238E27FC236}">
                <a16:creationId xmlns:a16="http://schemas.microsoft.com/office/drawing/2014/main" id="{5D0875FC-DA7D-A611-445C-BDEBD60A50A4}"/>
              </a:ext>
            </a:extLst>
          </p:cNvPr>
          <p:cNvSpPr/>
          <p:nvPr/>
        </p:nvSpPr>
        <p:spPr>
          <a:xfrm>
            <a:off x="4383135" y="1600330"/>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Rectangle 11">
            <a:extLst>
              <a:ext uri="{FF2B5EF4-FFF2-40B4-BE49-F238E27FC236}">
                <a16:creationId xmlns:a16="http://schemas.microsoft.com/office/drawing/2014/main" id="{84F39B29-AB73-F047-779D-19FC2C9F1EE6}"/>
              </a:ext>
            </a:extLst>
          </p:cNvPr>
          <p:cNvSpPr/>
          <p:nvPr/>
        </p:nvSpPr>
        <p:spPr>
          <a:xfrm>
            <a:off x="4933742" y="2069108"/>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Rectangle 12">
            <a:extLst>
              <a:ext uri="{FF2B5EF4-FFF2-40B4-BE49-F238E27FC236}">
                <a16:creationId xmlns:a16="http://schemas.microsoft.com/office/drawing/2014/main" id="{8C3D4B06-EE96-D5FE-6EBB-A5646CD33BA3}"/>
              </a:ext>
            </a:extLst>
          </p:cNvPr>
          <p:cNvSpPr/>
          <p:nvPr/>
        </p:nvSpPr>
        <p:spPr>
          <a:xfrm>
            <a:off x="6740418" y="1593122"/>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Rectangle 13">
            <a:extLst>
              <a:ext uri="{FF2B5EF4-FFF2-40B4-BE49-F238E27FC236}">
                <a16:creationId xmlns:a16="http://schemas.microsoft.com/office/drawing/2014/main" id="{948EADAE-7792-76C7-B254-C2579F9B8439}"/>
              </a:ext>
            </a:extLst>
          </p:cNvPr>
          <p:cNvSpPr/>
          <p:nvPr/>
        </p:nvSpPr>
        <p:spPr>
          <a:xfrm>
            <a:off x="5464683" y="3517454"/>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5" name="Rectangle 14">
            <a:extLst>
              <a:ext uri="{FF2B5EF4-FFF2-40B4-BE49-F238E27FC236}">
                <a16:creationId xmlns:a16="http://schemas.microsoft.com/office/drawing/2014/main" id="{E3F6B2E6-8D9B-FFBA-4B09-8D25AFEECCFD}"/>
              </a:ext>
            </a:extLst>
          </p:cNvPr>
          <p:cNvSpPr/>
          <p:nvPr/>
        </p:nvSpPr>
        <p:spPr>
          <a:xfrm>
            <a:off x="9933445" y="1593121"/>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Rectangle 15">
            <a:extLst>
              <a:ext uri="{FF2B5EF4-FFF2-40B4-BE49-F238E27FC236}">
                <a16:creationId xmlns:a16="http://schemas.microsoft.com/office/drawing/2014/main" id="{B2152EB9-9B84-5D24-0F66-D1783C16E47F}"/>
              </a:ext>
            </a:extLst>
          </p:cNvPr>
          <p:cNvSpPr/>
          <p:nvPr/>
        </p:nvSpPr>
        <p:spPr>
          <a:xfrm>
            <a:off x="8386092" y="3517454"/>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7" name="Rectangle 16">
            <a:extLst>
              <a:ext uri="{FF2B5EF4-FFF2-40B4-BE49-F238E27FC236}">
                <a16:creationId xmlns:a16="http://schemas.microsoft.com/office/drawing/2014/main" id="{D3B88C3A-EF23-7063-B13C-AA607969E8AD}"/>
              </a:ext>
            </a:extLst>
          </p:cNvPr>
          <p:cNvSpPr/>
          <p:nvPr/>
        </p:nvSpPr>
        <p:spPr>
          <a:xfrm>
            <a:off x="7411470" y="2617802"/>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8" name="Rectangle 17">
            <a:extLst>
              <a:ext uri="{FF2B5EF4-FFF2-40B4-BE49-F238E27FC236}">
                <a16:creationId xmlns:a16="http://schemas.microsoft.com/office/drawing/2014/main" id="{E353735A-9CFA-821F-56BE-967E94A09CA6}"/>
              </a:ext>
            </a:extLst>
          </p:cNvPr>
          <p:cNvSpPr/>
          <p:nvPr/>
        </p:nvSpPr>
        <p:spPr>
          <a:xfrm>
            <a:off x="10980577" y="3517786"/>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9" name="TextBox 18">
            <a:extLst>
              <a:ext uri="{FF2B5EF4-FFF2-40B4-BE49-F238E27FC236}">
                <a16:creationId xmlns:a16="http://schemas.microsoft.com/office/drawing/2014/main" id="{1D5DB0F1-968B-292B-844B-85C616E0E6A4}"/>
              </a:ext>
            </a:extLst>
          </p:cNvPr>
          <p:cNvSpPr txBox="1"/>
          <p:nvPr/>
        </p:nvSpPr>
        <p:spPr>
          <a:xfrm>
            <a:off x="293770" y="4564729"/>
            <a:ext cx="11984371"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Only 100M of the cells are known, i.e. we only know 1.2% of the ratings given by users </a:t>
            </a:r>
          </a:p>
        </p:txBody>
      </p:sp>
      <p:sp>
        <p:nvSpPr>
          <p:cNvPr id="20" name="TextBox 19">
            <a:extLst>
              <a:ext uri="{FF2B5EF4-FFF2-40B4-BE49-F238E27FC236}">
                <a16:creationId xmlns:a16="http://schemas.microsoft.com/office/drawing/2014/main" id="{890E2E7F-8C97-2AD9-EC88-6E717EE7E468}"/>
              </a:ext>
            </a:extLst>
          </p:cNvPr>
          <p:cNvSpPr txBox="1"/>
          <p:nvPr/>
        </p:nvSpPr>
        <p:spPr>
          <a:xfrm>
            <a:off x="293770" y="5239104"/>
            <a:ext cx="10902344"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GOAL: Propose a recommandation algorithm that beats Netflix’s by at least 10%</a:t>
            </a:r>
          </a:p>
        </p:txBody>
      </p:sp>
      <p:sp>
        <p:nvSpPr>
          <p:cNvPr id="21" name="Rectangle 20">
            <a:extLst>
              <a:ext uri="{FF2B5EF4-FFF2-40B4-BE49-F238E27FC236}">
                <a16:creationId xmlns:a16="http://schemas.microsoft.com/office/drawing/2014/main" id="{295550B7-672E-5CA6-09FF-B0E391524E8C}"/>
              </a:ext>
            </a:extLst>
          </p:cNvPr>
          <p:cNvSpPr/>
          <p:nvPr/>
        </p:nvSpPr>
        <p:spPr>
          <a:xfrm>
            <a:off x="6363102" y="5757084"/>
            <a:ext cx="2463398" cy="112627"/>
          </a:xfrm>
          <a:prstGeom prst="rect">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2" name="TextBox 21">
            <a:extLst>
              <a:ext uri="{FF2B5EF4-FFF2-40B4-BE49-F238E27FC236}">
                <a16:creationId xmlns:a16="http://schemas.microsoft.com/office/drawing/2014/main" id="{4B3ACBF9-5BA5-9547-A474-27BB45353067}"/>
              </a:ext>
            </a:extLst>
          </p:cNvPr>
          <p:cNvSpPr txBox="1"/>
          <p:nvPr/>
        </p:nvSpPr>
        <p:spPr>
          <a:xfrm>
            <a:off x="5626526" y="5921401"/>
            <a:ext cx="4908716" cy="369332"/>
          </a:xfrm>
          <a:prstGeom prst="rect">
            <a:avLst/>
          </a:prstGeom>
          <a:noFill/>
        </p:spPr>
        <p:txBody>
          <a:bodyPr wrap="none" rtlCol="0">
            <a:spAutoFit/>
          </a:bodyPr>
          <a:lstStyle/>
          <a:p>
            <a:r>
              <a:rPr lang="en-GB" dirty="0">
                <a:solidFill>
                  <a:srgbClr val="FA2743"/>
                </a:solidFill>
                <a:latin typeface="Lato" panose="020F0502020204030203" pitchFamily="34" charset="0"/>
                <a:ea typeface="Lato" panose="020F0502020204030203" pitchFamily="34" charset="0"/>
                <a:cs typeface="Lato" panose="020F0502020204030203" pitchFamily="34" charset="0"/>
              </a:rPr>
              <a:t>a</a:t>
            </a:r>
            <a:r>
              <a:rPr lang="en-FR" dirty="0">
                <a:solidFill>
                  <a:srgbClr val="FA2743"/>
                </a:solidFill>
                <a:latin typeface="Lato" panose="020F0502020204030203" pitchFamily="34" charset="0"/>
                <a:ea typeface="Lato" panose="020F0502020204030203" pitchFamily="34" charset="0"/>
                <a:cs typeface="Lato" panose="020F0502020204030203" pitchFamily="34" charset="0"/>
              </a:rPr>
              <a:t>ccording to a score provided by the company</a:t>
            </a:r>
          </a:p>
        </p:txBody>
      </p:sp>
      <p:sp>
        <p:nvSpPr>
          <p:cNvPr id="23" name="Rectangle 22">
            <a:extLst>
              <a:ext uri="{FF2B5EF4-FFF2-40B4-BE49-F238E27FC236}">
                <a16:creationId xmlns:a16="http://schemas.microsoft.com/office/drawing/2014/main" id="{BA969DEC-3C63-F16B-AB40-8EFAF81CC7CC}"/>
              </a:ext>
            </a:extLst>
          </p:cNvPr>
          <p:cNvSpPr/>
          <p:nvPr/>
        </p:nvSpPr>
        <p:spPr>
          <a:xfrm>
            <a:off x="9187421" y="2075412"/>
            <a:ext cx="339213" cy="33921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4" name="TextBox 23">
            <a:extLst>
              <a:ext uri="{FF2B5EF4-FFF2-40B4-BE49-F238E27FC236}">
                <a16:creationId xmlns:a16="http://schemas.microsoft.com/office/drawing/2014/main" id="{3124591D-3370-BE8B-0E2F-0526DFF7C605}"/>
              </a:ext>
            </a:extLst>
          </p:cNvPr>
          <p:cNvSpPr txBox="1"/>
          <p:nvPr/>
        </p:nvSpPr>
        <p:spPr>
          <a:xfrm>
            <a:off x="2912849" y="2385386"/>
            <a:ext cx="1273105" cy="738664"/>
          </a:xfrm>
          <a:prstGeom prst="rect">
            <a:avLst/>
          </a:prstGeom>
          <a:noFill/>
        </p:spPr>
        <p:txBody>
          <a:bodyPr wrap="none" rtlCol="0">
            <a:spAutoFit/>
          </a:bodyPr>
          <a:lstStyle/>
          <a:p>
            <a:r>
              <a:rPr lang="en-FR" sz="4200" b="1" dirty="0">
                <a:solidFill>
                  <a:srgbClr val="5E5E5E"/>
                </a:solidFill>
                <a:latin typeface="Lato" panose="020F0502020204030203" pitchFamily="34" charset="0"/>
                <a:ea typeface="Lato" panose="020F0502020204030203" pitchFamily="34" charset="0"/>
                <a:cs typeface="Lato" panose="020F0502020204030203" pitchFamily="34" charset="0"/>
              </a:rPr>
              <a:t>M = </a:t>
            </a:r>
          </a:p>
        </p:txBody>
      </p:sp>
      <p:sp>
        <p:nvSpPr>
          <p:cNvPr id="4" name="TextBox 3">
            <a:extLst>
              <a:ext uri="{FF2B5EF4-FFF2-40B4-BE49-F238E27FC236}">
                <a16:creationId xmlns:a16="http://schemas.microsoft.com/office/drawing/2014/main" id="{67D07776-423D-E5FF-1855-8462C50B6824}"/>
              </a:ext>
            </a:extLst>
          </p:cNvPr>
          <p:cNvSpPr txBox="1"/>
          <p:nvPr/>
        </p:nvSpPr>
        <p:spPr>
          <a:xfrm>
            <a:off x="2089933" y="248758"/>
            <a:ext cx="8012130" cy="738664"/>
          </a:xfrm>
          <a:prstGeom prst="rect">
            <a:avLst/>
          </a:prstGeom>
          <a:noFill/>
        </p:spPr>
        <p:txBody>
          <a:bodyPr wrap="none" rtlCol="0">
            <a:spAutoFit/>
          </a:bodyPr>
          <a:lstStyle/>
          <a:p>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The </a:t>
            </a:r>
            <a:r>
              <a:rPr lang="en-FR" sz="4200" b="1" dirty="0">
                <a:solidFill>
                  <a:srgbClr val="FA2743"/>
                </a:solidFill>
                <a:latin typeface="Roboto Black" panose="02000000000000000000" pitchFamily="2" charset="0"/>
                <a:ea typeface="Roboto Black" panose="02000000000000000000" pitchFamily="2" charset="0"/>
                <a:cs typeface="Lato" panose="020F0502020204030203" pitchFamily="34" charset="0"/>
              </a:rPr>
              <a:t>Netflix</a:t>
            </a:r>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 prize (2006 to 2009)</a:t>
            </a:r>
          </a:p>
        </p:txBody>
      </p:sp>
    </p:spTree>
    <p:extLst>
      <p:ext uri="{BB962C8B-B14F-4D97-AF65-F5344CB8AC3E}">
        <p14:creationId xmlns:p14="http://schemas.microsoft.com/office/powerpoint/2010/main" val="3257242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D5DB0F1-968B-292B-844B-85C616E0E6A4}"/>
              </a:ext>
            </a:extLst>
          </p:cNvPr>
          <p:cNvSpPr txBox="1"/>
          <p:nvPr/>
        </p:nvSpPr>
        <p:spPr>
          <a:xfrm>
            <a:off x="779476" y="5161904"/>
            <a:ext cx="10136108"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winning solution was good… but it was </a:t>
            </a:r>
            <a:r>
              <a:rPr lang="en-FR" sz="2400" dirty="0">
                <a:solidFill>
                  <a:srgbClr val="FA2743"/>
                </a:solidFill>
                <a:latin typeface="Roboto Light" panose="02000000000000000000" pitchFamily="2" charset="0"/>
                <a:ea typeface="Roboto Light" panose="02000000000000000000" pitchFamily="2" charset="0"/>
                <a:cs typeface="Lato" panose="020F0502020204030203" pitchFamily="34" charset="0"/>
              </a:rPr>
              <a:t>way too complicated </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to deploy</a:t>
            </a:r>
          </a:p>
        </p:txBody>
      </p:sp>
      <p:pic>
        <p:nvPicPr>
          <p:cNvPr id="6" name="Picture 5" descr="Text&#10;&#10;Description automatically generated">
            <a:extLst>
              <a:ext uri="{FF2B5EF4-FFF2-40B4-BE49-F238E27FC236}">
                <a16:creationId xmlns:a16="http://schemas.microsoft.com/office/drawing/2014/main" id="{FD782E74-FF56-E990-750F-9917670967F5}"/>
              </a:ext>
            </a:extLst>
          </p:cNvPr>
          <p:cNvPicPr>
            <a:picLocks noChangeAspect="1"/>
          </p:cNvPicPr>
          <p:nvPr/>
        </p:nvPicPr>
        <p:blipFill>
          <a:blip r:embed="rId2"/>
          <a:stretch>
            <a:fillRect/>
          </a:stretch>
        </p:blipFill>
        <p:spPr>
          <a:xfrm>
            <a:off x="2725988" y="1361576"/>
            <a:ext cx="6740017" cy="3426175"/>
          </a:xfrm>
          <a:prstGeom prst="rect">
            <a:avLst/>
          </a:prstGeom>
        </p:spPr>
      </p:pic>
      <p:sp>
        <p:nvSpPr>
          <p:cNvPr id="24" name="TextBox 23">
            <a:extLst>
              <a:ext uri="{FF2B5EF4-FFF2-40B4-BE49-F238E27FC236}">
                <a16:creationId xmlns:a16="http://schemas.microsoft.com/office/drawing/2014/main" id="{24C1F903-FD35-2919-0FC0-34EABB713796}"/>
              </a:ext>
            </a:extLst>
          </p:cNvPr>
          <p:cNvSpPr txBox="1"/>
          <p:nvPr/>
        </p:nvSpPr>
        <p:spPr>
          <a:xfrm>
            <a:off x="779476" y="5751500"/>
            <a:ext cx="1063303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Nevertheless, it contained some </a:t>
            </a:r>
            <a:r>
              <a:rPr lang="en-FR" sz="2400" dirty="0">
                <a:solidFill>
                  <a:srgbClr val="FA2743"/>
                </a:solidFill>
                <a:latin typeface="Roboto Light" panose="02000000000000000000" pitchFamily="2" charset="0"/>
                <a:ea typeface="Roboto Light" panose="02000000000000000000" pitchFamily="2" charset="0"/>
                <a:cs typeface="Lato" panose="020F0502020204030203" pitchFamily="34" charset="0"/>
              </a:rPr>
              <a:t>interesting ideas </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that became standard in ML</a:t>
            </a:r>
          </a:p>
        </p:txBody>
      </p:sp>
      <p:sp>
        <p:nvSpPr>
          <p:cNvPr id="2" name="TextBox 1">
            <a:extLst>
              <a:ext uri="{FF2B5EF4-FFF2-40B4-BE49-F238E27FC236}">
                <a16:creationId xmlns:a16="http://schemas.microsoft.com/office/drawing/2014/main" id="{EF6E70CF-3AFF-A3AF-973D-B53F18DA8EAF}"/>
              </a:ext>
            </a:extLst>
          </p:cNvPr>
          <p:cNvSpPr txBox="1"/>
          <p:nvPr/>
        </p:nvSpPr>
        <p:spPr>
          <a:xfrm>
            <a:off x="2089933" y="248758"/>
            <a:ext cx="8012130" cy="738664"/>
          </a:xfrm>
          <a:prstGeom prst="rect">
            <a:avLst/>
          </a:prstGeom>
          <a:noFill/>
        </p:spPr>
        <p:txBody>
          <a:bodyPr wrap="none" rtlCol="0">
            <a:spAutoFit/>
          </a:bodyPr>
          <a:lstStyle/>
          <a:p>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The </a:t>
            </a:r>
            <a:r>
              <a:rPr lang="en-FR" sz="4200" b="1" dirty="0">
                <a:solidFill>
                  <a:srgbClr val="FA2743"/>
                </a:solidFill>
                <a:latin typeface="Roboto Black" panose="02000000000000000000" pitchFamily="2" charset="0"/>
                <a:ea typeface="Roboto Black" panose="02000000000000000000" pitchFamily="2" charset="0"/>
                <a:cs typeface="Lato" panose="020F0502020204030203" pitchFamily="34" charset="0"/>
              </a:rPr>
              <a:t>Netflix</a:t>
            </a:r>
            <a:r>
              <a:rPr lang="en-FR" sz="4200" b="1" dirty="0">
                <a:solidFill>
                  <a:srgbClr val="5E5E5E"/>
                </a:solidFill>
                <a:latin typeface="Roboto Black" panose="02000000000000000000" pitchFamily="2" charset="0"/>
                <a:ea typeface="Roboto Black" panose="02000000000000000000" pitchFamily="2" charset="0"/>
                <a:cs typeface="Lato" panose="020F0502020204030203" pitchFamily="34" charset="0"/>
              </a:rPr>
              <a:t> prize (2006 to 2009)</a:t>
            </a:r>
          </a:p>
        </p:txBody>
      </p:sp>
    </p:spTree>
    <p:extLst>
      <p:ext uri="{BB962C8B-B14F-4D97-AF65-F5344CB8AC3E}">
        <p14:creationId xmlns:p14="http://schemas.microsoft.com/office/powerpoint/2010/main" val="3924994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DAF323-FAD1-DE30-4AFD-BDD8B28B0720}"/>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pic>
        <p:nvPicPr>
          <p:cNvPr id="5" name="Graphic 4" descr="Right pointing backhand index outline">
            <a:extLst>
              <a:ext uri="{FF2B5EF4-FFF2-40B4-BE49-F238E27FC236}">
                <a16:creationId xmlns:a16="http://schemas.microsoft.com/office/drawing/2014/main" id="{8538E42E-F69C-00BB-E335-14D530B8A2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7707" y="2602416"/>
            <a:ext cx="1083311" cy="1083311"/>
          </a:xfrm>
          <a:prstGeom prst="rect">
            <a:avLst/>
          </a:prstGeom>
        </p:spPr>
      </p:pic>
      <p:sp>
        <p:nvSpPr>
          <p:cNvPr id="6" name="TextBox 5">
            <a:extLst>
              <a:ext uri="{FF2B5EF4-FFF2-40B4-BE49-F238E27FC236}">
                <a16:creationId xmlns:a16="http://schemas.microsoft.com/office/drawing/2014/main" id="{00B0C4B5-0DDA-38F0-2008-D76C97B2AFCB}"/>
              </a:ext>
            </a:extLst>
          </p:cNvPr>
          <p:cNvSpPr txBox="1"/>
          <p:nvPr/>
        </p:nvSpPr>
        <p:spPr>
          <a:xfrm>
            <a:off x="2743960" y="2602416"/>
            <a:ext cx="7314823" cy="2123658"/>
          </a:xfrm>
          <a:prstGeom prst="rect">
            <a:avLst/>
          </a:prstGeom>
          <a:noFill/>
        </p:spPr>
        <p:txBody>
          <a:bodyPr wrap="none" rtlCol="0">
            <a:spAutoFit/>
          </a:bodyPr>
          <a:lstStyle/>
          <a:p>
            <a:pPr marL="571500" indent="-571500">
              <a:buFont typeface="Courier New" panose="02070309020205020404" pitchFamily="49" charset="0"/>
              <a:buChar char="o"/>
            </a:pPr>
            <a:r>
              <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rPr>
              <a:t>Data science competitions</a:t>
            </a:r>
          </a:p>
          <a:p>
            <a:endPar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a:p>
            <a:pPr marL="571500" indent="-571500">
              <a:buFont typeface="Courier New" panose="02070309020205020404" pitchFamily="49" charset="0"/>
              <a:buChar char="o"/>
            </a:pPr>
            <a:r>
              <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rPr>
              <a:t>Performance metrics</a:t>
            </a:r>
          </a:p>
        </p:txBody>
      </p:sp>
    </p:spTree>
    <p:extLst>
      <p:ext uri="{BB962C8B-B14F-4D97-AF65-F5344CB8AC3E}">
        <p14:creationId xmlns:p14="http://schemas.microsoft.com/office/powerpoint/2010/main" val="1503521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DAF323-FAD1-DE30-4AFD-BDD8B28B0720}"/>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6" name="TextBox 5">
            <a:extLst>
              <a:ext uri="{FF2B5EF4-FFF2-40B4-BE49-F238E27FC236}">
                <a16:creationId xmlns:a16="http://schemas.microsoft.com/office/drawing/2014/main" id="{B93D9EC4-CEC7-36AE-5DDA-258033964660}"/>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Data science competitions</a:t>
            </a:r>
          </a:p>
        </p:txBody>
      </p:sp>
      <p:sp>
        <p:nvSpPr>
          <p:cNvPr id="2" name="TextBox 1">
            <a:extLst>
              <a:ext uri="{FF2B5EF4-FFF2-40B4-BE49-F238E27FC236}">
                <a16:creationId xmlns:a16="http://schemas.microsoft.com/office/drawing/2014/main" id="{DFD97BE0-1E43-7C08-EA2C-2E078AF6CEE7}"/>
              </a:ext>
            </a:extLst>
          </p:cNvPr>
          <p:cNvSpPr txBox="1"/>
          <p:nvPr/>
        </p:nvSpPr>
        <p:spPr>
          <a:xfrm>
            <a:off x="645147" y="990400"/>
            <a:ext cx="8154797"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Data science competitions are always </a:t>
            </a:r>
            <a:r>
              <a:rPr lang="en-FR" sz="2400" dirty="0">
                <a:solidFill>
                  <a:srgbClr val="FF0000"/>
                </a:solidFill>
                <a:latin typeface="Roboto Light" panose="02000000000000000000" pitchFamily="2" charset="0"/>
                <a:ea typeface="Roboto Light" panose="02000000000000000000" pitchFamily="2" charset="0"/>
                <a:cs typeface="Lato" panose="020F0502020204030203" pitchFamily="34" charset="0"/>
              </a:rPr>
              <a:t>supervised</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problems</a:t>
            </a:r>
          </a:p>
        </p:txBody>
      </p:sp>
      <p:sp>
        <p:nvSpPr>
          <p:cNvPr id="10" name="TextBox 9">
            <a:extLst>
              <a:ext uri="{FF2B5EF4-FFF2-40B4-BE49-F238E27FC236}">
                <a16:creationId xmlns:a16="http://schemas.microsoft.com/office/drawing/2014/main" id="{11D8132C-D5F5-404A-70A3-43C3B90BABCB}"/>
              </a:ext>
            </a:extLst>
          </p:cNvPr>
          <p:cNvSpPr txBox="1"/>
          <p:nvPr/>
        </p:nvSpPr>
        <p:spPr>
          <a:xfrm>
            <a:off x="6245900" y="1356724"/>
            <a:ext cx="739305" cy="307777"/>
          </a:xfrm>
          <a:prstGeom prst="rect">
            <a:avLst/>
          </a:prstGeom>
          <a:noFill/>
        </p:spPr>
        <p:txBody>
          <a:bodyPr wrap="none" rtlCol="0">
            <a:spAutoFit/>
          </a:bodyPr>
          <a:lstStyle/>
          <a:p>
            <a:r>
              <a:rPr lang="en-FR" sz="1400" dirty="0">
                <a:solidFill>
                  <a:srgbClr val="FF0000"/>
                </a:solidFill>
                <a:latin typeface="Lato" panose="020F0502020204030203" pitchFamily="34" charset="0"/>
                <a:ea typeface="Lato" panose="020F0502020204030203" pitchFamily="34" charset="0"/>
                <a:cs typeface="Lato" panose="020F0502020204030203" pitchFamily="34" charset="0"/>
              </a:rPr>
              <a:t>(Why?)</a:t>
            </a:r>
          </a:p>
        </p:txBody>
      </p:sp>
      <p:sp>
        <p:nvSpPr>
          <p:cNvPr id="11" name="TextBox 10">
            <a:extLst>
              <a:ext uri="{FF2B5EF4-FFF2-40B4-BE49-F238E27FC236}">
                <a16:creationId xmlns:a16="http://schemas.microsoft.com/office/drawing/2014/main" id="{B1A59944-5A63-6244-ED61-EA69E2452CA5}"/>
              </a:ext>
            </a:extLst>
          </p:cNvPr>
          <p:cNvSpPr txBox="1"/>
          <p:nvPr/>
        </p:nvSpPr>
        <p:spPr>
          <a:xfrm>
            <a:off x="645147" y="1718161"/>
            <a:ext cx="9398727"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goal is to obtain a function     for which every      yields prediction</a:t>
            </a:r>
          </a:p>
        </p:txBody>
      </p:sp>
      <p:pic>
        <p:nvPicPr>
          <p:cNvPr id="14" name="Picture 13">
            <a:extLst>
              <a:ext uri="{FF2B5EF4-FFF2-40B4-BE49-F238E27FC236}">
                <a16:creationId xmlns:a16="http://schemas.microsoft.com/office/drawing/2014/main" id="{E12CA65B-52E6-8403-A5D1-71DB76058CD7}"/>
              </a:ext>
            </a:extLst>
          </p:cNvPr>
          <p:cNvPicPr>
            <a:picLocks noChangeAspect="1"/>
          </p:cNvPicPr>
          <p:nvPr/>
        </p:nvPicPr>
        <p:blipFill>
          <a:blip r:embed="rId2"/>
          <a:stretch>
            <a:fillRect/>
          </a:stretch>
        </p:blipFill>
        <p:spPr>
          <a:xfrm>
            <a:off x="4951090" y="1800843"/>
            <a:ext cx="177800" cy="304800"/>
          </a:xfrm>
          <a:prstGeom prst="rect">
            <a:avLst/>
          </a:prstGeom>
        </p:spPr>
      </p:pic>
      <p:pic>
        <p:nvPicPr>
          <p:cNvPr id="23" name="Picture 22">
            <a:extLst>
              <a:ext uri="{FF2B5EF4-FFF2-40B4-BE49-F238E27FC236}">
                <a16:creationId xmlns:a16="http://schemas.microsoft.com/office/drawing/2014/main" id="{BBB4CC04-9DE5-7FE0-2BD6-84CC7FEB6B80}"/>
              </a:ext>
            </a:extLst>
          </p:cNvPr>
          <p:cNvPicPr>
            <a:picLocks noChangeAspect="1"/>
          </p:cNvPicPr>
          <p:nvPr/>
        </p:nvPicPr>
        <p:blipFill>
          <a:blip r:embed="rId3"/>
          <a:stretch>
            <a:fillRect/>
          </a:stretch>
        </p:blipFill>
        <p:spPr>
          <a:xfrm>
            <a:off x="7369515" y="1888618"/>
            <a:ext cx="190500" cy="152400"/>
          </a:xfrm>
          <a:prstGeom prst="rect">
            <a:avLst/>
          </a:prstGeom>
        </p:spPr>
      </p:pic>
      <p:pic>
        <p:nvPicPr>
          <p:cNvPr id="24" name="Picture 23">
            <a:extLst>
              <a:ext uri="{FF2B5EF4-FFF2-40B4-BE49-F238E27FC236}">
                <a16:creationId xmlns:a16="http://schemas.microsoft.com/office/drawing/2014/main" id="{6DC3880F-91BF-AD1D-5F0A-4C119E29A033}"/>
              </a:ext>
            </a:extLst>
          </p:cNvPr>
          <p:cNvPicPr>
            <a:picLocks noChangeAspect="1"/>
          </p:cNvPicPr>
          <p:nvPr/>
        </p:nvPicPr>
        <p:blipFill>
          <a:blip r:embed="rId4"/>
          <a:stretch>
            <a:fillRect/>
          </a:stretch>
        </p:blipFill>
        <p:spPr>
          <a:xfrm>
            <a:off x="9986447" y="1800843"/>
            <a:ext cx="609600" cy="342900"/>
          </a:xfrm>
          <a:prstGeom prst="rect">
            <a:avLst/>
          </a:prstGeom>
        </p:spPr>
      </p:pic>
      <p:grpSp>
        <p:nvGrpSpPr>
          <p:cNvPr id="34" name="Group 33">
            <a:extLst>
              <a:ext uri="{FF2B5EF4-FFF2-40B4-BE49-F238E27FC236}">
                <a16:creationId xmlns:a16="http://schemas.microsoft.com/office/drawing/2014/main" id="{014D3C29-60F6-A0BC-3894-6A362B97893C}"/>
              </a:ext>
            </a:extLst>
          </p:cNvPr>
          <p:cNvGrpSpPr/>
          <p:nvPr/>
        </p:nvGrpSpPr>
        <p:grpSpPr>
          <a:xfrm>
            <a:off x="645147" y="2445922"/>
            <a:ext cx="9008249" cy="461665"/>
            <a:chOff x="240032" y="2269169"/>
            <a:chExt cx="9008249" cy="461665"/>
          </a:xfrm>
        </p:grpSpPr>
        <p:sp>
          <p:nvSpPr>
            <p:cNvPr id="32" name="TextBox 31">
              <a:extLst>
                <a:ext uri="{FF2B5EF4-FFF2-40B4-BE49-F238E27FC236}">
                  <a16:creationId xmlns:a16="http://schemas.microsoft.com/office/drawing/2014/main" id="{75BFE5EB-FEF5-AB09-76A8-87736E949C52}"/>
                </a:ext>
              </a:extLst>
            </p:cNvPr>
            <p:cNvSpPr txBox="1"/>
            <p:nvPr/>
          </p:nvSpPr>
          <p:spPr>
            <a:xfrm>
              <a:off x="240032" y="2269169"/>
              <a:ext cx="7883890"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Such predictions should be close to the observations, i.e. </a:t>
              </a:r>
            </a:p>
          </p:txBody>
        </p:sp>
        <p:pic>
          <p:nvPicPr>
            <p:cNvPr id="33" name="Picture 32">
              <a:extLst>
                <a:ext uri="{FF2B5EF4-FFF2-40B4-BE49-F238E27FC236}">
                  <a16:creationId xmlns:a16="http://schemas.microsoft.com/office/drawing/2014/main" id="{D7459692-D8A6-3909-96FC-6929767D6CD6}"/>
                </a:ext>
              </a:extLst>
            </p:cNvPr>
            <p:cNvPicPr>
              <a:picLocks noChangeAspect="1"/>
            </p:cNvPicPr>
            <p:nvPr/>
          </p:nvPicPr>
          <p:blipFill>
            <a:blip r:embed="rId5"/>
            <a:stretch>
              <a:fillRect/>
            </a:stretch>
          </p:blipFill>
          <p:spPr>
            <a:xfrm>
              <a:off x="8016381" y="2313162"/>
              <a:ext cx="1231900" cy="342900"/>
            </a:xfrm>
            <a:prstGeom prst="rect">
              <a:avLst/>
            </a:prstGeom>
          </p:spPr>
        </p:pic>
      </p:grpSp>
      <p:sp>
        <p:nvSpPr>
          <p:cNvPr id="35" name="Oval 34">
            <a:extLst>
              <a:ext uri="{FF2B5EF4-FFF2-40B4-BE49-F238E27FC236}">
                <a16:creationId xmlns:a16="http://schemas.microsoft.com/office/drawing/2014/main" id="{661CB52E-E236-2819-94B5-BD37DC7CA548}"/>
              </a:ext>
            </a:extLst>
          </p:cNvPr>
          <p:cNvSpPr/>
          <p:nvPr/>
        </p:nvSpPr>
        <p:spPr>
          <a:xfrm>
            <a:off x="443533" y="1122398"/>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7" name="Oval 36">
            <a:extLst>
              <a:ext uri="{FF2B5EF4-FFF2-40B4-BE49-F238E27FC236}">
                <a16:creationId xmlns:a16="http://schemas.microsoft.com/office/drawing/2014/main" id="{3412790F-5A37-8002-CD10-7C8D04F69E52}"/>
              </a:ext>
            </a:extLst>
          </p:cNvPr>
          <p:cNvSpPr/>
          <p:nvPr/>
        </p:nvSpPr>
        <p:spPr>
          <a:xfrm>
            <a:off x="438853" y="1869798"/>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9" name="Oval 38">
            <a:extLst>
              <a:ext uri="{FF2B5EF4-FFF2-40B4-BE49-F238E27FC236}">
                <a16:creationId xmlns:a16="http://schemas.microsoft.com/office/drawing/2014/main" id="{0F221131-C289-B647-E86B-7653F61041A0}"/>
              </a:ext>
            </a:extLst>
          </p:cNvPr>
          <p:cNvSpPr/>
          <p:nvPr/>
        </p:nvSpPr>
        <p:spPr>
          <a:xfrm>
            <a:off x="438852" y="2589495"/>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0" name="TextBox 39">
            <a:extLst>
              <a:ext uri="{FF2B5EF4-FFF2-40B4-BE49-F238E27FC236}">
                <a16:creationId xmlns:a16="http://schemas.microsoft.com/office/drawing/2014/main" id="{349EE4E3-101A-E414-9BD8-3EF044394578}"/>
              </a:ext>
            </a:extLst>
          </p:cNvPr>
          <p:cNvSpPr txBox="1"/>
          <p:nvPr/>
        </p:nvSpPr>
        <p:spPr>
          <a:xfrm>
            <a:off x="240033" y="3854134"/>
            <a:ext cx="7880684"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Every challenge contains at least three files to </a:t>
            </a:r>
            <a:r>
              <a:rPr lang="en-FR" sz="2400" dirty="0">
                <a:solidFill>
                  <a:srgbClr val="FA2743"/>
                </a:solidFill>
                <a:latin typeface="Roboto Light" panose="02000000000000000000" pitchFamily="2" charset="0"/>
                <a:ea typeface="Roboto Light" panose="02000000000000000000" pitchFamily="2" charset="0"/>
                <a:cs typeface="Lato" panose="020F0502020204030203" pitchFamily="34" charset="0"/>
              </a:rPr>
              <a:t>download</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t>
            </a:r>
          </a:p>
        </p:txBody>
      </p:sp>
      <p:grpSp>
        <p:nvGrpSpPr>
          <p:cNvPr id="51" name="Group 50">
            <a:extLst>
              <a:ext uri="{FF2B5EF4-FFF2-40B4-BE49-F238E27FC236}">
                <a16:creationId xmlns:a16="http://schemas.microsoft.com/office/drawing/2014/main" id="{2E01EFEC-5F2F-CFDE-4DC1-55C609C3EBC7}"/>
              </a:ext>
            </a:extLst>
          </p:cNvPr>
          <p:cNvGrpSpPr/>
          <p:nvPr/>
        </p:nvGrpSpPr>
        <p:grpSpPr>
          <a:xfrm>
            <a:off x="2742218" y="4522993"/>
            <a:ext cx="7276313" cy="1956566"/>
            <a:chOff x="3051969" y="3908802"/>
            <a:chExt cx="7276313" cy="1956566"/>
          </a:xfrm>
        </p:grpSpPr>
        <p:sp>
          <p:nvSpPr>
            <p:cNvPr id="41" name="TextBox 40">
              <a:extLst>
                <a:ext uri="{FF2B5EF4-FFF2-40B4-BE49-F238E27FC236}">
                  <a16:creationId xmlns:a16="http://schemas.microsoft.com/office/drawing/2014/main" id="{5986FAED-828F-EC66-2468-4A9DD781C14A}"/>
                </a:ext>
              </a:extLst>
            </p:cNvPr>
            <p:cNvSpPr txBox="1"/>
            <p:nvPr/>
          </p:nvSpPr>
          <p:spPr>
            <a:xfrm>
              <a:off x="3234874" y="3982317"/>
              <a:ext cx="1374094" cy="430887"/>
            </a:xfrm>
            <a:prstGeom prst="rect">
              <a:avLst/>
            </a:prstGeom>
            <a:noFill/>
          </p:spPr>
          <p:txBody>
            <a:bodyPr wrap="none" rtlCol="0">
              <a:spAutoFit/>
            </a:bodyPr>
            <a:lstStyle/>
            <a:p>
              <a:r>
                <a:rPr lang="en-GB" sz="2200" dirty="0">
                  <a:solidFill>
                    <a:srgbClr val="5E5E5E"/>
                  </a:solidFill>
                  <a:latin typeface="Courier New" panose="02070309020205020404" pitchFamily="49" charset="0"/>
                  <a:cs typeface="Courier New" panose="02070309020205020404" pitchFamily="49" charset="0"/>
                </a:rPr>
                <a:t>x</a:t>
              </a:r>
              <a:r>
                <a:rPr lang="en-FR" sz="2200" dirty="0">
                  <a:solidFill>
                    <a:srgbClr val="5E5E5E"/>
                  </a:solidFill>
                  <a:latin typeface="Courier New" panose="02070309020205020404" pitchFamily="49" charset="0"/>
                  <a:cs typeface="Courier New" panose="02070309020205020404" pitchFamily="49" charset="0"/>
                </a:rPr>
                <a:t>_train</a:t>
              </a:r>
            </a:p>
          </p:txBody>
        </p:sp>
        <p:sp>
          <p:nvSpPr>
            <p:cNvPr id="42" name="TextBox 41">
              <a:extLst>
                <a:ext uri="{FF2B5EF4-FFF2-40B4-BE49-F238E27FC236}">
                  <a16:creationId xmlns:a16="http://schemas.microsoft.com/office/drawing/2014/main" id="{4900EDDC-FA37-7082-BE27-A5DBF2F3F1A2}"/>
                </a:ext>
              </a:extLst>
            </p:cNvPr>
            <p:cNvSpPr txBox="1"/>
            <p:nvPr/>
          </p:nvSpPr>
          <p:spPr>
            <a:xfrm>
              <a:off x="3234874" y="4455264"/>
              <a:ext cx="1374094" cy="430887"/>
            </a:xfrm>
            <a:prstGeom prst="rect">
              <a:avLst/>
            </a:prstGeom>
            <a:noFill/>
          </p:spPr>
          <p:txBody>
            <a:bodyPr wrap="none" rtlCol="0">
              <a:spAutoFit/>
            </a:bodyPr>
            <a:lstStyle/>
            <a:p>
              <a:r>
                <a:rPr lang="en-GB" sz="2200" dirty="0">
                  <a:solidFill>
                    <a:srgbClr val="5E5E5E"/>
                  </a:solidFill>
                  <a:latin typeface="Courier New" panose="02070309020205020404" pitchFamily="49" charset="0"/>
                  <a:cs typeface="Courier New" panose="02070309020205020404" pitchFamily="49" charset="0"/>
                </a:rPr>
                <a:t>y</a:t>
              </a:r>
              <a:r>
                <a:rPr lang="en-FR" sz="2200" dirty="0">
                  <a:solidFill>
                    <a:srgbClr val="5E5E5E"/>
                  </a:solidFill>
                  <a:latin typeface="Courier New" panose="02070309020205020404" pitchFamily="49" charset="0"/>
                  <a:cs typeface="Courier New" panose="02070309020205020404" pitchFamily="49" charset="0"/>
                </a:rPr>
                <a:t>_train</a:t>
              </a:r>
            </a:p>
          </p:txBody>
        </p:sp>
        <p:sp>
          <p:nvSpPr>
            <p:cNvPr id="43" name="TextBox 42">
              <a:extLst>
                <a:ext uri="{FF2B5EF4-FFF2-40B4-BE49-F238E27FC236}">
                  <a16:creationId xmlns:a16="http://schemas.microsoft.com/office/drawing/2014/main" id="{1B662C12-3065-8B04-49C4-AFA15E117689}"/>
                </a:ext>
              </a:extLst>
            </p:cNvPr>
            <p:cNvSpPr txBox="1"/>
            <p:nvPr/>
          </p:nvSpPr>
          <p:spPr>
            <a:xfrm>
              <a:off x="3308258" y="5289570"/>
              <a:ext cx="1204176" cy="430887"/>
            </a:xfrm>
            <a:prstGeom prst="rect">
              <a:avLst/>
            </a:prstGeom>
            <a:noFill/>
          </p:spPr>
          <p:txBody>
            <a:bodyPr wrap="none" rtlCol="0">
              <a:spAutoFit/>
            </a:bodyPr>
            <a:lstStyle/>
            <a:p>
              <a:r>
                <a:rPr lang="en-GB" sz="2200" dirty="0">
                  <a:solidFill>
                    <a:srgbClr val="5E5E5E"/>
                  </a:solidFill>
                  <a:latin typeface="Courier New" panose="02070309020205020404" pitchFamily="49" charset="0"/>
                  <a:cs typeface="Courier New" panose="02070309020205020404" pitchFamily="49" charset="0"/>
                </a:rPr>
                <a:t>x</a:t>
              </a:r>
              <a:r>
                <a:rPr lang="en-FR" sz="2200" dirty="0">
                  <a:solidFill>
                    <a:srgbClr val="5E5E5E"/>
                  </a:solidFill>
                  <a:latin typeface="Courier New" panose="02070309020205020404" pitchFamily="49" charset="0"/>
                  <a:cs typeface="Courier New" panose="02070309020205020404" pitchFamily="49" charset="0"/>
                </a:rPr>
                <a:t>_test</a:t>
              </a:r>
            </a:p>
          </p:txBody>
        </p:sp>
        <p:sp>
          <p:nvSpPr>
            <p:cNvPr id="46" name="Rounded Rectangle 45">
              <a:extLst>
                <a:ext uri="{FF2B5EF4-FFF2-40B4-BE49-F238E27FC236}">
                  <a16:creationId xmlns:a16="http://schemas.microsoft.com/office/drawing/2014/main" id="{618A2CA3-B63C-9EEA-9133-55E2EDF65E28}"/>
                </a:ext>
              </a:extLst>
            </p:cNvPr>
            <p:cNvSpPr/>
            <p:nvPr/>
          </p:nvSpPr>
          <p:spPr>
            <a:xfrm>
              <a:off x="3051970" y="3908802"/>
              <a:ext cx="1780211" cy="1067231"/>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7" name="Rounded Rectangle 46">
              <a:extLst>
                <a:ext uri="{FF2B5EF4-FFF2-40B4-BE49-F238E27FC236}">
                  <a16:creationId xmlns:a16="http://schemas.microsoft.com/office/drawing/2014/main" id="{F8277F41-E5CD-1416-052D-729B69274B1E}"/>
                </a:ext>
              </a:extLst>
            </p:cNvPr>
            <p:cNvSpPr/>
            <p:nvPr/>
          </p:nvSpPr>
          <p:spPr>
            <a:xfrm>
              <a:off x="3051969" y="5166488"/>
              <a:ext cx="1780211" cy="698880"/>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9" name="TextBox 48">
              <a:extLst>
                <a:ext uri="{FF2B5EF4-FFF2-40B4-BE49-F238E27FC236}">
                  <a16:creationId xmlns:a16="http://schemas.microsoft.com/office/drawing/2014/main" id="{94EA9828-8DA8-151D-E5E8-B0B75348B3A6}"/>
                </a:ext>
              </a:extLst>
            </p:cNvPr>
            <p:cNvSpPr txBox="1"/>
            <p:nvPr/>
          </p:nvSpPr>
          <p:spPr>
            <a:xfrm>
              <a:off x="5015085" y="4093428"/>
              <a:ext cx="5313197" cy="646331"/>
            </a:xfrm>
            <a:prstGeom prst="rect">
              <a:avLst/>
            </a:prstGeom>
            <a:noFill/>
          </p:spPr>
          <p:txBody>
            <a:bodyPr wrap="square">
              <a:spAutoFit/>
            </a:bodyPr>
            <a:lstStyle/>
            <a:p>
              <a:r>
                <a:rPr lang="en-GB" dirty="0">
                  <a:solidFill>
                    <a:srgbClr val="5E5E5E"/>
                  </a:solidFill>
                  <a:latin typeface="Roboto Light" panose="02000000000000000000" pitchFamily="2" charset="0"/>
                  <a:ea typeface="Roboto Light" panose="02000000000000000000" pitchFamily="2" charset="0"/>
                  <a:cs typeface="Lato" panose="020F0502020204030203" pitchFamily="34" charset="0"/>
                </a:rPr>
                <a:t>the data on which participants will elaborate and train their model to learn the prediction function</a:t>
              </a:r>
              <a:endParaRPr lang="en-FR"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p:txBody>
        </p:sp>
        <p:sp>
          <p:nvSpPr>
            <p:cNvPr id="50" name="TextBox 49">
              <a:extLst>
                <a:ext uri="{FF2B5EF4-FFF2-40B4-BE49-F238E27FC236}">
                  <a16:creationId xmlns:a16="http://schemas.microsoft.com/office/drawing/2014/main" id="{433D22FD-E62D-4185-DAEE-007E12E0A37A}"/>
                </a:ext>
              </a:extLst>
            </p:cNvPr>
            <p:cNvSpPr txBox="1"/>
            <p:nvPr/>
          </p:nvSpPr>
          <p:spPr>
            <a:xfrm>
              <a:off x="5015085" y="5318010"/>
              <a:ext cx="3212099" cy="369332"/>
            </a:xfrm>
            <a:prstGeom prst="rect">
              <a:avLst/>
            </a:prstGeom>
            <a:noFill/>
          </p:spPr>
          <p:txBody>
            <a:bodyPr wrap="square">
              <a:spAutoFit/>
            </a:bodyPr>
            <a:lstStyle/>
            <a:p>
              <a:r>
                <a:rPr lang="en-GB" dirty="0">
                  <a:solidFill>
                    <a:srgbClr val="5E5E5E"/>
                  </a:solidFill>
                  <a:latin typeface="Roboto Light" panose="02000000000000000000" pitchFamily="2" charset="0"/>
                  <a:ea typeface="Roboto Light" panose="02000000000000000000" pitchFamily="2" charset="0"/>
                  <a:cs typeface="Lato" panose="020F0502020204030203" pitchFamily="34" charset="0"/>
                </a:rPr>
                <a:t>the data used for evaluation</a:t>
              </a:r>
              <a:endParaRPr lang="en-FR"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p:txBody>
        </p:sp>
      </p:grpSp>
      <p:sp>
        <p:nvSpPr>
          <p:cNvPr id="52" name="TextBox 51">
            <a:extLst>
              <a:ext uri="{FF2B5EF4-FFF2-40B4-BE49-F238E27FC236}">
                <a16:creationId xmlns:a16="http://schemas.microsoft.com/office/drawing/2014/main" id="{37AEDD46-DCAA-D4C5-9D22-B8564FD8F4BF}"/>
              </a:ext>
            </a:extLst>
          </p:cNvPr>
          <p:cNvSpPr txBox="1"/>
          <p:nvPr/>
        </p:nvSpPr>
        <p:spPr>
          <a:xfrm>
            <a:off x="279789" y="3152653"/>
            <a:ext cx="1402948" cy="461665"/>
          </a:xfrm>
          <a:prstGeom prst="rect">
            <a:avLst/>
          </a:prstGeom>
          <a:noFill/>
        </p:spPr>
        <p:txBody>
          <a:bodyPr wrap="none" rtlCol="0">
            <a:spAutoFit/>
          </a:bodyPr>
          <a:lstStyle/>
          <a:p>
            <a:r>
              <a:rPr lang="en-FR" sz="2400" b="1" dirty="0">
                <a:solidFill>
                  <a:srgbClr val="FA2743"/>
                </a:solidFill>
                <a:latin typeface="Roboto Black" panose="02000000000000000000" pitchFamily="2" charset="0"/>
                <a:ea typeface="Roboto Black" panose="02000000000000000000" pitchFamily="2" charset="0"/>
                <a:cs typeface="Lato" panose="020F0502020204030203" pitchFamily="34" charset="0"/>
              </a:rPr>
              <a:t>The data</a:t>
            </a:r>
          </a:p>
        </p:txBody>
      </p:sp>
      <p:sp>
        <p:nvSpPr>
          <p:cNvPr id="53" name="Rectangle 52">
            <a:extLst>
              <a:ext uri="{FF2B5EF4-FFF2-40B4-BE49-F238E27FC236}">
                <a16:creationId xmlns:a16="http://schemas.microsoft.com/office/drawing/2014/main" id="{FB4AC012-5511-4697-F152-CD2AE41B2823}"/>
              </a:ext>
            </a:extLst>
          </p:cNvPr>
          <p:cNvSpPr/>
          <p:nvPr/>
        </p:nvSpPr>
        <p:spPr>
          <a:xfrm>
            <a:off x="302577" y="3625998"/>
            <a:ext cx="1340403" cy="83775"/>
          </a:xfrm>
          <a:prstGeom prst="rect">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3675346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low confidence">
            <a:extLst>
              <a:ext uri="{FF2B5EF4-FFF2-40B4-BE49-F238E27FC236}">
                <a16:creationId xmlns:a16="http://schemas.microsoft.com/office/drawing/2014/main" id="{BCA20EE8-01D8-3B90-AAEA-B5BD259A8134}"/>
              </a:ext>
            </a:extLst>
          </p:cNvPr>
          <p:cNvPicPr>
            <a:picLocks noChangeAspect="1"/>
          </p:cNvPicPr>
          <p:nvPr/>
        </p:nvPicPr>
        <p:blipFill>
          <a:blip r:embed="rId2"/>
          <a:stretch>
            <a:fillRect/>
          </a:stretch>
        </p:blipFill>
        <p:spPr>
          <a:xfrm>
            <a:off x="2099929" y="365775"/>
            <a:ext cx="7993871" cy="1523346"/>
          </a:xfrm>
          <a:prstGeom prst="rect">
            <a:avLst/>
          </a:prstGeom>
        </p:spPr>
      </p:pic>
      <p:sp>
        <p:nvSpPr>
          <p:cNvPr id="7" name="TextBox 6">
            <a:extLst>
              <a:ext uri="{FF2B5EF4-FFF2-40B4-BE49-F238E27FC236}">
                <a16:creationId xmlns:a16="http://schemas.microsoft.com/office/drawing/2014/main" id="{1A77FD98-BBA6-688E-5258-20858FCE90A8}"/>
              </a:ext>
            </a:extLst>
          </p:cNvPr>
          <p:cNvSpPr txBox="1"/>
          <p:nvPr/>
        </p:nvSpPr>
        <p:spPr>
          <a:xfrm>
            <a:off x="2098200" y="1946909"/>
            <a:ext cx="7571303" cy="369332"/>
          </a:xfrm>
          <a:prstGeom prst="rect">
            <a:avLst/>
          </a:prstGeom>
          <a:noFill/>
        </p:spPr>
        <p:txBody>
          <a:bodyPr wrap="none" rtlCol="0">
            <a:spAutoFit/>
          </a:bodyPr>
          <a:lstStyle/>
          <a:p>
            <a:pPr marL="285750" indent="-285750">
              <a:buClr>
                <a:srgbClr val="0070C0"/>
              </a:buClr>
              <a:buFont typeface="Helvetica Neue" panose="02000503000000020004" pitchFamily="2" charset="0"/>
              <a:buChar char="⮑"/>
            </a:pPr>
            <a:r>
              <a:rPr lang="en-GB" dirty="0">
                <a:solidFill>
                  <a:srgbClr val="0563C1"/>
                </a:solidFill>
                <a:latin typeface="Lato" panose="020F0502020204030203" pitchFamily="34" charset="0"/>
                <a:ea typeface="Lato" panose="020F0502020204030203" pitchFamily="34" charset="0"/>
                <a:cs typeface="Lato" panose="020F0502020204030203" pitchFamily="34" charset="0"/>
              </a:rPr>
              <a:t> </a:t>
            </a:r>
            <a:r>
              <a:rPr lang="en-GB" dirty="0">
                <a:solidFill>
                  <a:srgbClr val="1E77B4"/>
                </a:solidFill>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https://www.kaggle.com/competitions/mayo-clinic-strip-ai/overview</a:t>
            </a:r>
            <a:endParaRPr lang="en-GB" dirty="0">
              <a:solidFill>
                <a:srgbClr val="1E77B4"/>
              </a:solidFill>
              <a:latin typeface="Lato" panose="020F0502020204030203" pitchFamily="34" charset="0"/>
              <a:ea typeface="Lato" panose="020F0502020204030203" pitchFamily="34" charset="0"/>
              <a:cs typeface="Lato" panose="020F0502020204030203" pitchFamily="34" charset="0"/>
            </a:endParaRPr>
          </a:p>
        </p:txBody>
      </p:sp>
      <p:grpSp>
        <p:nvGrpSpPr>
          <p:cNvPr id="17" name="Group 16">
            <a:extLst>
              <a:ext uri="{FF2B5EF4-FFF2-40B4-BE49-F238E27FC236}">
                <a16:creationId xmlns:a16="http://schemas.microsoft.com/office/drawing/2014/main" id="{16222D1C-6570-2DF1-3C6F-B4BA76A370BC}"/>
              </a:ext>
            </a:extLst>
          </p:cNvPr>
          <p:cNvGrpSpPr/>
          <p:nvPr/>
        </p:nvGrpSpPr>
        <p:grpSpPr>
          <a:xfrm>
            <a:off x="2098200" y="2490709"/>
            <a:ext cx="7995600" cy="4060511"/>
            <a:chOff x="2097335" y="2549702"/>
            <a:chExt cx="7995600" cy="4060511"/>
          </a:xfrm>
        </p:grpSpPr>
        <p:pic>
          <p:nvPicPr>
            <p:cNvPr id="10" name="Picture 9" descr="A picture containing text&#10;&#10;Description automatically generated">
              <a:extLst>
                <a:ext uri="{FF2B5EF4-FFF2-40B4-BE49-F238E27FC236}">
                  <a16:creationId xmlns:a16="http://schemas.microsoft.com/office/drawing/2014/main" id="{C8FF21E7-3185-824C-3DDC-CBA64CC57AA1}"/>
                </a:ext>
              </a:extLst>
            </p:cNvPr>
            <p:cNvPicPr>
              <a:picLocks/>
            </p:cNvPicPr>
            <p:nvPr/>
          </p:nvPicPr>
          <p:blipFill>
            <a:blip r:embed="rId4"/>
            <a:stretch>
              <a:fillRect/>
            </a:stretch>
          </p:blipFill>
          <p:spPr>
            <a:xfrm>
              <a:off x="2097335" y="2549702"/>
              <a:ext cx="7995600" cy="1522800"/>
            </a:xfrm>
            <a:prstGeom prst="rect">
              <a:avLst/>
            </a:prstGeom>
          </p:spPr>
        </p:pic>
        <p:sp>
          <p:nvSpPr>
            <p:cNvPr id="12" name="TextBox 11">
              <a:extLst>
                <a:ext uri="{FF2B5EF4-FFF2-40B4-BE49-F238E27FC236}">
                  <a16:creationId xmlns:a16="http://schemas.microsoft.com/office/drawing/2014/main" id="{716E51A3-FB74-9B8B-6820-813F29B861FB}"/>
                </a:ext>
              </a:extLst>
            </p:cNvPr>
            <p:cNvSpPr txBox="1"/>
            <p:nvPr/>
          </p:nvSpPr>
          <p:spPr>
            <a:xfrm>
              <a:off x="2097335" y="4130290"/>
              <a:ext cx="7454380" cy="369332"/>
            </a:xfrm>
            <a:prstGeom prst="rect">
              <a:avLst/>
            </a:prstGeom>
            <a:noFill/>
          </p:spPr>
          <p:txBody>
            <a:bodyPr wrap="square">
              <a:spAutoFit/>
            </a:bodyPr>
            <a:lstStyle/>
            <a:p>
              <a:pPr marL="285750" indent="-285750">
                <a:buClr>
                  <a:srgbClr val="1E77B4"/>
                </a:buClr>
                <a:buFont typeface="Helvetica Neue" panose="02000503000000020004" pitchFamily="2" charset="0"/>
                <a:buChar char="⮑"/>
              </a:pPr>
              <a:r>
                <a:rPr lang="en-FR" dirty="0">
                  <a:latin typeface="Lato" panose="020F0502020204030203" pitchFamily="34" charset="0"/>
                  <a:ea typeface="Lato" panose="020F0502020204030203" pitchFamily="34" charset="0"/>
                  <a:cs typeface="Lato" panose="020F0502020204030203" pitchFamily="34" charset="0"/>
                </a:rPr>
                <a:t> </a:t>
              </a:r>
              <a:r>
                <a:rPr lang="en-FR" dirty="0">
                  <a:latin typeface="Lato" panose="020F0502020204030203" pitchFamily="34" charset="0"/>
                  <a:ea typeface="Lato" panose="020F0502020204030203" pitchFamily="34" charset="0"/>
                  <a:cs typeface="Lato" panose="020F0502020204030203" pitchFamily="34" charset="0"/>
                  <a:hlinkClick r:id="rId5"/>
                </a:rPr>
                <a:t>https://www.kaggle.com/competitions/amex-default-prediction</a:t>
              </a:r>
              <a:endParaRPr lang="en-FR" dirty="0">
                <a:latin typeface="Lato" panose="020F0502020204030203" pitchFamily="34" charset="0"/>
                <a:ea typeface="Lato" panose="020F0502020204030203" pitchFamily="34" charset="0"/>
                <a:cs typeface="Lato" panose="020F0502020204030203" pitchFamily="34" charset="0"/>
              </a:endParaRPr>
            </a:p>
          </p:txBody>
        </p:sp>
        <p:pic>
          <p:nvPicPr>
            <p:cNvPr id="14" name="Picture 13" descr="A picture containing text, water&#10;&#10;Description automatically generated">
              <a:extLst>
                <a:ext uri="{FF2B5EF4-FFF2-40B4-BE49-F238E27FC236}">
                  <a16:creationId xmlns:a16="http://schemas.microsoft.com/office/drawing/2014/main" id="{ACF60064-4F38-828F-DA23-8AFC7D4B8132}"/>
                </a:ext>
              </a:extLst>
            </p:cNvPr>
            <p:cNvPicPr>
              <a:picLocks noChangeAspect="1"/>
            </p:cNvPicPr>
            <p:nvPr/>
          </p:nvPicPr>
          <p:blipFill>
            <a:blip r:embed="rId6"/>
            <a:stretch>
              <a:fillRect/>
            </a:stretch>
          </p:blipFill>
          <p:spPr>
            <a:xfrm>
              <a:off x="2097335" y="4674350"/>
              <a:ext cx="7995600" cy="1511679"/>
            </a:xfrm>
            <a:prstGeom prst="rect">
              <a:avLst/>
            </a:prstGeom>
          </p:spPr>
        </p:pic>
        <p:sp>
          <p:nvSpPr>
            <p:cNvPr id="16" name="TextBox 15">
              <a:extLst>
                <a:ext uri="{FF2B5EF4-FFF2-40B4-BE49-F238E27FC236}">
                  <a16:creationId xmlns:a16="http://schemas.microsoft.com/office/drawing/2014/main" id="{8CE0EB7D-356A-7269-607F-97A5B8F2D3CC}"/>
                </a:ext>
              </a:extLst>
            </p:cNvPr>
            <p:cNvSpPr txBox="1"/>
            <p:nvPr/>
          </p:nvSpPr>
          <p:spPr>
            <a:xfrm>
              <a:off x="2097335" y="6240881"/>
              <a:ext cx="6098458" cy="369332"/>
            </a:xfrm>
            <a:prstGeom prst="rect">
              <a:avLst/>
            </a:prstGeom>
            <a:noFill/>
          </p:spPr>
          <p:txBody>
            <a:bodyPr wrap="square">
              <a:spAutoFit/>
            </a:bodyPr>
            <a:lstStyle/>
            <a:p>
              <a:pPr marL="285750" indent="-285750">
                <a:buClr>
                  <a:srgbClr val="1E77B4"/>
                </a:buClr>
                <a:buFont typeface="Helvetica Neue" panose="02000503000000020004" pitchFamily="2" charset="0"/>
                <a:buChar char="⮑"/>
              </a:pPr>
              <a:r>
                <a:rPr lang="en-FR" dirty="0">
                  <a:latin typeface="Lato" panose="020F0502020204030203" pitchFamily="34" charset="0"/>
                  <a:ea typeface="Lato" panose="020F0502020204030203" pitchFamily="34" charset="0"/>
                  <a:cs typeface="Lato" panose="020F0502020204030203" pitchFamily="34" charset="0"/>
                </a:rPr>
                <a:t> </a:t>
              </a:r>
              <a:r>
                <a:rPr lang="en-FR" dirty="0">
                  <a:latin typeface="Lato" panose="020F0502020204030203" pitchFamily="34" charset="0"/>
                  <a:ea typeface="Lato" panose="020F0502020204030203" pitchFamily="34" charset="0"/>
                  <a:cs typeface="Lato" panose="020F0502020204030203" pitchFamily="34" charset="0"/>
                  <a:hlinkClick r:id="rId7"/>
                </a:rPr>
                <a:t>https://www.kaggle.com/c/happy-whale-and-dolphin</a:t>
              </a:r>
              <a:endParaRPr lang="en-FR" dirty="0">
                <a:latin typeface="Lato" panose="020F0502020204030203" pitchFamily="34" charset="0"/>
                <a:ea typeface="Lato" panose="020F0502020204030203" pitchFamily="34" charset="0"/>
                <a:cs typeface="Lato" panose="020F0502020204030203" pitchFamily="34" charset="0"/>
              </a:endParaRPr>
            </a:p>
          </p:txBody>
        </p:sp>
      </p:grpSp>
    </p:spTree>
    <p:extLst>
      <p:ext uri="{BB962C8B-B14F-4D97-AF65-F5344CB8AC3E}">
        <p14:creationId xmlns:p14="http://schemas.microsoft.com/office/powerpoint/2010/main" val="2034033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DAF323-FAD1-DE30-4AFD-BDD8B28B0720}"/>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0" name="TextBox 39">
            <a:extLst>
              <a:ext uri="{FF2B5EF4-FFF2-40B4-BE49-F238E27FC236}">
                <a16:creationId xmlns:a16="http://schemas.microsoft.com/office/drawing/2014/main" id="{349EE4E3-101A-E414-9BD8-3EF044394578}"/>
              </a:ext>
            </a:extLst>
          </p:cNvPr>
          <p:cNvSpPr txBox="1"/>
          <p:nvPr/>
        </p:nvSpPr>
        <p:spPr>
          <a:xfrm>
            <a:off x="240033" y="1548256"/>
            <a:ext cx="9671237"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error between prediction           and observation     is evaluated with</a:t>
            </a:r>
          </a:p>
        </p:txBody>
      </p:sp>
      <p:sp>
        <p:nvSpPr>
          <p:cNvPr id="52" name="TextBox 51">
            <a:extLst>
              <a:ext uri="{FF2B5EF4-FFF2-40B4-BE49-F238E27FC236}">
                <a16:creationId xmlns:a16="http://schemas.microsoft.com/office/drawing/2014/main" id="{37AEDD46-DCAA-D4C5-9D22-B8564FD8F4BF}"/>
              </a:ext>
            </a:extLst>
          </p:cNvPr>
          <p:cNvSpPr txBox="1"/>
          <p:nvPr/>
        </p:nvSpPr>
        <p:spPr>
          <a:xfrm>
            <a:off x="240033" y="846775"/>
            <a:ext cx="1572866" cy="461665"/>
          </a:xfrm>
          <a:prstGeom prst="rect">
            <a:avLst/>
          </a:prstGeom>
          <a:noFill/>
        </p:spPr>
        <p:txBody>
          <a:bodyPr wrap="none" rtlCol="0">
            <a:spAutoFit/>
          </a:bodyPr>
          <a:lstStyle/>
          <a:p>
            <a:r>
              <a:rPr lang="en-FR" sz="2400" b="1" dirty="0">
                <a:solidFill>
                  <a:srgbClr val="FA2743"/>
                </a:solidFill>
                <a:latin typeface="Roboto Black" panose="02000000000000000000" pitchFamily="2" charset="0"/>
                <a:ea typeface="Roboto Black" panose="02000000000000000000" pitchFamily="2" charset="0"/>
                <a:cs typeface="Lato" panose="020F0502020204030203" pitchFamily="34" charset="0"/>
              </a:rPr>
              <a:t>The score</a:t>
            </a:r>
          </a:p>
        </p:txBody>
      </p:sp>
      <p:sp>
        <p:nvSpPr>
          <p:cNvPr id="53" name="Rectangle 52">
            <a:extLst>
              <a:ext uri="{FF2B5EF4-FFF2-40B4-BE49-F238E27FC236}">
                <a16:creationId xmlns:a16="http://schemas.microsoft.com/office/drawing/2014/main" id="{FB4AC012-5511-4697-F152-CD2AE41B2823}"/>
              </a:ext>
            </a:extLst>
          </p:cNvPr>
          <p:cNvSpPr/>
          <p:nvPr/>
        </p:nvSpPr>
        <p:spPr>
          <a:xfrm>
            <a:off x="302578" y="1320120"/>
            <a:ext cx="1393700" cy="83149"/>
          </a:xfrm>
          <a:prstGeom prst="rect">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5" name="Picture 4">
            <a:extLst>
              <a:ext uri="{FF2B5EF4-FFF2-40B4-BE49-F238E27FC236}">
                <a16:creationId xmlns:a16="http://schemas.microsoft.com/office/drawing/2014/main" id="{93704B03-5553-6C8F-753F-552CFD6FF549}"/>
              </a:ext>
            </a:extLst>
          </p:cNvPr>
          <p:cNvPicPr>
            <a:picLocks noChangeAspect="1"/>
          </p:cNvPicPr>
          <p:nvPr/>
        </p:nvPicPr>
        <p:blipFill>
          <a:blip r:embed="rId3"/>
          <a:stretch>
            <a:fillRect/>
          </a:stretch>
        </p:blipFill>
        <p:spPr>
          <a:xfrm>
            <a:off x="4271477" y="1619086"/>
            <a:ext cx="609600" cy="342900"/>
          </a:xfrm>
          <a:prstGeom prst="rect">
            <a:avLst/>
          </a:prstGeom>
        </p:spPr>
      </p:pic>
      <p:pic>
        <p:nvPicPr>
          <p:cNvPr id="7" name="Picture 6">
            <a:extLst>
              <a:ext uri="{FF2B5EF4-FFF2-40B4-BE49-F238E27FC236}">
                <a16:creationId xmlns:a16="http://schemas.microsoft.com/office/drawing/2014/main" id="{22DB4504-19DB-82F9-D3AC-1A730F9B1F1A}"/>
              </a:ext>
            </a:extLst>
          </p:cNvPr>
          <p:cNvPicPr>
            <a:picLocks noChangeAspect="1"/>
          </p:cNvPicPr>
          <p:nvPr/>
        </p:nvPicPr>
        <p:blipFill>
          <a:blip r:embed="rId4"/>
          <a:stretch>
            <a:fillRect/>
          </a:stretch>
        </p:blipFill>
        <p:spPr>
          <a:xfrm>
            <a:off x="7247298" y="1702740"/>
            <a:ext cx="165100" cy="228600"/>
          </a:xfrm>
          <a:prstGeom prst="rect">
            <a:avLst/>
          </a:prstGeom>
        </p:spPr>
      </p:pic>
      <p:pic>
        <p:nvPicPr>
          <p:cNvPr id="8" name="Picture 7">
            <a:extLst>
              <a:ext uri="{FF2B5EF4-FFF2-40B4-BE49-F238E27FC236}">
                <a16:creationId xmlns:a16="http://schemas.microsoft.com/office/drawing/2014/main" id="{8C82F758-7F23-187F-F1D5-8F860F809748}"/>
              </a:ext>
            </a:extLst>
          </p:cNvPr>
          <p:cNvPicPr>
            <a:picLocks noChangeAspect="1"/>
          </p:cNvPicPr>
          <p:nvPr/>
        </p:nvPicPr>
        <p:blipFill>
          <a:blip r:embed="rId5"/>
          <a:stretch>
            <a:fillRect/>
          </a:stretch>
        </p:blipFill>
        <p:spPr>
          <a:xfrm>
            <a:off x="9859506" y="1582682"/>
            <a:ext cx="1447800" cy="406400"/>
          </a:xfrm>
          <a:prstGeom prst="rect">
            <a:avLst/>
          </a:prstGeom>
        </p:spPr>
      </p:pic>
      <p:sp>
        <p:nvSpPr>
          <p:cNvPr id="13" name="TextBox 12">
            <a:extLst>
              <a:ext uri="{FF2B5EF4-FFF2-40B4-BE49-F238E27FC236}">
                <a16:creationId xmlns:a16="http://schemas.microsoft.com/office/drawing/2014/main" id="{A563E41F-4C5F-592C-239C-4B1DE6A878B7}"/>
              </a:ext>
            </a:extLst>
          </p:cNvPr>
          <p:cNvSpPr txBox="1"/>
          <p:nvPr/>
        </p:nvSpPr>
        <p:spPr>
          <a:xfrm>
            <a:off x="240033" y="2083912"/>
            <a:ext cx="11382124" cy="830997"/>
          </a:xfrm>
          <a:prstGeom prst="rect">
            <a:avLst/>
          </a:prstGeom>
          <a:noFill/>
        </p:spPr>
        <p:txBody>
          <a:bodyPr wrap="squar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goal is to minimize the average score on the inputs. The actual calculation of the score depends of the competition and is always explained in its presentation.</a:t>
            </a:r>
          </a:p>
        </p:txBody>
      </p:sp>
      <p:sp>
        <p:nvSpPr>
          <p:cNvPr id="15" name="TextBox 14">
            <a:extLst>
              <a:ext uri="{FF2B5EF4-FFF2-40B4-BE49-F238E27FC236}">
                <a16:creationId xmlns:a16="http://schemas.microsoft.com/office/drawing/2014/main" id="{16E994B4-1DF4-09F1-24C8-01B134C341F8}"/>
              </a:ext>
            </a:extLst>
          </p:cNvPr>
          <p:cNvSpPr txBox="1"/>
          <p:nvPr/>
        </p:nvSpPr>
        <p:spPr>
          <a:xfrm>
            <a:off x="261612" y="3004813"/>
            <a:ext cx="9036448" cy="369332"/>
          </a:xfrm>
          <a:prstGeom prst="rect">
            <a:avLst/>
          </a:prstGeom>
          <a:noFill/>
        </p:spPr>
        <p:txBody>
          <a:bodyPr wrap="none" rtlCol="0">
            <a:spAutoFit/>
          </a:bodyPr>
          <a:lstStyle/>
          <a:p>
            <a:pPr marL="285750" indent="-285750">
              <a:buFont typeface="Helvetica Neue" panose="02000503000000020004" pitchFamily="2" charset="0"/>
              <a:buChar char="⮑"/>
            </a:pPr>
            <a:r>
              <a:rPr lang="en-FR" dirty="0">
                <a:solidFill>
                  <a:srgbClr val="5E5E5E"/>
                </a:solidFill>
                <a:latin typeface="Roboto Light" panose="02000000000000000000" pitchFamily="2" charset="0"/>
                <a:ea typeface="Roboto Light" panose="02000000000000000000" pitchFamily="2" charset="0"/>
                <a:cs typeface="Lato" panose="020F0502020204030203" pitchFamily="34" charset="0"/>
              </a:rPr>
              <a:t> These may be MSE, Cross Entropy, R2 score, AUROC, F1 score, other custom losses</a:t>
            </a:r>
          </a:p>
        </p:txBody>
      </p:sp>
      <p:sp>
        <p:nvSpPr>
          <p:cNvPr id="16" name="TextBox 15">
            <a:extLst>
              <a:ext uri="{FF2B5EF4-FFF2-40B4-BE49-F238E27FC236}">
                <a16:creationId xmlns:a16="http://schemas.microsoft.com/office/drawing/2014/main" id="{AB1C8E06-7228-749D-4D17-9FF85D4E0377}"/>
              </a:ext>
            </a:extLst>
          </p:cNvPr>
          <p:cNvSpPr txBox="1"/>
          <p:nvPr/>
        </p:nvSpPr>
        <p:spPr>
          <a:xfrm>
            <a:off x="240033" y="3565361"/>
            <a:ext cx="4998484" cy="461665"/>
          </a:xfrm>
          <a:prstGeom prst="rect">
            <a:avLst/>
          </a:prstGeom>
          <a:noFill/>
        </p:spPr>
        <p:txBody>
          <a:bodyPr wrap="none" rtlCol="0">
            <a:spAutoFit/>
          </a:bodyPr>
          <a:lstStyle/>
          <a:p>
            <a:r>
              <a:rPr lang="en-FR" sz="2400" b="1" dirty="0">
                <a:solidFill>
                  <a:srgbClr val="FA2743"/>
                </a:solidFill>
                <a:latin typeface="Roboto Black" panose="02000000000000000000" pitchFamily="2" charset="0"/>
                <a:ea typeface="Roboto Black" panose="02000000000000000000" pitchFamily="2" charset="0"/>
                <a:cs typeface="Lato" panose="020F0502020204030203" pitchFamily="34" charset="0"/>
              </a:rPr>
              <a:t>Test set separation and overfitting</a:t>
            </a:r>
          </a:p>
        </p:txBody>
      </p:sp>
      <p:sp>
        <p:nvSpPr>
          <p:cNvPr id="17" name="Rectangle 16">
            <a:extLst>
              <a:ext uri="{FF2B5EF4-FFF2-40B4-BE49-F238E27FC236}">
                <a16:creationId xmlns:a16="http://schemas.microsoft.com/office/drawing/2014/main" id="{817166BE-C651-93EE-051D-91533405495B}"/>
              </a:ext>
            </a:extLst>
          </p:cNvPr>
          <p:cNvSpPr/>
          <p:nvPr/>
        </p:nvSpPr>
        <p:spPr>
          <a:xfrm>
            <a:off x="302569" y="4038706"/>
            <a:ext cx="4812769" cy="80213"/>
          </a:xfrm>
          <a:prstGeom prst="rect">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8" name="TextBox 17">
            <a:extLst>
              <a:ext uri="{FF2B5EF4-FFF2-40B4-BE49-F238E27FC236}">
                <a16:creationId xmlns:a16="http://schemas.microsoft.com/office/drawing/2014/main" id="{0C0F4BD9-CB62-0895-44D2-6B90531C701E}"/>
              </a:ext>
            </a:extLst>
          </p:cNvPr>
          <p:cNvSpPr txBox="1"/>
          <p:nvPr/>
        </p:nvSpPr>
        <p:spPr>
          <a:xfrm>
            <a:off x="240032" y="4258107"/>
            <a:ext cx="11779689" cy="461665"/>
          </a:xfrm>
          <a:prstGeom prst="rect">
            <a:avLst/>
          </a:prstGeom>
          <a:noFill/>
        </p:spPr>
        <p:txBody>
          <a:bodyPr wrap="squar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test set is split in two halves, the public and private test sets.</a:t>
            </a:r>
          </a:p>
        </p:txBody>
      </p:sp>
      <p:sp>
        <p:nvSpPr>
          <p:cNvPr id="20" name="TextBox 19">
            <a:extLst>
              <a:ext uri="{FF2B5EF4-FFF2-40B4-BE49-F238E27FC236}">
                <a16:creationId xmlns:a16="http://schemas.microsoft.com/office/drawing/2014/main" id="{B30FBF98-4545-0267-F577-496D2F10D90C}"/>
              </a:ext>
            </a:extLst>
          </p:cNvPr>
          <p:cNvSpPr txBox="1"/>
          <p:nvPr/>
        </p:nvSpPr>
        <p:spPr>
          <a:xfrm>
            <a:off x="302569" y="4702872"/>
            <a:ext cx="11779689" cy="964367"/>
          </a:xfrm>
          <a:prstGeom prst="rect">
            <a:avLst/>
          </a:prstGeom>
          <a:noFill/>
        </p:spPr>
        <p:txBody>
          <a:bodyPr wrap="square">
            <a:spAutoFit/>
          </a:bodyPr>
          <a:lstStyle/>
          <a:p>
            <a:pPr marL="285750" indent="-285750">
              <a:lnSpc>
                <a:spcPct val="150000"/>
              </a:lnSpc>
              <a:buFont typeface="Courier New" panose="02070309020205020404" pitchFamily="49" charset="0"/>
              <a:buChar char="o"/>
            </a:pPr>
            <a:r>
              <a:rPr lang="en-FR" sz="20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a:t>
            </a:r>
            <a:r>
              <a:rPr lang="en-FR" sz="2000" dirty="0">
                <a:solidFill>
                  <a:srgbClr val="FA2743"/>
                </a:solidFill>
                <a:latin typeface="Roboto Light" panose="02000000000000000000" pitchFamily="2" charset="0"/>
                <a:ea typeface="Roboto Light" panose="02000000000000000000" pitchFamily="2" charset="0"/>
                <a:cs typeface="Lato" panose="020F0502020204030203" pitchFamily="34" charset="0"/>
              </a:rPr>
              <a:t>Public score </a:t>
            </a:r>
            <a:r>
              <a:rPr lang="en-FR" sz="2000" dirty="0">
                <a:solidFill>
                  <a:srgbClr val="5E5E5E"/>
                </a:solidFill>
                <a:latin typeface="Roboto Light" panose="02000000000000000000" pitchFamily="2" charset="0"/>
                <a:ea typeface="Roboto Light" panose="02000000000000000000" pitchFamily="2" charset="0"/>
                <a:cs typeface="Lato" panose="020F0502020204030203" pitchFamily="34" charset="0"/>
              </a:rPr>
              <a:t>is computed on the public set. It is provided after each submission</a:t>
            </a:r>
          </a:p>
          <a:p>
            <a:pPr marL="285750" indent="-285750">
              <a:lnSpc>
                <a:spcPct val="150000"/>
              </a:lnSpc>
              <a:buFont typeface="Courier New" panose="02070309020205020404" pitchFamily="49" charset="0"/>
              <a:buChar char="o"/>
            </a:pPr>
            <a:r>
              <a:rPr lang="en-FR" sz="20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a:t>
            </a:r>
            <a:r>
              <a:rPr lang="en-FR" sz="2000" dirty="0">
                <a:solidFill>
                  <a:srgbClr val="FA2743"/>
                </a:solidFill>
                <a:latin typeface="Roboto Light" panose="02000000000000000000" pitchFamily="2" charset="0"/>
                <a:ea typeface="Roboto Light" panose="02000000000000000000" pitchFamily="2" charset="0"/>
                <a:cs typeface="Lato" panose="020F0502020204030203" pitchFamily="34" charset="0"/>
              </a:rPr>
              <a:t>Private score </a:t>
            </a:r>
            <a:r>
              <a:rPr lang="en-FR" sz="2000" dirty="0">
                <a:solidFill>
                  <a:srgbClr val="5E5E5E"/>
                </a:solidFill>
                <a:latin typeface="Roboto Light" panose="02000000000000000000" pitchFamily="2" charset="0"/>
                <a:ea typeface="Roboto Light" panose="02000000000000000000" pitchFamily="2" charset="0"/>
                <a:cs typeface="Lato" panose="020F0502020204030203" pitchFamily="34" charset="0"/>
              </a:rPr>
              <a:t>is obtained on the private set and is provided by the end of the competition.</a:t>
            </a:r>
          </a:p>
        </p:txBody>
      </p:sp>
      <p:sp>
        <p:nvSpPr>
          <p:cNvPr id="22" name="TextBox 21">
            <a:extLst>
              <a:ext uri="{FF2B5EF4-FFF2-40B4-BE49-F238E27FC236}">
                <a16:creationId xmlns:a16="http://schemas.microsoft.com/office/drawing/2014/main" id="{281B42D6-A32E-2EAF-A419-FE3830F0A191}"/>
              </a:ext>
            </a:extLst>
          </p:cNvPr>
          <p:cNvSpPr txBox="1"/>
          <p:nvPr/>
        </p:nvSpPr>
        <p:spPr>
          <a:xfrm>
            <a:off x="220900" y="5752336"/>
            <a:ext cx="11571377" cy="830997"/>
          </a:xfrm>
          <a:prstGeom prst="rect">
            <a:avLst/>
          </a:prstGeom>
          <a:noFill/>
        </p:spPr>
        <p:txBody>
          <a:bodyPr wrap="square">
            <a:spAutoFit/>
          </a:bodyPr>
          <a:lstStyle/>
          <a:p>
            <a:r>
              <a:rPr lang="en-GB"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This split prevents participants from overfitting the whole test set, as they can’t see how their solution behaves on the entire test set. </a:t>
            </a:r>
            <a:r>
              <a:rPr lang="en-GB" sz="2400" dirty="0">
                <a:solidFill>
                  <a:srgbClr val="FA2743"/>
                </a:solidFill>
                <a:latin typeface="Roboto Light" panose="02000000000000000000" pitchFamily="2" charset="0"/>
                <a:ea typeface="Roboto Light" panose="02000000000000000000" pitchFamily="2" charset="0"/>
                <a:cs typeface="Lato" panose="020F0502020204030203" pitchFamily="34" charset="0"/>
              </a:rPr>
              <a:t>(Why ?)</a:t>
            </a:r>
            <a:endParaRPr lang="en-FR" sz="2400" dirty="0">
              <a:solidFill>
                <a:srgbClr val="FA2743"/>
              </a:solidFill>
              <a:latin typeface="Roboto Light" panose="02000000000000000000" pitchFamily="2" charset="0"/>
              <a:ea typeface="Roboto Light" panose="02000000000000000000" pitchFamily="2" charset="0"/>
              <a:cs typeface="Lato" panose="020F0502020204030203" pitchFamily="34" charset="0"/>
            </a:endParaRPr>
          </a:p>
        </p:txBody>
      </p:sp>
      <p:sp>
        <p:nvSpPr>
          <p:cNvPr id="2" name="TextBox 1">
            <a:extLst>
              <a:ext uri="{FF2B5EF4-FFF2-40B4-BE49-F238E27FC236}">
                <a16:creationId xmlns:a16="http://schemas.microsoft.com/office/drawing/2014/main" id="{A47E1D61-F3BE-71D9-51BA-32589D3ED819}"/>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Data science competitions</a:t>
            </a:r>
          </a:p>
        </p:txBody>
      </p:sp>
    </p:spTree>
    <p:extLst>
      <p:ext uri="{BB962C8B-B14F-4D97-AF65-F5344CB8AC3E}">
        <p14:creationId xmlns:p14="http://schemas.microsoft.com/office/powerpoint/2010/main" val="2626599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with low confidence">
            <a:extLst>
              <a:ext uri="{FF2B5EF4-FFF2-40B4-BE49-F238E27FC236}">
                <a16:creationId xmlns:a16="http://schemas.microsoft.com/office/drawing/2014/main" id="{BCA20EE8-01D8-3B90-AAEA-B5BD259A8134}"/>
              </a:ext>
            </a:extLst>
          </p:cNvPr>
          <p:cNvPicPr>
            <a:picLocks noChangeAspect="1"/>
          </p:cNvPicPr>
          <p:nvPr/>
        </p:nvPicPr>
        <p:blipFill>
          <a:blip r:embed="rId2"/>
          <a:stretch>
            <a:fillRect/>
          </a:stretch>
        </p:blipFill>
        <p:spPr>
          <a:xfrm>
            <a:off x="482042" y="473799"/>
            <a:ext cx="7993871" cy="1523346"/>
          </a:xfrm>
          <a:prstGeom prst="rect">
            <a:avLst/>
          </a:prstGeom>
        </p:spPr>
      </p:pic>
      <p:sp>
        <p:nvSpPr>
          <p:cNvPr id="7" name="TextBox 6">
            <a:extLst>
              <a:ext uri="{FF2B5EF4-FFF2-40B4-BE49-F238E27FC236}">
                <a16:creationId xmlns:a16="http://schemas.microsoft.com/office/drawing/2014/main" id="{1A77FD98-BBA6-688E-5258-20858FCE90A8}"/>
              </a:ext>
            </a:extLst>
          </p:cNvPr>
          <p:cNvSpPr txBox="1"/>
          <p:nvPr/>
        </p:nvSpPr>
        <p:spPr>
          <a:xfrm>
            <a:off x="480313" y="2054933"/>
            <a:ext cx="7571303" cy="369332"/>
          </a:xfrm>
          <a:prstGeom prst="rect">
            <a:avLst/>
          </a:prstGeom>
          <a:noFill/>
        </p:spPr>
        <p:txBody>
          <a:bodyPr wrap="none" rtlCol="0">
            <a:spAutoFit/>
          </a:bodyPr>
          <a:lstStyle/>
          <a:p>
            <a:pPr marL="285750" indent="-285750">
              <a:buClr>
                <a:srgbClr val="0070C0"/>
              </a:buClr>
              <a:buFont typeface="Helvetica Neue" panose="02000503000000020004" pitchFamily="2" charset="0"/>
              <a:buChar char="⮑"/>
            </a:pPr>
            <a:r>
              <a:rPr lang="en-GB" dirty="0">
                <a:solidFill>
                  <a:srgbClr val="0563C1"/>
                </a:solidFill>
                <a:latin typeface="Lato" panose="020F0502020204030203" pitchFamily="34" charset="0"/>
                <a:ea typeface="Lato" panose="020F0502020204030203" pitchFamily="34" charset="0"/>
                <a:cs typeface="Lato" panose="020F0502020204030203" pitchFamily="34" charset="0"/>
              </a:rPr>
              <a:t> </a:t>
            </a:r>
            <a:r>
              <a:rPr lang="en-GB" dirty="0">
                <a:solidFill>
                  <a:srgbClr val="1E77B4"/>
                </a:solidFill>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https://www.kaggle.com/competitions/mayo-clinic-strip-ai/overview</a:t>
            </a:r>
            <a:endParaRPr lang="en-GB" dirty="0">
              <a:solidFill>
                <a:srgbClr val="1E77B4"/>
              </a:solidFill>
              <a:latin typeface="Lato" panose="020F0502020204030203" pitchFamily="34" charset="0"/>
              <a:ea typeface="Lato" panose="020F0502020204030203" pitchFamily="34" charset="0"/>
              <a:cs typeface="Lato" panose="020F0502020204030203" pitchFamily="34" charset="0"/>
            </a:endParaRPr>
          </a:p>
        </p:txBody>
      </p:sp>
      <p:grpSp>
        <p:nvGrpSpPr>
          <p:cNvPr id="11" name="Group 10">
            <a:extLst>
              <a:ext uri="{FF2B5EF4-FFF2-40B4-BE49-F238E27FC236}">
                <a16:creationId xmlns:a16="http://schemas.microsoft.com/office/drawing/2014/main" id="{8F8E7E7D-73F3-0D28-0674-99D665A395D3}"/>
              </a:ext>
            </a:extLst>
          </p:cNvPr>
          <p:cNvGrpSpPr/>
          <p:nvPr/>
        </p:nvGrpSpPr>
        <p:grpSpPr>
          <a:xfrm>
            <a:off x="482042" y="2682158"/>
            <a:ext cx="10431504" cy="3702043"/>
            <a:chOff x="254276" y="2682158"/>
            <a:chExt cx="10431504" cy="3702043"/>
          </a:xfrm>
        </p:grpSpPr>
        <p:pic>
          <p:nvPicPr>
            <p:cNvPr id="3" name="Picture 2" descr="Graphical user interface, application&#10;&#10;Description automatically generated">
              <a:extLst>
                <a:ext uri="{FF2B5EF4-FFF2-40B4-BE49-F238E27FC236}">
                  <a16:creationId xmlns:a16="http://schemas.microsoft.com/office/drawing/2014/main" id="{80CD1226-2B81-A868-BBC9-8EE81422DBCE}"/>
                </a:ext>
              </a:extLst>
            </p:cNvPr>
            <p:cNvPicPr>
              <a:picLocks noChangeAspect="1"/>
            </p:cNvPicPr>
            <p:nvPr/>
          </p:nvPicPr>
          <p:blipFill>
            <a:blip r:embed="rId4"/>
            <a:stretch>
              <a:fillRect/>
            </a:stretch>
          </p:blipFill>
          <p:spPr>
            <a:xfrm>
              <a:off x="1506220" y="4634141"/>
              <a:ext cx="9130030" cy="1750060"/>
            </a:xfrm>
            <a:prstGeom prst="rect">
              <a:avLst/>
            </a:prstGeom>
          </p:spPr>
        </p:pic>
        <p:pic>
          <p:nvPicPr>
            <p:cNvPr id="5" name="Picture 4" descr="Graphical user interface&#10;&#10;Description automatically generated with low confidence">
              <a:extLst>
                <a:ext uri="{FF2B5EF4-FFF2-40B4-BE49-F238E27FC236}">
                  <a16:creationId xmlns:a16="http://schemas.microsoft.com/office/drawing/2014/main" id="{2AABDB89-5F77-1400-7806-E4BC65CDE80C}"/>
                </a:ext>
              </a:extLst>
            </p:cNvPr>
            <p:cNvPicPr>
              <a:picLocks noChangeAspect="1"/>
            </p:cNvPicPr>
            <p:nvPr/>
          </p:nvPicPr>
          <p:blipFill>
            <a:blip r:embed="rId5"/>
            <a:stretch>
              <a:fillRect/>
            </a:stretch>
          </p:blipFill>
          <p:spPr>
            <a:xfrm>
              <a:off x="1506220" y="2682158"/>
              <a:ext cx="9179560" cy="1733550"/>
            </a:xfrm>
            <a:prstGeom prst="rect">
              <a:avLst/>
            </a:prstGeom>
          </p:spPr>
        </p:pic>
        <p:sp>
          <p:nvSpPr>
            <p:cNvPr id="8" name="TextBox 7">
              <a:extLst>
                <a:ext uri="{FF2B5EF4-FFF2-40B4-BE49-F238E27FC236}">
                  <a16:creationId xmlns:a16="http://schemas.microsoft.com/office/drawing/2014/main" id="{1EF81254-7580-31FA-3347-529EE9DAFD7D}"/>
                </a:ext>
              </a:extLst>
            </p:cNvPr>
            <p:cNvSpPr txBox="1"/>
            <p:nvPr/>
          </p:nvSpPr>
          <p:spPr>
            <a:xfrm>
              <a:off x="254276" y="3429000"/>
              <a:ext cx="1132041" cy="584775"/>
            </a:xfrm>
            <a:prstGeom prst="rect">
              <a:avLst/>
            </a:prstGeom>
            <a:noFill/>
          </p:spPr>
          <p:txBody>
            <a:bodyPr wrap="none" rtlCol="0">
              <a:spAutoFit/>
            </a:bodyPr>
            <a:lstStyle/>
            <a:p>
              <a:pPr algn="ctr"/>
              <a:r>
                <a:rPr lang="en-FR" dirty="0">
                  <a:solidFill>
                    <a:srgbClr val="00B050"/>
                  </a:solidFill>
                  <a:latin typeface="Lato" panose="020F0502020204030203" pitchFamily="34" charset="0"/>
                  <a:ea typeface="Lato" panose="020F0502020204030203" pitchFamily="34" charset="0"/>
                  <a:cs typeface="Lato" panose="020F0502020204030203" pitchFamily="34" charset="0"/>
                </a:rPr>
                <a:t>PUBLIC</a:t>
              </a:r>
            </a:p>
            <a:p>
              <a:pPr algn="ctr"/>
              <a:r>
                <a:rPr lang="en-FR" sz="1400" dirty="0">
                  <a:solidFill>
                    <a:srgbClr val="00B050"/>
                  </a:solidFill>
                  <a:latin typeface="Lato" panose="020F0502020204030203" pitchFamily="34" charset="0"/>
                  <a:ea typeface="Lato" panose="020F0502020204030203" pitchFamily="34" charset="0"/>
                  <a:cs typeface="Lato" panose="020F0502020204030203" pitchFamily="34" charset="0"/>
                </a:rPr>
                <a:t>leaderboard</a:t>
              </a:r>
            </a:p>
          </p:txBody>
        </p:sp>
        <p:sp>
          <p:nvSpPr>
            <p:cNvPr id="9" name="TextBox 8">
              <a:extLst>
                <a:ext uri="{FF2B5EF4-FFF2-40B4-BE49-F238E27FC236}">
                  <a16:creationId xmlns:a16="http://schemas.microsoft.com/office/drawing/2014/main" id="{59CEE417-FABE-4991-EFB3-C8C1C368AB16}"/>
                </a:ext>
              </a:extLst>
            </p:cNvPr>
            <p:cNvSpPr txBox="1"/>
            <p:nvPr/>
          </p:nvSpPr>
          <p:spPr>
            <a:xfrm>
              <a:off x="254276" y="5380704"/>
              <a:ext cx="1132041" cy="584775"/>
            </a:xfrm>
            <a:prstGeom prst="rect">
              <a:avLst/>
            </a:prstGeom>
            <a:noFill/>
          </p:spPr>
          <p:txBody>
            <a:bodyPr wrap="none" rtlCol="0">
              <a:spAutoFit/>
            </a:bodyPr>
            <a:lstStyle/>
            <a:p>
              <a:pPr algn="ctr"/>
              <a:r>
                <a:rPr lang="en-FR" dirty="0">
                  <a:solidFill>
                    <a:srgbClr val="00B050"/>
                  </a:solidFill>
                  <a:latin typeface="Lato" panose="020F0502020204030203" pitchFamily="34" charset="0"/>
                  <a:ea typeface="Lato" panose="020F0502020204030203" pitchFamily="34" charset="0"/>
                  <a:cs typeface="Lato" panose="020F0502020204030203" pitchFamily="34" charset="0"/>
                </a:rPr>
                <a:t>PRIVATE</a:t>
              </a:r>
            </a:p>
            <a:p>
              <a:pPr algn="ctr"/>
              <a:r>
                <a:rPr lang="en-FR" sz="1400" dirty="0">
                  <a:solidFill>
                    <a:srgbClr val="00B050"/>
                  </a:solidFill>
                  <a:latin typeface="Lato" panose="020F0502020204030203" pitchFamily="34" charset="0"/>
                  <a:ea typeface="Lato" panose="020F0502020204030203" pitchFamily="34" charset="0"/>
                  <a:cs typeface="Lato" panose="020F0502020204030203" pitchFamily="34" charset="0"/>
                </a:rPr>
                <a:t>leaderboard</a:t>
              </a:r>
            </a:p>
          </p:txBody>
        </p:sp>
      </p:grpSp>
      <p:sp>
        <p:nvSpPr>
          <p:cNvPr id="13" name="TextBox 12">
            <a:extLst>
              <a:ext uri="{FF2B5EF4-FFF2-40B4-BE49-F238E27FC236}">
                <a16:creationId xmlns:a16="http://schemas.microsoft.com/office/drawing/2014/main" id="{4A433D9F-6694-2984-3173-40D55026751B}"/>
              </a:ext>
            </a:extLst>
          </p:cNvPr>
          <p:cNvSpPr txBox="1"/>
          <p:nvPr/>
        </p:nvSpPr>
        <p:spPr>
          <a:xfrm>
            <a:off x="8621127" y="473799"/>
            <a:ext cx="3401961" cy="1200329"/>
          </a:xfrm>
          <a:prstGeom prst="rect">
            <a:avLst/>
          </a:prstGeom>
          <a:noFill/>
        </p:spPr>
        <p:txBody>
          <a:bodyPr wrap="square" rtlCol="0">
            <a:spAutoFit/>
          </a:bodyPr>
          <a:lstStyle/>
          <a:p>
            <a:r>
              <a:rPr lang="en-FR" dirty="0">
                <a:solidFill>
                  <a:srgbClr val="5E5E5E"/>
                </a:solidFill>
                <a:latin typeface="Roboto Light" panose="02000000000000000000" pitchFamily="2" charset="0"/>
                <a:ea typeface="Roboto Light" panose="02000000000000000000" pitchFamily="2" charset="0"/>
                <a:cs typeface="Lato" panose="020F0502020204030203" pitchFamily="34" charset="0"/>
              </a:rPr>
              <a:t>More often than not, assessing a method’s score is one of the the most important parts in a competition…</a:t>
            </a:r>
          </a:p>
        </p:txBody>
      </p:sp>
      <p:sp>
        <p:nvSpPr>
          <p:cNvPr id="15" name="TextBox 14">
            <a:extLst>
              <a:ext uri="{FF2B5EF4-FFF2-40B4-BE49-F238E27FC236}">
                <a16:creationId xmlns:a16="http://schemas.microsoft.com/office/drawing/2014/main" id="{3B8B97E1-4439-F938-D161-999525B8B85A}"/>
              </a:ext>
            </a:extLst>
          </p:cNvPr>
          <p:cNvSpPr txBox="1"/>
          <p:nvPr/>
        </p:nvSpPr>
        <p:spPr>
          <a:xfrm>
            <a:off x="8621127" y="1685601"/>
            <a:ext cx="3177473" cy="369332"/>
          </a:xfrm>
          <a:prstGeom prst="rect">
            <a:avLst/>
          </a:prstGeom>
          <a:noFill/>
        </p:spPr>
        <p:txBody>
          <a:bodyPr wrap="none" rtlCol="0">
            <a:spAutoFit/>
          </a:bodyPr>
          <a:lstStyle/>
          <a:p>
            <a:r>
              <a:rPr lang="en-FR" b="1" dirty="0">
                <a:solidFill>
                  <a:srgbClr val="FA2743"/>
                </a:solidFill>
                <a:latin typeface="Roboto Black" panose="02000000000000000000" pitchFamily="2" charset="0"/>
                <a:ea typeface="Roboto Black" panose="02000000000000000000" pitchFamily="2" charset="0"/>
                <a:cs typeface="Lato" panose="020F0502020204030203" pitchFamily="34" charset="0"/>
              </a:rPr>
              <a:t>IRL it would be data cleaning</a:t>
            </a:r>
          </a:p>
        </p:txBody>
      </p:sp>
    </p:spTree>
    <p:extLst>
      <p:ext uri="{BB962C8B-B14F-4D97-AF65-F5344CB8AC3E}">
        <p14:creationId xmlns:p14="http://schemas.microsoft.com/office/powerpoint/2010/main" val="108222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5D19A8-B676-A2EE-74EA-B9447A8A8238}"/>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5" name="TextBox 4">
            <a:extLst>
              <a:ext uri="{FF2B5EF4-FFF2-40B4-BE49-F238E27FC236}">
                <a16:creationId xmlns:a16="http://schemas.microsoft.com/office/drawing/2014/main" id="{802C4494-D674-7499-7617-0B6347C3FECD}"/>
              </a:ext>
            </a:extLst>
          </p:cNvPr>
          <p:cNvSpPr txBox="1"/>
          <p:nvPr/>
        </p:nvSpPr>
        <p:spPr>
          <a:xfrm>
            <a:off x="240033" y="906404"/>
            <a:ext cx="10652275"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Doing data competitions is a very practical skill that is </a:t>
            </a:r>
            <a:r>
              <a:rPr lang="en-FR" sz="2400" u="sng" dirty="0">
                <a:solidFill>
                  <a:srgbClr val="5E5E5E"/>
                </a:solidFill>
                <a:latin typeface="Roboto Light" panose="02000000000000000000" pitchFamily="2" charset="0"/>
                <a:ea typeface="Roboto Light" panose="02000000000000000000" pitchFamily="2" charset="0"/>
                <a:cs typeface="Lato" panose="020F0502020204030203" pitchFamily="34" charset="0"/>
              </a:rPr>
              <a:t>hard to teach in class</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t>
            </a:r>
          </a:p>
        </p:txBody>
      </p:sp>
      <p:sp>
        <p:nvSpPr>
          <p:cNvPr id="6" name="TextBox 5">
            <a:extLst>
              <a:ext uri="{FF2B5EF4-FFF2-40B4-BE49-F238E27FC236}">
                <a16:creationId xmlns:a16="http://schemas.microsoft.com/office/drawing/2014/main" id="{B879259F-AA0C-0814-A353-14D32247B14F}"/>
              </a:ext>
            </a:extLst>
          </p:cNvPr>
          <p:cNvSpPr txBox="1"/>
          <p:nvPr/>
        </p:nvSpPr>
        <p:spPr>
          <a:xfrm>
            <a:off x="640976" y="1524704"/>
            <a:ext cx="4775666"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Two very good places to start are:</a:t>
            </a:r>
          </a:p>
        </p:txBody>
      </p:sp>
      <p:sp>
        <p:nvSpPr>
          <p:cNvPr id="7" name="TextBox 6">
            <a:extLst>
              <a:ext uri="{FF2B5EF4-FFF2-40B4-BE49-F238E27FC236}">
                <a16:creationId xmlns:a16="http://schemas.microsoft.com/office/drawing/2014/main" id="{85A78AD9-4158-470F-E63B-EBE00339D6EE}"/>
              </a:ext>
            </a:extLst>
          </p:cNvPr>
          <p:cNvSpPr txBox="1"/>
          <p:nvPr/>
        </p:nvSpPr>
        <p:spPr>
          <a:xfrm>
            <a:off x="990755" y="3081331"/>
            <a:ext cx="9557425"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Houses dataset: predicting the price of a house given several features</a:t>
            </a:r>
          </a:p>
        </p:txBody>
      </p:sp>
      <p:sp>
        <p:nvSpPr>
          <p:cNvPr id="8" name="TextBox 7">
            <a:extLst>
              <a:ext uri="{FF2B5EF4-FFF2-40B4-BE49-F238E27FC236}">
                <a16:creationId xmlns:a16="http://schemas.microsoft.com/office/drawing/2014/main" id="{AC9DA7A5-D604-B754-B3B6-913AE1BEC412}"/>
              </a:ext>
            </a:extLst>
          </p:cNvPr>
          <p:cNvSpPr txBox="1"/>
          <p:nvPr/>
        </p:nvSpPr>
        <p:spPr>
          <a:xfrm>
            <a:off x="990755" y="2147251"/>
            <a:ext cx="1084142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Titanic dataset: predicting whether a person died or not on the Titanic accident</a:t>
            </a:r>
          </a:p>
        </p:txBody>
      </p:sp>
      <p:sp>
        <p:nvSpPr>
          <p:cNvPr id="9" name="Oval 8">
            <a:extLst>
              <a:ext uri="{FF2B5EF4-FFF2-40B4-BE49-F238E27FC236}">
                <a16:creationId xmlns:a16="http://schemas.microsoft.com/office/drawing/2014/main" id="{31188C76-6ABB-FB50-E754-3EB9AC2A35B3}"/>
              </a:ext>
            </a:extLst>
          </p:cNvPr>
          <p:cNvSpPr/>
          <p:nvPr/>
        </p:nvSpPr>
        <p:spPr>
          <a:xfrm>
            <a:off x="491734" y="1694400"/>
            <a:ext cx="149242" cy="149242"/>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Oval 9">
            <a:extLst>
              <a:ext uri="{FF2B5EF4-FFF2-40B4-BE49-F238E27FC236}">
                <a16:creationId xmlns:a16="http://schemas.microsoft.com/office/drawing/2014/main" id="{02CE3ADA-2A6D-077A-141B-0D99877B362B}"/>
              </a:ext>
            </a:extLst>
          </p:cNvPr>
          <p:cNvSpPr/>
          <p:nvPr/>
        </p:nvSpPr>
        <p:spPr>
          <a:xfrm>
            <a:off x="491734" y="4207032"/>
            <a:ext cx="149242" cy="149242"/>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TextBox 11">
            <a:extLst>
              <a:ext uri="{FF2B5EF4-FFF2-40B4-BE49-F238E27FC236}">
                <a16:creationId xmlns:a16="http://schemas.microsoft.com/office/drawing/2014/main" id="{25394977-2A9D-9CA0-4D29-C0223CE91C97}"/>
              </a:ext>
            </a:extLst>
          </p:cNvPr>
          <p:cNvSpPr txBox="1"/>
          <p:nvPr/>
        </p:nvSpPr>
        <p:spPr>
          <a:xfrm>
            <a:off x="990755" y="2624304"/>
            <a:ext cx="7554861" cy="338554"/>
          </a:xfrm>
          <a:prstGeom prst="rect">
            <a:avLst/>
          </a:prstGeom>
          <a:noFill/>
        </p:spPr>
        <p:txBody>
          <a:bodyPr wrap="square">
            <a:spAutoFit/>
          </a:bodyPr>
          <a:lstStyle/>
          <a:p>
            <a:pPr marL="285750" indent="-285750">
              <a:buClr>
                <a:srgbClr val="1E77B4"/>
              </a:buClr>
              <a:buFont typeface="Helvetica Neue" panose="02000503000000020004" pitchFamily="2" charset="0"/>
              <a:buChar char="⮑"/>
            </a:pPr>
            <a:r>
              <a:rPr lang="en-FR" sz="1600" dirty="0">
                <a:latin typeface="Lato" panose="020F0502020204030203" pitchFamily="34" charset="0"/>
                <a:ea typeface="Lato" panose="020F0502020204030203" pitchFamily="34" charset="0"/>
                <a:cs typeface="Lato" panose="020F0502020204030203" pitchFamily="34" charset="0"/>
              </a:rPr>
              <a:t> </a:t>
            </a:r>
            <a:r>
              <a:rPr lang="en-GB" sz="1600" dirty="0">
                <a:latin typeface="Lato" panose="020F0502020204030203" pitchFamily="34" charset="0"/>
                <a:ea typeface="Lato" panose="020F0502020204030203" pitchFamily="34" charset="0"/>
                <a:cs typeface="Lato" panose="020F0502020204030203" pitchFamily="34" charset="0"/>
                <a:hlinkClick r:id="rId2"/>
              </a:rPr>
              <a:t>https://www.kaggle.com/competitions/titanic</a:t>
            </a:r>
            <a:endParaRPr lang="en-GB" sz="1600" dirty="0">
              <a:latin typeface="Lato" panose="020F0502020204030203" pitchFamily="34" charset="0"/>
              <a:ea typeface="Lato" panose="020F0502020204030203" pitchFamily="34" charset="0"/>
              <a:cs typeface="Lato" panose="020F0502020204030203" pitchFamily="34" charset="0"/>
            </a:endParaRPr>
          </a:p>
        </p:txBody>
      </p:sp>
      <p:sp>
        <p:nvSpPr>
          <p:cNvPr id="13" name="TextBox 12">
            <a:extLst>
              <a:ext uri="{FF2B5EF4-FFF2-40B4-BE49-F238E27FC236}">
                <a16:creationId xmlns:a16="http://schemas.microsoft.com/office/drawing/2014/main" id="{E47A5E07-B3CD-3FE3-D325-B54ABDC0C462}"/>
              </a:ext>
            </a:extLst>
          </p:cNvPr>
          <p:cNvSpPr txBox="1"/>
          <p:nvPr/>
        </p:nvSpPr>
        <p:spPr>
          <a:xfrm>
            <a:off x="990755" y="3513933"/>
            <a:ext cx="10486517" cy="338554"/>
          </a:xfrm>
          <a:prstGeom prst="rect">
            <a:avLst/>
          </a:prstGeom>
          <a:noFill/>
        </p:spPr>
        <p:txBody>
          <a:bodyPr wrap="square">
            <a:spAutoFit/>
          </a:bodyPr>
          <a:lstStyle/>
          <a:p>
            <a:pPr marL="285750" indent="-285750">
              <a:buClr>
                <a:srgbClr val="1E77B4"/>
              </a:buClr>
              <a:buFont typeface="Helvetica Neue" panose="02000503000000020004" pitchFamily="2" charset="0"/>
              <a:buChar char="⮑"/>
            </a:pPr>
            <a:r>
              <a:rPr lang="en-FR" sz="1600" dirty="0">
                <a:latin typeface="Lato" panose="020F0502020204030203" pitchFamily="34" charset="0"/>
                <a:ea typeface="Lato" panose="020F0502020204030203" pitchFamily="34" charset="0"/>
                <a:cs typeface="Lato" panose="020F0502020204030203" pitchFamily="34" charset="0"/>
              </a:rPr>
              <a:t> </a:t>
            </a:r>
            <a:r>
              <a:rPr lang="en-GB" sz="1600" dirty="0">
                <a:latin typeface="Lato" panose="020F0502020204030203" pitchFamily="34" charset="0"/>
                <a:ea typeface="Lato" panose="020F0502020204030203" pitchFamily="34" charset="0"/>
                <a:cs typeface="Lato" panose="020F0502020204030203" pitchFamily="34" charset="0"/>
                <a:hlinkClick r:id="rId3"/>
              </a:rPr>
              <a:t>https://www.kaggle.com/competitions/house-prices-advanced-regression-techniques/overview</a:t>
            </a:r>
            <a:endParaRPr lang="en-GB" sz="1600" dirty="0">
              <a:latin typeface="Lato" panose="020F0502020204030203" pitchFamily="34" charset="0"/>
              <a:ea typeface="Lato" panose="020F0502020204030203" pitchFamily="34" charset="0"/>
              <a:cs typeface="Lato" panose="020F0502020204030203" pitchFamily="34" charset="0"/>
            </a:endParaRPr>
          </a:p>
        </p:txBody>
      </p:sp>
      <p:sp>
        <p:nvSpPr>
          <p:cNvPr id="14" name="TextBox 13">
            <a:extLst>
              <a:ext uri="{FF2B5EF4-FFF2-40B4-BE49-F238E27FC236}">
                <a16:creationId xmlns:a16="http://schemas.microsoft.com/office/drawing/2014/main" id="{8DD529FF-538C-13AA-AA52-584C47BA7BF6}"/>
              </a:ext>
            </a:extLst>
          </p:cNvPr>
          <p:cNvSpPr txBox="1"/>
          <p:nvPr/>
        </p:nvSpPr>
        <p:spPr>
          <a:xfrm>
            <a:off x="640976" y="4066209"/>
            <a:ext cx="1091035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Another good reference are the videos (in French) from S. Mallat’s course @ CdF</a:t>
            </a:r>
          </a:p>
        </p:txBody>
      </p:sp>
      <p:sp>
        <p:nvSpPr>
          <p:cNvPr id="16" name="TextBox 15">
            <a:extLst>
              <a:ext uri="{FF2B5EF4-FFF2-40B4-BE49-F238E27FC236}">
                <a16:creationId xmlns:a16="http://schemas.microsoft.com/office/drawing/2014/main" id="{5ED4D4FC-FA8C-49E6-A704-8FB443F817AC}"/>
              </a:ext>
            </a:extLst>
          </p:cNvPr>
          <p:cNvSpPr txBox="1"/>
          <p:nvPr/>
        </p:nvSpPr>
        <p:spPr>
          <a:xfrm>
            <a:off x="491734" y="4543263"/>
            <a:ext cx="12767457" cy="338554"/>
          </a:xfrm>
          <a:prstGeom prst="rect">
            <a:avLst/>
          </a:prstGeom>
          <a:noFill/>
        </p:spPr>
        <p:txBody>
          <a:bodyPr wrap="square">
            <a:spAutoFit/>
          </a:bodyPr>
          <a:lstStyle/>
          <a:p>
            <a:pPr marL="285750" indent="-285750">
              <a:buClr>
                <a:srgbClr val="1E77B4"/>
              </a:buClr>
              <a:buFont typeface="Helvetica Neue" panose="02000503000000020004" pitchFamily="2" charset="0"/>
              <a:buChar char="⮑"/>
            </a:pPr>
            <a:r>
              <a:rPr lang="en-FR" sz="1600" dirty="0">
                <a:latin typeface="Lato" panose="020F0502020204030203" pitchFamily="34" charset="0"/>
                <a:ea typeface="Lato" panose="020F0502020204030203" pitchFamily="34" charset="0"/>
                <a:cs typeface="Lato" panose="020F0502020204030203" pitchFamily="34" charset="0"/>
              </a:rPr>
              <a:t> </a:t>
            </a:r>
            <a:r>
              <a:rPr lang="en-GB" sz="1600" dirty="0">
                <a:latin typeface="Lato" panose="020F0502020204030203" pitchFamily="34" charset="0"/>
                <a:ea typeface="Lato" panose="020F0502020204030203" pitchFamily="34" charset="0"/>
                <a:cs typeface="Lato" panose="020F0502020204030203" pitchFamily="34" charset="0"/>
                <a:hlinkClick r:id="rId4"/>
              </a:rPr>
              <a:t>https://www.youtube.com/watch?v=8IAcJmP9bdU</a:t>
            </a:r>
            <a:r>
              <a:rPr lang="en-FR" sz="1600" dirty="0">
                <a:latin typeface="Lato" panose="020F0502020204030203" pitchFamily="34" charset="0"/>
                <a:ea typeface="Lato" panose="020F0502020204030203" pitchFamily="34" charset="0"/>
                <a:cs typeface="Lato" panose="020F0502020204030203" pitchFamily="34" charset="0"/>
              </a:rPr>
              <a:t> </a:t>
            </a:r>
            <a:r>
              <a:rPr lang="en-FR" sz="1600" dirty="0">
                <a:solidFill>
                  <a:srgbClr val="5E5E5E"/>
                </a:solidFill>
                <a:latin typeface="Roboto Light" panose="02000000000000000000" pitchFamily="2" charset="0"/>
                <a:ea typeface="Roboto Light" panose="02000000000000000000" pitchFamily="2" charset="0"/>
                <a:cs typeface="Lato" panose="020F0502020204030203" pitchFamily="34" charset="0"/>
              </a:rPr>
              <a:t>– Pierre Courtiol “S’attaquer à une competition de ML”</a:t>
            </a:r>
            <a:endParaRPr lang="en-GB" sz="1600"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p:txBody>
      </p:sp>
      <p:sp>
        <p:nvSpPr>
          <p:cNvPr id="18" name="TextBox 17">
            <a:extLst>
              <a:ext uri="{FF2B5EF4-FFF2-40B4-BE49-F238E27FC236}">
                <a16:creationId xmlns:a16="http://schemas.microsoft.com/office/drawing/2014/main" id="{D9C6330D-43E9-7971-0A9A-7C236912C7DD}"/>
              </a:ext>
            </a:extLst>
          </p:cNvPr>
          <p:cNvSpPr txBox="1"/>
          <p:nvPr/>
        </p:nvSpPr>
        <p:spPr>
          <a:xfrm>
            <a:off x="240033" y="5163600"/>
            <a:ext cx="10689145" cy="461665"/>
          </a:xfrm>
          <a:prstGeom prst="rect">
            <a:avLst/>
          </a:prstGeom>
          <a:noFill/>
        </p:spPr>
        <p:txBody>
          <a:bodyPr wrap="none" rtlCol="0">
            <a:spAutoFit/>
          </a:bodyPr>
          <a:lstStyle/>
          <a:p>
            <a:r>
              <a:rPr lang="en-FR" sz="2400" u="sng" dirty="0">
                <a:solidFill>
                  <a:srgbClr val="5E5E5E"/>
                </a:solidFill>
                <a:latin typeface="Roboto Light" panose="02000000000000000000" pitchFamily="2" charset="0"/>
                <a:ea typeface="Roboto Light" panose="02000000000000000000" pitchFamily="2" charset="0"/>
                <a:cs typeface="Lato" panose="020F0502020204030203" pitchFamily="34" charset="0"/>
              </a:rPr>
              <a:t>Hint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Most competitions are won using bagging, boosting, and regularization…</a:t>
            </a:r>
          </a:p>
        </p:txBody>
      </p:sp>
      <p:sp>
        <p:nvSpPr>
          <p:cNvPr id="4" name="TextBox 3">
            <a:extLst>
              <a:ext uri="{FF2B5EF4-FFF2-40B4-BE49-F238E27FC236}">
                <a16:creationId xmlns:a16="http://schemas.microsoft.com/office/drawing/2014/main" id="{40906C0F-D7B3-EEB9-D7DC-B08EF0229393}"/>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Data science competitions</a:t>
            </a:r>
          </a:p>
        </p:txBody>
      </p:sp>
    </p:spTree>
    <p:extLst>
      <p:ext uri="{BB962C8B-B14F-4D97-AF65-F5344CB8AC3E}">
        <p14:creationId xmlns:p14="http://schemas.microsoft.com/office/powerpoint/2010/main" val="3073646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BFA6-6A86-CBE7-009F-8D3A23BEBD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604F420-C8B5-96C7-5E34-8FFFD80DDC3F}"/>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pic>
        <p:nvPicPr>
          <p:cNvPr id="2" name="Graphic 1" descr="Right pointing backhand index outline">
            <a:extLst>
              <a:ext uri="{FF2B5EF4-FFF2-40B4-BE49-F238E27FC236}">
                <a16:creationId xmlns:a16="http://schemas.microsoft.com/office/drawing/2014/main" id="{4CD2A776-75CE-1F86-9D37-960C584D7A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7707" y="3967389"/>
            <a:ext cx="1083311" cy="1083311"/>
          </a:xfrm>
          <a:prstGeom prst="rect">
            <a:avLst/>
          </a:prstGeom>
        </p:spPr>
      </p:pic>
      <p:sp>
        <p:nvSpPr>
          <p:cNvPr id="4" name="TextBox 3">
            <a:extLst>
              <a:ext uri="{FF2B5EF4-FFF2-40B4-BE49-F238E27FC236}">
                <a16:creationId xmlns:a16="http://schemas.microsoft.com/office/drawing/2014/main" id="{29B2C888-CEC4-C88A-6B81-F3C813B2096E}"/>
              </a:ext>
            </a:extLst>
          </p:cNvPr>
          <p:cNvSpPr txBox="1"/>
          <p:nvPr/>
        </p:nvSpPr>
        <p:spPr>
          <a:xfrm>
            <a:off x="2743960" y="2602416"/>
            <a:ext cx="7314823" cy="2123658"/>
          </a:xfrm>
          <a:prstGeom prst="rect">
            <a:avLst/>
          </a:prstGeom>
          <a:noFill/>
        </p:spPr>
        <p:txBody>
          <a:bodyPr wrap="none" rtlCol="0">
            <a:spAutoFit/>
          </a:bodyPr>
          <a:lstStyle/>
          <a:p>
            <a:pPr marL="571500" indent="-571500">
              <a:buFont typeface="Courier New" panose="02070309020205020404" pitchFamily="49" charset="0"/>
              <a:buChar char="o"/>
            </a:pPr>
            <a:r>
              <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rPr>
              <a:t>Data science competitions</a:t>
            </a:r>
          </a:p>
          <a:p>
            <a:endPar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endParaRPr>
          </a:p>
          <a:p>
            <a:pPr marL="571500" indent="-571500">
              <a:buFont typeface="Courier New" panose="02070309020205020404" pitchFamily="49" charset="0"/>
              <a:buChar char="o"/>
            </a:pPr>
            <a:r>
              <a:rPr lang="en-FR" sz="4400" dirty="0">
                <a:solidFill>
                  <a:srgbClr val="5E5E5E"/>
                </a:solidFill>
                <a:latin typeface="Roboto Light" panose="02000000000000000000" pitchFamily="2" charset="0"/>
                <a:ea typeface="Roboto Light" panose="02000000000000000000" pitchFamily="2" charset="0"/>
                <a:cs typeface="Lato" panose="020F0502020204030203" pitchFamily="34" charset="0"/>
              </a:rPr>
              <a:t>Performance metrics</a:t>
            </a:r>
          </a:p>
        </p:txBody>
      </p:sp>
    </p:spTree>
    <p:extLst>
      <p:ext uri="{BB962C8B-B14F-4D97-AF65-F5344CB8AC3E}">
        <p14:creationId xmlns:p14="http://schemas.microsoft.com/office/powerpoint/2010/main" val="612435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5" name="TextBox 4">
            <a:extLst>
              <a:ext uri="{FF2B5EF4-FFF2-40B4-BE49-F238E27FC236}">
                <a16:creationId xmlns:a16="http://schemas.microsoft.com/office/drawing/2014/main" id="{61CEA341-C3D2-44B2-4AC6-5C6D8640E8F1}"/>
              </a:ext>
            </a:extLst>
          </p:cNvPr>
          <p:cNvSpPr txBox="1"/>
          <p:nvPr/>
        </p:nvSpPr>
        <p:spPr>
          <a:xfrm>
            <a:off x="240033" y="802139"/>
            <a:ext cx="9700091"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So far we have measured the quality of our predicted models based on</a:t>
            </a:r>
          </a:p>
        </p:txBody>
      </p:sp>
      <p:sp>
        <p:nvSpPr>
          <p:cNvPr id="7" name="TextBox 6">
            <a:extLst>
              <a:ext uri="{FF2B5EF4-FFF2-40B4-BE49-F238E27FC236}">
                <a16:creationId xmlns:a16="http://schemas.microsoft.com/office/drawing/2014/main" id="{325F21DF-20D3-3A2B-1A3F-FBC20C2226B6}"/>
              </a:ext>
            </a:extLst>
          </p:cNvPr>
          <p:cNvSpPr txBox="1"/>
          <p:nvPr/>
        </p:nvSpPr>
        <p:spPr>
          <a:xfrm>
            <a:off x="240033" y="1225236"/>
            <a:ext cx="9314784" cy="1138773"/>
          </a:xfrm>
          <a:prstGeom prst="rect">
            <a:avLst/>
          </a:prstGeom>
          <a:noFill/>
        </p:spPr>
        <p:txBody>
          <a:bodyPr wrap="square">
            <a:spAutoFit/>
          </a:bodyPr>
          <a:lstStyle/>
          <a:p>
            <a:pPr marL="342900" indent="-342900">
              <a:lnSpc>
                <a:spcPct val="150000"/>
              </a:lnSpc>
              <a:buFont typeface="Courier New" panose="02070309020205020404" pitchFamily="49" charset="0"/>
              <a:buChar char="o"/>
            </a:pP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mean squared error (MSE) for regression </a:t>
            </a:r>
          </a:p>
          <a:p>
            <a:pPr marL="342900" indent="-342900">
              <a:lnSpc>
                <a:spcPct val="150000"/>
              </a:lnSpc>
              <a:buFont typeface="Courier New" panose="02070309020205020404" pitchFamily="49" charset="0"/>
              <a:buChar char="o"/>
            </a:pP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Accuracy for classification</a:t>
            </a:r>
          </a:p>
        </p:txBody>
      </p:sp>
      <p:sp>
        <p:nvSpPr>
          <p:cNvPr id="8" name="TextBox 7">
            <a:extLst>
              <a:ext uri="{FF2B5EF4-FFF2-40B4-BE49-F238E27FC236}">
                <a16:creationId xmlns:a16="http://schemas.microsoft.com/office/drawing/2014/main" id="{65B8109A-F1F5-D388-5876-CE79E1B50964}"/>
              </a:ext>
            </a:extLst>
          </p:cNvPr>
          <p:cNvSpPr txBox="1"/>
          <p:nvPr/>
        </p:nvSpPr>
        <p:spPr>
          <a:xfrm>
            <a:off x="240033" y="2519172"/>
            <a:ext cx="10288394"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But in many situations these metrics may not be the most informative ones</a:t>
            </a:r>
          </a:p>
        </p:txBody>
      </p:sp>
      <p:sp>
        <p:nvSpPr>
          <p:cNvPr id="9" name="TextBox 8">
            <a:extLst>
              <a:ext uri="{FF2B5EF4-FFF2-40B4-BE49-F238E27FC236}">
                <a16:creationId xmlns:a16="http://schemas.microsoft.com/office/drawing/2014/main" id="{2A6EB666-5C4A-DAAE-F667-4D764F05CAE7}"/>
              </a:ext>
            </a:extLst>
          </p:cNvPr>
          <p:cNvSpPr txBox="1"/>
          <p:nvPr/>
        </p:nvSpPr>
        <p:spPr>
          <a:xfrm>
            <a:off x="240033" y="3130173"/>
            <a:ext cx="1253869" cy="430887"/>
          </a:xfrm>
          <a:prstGeom prst="rect">
            <a:avLst/>
          </a:prstGeom>
          <a:noFill/>
        </p:spPr>
        <p:txBody>
          <a:bodyPr wrap="none" rtlCol="0">
            <a:spAutoFit/>
          </a:bodyPr>
          <a:lstStyle/>
          <a:p>
            <a:r>
              <a:rPr lang="en-FR" sz="2200" b="1" dirty="0">
                <a:solidFill>
                  <a:srgbClr val="5E5E5E"/>
                </a:solidFill>
                <a:latin typeface="Lato" panose="020F0502020204030203" pitchFamily="34" charset="0"/>
                <a:ea typeface="Lato" panose="020F0502020204030203" pitchFamily="34" charset="0"/>
                <a:cs typeface="Lato" panose="020F0502020204030203" pitchFamily="34" charset="0"/>
              </a:rPr>
              <a:t>Example</a:t>
            </a:r>
          </a:p>
        </p:txBody>
      </p:sp>
      <p:sp>
        <p:nvSpPr>
          <p:cNvPr id="10" name="Rectangle 9">
            <a:extLst>
              <a:ext uri="{FF2B5EF4-FFF2-40B4-BE49-F238E27FC236}">
                <a16:creationId xmlns:a16="http://schemas.microsoft.com/office/drawing/2014/main" id="{10E9698B-0352-0637-ABA3-E152FE35B023}"/>
              </a:ext>
            </a:extLst>
          </p:cNvPr>
          <p:cNvSpPr/>
          <p:nvPr/>
        </p:nvSpPr>
        <p:spPr>
          <a:xfrm>
            <a:off x="273929" y="3576929"/>
            <a:ext cx="1152000" cy="72000"/>
          </a:xfrm>
          <a:prstGeom prst="rect">
            <a:avLst/>
          </a:prstGeom>
          <a:solidFill>
            <a:srgbClr val="5E5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TextBox 12">
            <a:extLst>
              <a:ext uri="{FF2B5EF4-FFF2-40B4-BE49-F238E27FC236}">
                <a16:creationId xmlns:a16="http://schemas.microsoft.com/office/drawing/2014/main" id="{842582C4-CB02-E59B-F6D1-669489CB18F7}"/>
              </a:ext>
            </a:extLst>
          </p:cNvPr>
          <p:cNvSpPr txBox="1"/>
          <p:nvPr/>
        </p:nvSpPr>
        <p:spPr>
          <a:xfrm>
            <a:off x="1552109" y="3149373"/>
            <a:ext cx="862607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Consider the </a:t>
            </a:r>
            <a:r>
              <a:rPr lang="en-FR" sz="2400" dirty="0">
                <a:solidFill>
                  <a:srgbClr val="5E5E5E"/>
                </a:solidFill>
                <a:latin typeface="Roboto Light" panose="02000000000000000000" pitchFamily="2" charset="0"/>
                <a:ea typeface="Roboto Light" panose="02000000000000000000" pitchFamily="2" charset="0"/>
                <a:cs typeface="Courier New" panose="02070309020205020404" pitchFamily="49" charset="0"/>
              </a:rPr>
              <a:t>default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dataset from the James et al. (2022) book</a:t>
            </a:r>
          </a:p>
        </p:txBody>
      </p:sp>
      <p:pic>
        <p:nvPicPr>
          <p:cNvPr id="14" name="Picture 13" descr="Text&#10;&#10;Description automatically generated with medium confidence">
            <a:extLst>
              <a:ext uri="{FF2B5EF4-FFF2-40B4-BE49-F238E27FC236}">
                <a16:creationId xmlns:a16="http://schemas.microsoft.com/office/drawing/2014/main" id="{0EDC125A-06C7-207F-C7B2-36CB5003DE4A}"/>
              </a:ext>
            </a:extLst>
          </p:cNvPr>
          <p:cNvPicPr>
            <a:picLocks noChangeAspect="1"/>
          </p:cNvPicPr>
          <p:nvPr/>
        </p:nvPicPr>
        <p:blipFill>
          <a:blip r:embed="rId2"/>
          <a:stretch>
            <a:fillRect/>
          </a:stretch>
        </p:blipFill>
        <p:spPr>
          <a:xfrm>
            <a:off x="7163515" y="3698907"/>
            <a:ext cx="4496153" cy="3006000"/>
          </a:xfrm>
          <a:prstGeom prst="rect">
            <a:avLst/>
          </a:prstGeom>
        </p:spPr>
      </p:pic>
      <p:sp>
        <p:nvSpPr>
          <p:cNvPr id="15" name="TextBox 14">
            <a:extLst>
              <a:ext uri="{FF2B5EF4-FFF2-40B4-BE49-F238E27FC236}">
                <a16:creationId xmlns:a16="http://schemas.microsoft.com/office/drawing/2014/main" id="{077007CC-76A4-2498-99C3-4AC73CC826C9}"/>
              </a:ext>
            </a:extLst>
          </p:cNvPr>
          <p:cNvSpPr txBox="1"/>
          <p:nvPr/>
        </p:nvSpPr>
        <p:spPr>
          <a:xfrm>
            <a:off x="240033" y="3819956"/>
            <a:ext cx="6894836"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dataset has three predictors and binary labels</a:t>
            </a:r>
          </a:p>
        </p:txBody>
      </p:sp>
      <p:sp>
        <p:nvSpPr>
          <p:cNvPr id="17" name="TextBox 16">
            <a:extLst>
              <a:ext uri="{FF2B5EF4-FFF2-40B4-BE49-F238E27FC236}">
                <a16:creationId xmlns:a16="http://schemas.microsoft.com/office/drawing/2014/main" id="{E92B4656-BA5F-DB64-1BC5-D5B049947462}"/>
              </a:ext>
            </a:extLst>
          </p:cNvPr>
          <p:cNvSpPr txBox="1"/>
          <p:nvPr/>
        </p:nvSpPr>
        <p:spPr>
          <a:xfrm>
            <a:off x="240033" y="4450157"/>
            <a:ext cx="6229590"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We can fit a logistic regression model and do</a:t>
            </a:r>
          </a:p>
        </p:txBody>
      </p:sp>
      <p:pic>
        <p:nvPicPr>
          <p:cNvPr id="18" name="Picture 17">
            <a:extLst>
              <a:ext uri="{FF2B5EF4-FFF2-40B4-BE49-F238E27FC236}">
                <a16:creationId xmlns:a16="http://schemas.microsoft.com/office/drawing/2014/main" id="{8B24D640-30EB-5BD8-EE50-B2207F3AB833}"/>
              </a:ext>
            </a:extLst>
          </p:cNvPr>
          <p:cNvPicPr>
            <a:picLocks noChangeAspect="1"/>
          </p:cNvPicPr>
          <p:nvPr/>
        </p:nvPicPr>
        <p:blipFill>
          <a:blip r:embed="rId3"/>
          <a:stretch>
            <a:fillRect/>
          </a:stretch>
        </p:blipFill>
        <p:spPr>
          <a:xfrm>
            <a:off x="1280977" y="5609159"/>
            <a:ext cx="762000" cy="355600"/>
          </a:xfrm>
          <a:prstGeom prst="rect">
            <a:avLst/>
          </a:prstGeom>
        </p:spPr>
      </p:pic>
      <p:pic>
        <p:nvPicPr>
          <p:cNvPr id="19" name="Picture 18">
            <a:extLst>
              <a:ext uri="{FF2B5EF4-FFF2-40B4-BE49-F238E27FC236}">
                <a16:creationId xmlns:a16="http://schemas.microsoft.com/office/drawing/2014/main" id="{F298AEEF-844B-F784-B000-CE6706A263FB}"/>
              </a:ext>
            </a:extLst>
          </p:cNvPr>
          <p:cNvPicPr>
            <a:picLocks noChangeAspect="1"/>
          </p:cNvPicPr>
          <p:nvPr/>
        </p:nvPicPr>
        <p:blipFill>
          <a:blip r:embed="rId4"/>
          <a:stretch>
            <a:fillRect/>
          </a:stretch>
        </p:blipFill>
        <p:spPr>
          <a:xfrm>
            <a:off x="2602198" y="5351487"/>
            <a:ext cx="736600" cy="279400"/>
          </a:xfrm>
          <a:prstGeom prst="rect">
            <a:avLst/>
          </a:prstGeom>
        </p:spPr>
      </p:pic>
      <p:pic>
        <p:nvPicPr>
          <p:cNvPr id="20" name="Picture 19">
            <a:extLst>
              <a:ext uri="{FF2B5EF4-FFF2-40B4-BE49-F238E27FC236}">
                <a16:creationId xmlns:a16="http://schemas.microsoft.com/office/drawing/2014/main" id="{0CB540D5-52AB-AA63-3261-702C325BDEFB}"/>
              </a:ext>
            </a:extLst>
          </p:cNvPr>
          <p:cNvPicPr>
            <a:picLocks noChangeAspect="1"/>
          </p:cNvPicPr>
          <p:nvPr/>
        </p:nvPicPr>
        <p:blipFill>
          <a:blip r:embed="rId5"/>
          <a:stretch>
            <a:fillRect/>
          </a:stretch>
        </p:blipFill>
        <p:spPr>
          <a:xfrm>
            <a:off x="2602198" y="5935211"/>
            <a:ext cx="736600" cy="241300"/>
          </a:xfrm>
          <a:prstGeom prst="rect">
            <a:avLst/>
          </a:prstGeom>
        </p:spPr>
      </p:pic>
      <p:sp>
        <p:nvSpPr>
          <p:cNvPr id="26" name="Left Brace 25">
            <a:extLst>
              <a:ext uri="{FF2B5EF4-FFF2-40B4-BE49-F238E27FC236}">
                <a16:creationId xmlns:a16="http://schemas.microsoft.com/office/drawing/2014/main" id="{E907BA03-4D2E-5B21-FF53-CEB4093D8D69}"/>
              </a:ext>
            </a:extLst>
          </p:cNvPr>
          <p:cNvSpPr/>
          <p:nvPr/>
        </p:nvSpPr>
        <p:spPr>
          <a:xfrm>
            <a:off x="2236818" y="5169629"/>
            <a:ext cx="235449" cy="1236143"/>
          </a:xfrm>
          <a:prstGeom prst="leftBrace">
            <a:avLst/>
          </a:prstGeom>
          <a:ln w="25400">
            <a:solidFill>
              <a:srgbClr val="5E5E5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R" dirty="0"/>
          </a:p>
        </p:txBody>
      </p:sp>
      <p:sp>
        <p:nvSpPr>
          <p:cNvPr id="30" name="TextBox 29">
            <a:extLst>
              <a:ext uri="{FF2B5EF4-FFF2-40B4-BE49-F238E27FC236}">
                <a16:creationId xmlns:a16="http://schemas.microsoft.com/office/drawing/2014/main" id="{FDA99412-9084-977D-42DD-C221246DCC13}"/>
              </a:ext>
            </a:extLst>
          </p:cNvPr>
          <p:cNvSpPr txBox="1"/>
          <p:nvPr/>
        </p:nvSpPr>
        <p:spPr>
          <a:xfrm>
            <a:off x="3468729" y="5261555"/>
            <a:ext cx="1654620" cy="369332"/>
          </a:xfrm>
          <a:prstGeom prst="rect">
            <a:avLst/>
          </a:prstGeom>
          <a:noFill/>
        </p:spPr>
        <p:txBody>
          <a:bodyPr wrap="none" rtlCol="0">
            <a:spAutoFit/>
          </a:bodyPr>
          <a:lstStyle/>
          <a:p>
            <a:r>
              <a:rPr lang="en-GB" dirty="0">
                <a:solidFill>
                  <a:srgbClr val="5E5E5E"/>
                </a:solidFill>
                <a:latin typeface="Lato" panose="020F0502020204030203" pitchFamily="34" charset="0"/>
                <a:ea typeface="Lato" panose="020F0502020204030203" pitchFamily="34" charset="0"/>
                <a:cs typeface="Lato" panose="020F0502020204030203" pitchFamily="34" charset="0"/>
              </a:rPr>
              <a:t>classify as YES</a:t>
            </a:r>
            <a:endParaRPr lang="en-FR" dirty="0">
              <a:solidFill>
                <a:srgbClr val="5E5E5E"/>
              </a:solidFill>
              <a:latin typeface="Lato" panose="020F0502020204030203" pitchFamily="34" charset="0"/>
              <a:ea typeface="Lato" panose="020F0502020204030203" pitchFamily="34" charset="0"/>
              <a:cs typeface="Lato" panose="020F0502020204030203" pitchFamily="34" charset="0"/>
            </a:endParaRPr>
          </a:p>
        </p:txBody>
      </p:sp>
      <p:sp>
        <p:nvSpPr>
          <p:cNvPr id="31" name="TextBox 30">
            <a:extLst>
              <a:ext uri="{FF2B5EF4-FFF2-40B4-BE49-F238E27FC236}">
                <a16:creationId xmlns:a16="http://schemas.microsoft.com/office/drawing/2014/main" id="{3B789288-C44A-574B-A5AA-034B7DB3A042}"/>
              </a:ext>
            </a:extLst>
          </p:cNvPr>
          <p:cNvSpPr txBox="1"/>
          <p:nvPr/>
        </p:nvSpPr>
        <p:spPr>
          <a:xfrm>
            <a:off x="3468729" y="5871195"/>
            <a:ext cx="1612942" cy="369332"/>
          </a:xfrm>
          <a:prstGeom prst="rect">
            <a:avLst/>
          </a:prstGeom>
          <a:noFill/>
        </p:spPr>
        <p:txBody>
          <a:bodyPr wrap="none" rtlCol="0">
            <a:spAutoFit/>
          </a:bodyPr>
          <a:lstStyle/>
          <a:p>
            <a:r>
              <a:rPr lang="en-GB" dirty="0">
                <a:solidFill>
                  <a:srgbClr val="5E5E5E"/>
                </a:solidFill>
                <a:latin typeface="Lato" panose="020F0502020204030203" pitchFamily="34" charset="0"/>
                <a:ea typeface="Lato" panose="020F0502020204030203" pitchFamily="34" charset="0"/>
                <a:cs typeface="Lato" panose="020F0502020204030203" pitchFamily="34" charset="0"/>
              </a:rPr>
              <a:t>classify as NO</a:t>
            </a:r>
            <a:endParaRPr lang="en-FR" dirty="0">
              <a:solidFill>
                <a:srgbClr val="5E5E5E"/>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97C35E02-937D-2B20-5658-DF1487594A77}"/>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a:t>
            </a:r>
          </a:p>
        </p:txBody>
      </p:sp>
    </p:spTree>
    <p:extLst>
      <p:ext uri="{BB962C8B-B14F-4D97-AF65-F5344CB8AC3E}">
        <p14:creationId xmlns:p14="http://schemas.microsoft.com/office/powerpoint/2010/main" val="639889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9" name="TextBox 8">
            <a:extLst>
              <a:ext uri="{FF2B5EF4-FFF2-40B4-BE49-F238E27FC236}">
                <a16:creationId xmlns:a16="http://schemas.microsoft.com/office/drawing/2014/main" id="{2A6EB666-5C4A-DAAE-F667-4D764F05CAE7}"/>
              </a:ext>
            </a:extLst>
          </p:cNvPr>
          <p:cNvSpPr txBox="1"/>
          <p:nvPr/>
        </p:nvSpPr>
        <p:spPr>
          <a:xfrm>
            <a:off x="240033" y="783100"/>
            <a:ext cx="1253869" cy="430887"/>
          </a:xfrm>
          <a:prstGeom prst="rect">
            <a:avLst/>
          </a:prstGeom>
          <a:noFill/>
        </p:spPr>
        <p:txBody>
          <a:bodyPr wrap="none" rtlCol="0">
            <a:spAutoFit/>
          </a:bodyPr>
          <a:lstStyle/>
          <a:p>
            <a:r>
              <a:rPr lang="en-FR" sz="2200" b="1" dirty="0">
                <a:solidFill>
                  <a:srgbClr val="5E5E5E"/>
                </a:solidFill>
                <a:latin typeface="Lato" panose="020F0502020204030203" pitchFamily="34" charset="0"/>
                <a:ea typeface="Lato" panose="020F0502020204030203" pitchFamily="34" charset="0"/>
                <a:cs typeface="Lato" panose="020F0502020204030203" pitchFamily="34" charset="0"/>
              </a:rPr>
              <a:t>Example</a:t>
            </a:r>
          </a:p>
        </p:txBody>
      </p:sp>
      <p:sp>
        <p:nvSpPr>
          <p:cNvPr id="10" name="Rectangle 9">
            <a:extLst>
              <a:ext uri="{FF2B5EF4-FFF2-40B4-BE49-F238E27FC236}">
                <a16:creationId xmlns:a16="http://schemas.microsoft.com/office/drawing/2014/main" id="{10E9698B-0352-0637-ABA3-E152FE35B023}"/>
              </a:ext>
            </a:extLst>
          </p:cNvPr>
          <p:cNvSpPr/>
          <p:nvPr/>
        </p:nvSpPr>
        <p:spPr>
          <a:xfrm>
            <a:off x="273929" y="1229856"/>
            <a:ext cx="1152000" cy="72000"/>
          </a:xfrm>
          <a:prstGeom prst="rect">
            <a:avLst/>
          </a:prstGeom>
          <a:solidFill>
            <a:srgbClr val="5E5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TextBox 12">
            <a:extLst>
              <a:ext uri="{FF2B5EF4-FFF2-40B4-BE49-F238E27FC236}">
                <a16:creationId xmlns:a16="http://schemas.microsoft.com/office/drawing/2014/main" id="{842582C4-CB02-E59B-F6D1-669489CB18F7}"/>
              </a:ext>
            </a:extLst>
          </p:cNvPr>
          <p:cNvSpPr txBox="1"/>
          <p:nvPr/>
        </p:nvSpPr>
        <p:spPr>
          <a:xfrm>
            <a:off x="1552109" y="831890"/>
            <a:ext cx="862607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Consider the </a:t>
            </a:r>
            <a:r>
              <a:rPr lang="en-FR" sz="2400" dirty="0">
                <a:solidFill>
                  <a:srgbClr val="5E5E5E"/>
                </a:solidFill>
                <a:latin typeface="Roboto Light" panose="02000000000000000000" pitchFamily="2" charset="0"/>
                <a:ea typeface="Roboto Light" panose="02000000000000000000" pitchFamily="2" charset="0"/>
                <a:cs typeface="Courier New" panose="02070309020205020404" pitchFamily="49" charset="0"/>
              </a:rPr>
              <a:t>default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dataset from the James et al. (2022) book</a:t>
            </a:r>
          </a:p>
        </p:txBody>
      </p:sp>
      <p:sp>
        <p:nvSpPr>
          <p:cNvPr id="11" name="TextBox 10">
            <a:extLst>
              <a:ext uri="{FF2B5EF4-FFF2-40B4-BE49-F238E27FC236}">
                <a16:creationId xmlns:a16="http://schemas.microsoft.com/office/drawing/2014/main" id="{589B858C-5285-434D-617E-A237F663F028}"/>
              </a:ext>
            </a:extLst>
          </p:cNvPr>
          <p:cNvSpPr txBox="1"/>
          <p:nvPr/>
        </p:nvSpPr>
        <p:spPr>
          <a:xfrm>
            <a:off x="240032" y="1471929"/>
            <a:ext cx="7238913" cy="830997"/>
          </a:xfrm>
          <a:prstGeom prst="rect">
            <a:avLst/>
          </a:prstGeom>
          <a:noFill/>
        </p:spPr>
        <p:txBody>
          <a:bodyPr wrap="square">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classifier </a:t>
            </a:r>
            <a:r>
              <a:rPr lang="en-GB"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h</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as 97.1% of accuracy</a:t>
            </a:r>
            <a:endParaRPr lang="en-FR" sz="2400" dirty="0">
              <a:solidFill>
                <a:srgbClr val="5E5E5E"/>
              </a:solidFill>
              <a:latin typeface="Roboto Light" panose="02000000000000000000" pitchFamily="2" charset="0"/>
              <a:ea typeface="Roboto Light" panose="02000000000000000000" pitchFamily="2" charset="0"/>
            </a:endParaRPr>
          </a:p>
          <a:p>
            <a:endParaRPr lang="en-FR" sz="2400" dirty="0">
              <a:solidFill>
                <a:srgbClr val="5E5E5E"/>
              </a:solidFill>
              <a:latin typeface="Roboto Light" panose="02000000000000000000" pitchFamily="2" charset="0"/>
              <a:ea typeface="Roboto Light" panose="02000000000000000000" pitchFamily="2" charset="0"/>
            </a:endParaRPr>
          </a:p>
        </p:txBody>
      </p:sp>
      <p:sp>
        <p:nvSpPr>
          <p:cNvPr id="16" name="TextBox 15">
            <a:extLst>
              <a:ext uri="{FF2B5EF4-FFF2-40B4-BE49-F238E27FC236}">
                <a16:creationId xmlns:a16="http://schemas.microsoft.com/office/drawing/2014/main" id="{EE1967E3-2555-D8C4-4740-0E324C45FB3E}"/>
              </a:ext>
            </a:extLst>
          </p:cNvPr>
          <p:cNvSpPr txBox="1"/>
          <p:nvPr/>
        </p:nvSpPr>
        <p:spPr>
          <a:xfrm>
            <a:off x="5231413" y="1471929"/>
            <a:ext cx="595035" cy="584775"/>
          </a:xfrm>
          <a:prstGeom prst="rect">
            <a:avLst/>
          </a:prstGeom>
          <a:noFill/>
        </p:spPr>
        <p:txBody>
          <a:bodyPr wrap="none" rtlCol="0">
            <a:spAutoFit/>
          </a:bodyPr>
          <a:lstStyle/>
          <a:p>
            <a:r>
              <a:rPr lang="en-FR" sz="3200" dirty="0"/>
              <a:t>💪🏻</a:t>
            </a:r>
          </a:p>
        </p:txBody>
      </p:sp>
      <p:sp>
        <p:nvSpPr>
          <p:cNvPr id="21" name="TextBox 20">
            <a:extLst>
              <a:ext uri="{FF2B5EF4-FFF2-40B4-BE49-F238E27FC236}">
                <a16:creationId xmlns:a16="http://schemas.microsoft.com/office/drawing/2014/main" id="{7DA0D7E9-8FF9-C0BC-4C6B-6811B5DE3C91}"/>
              </a:ext>
            </a:extLst>
          </p:cNvPr>
          <p:cNvSpPr txBox="1"/>
          <p:nvPr/>
        </p:nvSpPr>
        <p:spPr>
          <a:xfrm>
            <a:off x="234896" y="2056704"/>
            <a:ext cx="9518704" cy="461665"/>
          </a:xfrm>
          <a:prstGeom prst="rect">
            <a:avLst/>
          </a:prstGeom>
          <a:noFill/>
        </p:spPr>
        <p:txBody>
          <a:bodyPr wrap="square">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But the data set has 3.3% of labels YES and 96.7% of labels NO</a:t>
            </a:r>
            <a:endParaRPr lang="en-FR" sz="2400" dirty="0">
              <a:solidFill>
                <a:srgbClr val="5E5E5E"/>
              </a:solidFill>
              <a:latin typeface="Roboto Light" panose="02000000000000000000" pitchFamily="2" charset="0"/>
              <a:ea typeface="Roboto Light" panose="02000000000000000000" pitchFamily="2" charset="0"/>
            </a:endParaRPr>
          </a:p>
        </p:txBody>
      </p:sp>
      <p:sp>
        <p:nvSpPr>
          <p:cNvPr id="22" name="TextBox 21">
            <a:extLst>
              <a:ext uri="{FF2B5EF4-FFF2-40B4-BE49-F238E27FC236}">
                <a16:creationId xmlns:a16="http://schemas.microsoft.com/office/drawing/2014/main" id="{C307C5F8-1B4D-E5AA-3C34-379202D2B6CB}"/>
              </a:ext>
            </a:extLst>
          </p:cNvPr>
          <p:cNvSpPr txBox="1"/>
          <p:nvPr/>
        </p:nvSpPr>
        <p:spPr>
          <a:xfrm>
            <a:off x="8726811" y="2052133"/>
            <a:ext cx="595035" cy="584775"/>
          </a:xfrm>
          <a:prstGeom prst="rect">
            <a:avLst/>
          </a:prstGeom>
          <a:noFill/>
        </p:spPr>
        <p:txBody>
          <a:bodyPr wrap="none" rtlCol="0">
            <a:spAutoFit/>
          </a:bodyPr>
          <a:lstStyle/>
          <a:p>
            <a:r>
              <a:rPr lang="en-FR" sz="3200" dirty="0"/>
              <a:t>🤡</a:t>
            </a:r>
          </a:p>
        </p:txBody>
      </p:sp>
      <p:sp>
        <p:nvSpPr>
          <p:cNvPr id="27" name="TextBox 26">
            <a:extLst>
              <a:ext uri="{FF2B5EF4-FFF2-40B4-BE49-F238E27FC236}">
                <a16:creationId xmlns:a16="http://schemas.microsoft.com/office/drawing/2014/main" id="{9157DEF3-7A92-81EB-D918-619008E9955E}"/>
              </a:ext>
            </a:extLst>
          </p:cNvPr>
          <p:cNvSpPr txBox="1"/>
          <p:nvPr/>
        </p:nvSpPr>
        <p:spPr>
          <a:xfrm>
            <a:off x="5176332" y="2775808"/>
            <a:ext cx="2327881"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TRUE OBSERVATIONS</a:t>
            </a:r>
          </a:p>
        </p:txBody>
      </p:sp>
      <p:sp>
        <p:nvSpPr>
          <p:cNvPr id="28" name="TextBox 27">
            <a:extLst>
              <a:ext uri="{FF2B5EF4-FFF2-40B4-BE49-F238E27FC236}">
                <a16:creationId xmlns:a16="http://schemas.microsoft.com/office/drawing/2014/main" id="{E9412BE6-6477-1BF9-4AE2-6DA65D6B78F4}"/>
              </a:ext>
            </a:extLst>
          </p:cNvPr>
          <p:cNvSpPr txBox="1"/>
          <p:nvPr/>
        </p:nvSpPr>
        <p:spPr>
          <a:xfrm rot="16200000">
            <a:off x="2912958" y="4717365"/>
            <a:ext cx="2929007"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PREDICTED OBSERVATIONS</a:t>
            </a:r>
          </a:p>
        </p:txBody>
      </p:sp>
      <p:sp>
        <p:nvSpPr>
          <p:cNvPr id="29" name="TextBox 28">
            <a:extLst>
              <a:ext uri="{FF2B5EF4-FFF2-40B4-BE49-F238E27FC236}">
                <a16:creationId xmlns:a16="http://schemas.microsoft.com/office/drawing/2014/main" id="{84B880A2-F12D-FC7F-1A77-56274E1EB565}"/>
              </a:ext>
            </a:extLst>
          </p:cNvPr>
          <p:cNvSpPr txBox="1"/>
          <p:nvPr/>
        </p:nvSpPr>
        <p:spPr>
          <a:xfrm>
            <a:off x="5201386" y="3095767"/>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2" name="TextBox 31">
            <a:extLst>
              <a:ext uri="{FF2B5EF4-FFF2-40B4-BE49-F238E27FC236}">
                <a16:creationId xmlns:a16="http://schemas.microsoft.com/office/drawing/2014/main" id="{FD0A1274-B62B-4EE3-1101-626D4525A56A}"/>
              </a:ext>
            </a:extLst>
          </p:cNvPr>
          <p:cNvSpPr txBox="1"/>
          <p:nvPr/>
        </p:nvSpPr>
        <p:spPr>
          <a:xfrm>
            <a:off x="6708988" y="3114362"/>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33" name="TextBox 32">
            <a:extLst>
              <a:ext uri="{FF2B5EF4-FFF2-40B4-BE49-F238E27FC236}">
                <a16:creationId xmlns:a16="http://schemas.microsoft.com/office/drawing/2014/main" id="{A562C998-7BE4-9B4F-85FF-151E6BD55F00}"/>
              </a:ext>
            </a:extLst>
          </p:cNvPr>
          <p:cNvSpPr txBox="1"/>
          <p:nvPr/>
        </p:nvSpPr>
        <p:spPr>
          <a:xfrm rot="16200000">
            <a:off x="4349409" y="4010986"/>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4" name="TextBox 33">
            <a:extLst>
              <a:ext uri="{FF2B5EF4-FFF2-40B4-BE49-F238E27FC236}">
                <a16:creationId xmlns:a16="http://schemas.microsoft.com/office/drawing/2014/main" id="{305112E0-77C3-19C2-B432-E7F9FAFB60A0}"/>
              </a:ext>
            </a:extLst>
          </p:cNvPr>
          <p:cNvSpPr txBox="1"/>
          <p:nvPr/>
        </p:nvSpPr>
        <p:spPr>
          <a:xfrm rot="16200000">
            <a:off x="4367508" y="5488010"/>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23" name="Rectangle 22">
            <a:extLst>
              <a:ext uri="{FF2B5EF4-FFF2-40B4-BE49-F238E27FC236}">
                <a16:creationId xmlns:a16="http://schemas.microsoft.com/office/drawing/2014/main" id="{DDF24103-64C5-B92C-DD6C-826B6594B97F}"/>
              </a:ext>
            </a:extLst>
          </p:cNvPr>
          <p:cNvSpPr/>
          <p:nvPr/>
        </p:nvSpPr>
        <p:spPr>
          <a:xfrm>
            <a:off x="4869937" y="3425957"/>
            <a:ext cx="2928508" cy="2928508"/>
          </a:xfrm>
          <a:prstGeom prst="rect">
            <a:avLst/>
          </a:prstGeom>
          <a:noFill/>
          <a:ln w="381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24" name="Straight Connector 23">
            <a:extLst>
              <a:ext uri="{FF2B5EF4-FFF2-40B4-BE49-F238E27FC236}">
                <a16:creationId xmlns:a16="http://schemas.microsoft.com/office/drawing/2014/main" id="{03CAC910-DADF-2584-BBB8-3EF11A360684}"/>
              </a:ext>
            </a:extLst>
          </p:cNvPr>
          <p:cNvCxnSpPr>
            <a:cxnSpLocks/>
            <a:stCxn id="23" idx="0"/>
            <a:endCxn id="23" idx="2"/>
          </p:cNvCxnSpPr>
          <p:nvPr/>
        </p:nvCxnSpPr>
        <p:spPr>
          <a:xfrm>
            <a:off x="6334191" y="3425957"/>
            <a:ext cx="0" cy="2928508"/>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5303AAB-03BE-122F-2533-09B1EC08DDFB}"/>
              </a:ext>
            </a:extLst>
          </p:cNvPr>
          <p:cNvCxnSpPr>
            <a:cxnSpLocks/>
          </p:cNvCxnSpPr>
          <p:nvPr/>
        </p:nvCxnSpPr>
        <p:spPr>
          <a:xfrm flipH="1">
            <a:off x="4869937" y="4890211"/>
            <a:ext cx="2928508" cy="0"/>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812024-F09B-2D01-CFC3-A355BDC72A64}"/>
              </a:ext>
            </a:extLst>
          </p:cNvPr>
          <p:cNvSpPr txBox="1"/>
          <p:nvPr/>
        </p:nvSpPr>
        <p:spPr>
          <a:xfrm>
            <a:off x="5068446" y="3970398"/>
            <a:ext cx="102927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9627</a:t>
            </a:r>
          </a:p>
        </p:txBody>
      </p:sp>
      <p:sp>
        <p:nvSpPr>
          <p:cNvPr id="36" name="TextBox 35">
            <a:extLst>
              <a:ext uri="{FF2B5EF4-FFF2-40B4-BE49-F238E27FC236}">
                <a16:creationId xmlns:a16="http://schemas.microsoft.com/office/drawing/2014/main" id="{B39B031E-4037-1427-88B1-73F8DDE109F4}"/>
              </a:ext>
            </a:extLst>
          </p:cNvPr>
          <p:cNvSpPr txBox="1"/>
          <p:nvPr/>
        </p:nvSpPr>
        <p:spPr>
          <a:xfrm>
            <a:off x="5277136" y="5432626"/>
            <a:ext cx="55093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40</a:t>
            </a:r>
          </a:p>
        </p:txBody>
      </p:sp>
      <p:sp>
        <p:nvSpPr>
          <p:cNvPr id="37" name="TextBox 36">
            <a:extLst>
              <a:ext uri="{FF2B5EF4-FFF2-40B4-BE49-F238E27FC236}">
                <a16:creationId xmlns:a16="http://schemas.microsoft.com/office/drawing/2014/main" id="{0D58DB6F-632B-188C-69E5-ADFE0D8091A6}"/>
              </a:ext>
            </a:extLst>
          </p:cNvPr>
          <p:cNvSpPr txBox="1"/>
          <p:nvPr/>
        </p:nvSpPr>
        <p:spPr>
          <a:xfrm>
            <a:off x="6656268" y="3942366"/>
            <a:ext cx="743756" cy="445018"/>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228</a:t>
            </a:r>
          </a:p>
        </p:txBody>
      </p:sp>
      <p:sp>
        <p:nvSpPr>
          <p:cNvPr id="38" name="TextBox 37">
            <a:extLst>
              <a:ext uri="{FF2B5EF4-FFF2-40B4-BE49-F238E27FC236}">
                <a16:creationId xmlns:a16="http://schemas.microsoft.com/office/drawing/2014/main" id="{0DDD9ACF-0E46-F6CC-8680-994A8F5AC023}"/>
              </a:ext>
            </a:extLst>
          </p:cNvPr>
          <p:cNvSpPr txBox="1"/>
          <p:nvPr/>
        </p:nvSpPr>
        <p:spPr>
          <a:xfrm>
            <a:off x="6633752" y="5426456"/>
            <a:ext cx="766272"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105</a:t>
            </a:r>
          </a:p>
        </p:txBody>
      </p:sp>
      <p:sp>
        <p:nvSpPr>
          <p:cNvPr id="60" name="TextBox 59">
            <a:extLst>
              <a:ext uri="{FF2B5EF4-FFF2-40B4-BE49-F238E27FC236}">
                <a16:creationId xmlns:a16="http://schemas.microsoft.com/office/drawing/2014/main" id="{00E60786-59F5-9F16-2CCE-BF3020DAE87E}"/>
              </a:ext>
            </a:extLst>
          </p:cNvPr>
          <p:cNvSpPr txBox="1"/>
          <p:nvPr/>
        </p:nvSpPr>
        <p:spPr>
          <a:xfrm>
            <a:off x="234896" y="5775211"/>
            <a:ext cx="3737584" cy="769441"/>
          </a:xfrm>
          <a:prstGeom prst="rect">
            <a:avLst/>
          </a:prstGeom>
          <a:noFill/>
        </p:spPr>
        <p:txBody>
          <a:bodyPr wrap="square">
            <a:spAutoFit/>
          </a:bodyPr>
          <a:lstStyle/>
          <a:p>
            <a:r>
              <a:rPr lang="en-FR" sz="22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confusion matrix gives all the information we need</a:t>
            </a:r>
          </a:p>
        </p:txBody>
      </p:sp>
      <p:cxnSp>
        <p:nvCxnSpPr>
          <p:cNvPr id="62" name="Elbow Connector 61">
            <a:extLst>
              <a:ext uri="{FF2B5EF4-FFF2-40B4-BE49-F238E27FC236}">
                <a16:creationId xmlns:a16="http://schemas.microsoft.com/office/drawing/2014/main" id="{6B339C8B-4D83-C7FC-8C59-4DFF88D2E1DD}"/>
              </a:ext>
            </a:extLst>
          </p:cNvPr>
          <p:cNvCxnSpPr>
            <a:cxnSpLocks/>
          </p:cNvCxnSpPr>
          <p:nvPr/>
        </p:nvCxnSpPr>
        <p:spPr>
          <a:xfrm flipV="1">
            <a:off x="2017960" y="4890211"/>
            <a:ext cx="1954520" cy="735084"/>
          </a:xfrm>
          <a:prstGeom prst="bentConnector3">
            <a:avLst>
              <a:gd name="adj1" fmla="val -439"/>
            </a:avLst>
          </a:prstGeom>
          <a:ln w="38100">
            <a:solidFill>
              <a:srgbClr val="5E5E5E"/>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73B8B05-1F56-1E25-D47C-548B19F9B7E7}"/>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Tree>
    <p:extLst>
      <p:ext uri="{BB962C8B-B14F-4D97-AF65-F5344CB8AC3E}">
        <p14:creationId xmlns:p14="http://schemas.microsoft.com/office/powerpoint/2010/main" val="44788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7" name="TextBox 26">
            <a:extLst>
              <a:ext uri="{FF2B5EF4-FFF2-40B4-BE49-F238E27FC236}">
                <a16:creationId xmlns:a16="http://schemas.microsoft.com/office/drawing/2014/main" id="{9157DEF3-7A92-81EB-D918-619008E9955E}"/>
              </a:ext>
            </a:extLst>
          </p:cNvPr>
          <p:cNvSpPr txBox="1"/>
          <p:nvPr/>
        </p:nvSpPr>
        <p:spPr>
          <a:xfrm>
            <a:off x="5176332" y="2775808"/>
            <a:ext cx="2327881"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TRUE OBSERVATIONS</a:t>
            </a:r>
          </a:p>
        </p:txBody>
      </p:sp>
      <p:sp>
        <p:nvSpPr>
          <p:cNvPr id="28" name="TextBox 27">
            <a:extLst>
              <a:ext uri="{FF2B5EF4-FFF2-40B4-BE49-F238E27FC236}">
                <a16:creationId xmlns:a16="http://schemas.microsoft.com/office/drawing/2014/main" id="{E9412BE6-6477-1BF9-4AE2-6DA65D6B78F4}"/>
              </a:ext>
            </a:extLst>
          </p:cNvPr>
          <p:cNvSpPr txBox="1"/>
          <p:nvPr/>
        </p:nvSpPr>
        <p:spPr>
          <a:xfrm rot="16200000">
            <a:off x="2912958" y="4717365"/>
            <a:ext cx="2929007"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PREDICTED OBSERVATIONS</a:t>
            </a:r>
          </a:p>
        </p:txBody>
      </p:sp>
      <p:sp>
        <p:nvSpPr>
          <p:cNvPr id="29" name="TextBox 28">
            <a:extLst>
              <a:ext uri="{FF2B5EF4-FFF2-40B4-BE49-F238E27FC236}">
                <a16:creationId xmlns:a16="http://schemas.microsoft.com/office/drawing/2014/main" id="{84B880A2-F12D-FC7F-1A77-56274E1EB565}"/>
              </a:ext>
            </a:extLst>
          </p:cNvPr>
          <p:cNvSpPr txBox="1"/>
          <p:nvPr/>
        </p:nvSpPr>
        <p:spPr>
          <a:xfrm>
            <a:off x="5201386" y="3095767"/>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2" name="TextBox 31">
            <a:extLst>
              <a:ext uri="{FF2B5EF4-FFF2-40B4-BE49-F238E27FC236}">
                <a16:creationId xmlns:a16="http://schemas.microsoft.com/office/drawing/2014/main" id="{FD0A1274-B62B-4EE3-1101-626D4525A56A}"/>
              </a:ext>
            </a:extLst>
          </p:cNvPr>
          <p:cNvSpPr txBox="1"/>
          <p:nvPr/>
        </p:nvSpPr>
        <p:spPr>
          <a:xfrm>
            <a:off x="6708988" y="3114362"/>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33" name="TextBox 32">
            <a:extLst>
              <a:ext uri="{FF2B5EF4-FFF2-40B4-BE49-F238E27FC236}">
                <a16:creationId xmlns:a16="http://schemas.microsoft.com/office/drawing/2014/main" id="{A562C998-7BE4-9B4F-85FF-151E6BD55F00}"/>
              </a:ext>
            </a:extLst>
          </p:cNvPr>
          <p:cNvSpPr txBox="1"/>
          <p:nvPr/>
        </p:nvSpPr>
        <p:spPr>
          <a:xfrm rot="16200000">
            <a:off x="4349409" y="4010986"/>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4" name="TextBox 33">
            <a:extLst>
              <a:ext uri="{FF2B5EF4-FFF2-40B4-BE49-F238E27FC236}">
                <a16:creationId xmlns:a16="http://schemas.microsoft.com/office/drawing/2014/main" id="{305112E0-77C3-19C2-B432-E7F9FAFB60A0}"/>
              </a:ext>
            </a:extLst>
          </p:cNvPr>
          <p:cNvSpPr txBox="1"/>
          <p:nvPr/>
        </p:nvSpPr>
        <p:spPr>
          <a:xfrm rot="16200000">
            <a:off x="4367508" y="5488010"/>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23" name="Rectangle 22">
            <a:extLst>
              <a:ext uri="{FF2B5EF4-FFF2-40B4-BE49-F238E27FC236}">
                <a16:creationId xmlns:a16="http://schemas.microsoft.com/office/drawing/2014/main" id="{DDF24103-64C5-B92C-DD6C-826B6594B97F}"/>
              </a:ext>
            </a:extLst>
          </p:cNvPr>
          <p:cNvSpPr/>
          <p:nvPr/>
        </p:nvSpPr>
        <p:spPr>
          <a:xfrm>
            <a:off x="4869937" y="3425957"/>
            <a:ext cx="2928508" cy="2928508"/>
          </a:xfrm>
          <a:prstGeom prst="rect">
            <a:avLst/>
          </a:prstGeom>
          <a:noFill/>
          <a:ln w="381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24" name="Straight Connector 23">
            <a:extLst>
              <a:ext uri="{FF2B5EF4-FFF2-40B4-BE49-F238E27FC236}">
                <a16:creationId xmlns:a16="http://schemas.microsoft.com/office/drawing/2014/main" id="{03CAC910-DADF-2584-BBB8-3EF11A360684}"/>
              </a:ext>
            </a:extLst>
          </p:cNvPr>
          <p:cNvCxnSpPr>
            <a:cxnSpLocks/>
            <a:stCxn id="23" idx="0"/>
            <a:endCxn id="23" idx="2"/>
          </p:cNvCxnSpPr>
          <p:nvPr/>
        </p:nvCxnSpPr>
        <p:spPr>
          <a:xfrm>
            <a:off x="6334191" y="3425957"/>
            <a:ext cx="0" cy="2928508"/>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5303AAB-03BE-122F-2533-09B1EC08DDFB}"/>
              </a:ext>
            </a:extLst>
          </p:cNvPr>
          <p:cNvCxnSpPr>
            <a:cxnSpLocks/>
          </p:cNvCxnSpPr>
          <p:nvPr/>
        </p:nvCxnSpPr>
        <p:spPr>
          <a:xfrm flipH="1">
            <a:off x="4869937" y="4890211"/>
            <a:ext cx="2928508" cy="0"/>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812024-F09B-2D01-CFC3-A355BDC72A64}"/>
              </a:ext>
            </a:extLst>
          </p:cNvPr>
          <p:cNvSpPr txBox="1"/>
          <p:nvPr/>
        </p:nvSpPr>
        <p:spPr>
          <a:xfrm>
            <a:off x="5068446" y="3970398"/>
            <a:ext cx="102927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9627</a:t>
            </a:r>
          </a:p>
        </p:txBody>
      </p:sp>
      <p:sp>
        <p:nvSpPr>
          <p:cNvPr id="36" name="TextBox 35">
            <a:extLst>
              <a:ext uri="{FF2B5EF4-FFF2-40B4-BE49-F238E27FC236}">
                <a16:creationId xmlns:a16="http://schemas.microsoft.com/office/drawing/2014/main" id="{B39B031E-4037-1427-88B1-73F8DDE109F4}"/>
              </a:ext>
            </a:extLst>
          </p:cNvPr>
          <p:cNvSpPr txBox="1"/>
          <p:nvPr/>
        </p:nvSpPr>
        <p:spPr>
          <a:xfrm>
            <a:off x="5277136" y="5432626"/>
            <a:ext cx="55093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40</a:t>
            </a:r>
          </a:p>
        </p:txBody>
      </p:sp>
      <p:sp>
        <p:nvSpPr>
          <p:cNvPr id="37" name="TextBox 36">
            <a:extLst>
              <a:ext uri="{FF2B5EF4-FFF2-40B4-BE49-F238E27FC236}">
                <a16:creationId xmlns:a16="http://schemas.microsoft.com/office/drawing/2014/main" id="{0D58DB6F-632B-188C-69E5-ADFE0D8091A6}"/>
              </a:ext>
            </a:extLst>
          </p:cNvPr>
          <p:cNvSpPr txBox="1"/>
          <p:nvPr/>
        </p:nvSpPr>
        <p:spPr>
          <a:xfrm>
            <a:off x="6656268" y="3942366"/>
            <a:ext cx="743756" cy="445018"/>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228</a:t>
            </a:r>
          </a:p>
        </p:txBody>
      </p:sp>
      <p:sp>
        <p:nvSpPr>
          <p:cNvPr id="38" name="TextBox 37">
            <a:extLst>
              <a:ext uri="{FF2B5EF4-FFF2-40B4-BE49-F238E27FC236}">
                <a16:creationId xmlns:a16="http://schemas.microsoft.com/office/drawing/2014/main" id="{0DDD9ACF-0E46-F6CC-8680-994A8F5AC023}"/>
              </a:ext>
            </a:extLst>
          </p:cNvPr>
          <p:cNvSpPr txBox="1"/>
          <p:nvPr/>
        </p:nvSpPr>
        <p:spPr>
          <a:xfrm>
            <a:off x="6633752" y="5426456"/>
            <a:ext cx="766272"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105</a:t>
            </a:r>
          </a:p>
        </p:txBody>
      </p:sp>
      <p:sp>
        <p:nvSpPr>
          <p:cNvPr id="43" name="TextBox 42">
            <a:extLst>
              <a:ext uri="{FF2B5EF4-FFF2-40B4-BE49-F238E27FC236}">
                <a16:creationId xmlns:a16="http://schemas.microsoft.com/office/drawing/2014/main" id="{15725B0F-D727-1EFE-A382-3143FCA77092}"/>
              </a:ext>
            </a:extLst>
          </p:cNvPr>
          <p:cNvSpPr txBox="1"/>
          <p:nvPr/>
        </p:nvSpPr>
        <p:spPr>
          <a:xfrm>
            <a:off x="5277136" y="3612846"/>
            <a:ext cx="572593"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TN</a:t>
            </a:r>
          </a:p>
        </p:txBody>
      </p:sp>
      <p:sp>
        <p:nvSpPr>
          <p:cNvPr id="44" name="TextBox 43">
            <a:extLst>
              <a:ext uri="{FF2B5EF4-FFF2-40B4-BE49-F238E27FC236}">
                <a16:creationId xmlns:a16="http://schemas.microsoft.com/office/drawing/2014/main" id="{5CDDBEE8-8F30-2F1D-5419-71583CD595DA}"/>
              </a:ext>
            </a:extLst>
          </p:cNvPr>
          <p:cNvSpPr txBox="1"/>
          <p:nvPr/>
        </p:nvSpPr>
        <p:spPr>
          <a:xfrm>
            <a:off x="6780693" y="5059221"/>
            <a:ext cx="529312"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TP</a:t>
            </a:r>
          </a:p>
        </p:txBody>
      </p:sp>
      <p:sp>
        <p:nvSpPr>
          <p:cNvPr id="45" name="TextBox 44">
            <a:extLst>
              <a:ext uri="{FF2B5EF4-FFF2-40B4-BE49-F238E27FC236}">
                <a16:creationId xmlns:a16="http://schemas.microsoft.com/office/drawing/2014/main" id="{4D974E80-82CC-8115-5FF7-CE61F59CFF4C}"/>
              </a:ext>
            </a:extLst>
          </p:cNvPr>
          <p:cNvSpPr txBox="1"/>
          <p:nvPr/>
        </p:nvSpPr>
        <p:spPr>
          <a:xfrm>
            <a:off x="6752232" y="3610871"/>
            <a:ext cx="562975"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FN</a:t>
            </a:r>
          </a:p>
        </p:txBody>
      </p:sp>
      <p:sp>
        <p:nvSpPr>
          <p:cNvPr id="46" name="TextBox 45">
            <a:extLst>
              <a:ext uri="{FF2B5EF4-FFF2-40B4-BE49-F238E27FC236}">
                <a16:creationId xmlns:a16="http://schemas.microsoft.com/office/drawing/2014/main" id="{B648C3F7-2196-BF3D-1C38-46425B945F66}"/>
              </a:ext>
            </a:extLst>
          </p:cNvPr>
          <p:cNvSpPr txBox="1"/>
          <p:nvPr/>
        </p:nvSpPr>
        <p:spPr>
          <a:xfrm>
            <a:off x="5320745" y="5069339"/>
            <a:ext cx="519694"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FP</a:t>
            </a:r>
          </a:p>
        </p:txBody>
      </p:sp>
      <p:sp>
        <p:nvSpPr>
          <p:cNvPr id="48" name="TextBox 47">
            <a:extLst>
              <a:ext uri="{FF2B5EF4-FFF2-40B4-BE49-F238E27FC236}">
                <a16:creationId xmlns:a16="http://schemas.microsoft.com/office/drawing/2014/main" id="{D02BCAEA-D8AF-40C6-9C53-00E373A88D3E}"/>
              </a:ext>
            </a:extLst>
          </p:cNvPr>
          <p:cNvSpPr txBox="1"/>
          <p:nvPr/>
        </p:nvSpPr>
        <p:spPr>
          <a:xfrm>
            <a:off x="1813039" y="3341487"/>
            <a:ext cx="2127505" cy="1200329"/>
          </a:xfrm>
          <a:prstGeom prst="rect">
            <a:avLst/>
          </a:prstGeom>
          <a:noFill/>
        </p:spPr>
        <p:txBody>
          <a:bodyPr wrap="none" rtlCol="0">
            <a:spAutoFit/>
          </a:bodyPr>
          <a:lstStyle/>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TN = true negative</a:t>
            </a:r>
          </a:p>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TP = true positive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FP = false negative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FN = false positive</a:t>
            </a:r>
          </a:p>
        </p:txBody>
      </p:sp>
      <p:sp>
        <p:nvSpPr>
          <p:cNvPr id="51" name="TextBox 50">
            <a:extLst>
              <a:ext uri="{FF2B5EF4-FFF2-40B4-BE49-F238E27FC236}">
                <a16:creationId xmlns:a16="http://schemas.microsoft.com/office/drawing/2014/main" id="{1B831E35-5AFA-A5A6-96AA-B1AB87417D34}"/>
              </a:ext>
            </a:extLst>
          </p:cNvPr>
          <p:cNvSpPr txBox="1"/>
          <p:nvPr/>
        </p:nvSpPr>
        <p:spPr>
          <a:xfrm>
            <a:off x="8282907" y="3516008"/>
            <a:ext cx="2495748" cy="430887"/>
          </a:xfrm>
          <a:prstGeom prst="rect">
            <a:avLst/>
          </a:prstGeom>
          <a:noFill/>
        </p:spPr>
        <p:txBody>
          <a:bodyPr wrap="none" rtlCol="0">
            <a:spAutoFit/>
          </a:bodyPr>
          <a:lstStyle/>
          <a:p>
            <a:r>
              <a:rPr lang="en-FR" sz="2200" dirty="0">
                <a:solidFill>
                  <a:srgbClr val="5E5E5E"/>
                </a:solidFill>
              </a:rPr>
              <a:t>ACC =           </a:t>
            </a:r>
            <a:r>
              <a:rPr lang="en-FR" sz="2200" dirty="0">
                <a:solidFill>
                  <a:srgbClr val="00B050"/>
                </a:solidFill>
              </a:rPr>
              <a:t>TN</a:t>
            </a:r>
            <a:r>
              <a:rPr lang="en-FR" sz="2200" dirty="0">
                <a:solidFill>
                  <a:srgbClr val="5E5E5E"/>
                </a:solidFill>
              </a:rPr>
              <a:t> + </a:t>
            </a:r>
            <a:r>
              <a:rPr lang="en-FR" sz="2200" dirty="0">
                <a:solidFill>
                  <a:srgbClr val="00B050"/>
                </a:solidFill>
              </a:rPr>
              <a:t>TP</a:t>
            </a:r>
          </a:p>
        </p:txBody>
      </p:sp>
      <p:cxnSp>
        <p:nvCxnSpPr>
          <p:cNvPr id="53" name="Straight Connector 52">
            <a:extLst>
              <a:ext uri="{FF2B5EF4-FFF2-40B4-BE49-F238E27FC236}">
                <a16:creationId xmlns:a16="http://schemas.microsoft.com/office/drawing/2014/main" id="{FC66C4D1-99AF-6E9B-B18D-15A0ECB047CA}"/>
              </a:ext>
            </a:extLst>
          </p:cNvPr>
          <p:cNvCxnSpPr>
            <a:cxnSpLocks/>
          </p:cNvCxnSpPr>
          <p:nvPr/>
        </p:nvCxnSpPr>
        <p:spPr>
          <a:xfrm>
            <a:off x="9128240" y="3946895"/>
            <a:ext cx="1971842"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2717F83-535B-448B-F0DD-FBD773EB7181}"/>
              </a:ext>
            </a:extLst>
          </p:cNvPr>
          <p:cNvSpPr txBox="1"/>
          <p:nvPr/>
        </p:nvSpPr>
        <p:spPr>
          <a:xfrm>
            <a:off x="9036922" y="3970398"/>
            <a:ext cx="2185214" cy="430887"/>
          </a:xfrm>
          <a:prstGeom prst="rect">
            <a:avLst/>
          </a:prstGeom>
          <a:noFill/>
        </p:spPr>
        <p:txBody>
          <a:bodyPr wrap="none" rtlCol="0">
            <a:spAutoFit/>
          </a:bodyPr>
          <a:lstStyle/>
          <a:p>
            <a:r>
              <a:rPr lang="en-FR" sz="2200" dirty="0">
                <a:solidFill>
                  <a:srgbClr val="00B050"/>
                </a:solidFill>
              </a:rPr>
              <a:t>TN</a:t>
            </a:r>
            <a:r>
              <a:rPr lang="en-FR" sz="2200" dirty="0">
                <a:solidFill>
                  <a:srgbClr val="5E5E5E"/>
                </a:solidFill>
              </a:rPr>
              <a:t> + </a:t>
            </a:r>
            <a:r>
              <a:rPr lang="en-FR" sz="2200" dirty="0">
                <a:solidFill>
                  <a:srgbClr val="00B050"/>
                </a:solidFill>
              </a:rPr>
              <a:t>TP</a:t>
            </a:r>
            <a:r>
              <a:rPr lang="en-FR" sz="2200" dirty="0">
                <a:solidFill>
                  <a:srgbClr val="5E5E5E"/>
                </a:solidFill>
              </a:rPr>
              <a:t> + </a:t>
            </a:r>
            <a:r>
              <a:rPr lang="en-FR" sz="2200" dirty="0">
                <a:solidFill>
                  <a:srgbClr val="FA2743"/>
                </a:solidFill>
              </a:rPr>
              <a:t>FN</a:t>
            </a:r>
            <a:r>
              <a:rPr lang="en-FR" sz="2200" dirty="0">
                <a:solidFill>
                  <a:srgbClr val="5E5E5E"/>
                </a:solidFill>
              </a:rPr>
              <a:t> + </a:t>
            </a:r>
            <a:r>
              <a:rPr lang="en-FR" sz="2200" dirty="0">
                <a:solidFill>
                  <a:srgbClr val="FA2743"/>
                </a:solidFill>
              </a:rPr>
              <a:t>FP</a:t>
            </a:r>
          </a:p>
        </p:txBody>
      </p:sp>
      <p:sp>
        <p:nvSpPr>
          <p:cNvPr id="5" name="Rounded Rectangle 4">
            <a:extLst>
              <a:ext uri="{FF2B5EF4-FFF2-40B4-BE49-F238E27FC236}">
                <a16:creationId xmlns:a16="http://schemas.microsoft.com/office/drawing/2014/main" id="{78991331-FE60-4CFB-46B0-E0D8FFF11625}"/>
              </a:ext>
            </a:extLst>
          </p:cNvPr>
          <p:cNvSpPr/>
          <p:nvPr/>
        </p:nvSpPr>
        <p:spPr>
          <a:xfrm>
            <a:off x="8120521" y="3429000"/>
            <a:ext cx="3266617"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8" name="Elbow Connector 7">
            <a:extLst>
              <a:ext uri="{FF2B5EF4-FFF2-40B4-BE49-F238E27FC236}">
                <a16:creationId xmlns:a16="http://schemas.microsoft.com/office/drawing/2014/main" id="{7C589945-731B-43B1-0831-AC6BA782BB40}"/>
              </a:ext>
            </a:extLst>
          </p:cNvPr>
          <p:cNvCxnSpPr>
            <a:cxnSpLocks/>
          </p:cNvCxnSpPr>
          <p:nvPr/>
        </p:nvCxnSpPr>
        <p:spPr>
          <a:xfrm flipV="1">
            <a:off x="2017960" y="4890211"/>
            <a:ext cx="1954520" cy="735084"/>
          </a:xfrm>
          <a:prstGeom prst="bentConnector3">
            <a:avLst>
              <a:gd name="adj1" fmla="val -439"/>
            </a:avLst>
          </a:prstGeom>
          <a:ln w="38100">
            <a:solidFill>
              <a:srgbClr val="5E5E5E"/>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22967BA-87A8-E6D9-0F62-7CB1A97610B7}"/>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
        <p:nvSpPr>
          <p:cNvPr id="6" name="TextBox 5">
            <a:extLst>
              <a:ext uri="{FF2B5EF4-FFF2-40B4-BE49-F238E27FC236}">
                <a16:creationId xmlns:a16="http://schemas.microsoft.com/office/drawing/2014/main" id="{F43BC879-FABE-1F95-408F-8611B9BF4B64}"/>
              </a:ext>
            </a:extLst>
          </p:cNvPr>
          <p:cNvSpPr txBox="1"/>
          <p:nvPr/>
        </p:nvSpPr>
        <p:spPr>
          <a:xfrm>
            <a:off x="240033" y="783100"/>
            <a:ext cx="1253869" cy="430887"/>
          </a:xfrm>
          <a:prstGeom prst="rect">
            <a:avLst/>
          </a:prstGeom>
          <a:noFill/>
        </p:spPr>
        <p:txBody>
          <a:bodyPr wrap="none" rtlCol="0">
            <a:spAutoFit/>
          </a:bodyPr>
          <a:lstStyle/>
          <a:p>
            <a:r>
              <a:rPr lang="en-FR" sz="2200" b="1" dirty="0">
                <a:solidFill>
                  <a:srgbClr val="5E5E5E"/>
                </a:solidFill>
                <a:latin typeface="Lato" panose="020F0502020204030203" pitchFamily="34" charset="0"/>
                <a:ea typeface="Lato" panose="020F0502020204030203" pitchFamily="34" charset="0"/>
                <a:cs typeface="Lato" panose="020F0502020204030203" pitchFamily="34" charset="0"/>
              </a:rPr>
              <a:t>Example</a:t>
            </a:r>
          </a:p>
        </p:txBody>
      </p:sp>
      <p:sp>
        <p:nvSpPr>
          <p:cNvPr id="12" name="Rectangle 11">
            <a:extLst>
              <a:ext uri="{FF2B5EF4-FFF2-40B4-BE49-F238E27FC236}">
                <a16:creationId xmlns:a16="http://schemas.microsoft.com/office/drawing/2014/main" id="{503F59FD-8996-BCD9-5941-FACBEC102F16}"/>
              </a:ext>
            </a:extLst>
          </p:cNvPr>
          <p:cNvSpPr/>
          <p:nvPr/>
        </p:nvSpPr>
        <p:spPr>
          <a:xfrm>
            <a:off x="273929" y="1229856"/>
            <a:ext cx="1152000" cy="72000"/>
          </a:xfrm>
          <a:prstGeom prst="rect">
            <a:avLst/>
          </a:prstGeom>
          <a:solidFill>
            <a:srgbClr val="5E5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TextBox 13">
            <a:extLst>
              <a:ext uri="{FF2B5EF4-FFF2-40B4-BE49-F238E27FC236}">
                <a16:creationId xmlns:a16="http://schemas.microsoft.com/office/drawing/2014/main" id="{235C6F41-19BB-86DB-8AAB-26D736651F09}"/>
              </a:ext>
            </a:extLst>
          </p:cNvPr>
          <p:cNvSpPr txBox="1"/>
          <p:nvPr/>
        </p:nvSpPr>
        <p:spPr>
          <a:xfrm>
            <a:off x="1552109" y="831890"/>
            <a:ext cx="862607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Consider the </a:t>
            </a:r>
            <a:r>
              <a:rPr lang="en-FR" sz="2400" dirty="0">
                <a:solidFill>
                  <a:srgbClr val="5E5E5E"/>
                </a:solidFill>
                <a:latin typeface="Roboto Light" panose="02000000000000000000" pitchFamily="2" charset="0"/>
                <a:ea typeface="Roboto Light" panose="02000000000000000000" pitchFamily="2" charset="0"/>
                <a:cs typeface="Courier New" panose="02070309020205020404" pitchFamily="49" charset="0"/>
              </a:rPr>
              <a:t>default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dataset from the James et al. (2022) book</a:t>
            </a:r>
          </a:p>
        </p:txBody>
      </p:sp>
      <p:sp>
        <p:nvSpPr>
          <p:cNvPr id="15" name="TextBox 14">
            <a:extLst>
              <a:ext uri="{FF2B5EF4-FFF2-40B4-BE49-F238E27FC236}">
                <a16:creationId xmlns:a16="http://schemas.microsoft.com/office/drawing/2014/main" id="{EC4C52E2-2864-614B-3D3E-CF4421C2EEC6}"/>
              </a:ext>
            </a:extLst>
          </p:cNvPr>
          <p:cNvSpPr txBox="1"/>
          <p:nvPr/>
        </p:nvSpPr>
        <p:spPr>
          <a:xfrm>
            <a:off x="240032" y="1471929"/>
            <a:ext cx="7238913" cy="830997"/>
          </a:xfrm>
          <a:prstGeom prst="rect">
            <a:avLst/>
          </a:prstGeom>
          <a:noFill/>
        </p:spPr>
        <p:txBody>
          <a:bodyPr wrap="square">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classifier </a:t>
            </a:r>
            <a:r>
              <a:rPr lang="en-GB"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h</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as 97.1% of accuracy</a:t>
            </a:r>
            <a:endParaRPr lang="en-FR" sz="2400" dirty="0">
              <a:solidFill>
                <a:srgbClr val="5E5E5E"/>
              </a:solidFill>
              <a:latin typeface="Roboto Light" panose="02000000000000000000" pitchFamily="2" charset="0"/>
              <a:ea typeface="Roboto Light" panose="02000000000000000000" pitchFamily="2" charset="0"/>
            </a:endParaRPr>
          </a:p>
          <a:p>
            <a:endParaRPr lang="en-FR" sz="2400" dirty="0">
              <a:solidFill>
                <a:srgbClr val="5E5E5E"/>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33DF3140-5E48-E9FD-6D1C-E85DA1D2985F}"/>
              </a:ext>
            </a:extLst>
          </p:cNvPr>
          <p:cNvSpPr txBox="1"/>
          <p:nvPr/>
        </p:nvSpPr>
        <p:spPr>
          <a:xfrm>
            <a:off x="5231413" y="1471929"/>
            <a:ext cx="595035" cy="584775"/>
          </a:xfrm>
          <a:prstGeom prst="rect">
            <a:avLst/>
          </a:prstGeom>
          <a:noFill/>
        </p:spPr>
        <p:txBody>
          <a:bodyPr wrap="none" rtlCol="0">
            <a:spAutoFit/>
          </a:bodyPr>
          <a:lstStyle/>
          <a:p>
            <a:r>
              <a:rPr lang="en-FR" sz="3200" dirty="0"/>
              <a:t>💪🏻</a:t>
            </a:r>
          </a:p>
        </p:txBody>
      </p:sp>
      <p:sp>
        <p:nvSpPr>
          <p:cNvPr id="18" name="TextBox 17">
            <a:extLst>
              <a:ext uri="{FF2B5EF4-FFF2-40B4-BE49-F238E27FC236}">
                <a16:creationId xmlns:a16="http://schemas.microsoft.com/office/drawing/2014/main" id="{54958102-1831-0BA7-A703-66061008A1CD}"/>
              </a:ext>
            </a:extLst>
          </p:cNvPr>
          <p:cNvSpPr txBox="1"/>
          <p:nvPr/>
        </p:nvSpPr>
        <p:spPr>
          <a:xfrm>
            <a:off x="234896" y="2056704"/>
            <a:ext cx="9518704" cy="461665"/>
          </a:xfrm>
          <a:prstGeom prst="rect">
            <a:avLst/>
          </a:prstGeom>
          <a:noFill/>
        </p:spPr>
        <p:txBody>
          <a:bodyPr wrap="square">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But the data set has 3.3% of labels YES and 96.7% of labels NO</a:t>
            </a:r>
            <a:endParaRPr lang="en-FR" sz="2400" dirty="0">
              <a:solidFill>
                <a:srgbClr val="5E5E5E"/>
              </a:solidFill>
              <a:latin typeface="Roboto Light" panose="02000000000000000000" pitchFamily="2" charset="0"/>
              <a:ea typeface="Roboto Light" panose="02000000000000000000" pitchFamily="2" charset="0"/>
            </a:endParaRPr>
          </a:p>
        </p:txBody>
      </p:sp>
      <p:sp>
        <p:nvSpPr>
          <p:cNvPr id="19" name="TextBox 18">
            <a:extLst>
              <a:ext uri="{FF2B5EF4-FFF2-40B4-BE49-F238E27FC236}">
                <a16:creationId xmlns:a16="http://schemas.microsoft.com/office/drawing/2014/main" id="{F4639007-E79B-5787-59BA-B83E91A93DB6}"/>
              </a:ext>
            </a:extLst>
          </p:cNvPr>
          <p:cNvSpPr txBox="1"/>
          <p:nvPr/>
        </p:nvSpPr>
        <p:spPr>
          <a:xfrm>
            <a:off x="8726811" y="2052133"/>
            <a:ext cx="595035" cy="584775"/>
          </a:xfrm>
          <a:prstGeom prst="rect">
            <a:avLst/>
          </a:prstGeom>
          <a:noFill/>
        </p:spPr>
        <p:txBody>
          <a:bodyPr wrap="none" rtlCol="0">
            <a:spAutoFit/>
          </a:bodyPr>
          <a:lstStyle/>
          <a:p>
            <a:r>
              <a:rPr lang="en-FR" sz="3200" dirty="0"/>
              <a:t>🤡</a:t>
            </a:r>
          </a:p>
        </p:txBody>
      </p:sp>
      <p:sp>
        <p:nvSpPr>
          <p:cNvPr id="20" name="TextBox 19">
            <a:extLst>
              <a:ext uri="{FF2B5EF4-FFF2-40B4-BE49-F238E27FC236}">
                <a16:creationId xmlns:a16="http://schemas.microsoft.com/office/drawing/2014/main" id="{DE0B73B4-C60F-3BF1-7AF2-E623ECEA41E0}"/>
              </a:ext>
            </a:extLst>
          </p:cNvPr>
          <p:cNvSpPr txBox="1"/>
          <p:nvPr/>
        </p:nvSpPr>
        <p:spPr>
          <a:xfrm>
            <a:off x="234896" y="5775211"/>
            <a:ext cx="3737584" cy="769441"/>
          </a:xfrm>
          <a:prstGeom prst="rect">
            <a:avLst/>
          </a:prstGeom>
          <a:noFill/>
        </p:spPr>
        <p:txBody>
          <a:bodyPr wrap="square">
            <a:spAutoFit/>
          </a:bodyPr>
          <a:lstStyle/>
          <a:p>
            <a:r>
              <a:rPr lang="en-FR" sz="2200" dirty="0">
                <a:solidFill>
                  <a:srgbClr val="5E5E5E"/>
                </a:solidFill>
                <a:latin typeface="Roboto Light" panose="02000000000000000000" pitchFamily="2" charset="0"/>
                <a:ea typeface="Roboto Light" panose="02000000000000000000" pitchFamily="2" charset="0"/>
                <a:cs typeface="Lato" panose="020F0502020204030203" pitchFamily="34" charset="0"/>
              </a:rPr>
              <a:t>The confusion matrix gives all the information we need</a:t>
            </a:r>
          </a:p>
        </p:txBody>
      </p:sp>
    </p:spTree>
    <p:extLst>
      <p:ext uri="{BB962C8B-B14F-4D97-AF65-F5344CB8AC3E}">
        <p14:creationId xmlns:p14="http://schemas.microsoft.com/office/powerpoint/2010/main" val="1639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D937435C-A24B-538A-B3F7-B2ABF5E9E3C1}"/>
              </a:ext>
            </a:extLst>
          </p:cNvPr>
          <p:cNvSpPr/>
          <p:nvPr/>
        </p:nvSpPr>
        <p:spPr>
          <a:xfrm>
            <a:off x="6539423" y="2060030"/>
            <a:ext cx="989113" cy="269762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7" name="TextBox 26">
            <a:extLst>
              <a:ext uri="{FF2B5EF4-FFF2-40B4-BE49-F238E27FC236}">
                <a16:creationId xmlns:a16="http://schemas.microsoft.com/office/drawing/2014/main" id="{9157DEF3-7A92-81EB-D918-619008E9955E}"/>
              </a:ext>
            </a:extLst>
          </p:cNvPr>
          <p:cNvSpPr txBox="1"/>
          <p:nvPr/>
        </p:nvSpPr>
        <p:spPr>
          <a:xfrm>
            <a:off x="5176332" y="1355869"/>
            <a:ext cx="2327881"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TRUE OBSERVATIONS</a:t>
            </a:r>
          </a:p>
        </p:txBody>
      </p:sp>
      <p:sp>
        <p:nvSpPr>
          <p:cNvPr id="28" name="TextBox 27">
            <a:extLst>
              <a:ext uri="{FF2B5EF4-FFF2-40B4-BE49-F238E27FC236}">
                <a16:creationId xmlns:a16="http://schemas.microsoft.com/office/drawing/2014/main" id="{E9412BE6-6477-1BF9-4AE2-6DA65D6B78F4}"/>
              </a:ext>
            </a:extLst>
          </p:cNvPr>
          <p:cNvSpPr txBox="1"/>
          <p:nvPr/>
        </p:nvSpPr>
        <p:spPr>
          <a:xfrm rot="16200000">
            <a:off x="2912958" y="3262256"/>
            <a:ext cx="2929007"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PREDICTED OBSERVATIONS</a:t>
            </a:r>
          </a:p>
        </p:txBody>
      </p:sp>
      <p:sp>
        <p:nvSpPr>
          <p:cNvPr id="29" name="TextBox 28">
            <a:extLst>
              <a:ext uri="{FF2B5EF4-FFF2-40B4-BE49-F238E27FC236}">
                <a16:creationId xmlns:a16="http://schemas.microsoft.com/office/drawing/2014/main" id="{84B880A2-F12D-FC7F-1A77-56274E1EB565}"/>
              </a:ext>
            </a:extLst>
          </p:cNvPr>
          <p:cNvSpPr txBox="1"/>
          <p:nvPr/>
        </p:nvSpPr>
        <p:spPr>
          <a:xfrm>
            <a:off x="5201386" y="1640658"/>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2" name="TextBox 31">
            <a:extLst>
              <a:ext uri="{FF2B5EF4-FFF2-40B4-BE49-F238E27FC236}">
                <a16:creationId xmlns:a16="http://schemas.microsoft.com/office/drawing/2014/main" id="{FD0A1274-B62B-4EE3-1101-626D4525A56A}"/>
              </a:ext>
            </a:extLst>
          </p:cNvPr>
          <p:cNvSpPr txBox="1"/>
          <p:nvPr/>
        </p:nvSpPr>
        <p:spPr>
          <a:xfrm>
            <a:off x="6708988" y="1659253"/>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33" name="TextBox 32">
            <a:extLst>
              <a:ext uri="{FF2B5EF4-FFF2-40B4-BE49-F238E27FC236}">
                <a16:creationId xmlns:a16="http://schemas.microsoft.com/office/drawing/2014/main" id="{A562C998-7BE4-9B4F-85FF-151E6BD55F00}"/>
              </a:ext>
            </a:extLst>
          </p:cNvPr>
          <p:cNvSpPr txBox="1"/>
          <p:nvPr/>
        </p:nvSpPr>
        <p:spPr>
          <a:xfrm rot="16200000">
            <a:off x="4349409" y="2555877"/>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4" name="TextBox 33">
            <a:extLst>
              <a:ext uri="{FF2B5EF4-FFF2-40B4-BE49-F238E27FC236}">
                <a16:creationId xmlns:a16="http://schemas.microsoft.com/office/drawing/2014/main" id="{305112E0-77C3-19C2-B432-E7F9FAFB60A0}"/>
              </a:ext>
            </a:extLst>
          </p:cNvPr>
          <p:cNvSpPr txBox="1"/>
          <p:nvPr/>
        </p:nvSpPr>
        <p:spPr>
          <a:xfrm rot="16200000">
            <a:off x="4367508" y="4032901"/>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23" name="Rectangle 22">
            <a:extLst>
              <a:ext uri="{FF2B5EF4-FFF2-40B4-BE49-F238E27FC236}">
                <a16:creationId xmlns:a16="http://schemas.microsoft.com/office/drawing/2014/main" id="{DDF24103-64C5-B92C-DD6C-826B6594B97F}"/>
              </a:ext>
            </a:extLst>
          </p:cNvPr>
          <p:cNvSpPr/>
          <p:nvPr/>
        </p:nvSpPr>
        <p:spPr>
          <a:xfrm>
            <a:off x="4869937" y="1970848"/>
            <a:ext cx="2928508" cy="2928508"/>
          </a:xfrm>
          <a:prstGeom prst="rect">
            <a:avLst/>
          </a:prstGeom>
          <a:noFill/>
          <a:ln w="381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24" name="Straight Connector 23">
            <a:extLst>
              <a:ext uri="{FF2B5EF4-FFF2-40B4-BE49-F238E27FC236}">
                <a16:creationId xmlns:a16="http://schemas.microsoft.com/office/drawing/2014/main" id="{03CAC910-DADF-2584-BBB8-3EF11A360684}"/>
              </a:ext>
            </a:extLst>
          </p:cNvPr>
          <p:cNvCxnSpPr>
            <a:cxnSpLocks/>
            <a:stCxn id="23" idx="0"/>
            <a:endCxn id="23" idx="2"/>
          </p:cNvCxnSpPr>
          <p:nvPr/>
        </p:nvCxnSpPr>
        <p:spPr>
          <a:xfrm>
            <a:off x="6334191" y="1970848"/>
            <a:ext cx="0" cy="2928508"/>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5303AAB-03BE-122F-2533-09B1EC08DDFB}"/>
              </a:ext>
            </a:extLst>
          </p:cNvPr>
          <p:cNvCxnSpPr>
            <a:cxnSpLocks/>
          </p:cNvCxnSpPr>
          <p:nvPr/>
        </p:nvCxnSpPr>
        <p:spPr>
          <a:xfrm flipH="1">
            <a:off x="4869937" y="3435102"/>
            <a:ext cx="2928508" cy="0"/>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812024-F09B-2D01-CFC3-A355BDC72A64}"/>
              </a:ext>
            </a:extLst>
          </p:cNvPr>
          <p:cNvSpPr txBox="1"/>
          <p:nvPr/>
        </p:nvSpPr>
        <p:spPr>
          <a:xfrm>
            <a:off x="5068446" y="2515289"/>
            <a:ext cx="102927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9627</a:t>
            </a:r>
          </a:p>
        </p:txBody>
      </p:sp>
      <p:sp>
        <p:nvSpPr>
          <p:cNvPr id="36" name="TextBox 35">
            <a:extLst>
              <a:ext uri="{FF2B5EF4-FFF2-40B4-BE49-F238E27FC236}">
                <a16:creationId xmlns:a16="http://schemas.microsoft.com/office/drawing/2014/main" id="{B39B031E-4037-1427-88B1-73F8DDE109F4}"/>
              </a:ext>
            </a:extLst>
          </p:cNvPr>
          <p:cNvSpPr txBox="1"/>
          <p:nvPr/>
        </p:nvSpPr>
        <p:spPr>
          <a:xfrm>
            <a:off x="5277136" y="3977517"/>
            <a:ext cx="55093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40</a:t>
            </a:r>
          </a:p>
        </p:txBody>
      </p:sp>
      <p:sp>
        <p:nvSpPr>
          <p:cNvPr id="37" name="TextBox 36">
            <a:extLst>
              <a:ext uri="{FF2B5EF4-FFF2-40B4-BE49-F238E27FC236}">
                <a16:creationId xmlns:a16="http://schemas.microsoft.com/office/drawing/2014/main" id="{0D58DB6F-632B-188C-69E5-ADFE0D8091A6}"/>
              </a:ext>
            </a:extLst>
          </p:cNvPr>
          <p:cNvSpPr txBox="1"/>
          <p:nvPr/>
        </p:nvSpPr>
        <p:spPr>
          <a:xfrm>
            <a:off x="6656268" y="2487257"/>
            <a:ext cx="743756" cy="445018"/>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228</a:t>
            </a:r>
          </a:p>
        </p:txBody>
      </p:sp>
      <p:sp>
        <p:nvSpPr>
          <p:cNvPr id="38" name="TextBox 37">
            <a:extLst>
              <a:ext uri="{FF2B5EF4-FFF2-40B4-BE49-F238E27FC236}">
                <a16:creationId xmlns:a16="http://schemas.microsoft.com/office/drawing/2014/main" id="{0DDD9ACF-0E46-F6CC-8680-994A8F5AC023}"/>
              </a:ext>
            </a:extLst>
          </p:cNvPr>
          <p:cNvSpPr txBox="1"/>
          <p:nvPr/>
        </p:nvSpPr>
        <p:spPr>
          <a:xfrm>
            <a:off x="6633752" y="3971347"/>
            <a:ext cx="766272"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105</a:t>
            </a:r>
          </a:p>
        </p:txBody>
      </p:sp>
      <p:sp>
        <p:nvSpPr>
          <p:cNvPr id="43" name="TextBox 42">
            <a:extLst>
              <a:ext uri="{FF2B5EF4-FFF2-40B4-BE49-F238E27FC236}">
                <a16:creationId xmlns:a16="http://schemas.microsoft.com/office/drawing/2014/main" id="{15725B0F-D727-1EFE-A382-3143FCA77092}"/>
              </a:ext>
            </a:extLst>
          </p:cNvPr>
          <p:cNvSpPr txBox="1"/>
          <p:nvPr/>
        </p:nvSpPr>
        <p:spPr>
          <a:xfrm>
            <a:off x="5277136" y="2157737"/>
            <a:ext cx="572593"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TN</a:t>
            </a:r>
          </a:p>
        </p:txBody>
      </p:sp>
      <p:sp>
        <p:nvSpPr>
          <p:cNvPr id="44" name="TextBox 43">
            <a:extLst>
              <a:ext uri="{FF2B5EF4-FFF2-40B4-BE49-F238E27FC236}">
                <a16:creationId xmlns:a16="http://schemas.microsoft.com/office/drawing/2014/main" id="{5CDDBEE8-8F30-2F1D-5419-71583CD595DA}"/>
              </a:ext>
            </a:extLst>
          </p:cNvPr>
          <p:cNvSpPr txBox="1"/>
          <p:nvPr/>
        </p:nvSpPr>
        <p:spPr>
          <a:xfrm>
            <a:off x="6780693" y="3604112"/>
            <a:ext cx="529312"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TP</a:t>
            </a:r>
          </a:p>
        </p:txBody>
      </p:sp>
      <p:sp>
        <p:nvSpPr>
          <p:cNvPr id="45" name="TextBox 44">
            <a:extLst>
              <a:ext uri="{FF2B5EF4-FFF2-40B4-BE49-F238E27FC236}">
                <a16:creationId xmlns:a16="http://schemas.microsoft.com/office/drawing/2014/main" id="{4D974E80-82CC-8115-5FF7-CE61F59CFF4C}"/>
              </a:ext>
            </a:extLst>
          </p:cNvPr>
          <p:cNvSpPr txBox="1"/>
          <p:nvPr/>
        </p:nvSpPr>
        <p:spPr>
          <a:xfrm>
            <a:off x="6752232" y="2155762"/>
            <a:ext cx="562975"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FN</a:t>
            </a:r>
          </a:p>
        </p:txBody>
      </p:sp>
      <p:sp>
        <p:nvSpPr>
          <p:cNvPr id="46" name="TextBox 45">
            <a:extLst>
              <a:ext uri="{FF2B5EF4-FFF2-40B4-BE49-F238E27FC236}">
                <a16:creationId xmlns:a16="http://schemas.microsoft.com/office/drawing/2014/main" id="{B648C3F7-2196-BF3D-1C38-46425B945F66}"/>
              </a:ext>
            </a:extLst>
          </p:cNvPr>
          <p:cNvSpPr txBox="1"/>
          <p:nvPr/>
        </p:nvSpPr>
        <p:spPr>
          <a:xfrm>
            <a:off x="5320745" y="3614230"/>
            <a:ext cx="519694"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FP</a:t>
            </a:r>
          </a:p>
        </p:txBody>
      </p:sp>
      <p:sp>
        <p:nvSpPr>
          <p:cNvPr id="48" name="TextBox 47">
            <a:extLst>
              <a:ext uri="{FF2B5EF4-FFF2-40B4-BE49-F238E27FC236}">
                <a16:creationId xmlns:a16="http://schemas.microsoft.com/office/drawing/2014/main" id="{D02BCAEA-D8AF-40C6-9C53-00E373A88D3E}"/>
              </a:ext>
            </a:extLst>
          </p:cNvPr>
          <p:cNvSpPr txBox="1"/>
          <p:nvPr/>
        </p:nvSpPr>
        <p:spPr>
          <a:xfrm>
            <a:off x="1813039" y="1886378"/>
            <a:ext cx="2127505" cy="1200329"/>
          </a:xfrm>
          <a:prstGeom prst="rect">
            <a:avLst/>
          </a:prstGeom>
          <a:noFill/>
        </p:spPr>
        <p:txBody>
          <a:bodyPr wrap="none" rtlCol="0">
            <a:spAutoFit/>
          </a:bodyPr>
          <a:lstStyle/>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TN = true negative</a:t>
            </a:r>
          </a:p>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TP = true positive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FP = false negative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FN = false positive</a:t>
            </a:r>
          </a:p>
        </p:txBody>
      </p:sp>
      <p:sp>
        <p:nvSpPr>
          <p:cNvPr id="6" name="TextBox 5">
            <a:extLst>
              <a:ext uri="{FF2B5EF4-FFF2-40B4-BE49-F238E27FC236}">
                <a16:creationId xmlns:a16="http://schemas.microsoft.com/office/drawing/2014/main" id="{8051AD1C-A4CC-213C-033F-1A7C0BB09659}"/>
              </a:ext>
            </a:extLst>
          </p:cNvPr>
          <p:cNvSpPr txBox="1"/>
          <p:nvPr/>
        </p:nvSpPr>
        <p:spPr>
          <a:xfrm>
            <a:off x="812358" y="5167741"/>
            <a:ext cx="8900154" cy="646331"/>
          </a:xfrm>
          <a:prstGeom prst="rect">
            <a:avLst/>
          </a:prstGeom>
          <a:noFill/>
        </p:spPr>
        <p:txBody>
          <a:bodyPr wrap="square">
            <a:spAutoFit/>
          </a:bodyPr>
          <a:lstStyle/>
          <a:p>
            <a:r>
              <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If we were interested in checking how well the classifier detected clients that were really in default, we would prefer to check the quantity called "True Positive Rate" </a:t>
            </a:r>
          </a:p>
        </p:txBody>
      </p:sp>
      <p:sp>
        <p:nvSpPr>
          <p:cNvPr id="8" name="TextBox 7">
            <a:extLst>
              <a:ext uri="{FF2B5EF4-FFF2-40B4-BE49-F238E27FC236}">
                <a16:creationId xmlns:a16="http://schemas.microsoft.com/office/drawing/2014/main" id="{E15200C0-40A4-FB45-A95E-8A3382402BA4}"/>
              </a:ext>
            </a:extLst>
          </p:cNvPr>
          <p:cNvSpPr txBox="1"/>
          <p:nvPr/>
        </p:nvSpPr>
        <p:spPr>
          <a:xfrm>
            <a:off x="8328551" y="2078399"/>
            <a:ext cx="1560042" cy="430887"/>
          </a:xfrm>
          <a:prstGeom prst="rect">
            <a:avLst/>
          </a:prstGeom>
          <a:noFill/>
        </p:spPr>
        <p:txBody>
          <a:bodyPr wrap="none" rtlCol="0">
            <a:spAutoFit/>
          </a:bodyPr>
          <a:lstStyle/>
          <a:p>
            <a:r>
              <a:rPr lang="en-FR" sz="2200" dirty="0">
                <a:solidFill>
                  <a:srgbClr val="5E5E5E"/>
                </a:solidFill>
              </a:rPr>
              <a:t>TPR =       </a:t>
            </a:r>
            <a:r>
              <a:rPr lang="en-FR" sz="2200" dirty="0">
                <a:solidFill>
                  <a:srgbClr val="00B050"/>
                </a:solidFill>
              </a:rPr>
              <a:t>TP</a:t>
            </a:r>
          </a:p>
        </p:txBody>
      </p:sp>
      <p:cxnSp>
        <p:nvCxnSpPr>
          <p:cNvPr id="12" name="Straight Connector 11">
            <a:extLst>
              <a:ext uri="{FF2B5EF4-FFF2-40B4-BE49-F238E27FC236}">
                <a16:creationId xmlns:a16="http://schemas.microsoft.com/office/drawing/2014/main" id="{41A64421-8723-C7D0-C11D-91E89A243B55}"/>
              </a:ext>
            </a:extLst>
          </p:cNvPr>
          <p:cNvCxnSpPr>
            <a:cxnSpLocks/>
          </p:cNvCxnSpPr>
          <p:nvPr/>
        </p:nvCxnSpPr>
        <p:spPr>
          <a:xfrm>
            <a:off x="9173884" y="2509286"/>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561E3DB-4950-4572-7FE8-82ED2B7D2EF5}"/>
              </a:ext>
            </a:extLst>
          </p:cNvPr>
          <p:cNvSpPr txBox="1"/>
          <p:nvPr/>
        </p:nvSpPr>
        <p:spPr>
          <a:xfrm>
            <a:off x="9098064" y="2532789"/>
            <a:ext cx="1050288" cy="430887"/>
          </a:xfrm>
          <a:prstGeom prst="rect">
            <a:avLst/>
          </a:prstGeom>
          <a:noFill/>
        </p:spPr>
        <p:txBody>
          <a:bodyPr wrap="none" rtlCol="0">
            <a:spAutoFit/>
          </a:bodyPr>
          <a:lstStyle/>
          <a:p>
            <a:r>
              <a:rPr lang="en-FR" sz="2200" dirty="0">
                <a:solidFill>
                  <a:srgbClr val="00B050"/>
                </a:solidFill>
              </a:rPr>
              <a:t>TP</a:t>
            </a:r>
            <a:r>
              <a:rPr lang="en-FR" sz="2200" dirty="0">
                <a:solidFill>
                  <a:srgbClr val="5E5E5E"/>
                </a:solidFill>
              </a:rPr>
              <a:t> + </a:t>
            </a:r>
            <a:r>
              <a:rPr lang="en-FR" sz="2200" dirty="0">
                <a:solidFill>
                  <a:srgbClr val="FA2743"/>
                </a:solidFill>
              </a:rPr>
              <a:t>FN</a:t>
            </a:r>
          </a:p>
        </p:txBody>
      </p:sp>
      <p:sp>
        <p:nvSpPr>
          <p:cNvPr id="17" name="TextBox 16">
            <a:extLst>
              <a:ext uri="{FF2B5EF4-FFF2-40B4-BE49-F238E27FC236}">
                <a16:creationId xmlns:a16="http://schemas.microsoft.com/office/drawing/2014/main" id="{225006E2-8A2D-9E62-86EA-3B3E8D8FAFC9}"/>
              </a:ext>
            </a:extLst>
          </p:cNvPr>
          <p:cNvSpPr txBox="1"/>
          <p:nvPr/>
        </p:nvSpPr>
        <p:spPr>
          <a:xfrm>
            <a:off x="833397" y="5915529"/>
            <a:ext cx="9805295" cy="646331"/>
          </a:xfrm>
          <a:prstGeom prst="rect">
            <a:avLst/>
          </a:prstGeom>
          <a:noFill/>
        </p:spPr>
        <p:txBody>
          <a:bodyPr wrap="square">
            <a:spAutoFit/>
          </a:bodyPr>
          <a:lstStyle/>
          <a:p>
            <a:r>
              <a:rPr lang="en-GB" sz="18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Another quantity that might be of interest is how many clients the bank think will be in default when in fact they are not. This is what we call the "False Positive Rate"</a:t>
            </a:r>
            <a:endPar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30" name="Oval 29">
            <a:extLst>
              <a:ext uri="{FF2B5EF4-FFF2-40B4-BE49-F238E27FC236}">
                <a16:creationId xmlns:a16="http://schemas.microsoft.com/office/drawing/2014/main" id="{071D8B5A-254F-E31F-36B7-D7136B66F2DC}"/>
              </a:ext>
            </a:extLst>
          </p:cNvPr>
          <p:cNvSpPr/>
          <p:nvPr/>
        </p:nvSpPr>
        <p:spPr>
          <a:xfrm>
            <a:off x="577653" y="5268601"/>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1" name="Oval 30">
            <a:extLst>
              <a:ext uri="{FF2B5EF4-FFF2-40B4-BE49-F238E27FC236}">
                <a16:creationId xmlns:a16="http://schemas.microsoft.com/office/drawing/2014/main" id="{763D73C6-A53F-9DC9-9184-D831651C2AC6}"/>
              </a:ext>
            </a:extLst>
          </p:cNvPr>
          <p:cNvSpPr/>
          <p:nvPr/>
        </p:nvSpPr>
        <p:spPr>
          <a:xfrm>
            <a:off x="577653" y="6029180"/>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5" name="Rounded Rectangle 4">
            <a:extLst>
              <a:ext uri="{FF2B5EF4-FFF2-40B4-BE49-F238E27FC236}">
                <a16:creationId xmlns:a16="http://schemas.microsoft.com/office/drawing/2014/main" id="{141177AB-06F3-B548-D180-0D7998784EC8}"/>
              </a:ext>
            </a:extLst>
          </p:cNvPr>
          <p:cNvSpPr/>
          <p:nvPr/>
        </p:nvSpPr>
        <p:spPr>
          <a:xfrm>
            <a:off x="8120032" y="1987586"/>
            <a:ext cx="2258929"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TextBox 3">
            <a:extLst>
              <a:ext uri="{FF2B5EF4-FFF2-40B4-BE49-F238E27FC236}">
                <a16:creationId xmlns:a16="http://schemas.microsoft.com/office/drawing/2014/main" id="{1B595589-BD81-08E2-4B24-8F8368A1116B}"/>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
        <p:nvSpPr>
          <p:cNvPr id="11" name="TextBox 10">
            <a:extLst>
              <a:ext uri="{FF2B5EF4-FFF2-40B4-BE49-F238E27FC236}">
                <a16:creationId xmlns:a16="http://schemas.microsoft.com/office/drawing/2014/main" id="{E9171977-CC30-188A-F571-54B7B9C512AF}"/>
              </a:ext>
            </a:extLst>
          </p:cNvPr>
          <p:cNvSpPr txBox="1"/>
          <p:nvPr/>
        </p:nvSpPr>
        <p:spPr>
          <a:xfrm>
            <a:off x="240033" y="783100"/>
            <a:ext cx="1253869" cy="430887"/>
          </a:xfrm>
          <a:prstGeom prst="rect">
            <a:avLst/>
          </a:prstGeom>
          <a:noFill/>
        </p:spPr>
        <p:txBody>
          <a:bodyPr wrap="none" rtlCol="0">
            <a:spAutoFit/>
          </a:bodyPr>
          <a:lstStyle/>
          <a:p>
            <a:r>
              <a:rPr lang="en-FR" sz="2200" b="1" dirty="0">
                <a:solidFill>
                  <a:srgbClr val="5E5E5E"/>
                </a:solidFill>
                <a:latin typeface="Lato" panose="020F0502020204030203" pitchFamily="34" charset="0"/>
                <a:ea typeface="Lato" panose="020F0502020204030203" pitchFamily="34" charset="0"/>
                <a:cs typeface="Lato" panose="020F0502020204030203" pitchFamily="34" charset="0"/>
              </a:rPr>
              <a:t>Example</a:t>
            </a:r>
          </a:p>
        </p:txBody>
      </p:sp>
      <p:sp>
        <p:nvSpPr>
          <p:cNvPr id="15" name="Rectangle 14">
            <a:extLst>
              <a:ext uri="{FF2B5EF4-FFF2-40B4-BE49-F238E27FC236}">
                <a16:creationId xmlns:a16="http://schemas.microsoft.com/office/drawing/2014/main" id="{95DC2FC5-249B-2AB8-F263-9219DE7870D4}"/>
              </a:ext>
            </a:extLst>
          </p:cNvPr>
          <p:cNvSpPr/>
          <p:nvPr/>
        </p:nvSpPr>
        <p:spPr>
          <a:xfrm>
            <a:off x="273929" y="1229856"/>
            <a:ext cx="1152000" cy="72000"/>
          </a:xfrm>
          <a:prstGeom prst="rect">
            <a:avLst/>
          </a:prstGeom>
          <a:solidFill>
            <a:srgbClr val="5E5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TextBox 15">
            <a:extLst>
              <a:ext uri="{FF2B5EF4-FFF2-40B4-BE49-F238E27FC236}">
                <a16:creationId xmlns:a16="http://schemas.microsoft.com/office/drawing/2014/main" id="{2D85037D-A268-92E7-74FE-17AAC1890293}"/>
              </a:ext>
            </a:extLst>
          </p:cNvPr>
          <p:cNvSpPr txBox="1"/>
          <p:nvPr/>
        </p:nvSpPr>
        <p:spPr>
          <a:xfrm>
            <a:off x="1552109" y="831890"/>
            <a:ext cx="862607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Consider the </a:t>
            </a:r>
            <a:r>
              <a:rPr lang="en-FR" sz="2400" dirty="0">
                <a:solidFill>
                  <a:srgbClr val="5E5E5E"/>
                </a:solidFill>
                <a:latin typeface="Roboto Light" panose="02000000000000000000" pitchFamily="2" charset="0"/>
                <a:ea typeface="Roboto Light" panose="02000000000000000000" pitchFamily="2" charset="0"/>
                <a:cs typeface="Courier New" panose="02070309020205020404" pitchFamily="49" charset="0"/>
              </a:rPr>
              <a:t>default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dataset from the James et al. (2022) book</a:t>
            </a:r>
          </a:p>
        </p:txBody>
      </p:sp>
    </p:spTree>
    <p:extLst>
      <p:ext uri="{BB962C8B-B14F-4D97-AF65-F5344CB8AC3E}">
        <p14:creationId xmlns:p14="http://schemas.microsoft.com/office/powerpoint/2010/main" val="932574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A72A7BF2-106D-B4B8-AE59-1465A71B389B}"/>
              </a:ext>
            </a:extLst>
          </p:cNvPr>
          <p:cNvSpPr/>
          <p:nvPr/>
        </p:nvSpPr>
        <p:spPr>
          <a:xfrm>
            <a:off x="5074266" y="2073027"/>
            <a:ext cx="989113" cy="269762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7" name="Rounded Rectangle 6">
            <a:extLst>
              <a:ext uri="{FF2B5EF4-FFF2-40B4-BE49-F238E27FC236}">
                <a16:creationId xmlns:a16="http://schemas.microsoft.com/office/drawing/2014/main" id="{D937435C-A24B-538A-B3F7-B2ABF5E9E3C1}"/>
              </a:ext>
            </a:extLst>
          </p:cNvPr>
          <p:cNvSpPr/>
          <p:nvPr/>
        </p:nvSpPr>
        <p:spPr>
          <a:xfrm>
            <a:off x="6539423" y="2060030"/>
            <a:ext cx="989113" cy="269762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9" name="TextBox 8">
            <a:extLst>
              <a:ext uri="{FF2B5EF4-FFF2-40B4-BE49-F238E27FC236}">
                <a16:creationId xmlns:a16="http://schemas.microsoft.com/office/drawing/2014/main" id="{2A6EB666-5C4A-DAAE-F667-4D764F05CAE7}"/>
              </a:ext>
            </a:extLst>
          </p:cNvPr>
          <p:cNvSpPr txBox="1"/>
          <p:nvPr/>
        </p:nvSpPr>
        <p:spPr>
          <a:xfrm>
            <a:off x="240033" y="783100"/>
            <a:ext cx="1253869" cy="430887"/>
          </a:xfrm>
          <a:prstGeom prst="rect">
            <a:avLst/>
          </a:prstGeom>
          <a:noFill/>
        </p:spPr>
        <p:txBody>
          <a:bodyPr wrap="none" rtlCol="0">
            <a:spAutoFit/>
          </a:bodyPr>
          <a:lstStyle/>
          <a:p>
            <a:r>
              <a:rPr lang="en-FR" sz="2200" b="1" dirty="0">
                <a:solidFill>
                  <a:srgbClr val="5E5E5E"/>
                </a:solidFill>
                <a:latin typeface="Lato" panose="020F0502020204030203" pitchFamily="34" charset="0"/>
                <a:ea typeface="Lato" panose="020F0502020204030203" pitchFamily="34" charset="0"/>
                <a:cs typeface="Lato" panose="020F0502020204030203" pitchFamily="34" charset="0"/>
              </a:rPr>
              <a:t>Example</a:t>
            </a:r>
          </a:p>
        </p:txBody>
      </p:sp>
      <p:sp>
        <p:nvSpPr>
          <p:cNvPr id="10" name="Rectangle 9">
            <a:extLst>
              <a:ext uri="{FF2B5EF4-FFF2-40B4-BE49-F238E27FC236}">
                <a16:creationId xmlns:a16="http://schemas.microsoft.com/office/drawing/2014/main" id="{10E9698B-0352-0637-ABA3-E152FE35B023}"/>
              </a:ext>
            </a:extLst>
          </p:cNvPr>
          <p:cNvSpPr/>
          <p:nvPr/>
        </p:nvSpPr>
        <p:spPr>
          <a:xfrm>
            <a:off x="273929" y="1229856"/>
            <a:ext cx="1152000" cy="72000"/>
          </a:xfrm>
          <a:prstGeom prst="rect">
            <a:avLst/>
          </a:prstGeom>
          <a:solidFill>
            <a:srgbClr val="5E5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7" name="TextBox 26">
            <a:extLst>
              <a:ext uri="{FF2B5EF4-FFF2-40B4-BE49-F238E27FC236}">
                <a16:creationId xmlns:a16="http://schemas.microsoft.com/office/drawing/2014/main" id="{9157DEF3-7A92-81EB-D918-619008E9955E}"/>
              </a:ext>
            </a:extLst>
          </p:cNvPr>
          <p:cNvSpPr txBox="1"/>
          <p:nvPr/>
        </p:nvSpPr>
        <p:spPr>
          <a:xfrm>
            <a:off x="5176332" y="1355869"/>
            <a:ext cx="2327881"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TRUE OBSERVATIONS</a:t>
            </a:r>
          </a:p>
        </p:txBody>
      </p:sp>
      <p:sp>
        <p:nvSpPr>
          <p:cNvPr id="28" name="TextBox 27">
            <a:extLst>
              <a:ext uri="{FF2B5EF4-FFF2-40B4-BE49-F238E27FC236}">
                <a16:creationId xmlns:a16="http://schemas.microsoft.com/office/drawing/2014/main" id="{E9412BE6-6477-1BF9-4AE2-6DA65D6B78F4}"/>
              </a:ext>
            </a:extLst>
          </p:cNvPr>
          <p:cNvSpPr txBox="1"/>
          <p:nvPr/>
        </p:nvSpPr>
        <p:spPr>
          <a:xfrm rot="16200000">
            <a:off x="2912958" y="3262256"/>
            <a:ext cx="2929007" cy="338554"/>
          </a:xfrm>
          <a:prstGeom prst="rect">
            <a:avLst/>
          </a:prstGeom>
          <a:noFill/>
        </p:spPr>
        <p:txBody>
          <a:bodyPr wrap="none" rtlCol="0">
            <a:spAutoFit/>
          </a:bodyPr>
          <a:lstStyle/>
          <a:p>
            <a:r>
              <a:rPr lang="en-FR" sz="1600" b="1" dirty="0">
                <a:solidFill>
                  <a:srgbClr val="5E5E5E"/>
                </a:solidFill>
                <a:latin typeface="Lato" panose="020F0502020204030203" pitchFamily="34" charset="0"/>
                <a:ea typeface="Lato" panose="020F0502020204030203" pitchFamily="34" charset="0"/>
                <a:cs typeface="Lato" panose="020F0502020204030203" pitchFamily="34" charset="0"/>
              </a:rPr>
              <a:t>PREDICTED OBSERVATIONS</a:t>
            </a:r>
          </a:p>
        </p:txBody>
      </p:sp>
      <p:sp>
        <p:nvSpPr>
          <p:cNvPr id="29" name="TextBox 28">
            <a:extLst>
              <a:ext uri="{FF2B5EF4-FFF2-40B4-BE49-F238E27FC236}">
                <a16:creationId xmlns:a16="http://schemas.microsoft.com/office/drawing/2014/main" id="{84B880A2-F12D-FC7F-1A77-56274E1EB565}"/>
              </a:ext>
            </a:extLst>
          </p:cNvPr>
          <p:cNvSpPr txBox="1"/>
          <p:nvPr/>
        </p:nvSpPr>
        <p:spPr>
          <a:xfrm>
            <a:off x="5201386" y="1640658"/>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2" name="TextBox 31">
            <a:extLst>
              <a:ext uri="{FF2B5EF4-FFF2-40B4-BE49-F238E27FC236}">
                <a16:creationId xmlns:a16="http://schemas.microsoft.com/office/drawing/2014/main" id="{FD0A1274-B62B-4EE3-1101-626D4525A56A}"/>
              </a:ext>
            </a:extLst>
          </p:cNvPr>
          <p:cNvSpPr txBox="1"/>
          <p:nvPr/>
        </p:nvSpPr>
        <p:spPr>
          <a:xfrm>
            <a:off x="6708988" y="1659253"/>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33" name="TextBox 32">
            <a:extLst>
              <a:ext uri="{FF2B5EF4-FFF2-40B4-BE49-F238E27FC236}">
                <a16:creationId xmlns:a16="http://schemas.microsoft.com/office/drawing/2014/main" id="{A562C998-7BE4-9B4F-85FF-151E6BD55F00}"/>
              </a:ext>
            </a:extLst>
          </p:cNvPr>
          <p:cNvSpPr txBox="1"/>
          <p:nvPr/>
        </p:nvSpPr>
        <p:spPr>
          <a:xfrm rot="16200000">
            <a:off x="4349409" y="2555877"/>
            <a:ext cx="70243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FALSE</a:t>
            </a:r>
          </a:p>
        </p:txBody>
      </p:sp>
      <p:sp>
        <p:nvSpPr>
          <p:cNvPr id="34" name="TextBox 33">
            <a:extLst>
              <a:ext uri="{FF2B5EF4-FFF2-40B4-BE49-F238E27FC236}">
                <a16:creationId xmlns:a16="http://schemas.microsoft.com/office/drawing/2014/main" id="{305112E0-77C3-19C2-B432-E7F9FAFB60A0}"/>
              </a:ext>
            </a:extLst>
          </p:cNvPr>
          <p:cNvSpPr txBox="1"/>
          <p:nvPr/>
        </p:nvSpPr>
        <p:spPr>
          <a:xfrm rot="16200000">
            <a:off x="4367508" y="4032901"/>
            <a:ext cx="638316" cy="307777"/>
          </a:xfrm>
          <a:prstGeom prst="rect">
            <a:avLst/>
          </a:prstGeom>
          <a:noFill/>
        </p:spPr>
        <p:txBody>
          <a:bodyPr wrap="none" rtlCol="0">
            <a:spAutoFit/>
          </a:bodyPr>
          <a:lstStyle/>
          <a:p>
            <a:r>
              <a:rPr lang="en-FR" sz="1400" dirty="0">
                <a:solidFill>
                  <a:srgbClr val="5E5E5E"/>
                </a:solidFill>
                <a:latin typeface="Lato" panose="020F0502020204030203" pitchFamily="34" charset="0"/>
                <a:ea typeface="Lato" panose="020F0502020204030203" pitchFamily="34" charset="0"/>
                <a:cs typeface="Lato" panose="020F0502020204030203" pitchFamily="34" charset="0"/>
              </a:rPr>
              <a:t>TRUE</a:t>
            </a:r>
          </a:p>
        </p:txBody>
      </p:sp>
      <p:sp>
        <p:nvSpPr>
          <p:cNvPr id="23" name="Rectangle 22">
            <a:extLst>
              <a:ext uri="{FF2B5EF4-FFF2-40B4-BE49-F238E27FC236}">
                <a16:creationId xmlns:a16="http://schemas.microsoft.com/office/drawing/2014/main" id="{DDF24103-64C5-B92C-DD6C-826B6594B97F}"/>
              </a:ext>
            </a:extLst>
          </p:cNvPr>
          <p:cNvSpPr/>
          <p:nvPr/>
        </p:nvSpPr>
        <p:spPr>
          <a:xfrm>
            <a:off x="4869937" y="1970848"/>
            <a:ext cx="2928508" cy="2928508"/>
          </a:xfrm>
          <a:prstGeom prst="rect">
            <a:avLst/>
          </a:prstGeom>
          <a:noFill/>
          <a:ln w="381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24" name="Straight Connector 23">
            <a:extLst>
              <a:ext uri="{FF2B5EF4-FFF2-40B4-BE49-F238E27FC236}">
                <a16:creationId xmlns:a16="http://schemas.microsoft.com/office/drawing/2014/main" id="{03CAC910-DADF-2584-BBB8-3EF11A360684}"/>
              </a:ext>
            </a:extLst>
          </p:cNvPr>
          <p:cNvCxnSpPr>
            <a:cxnSpLocks/>
            <a:stCxn id="23" idx="0"/>
            <a:endCxn id="23" idx="2"/>
          </p:cNvCxnSpPr>
          <p:nvPr/>
        </p:nvCxnSpPr>
        <p:spPr>
          <a:xfrm>
            <a:off x="6334191" y="1970848"/>
            <a:ext cx="0" cy="2928508"/>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5303AAB-03BE-122F-2533-09B1EC08DDFB}"/>
              </a:ext>
            </a:extLst>
          </p:cNvPr>
          <p:cNvCxnSpPr>
            <a:cxnSpLocks/>
          </p:cNvCxnSpPr>
          <p:nvPr/>
        </p:nvCxnSpPr>
        <p:spPr>
          <a:xfrm flipH="1">
            <a:off x="4869937" y="3435102"/>
            <a:ext cx="2928508" cy="0"/>
          </a:xfrm>
          <a:prstGeom prst="line">
            <a:avLst/>
          </a:prstGeom>
          <a:ln w="38100">
            <a:solidFill>
              <a:srgbClr val="5E5E5E"/>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812024-F09B-2D01-CFC3-A355BDC72A64}"/>
              </a:ext>
            </a:extLst>
          </p:cNvPr>
          <p:cNvSpPr txBox="1"/>
          <p:nvPr/>
        </p:nvSpPr>
        <p:spPr>
          <a:xfrm>
            <a:off x="5068446" y="2515289"/>
            <a:ext cx="102927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9627</a:t>
            </a:r>
          </a:p>
        </p:txBody>
      </p:sp>
      <p:sp>
        <p:nvSpPr>
          <p:cNvPr id="36" name="TextBox 35">
            <a:extLst>
              <a:ext uri="{FF2B5EF4-FFF2-40B4-BE49-F238E27FC236}">
                <a16:creationId xmlns:a16="http://schemas.microsoft.com/office/drawing/2014/main" id="{B39B031E-4037-1427-88B1-73F8DDE109F4}"/>
              </a:ext>
            </a:extLst>
          </p:cNvPr>
          <p:cNvSpPr txBox="1"/>
          <p:nvPr/>
        </p:nvSpPr>
        <p:spPr>
          <a:xfrm>
            <a:off x="5277136" y="3977517"/>
            <a:ext cx="550936"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40</a:t>
            </a:r>
          </a:p>
        </p:txBody>
      </p:sp>
      <p:sp>
        <p:nvSpPr>
          <p:cNvPr id="37" name="TextBox 36">
            <a:extLst>
              <a:ext uri="{FF2B5EF4-FFF2-40B4-BE49-F238E27FC236}">
                <a16:creationId xmlns:a16="http://schemas.microsoft.com/office/drawing/2014/main" id="{0D58DB6F-632B-188C-69E5-ADFE0D8091A6}"/>
              </a:ext>
            </a:extLst>
          </p:cNvPr>
          <p:cNvSpPr txBox="1"/>
          <p:nvPr/>
        </p:nvSpPr>
        <p:spPr>
          <a:xfrm>
            <a:off x="6656268" y="2487257"/>
            <a:ext cx="743756" cy="445018"/>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228</a:t>
            </a:r>
          </a:p>
        </p:txBody>
      </p:sp>
      <p:sp>
        <p:nvSpPr>
          <p:cNvPr id="38" name="TextBox 37">
            <a:extLst>
              <a:ext uri="{FF2B5EF4-FFF2-40B4-BE49-F238E27FC236}">
                <a16:creationId xmlns:a16="http://schemas.microsoft.com/office/drawing/2014/main" id="{0DDD9ACF-0E46-F6CC-8680-994A8F5AC023}"/>
              </a:ext>
            </a:extLst>
          </p:cNvPr>
          <p:cNvSpPr txBox="1"/>
          <p:nvPr/>
        </p:nvSpPr>
        <p:spPr>
          <a:xfrm>
            <a:off x="6633752" y="3971347"/>
            <a:ext cx="766272" cy="430887"/>
          </a:xfrm>
          <a:prstGeom prst="rect">
            <a:avLst/>
          </a:prstGeom>
          <a:noFill/>
        </p:spPr>
        <p:txBody>
          <a:bodyPr wrap="square" rtlCol="0">
            <a:spAutoFit/>
          </a:bodyPr>
          <a:lstStyle/>
          <a:p>
            <a:pPr algn="ctr"/>
            <a:r>
              <a:rPr lang="en-FR" sz="2200" dirty="0">
                <a:solidFill>
                  <a:srgbClr val="5E5E5E"/>
                </a:solidFill>
                <a:latin typeface="Lato" panose="020F0502020204030203" pitchFamily="34" charset="0"/>
                <a:ea typeface="Lato" panose="020F0502020204030203" pitchFamily="34" charset="0"/>
                <a:cs typeface="Lato" panose="020F0502020204030203" pitchFamily="34" charset="0"/>
              </a:rPr>
              <a:t>105</a:t>
            </a:r>
          </a:p>
        </p:txBody>
      </p:sp>
      <p:sp>
        <p:nvSpPr>
          <p:cNvPr id="43" name="TextBox 42">
            <a:extLst>
              <a:ext uri="{FF2B5EF4-FFF2-40B4-BE49-F238E27FC236}">
                <a16:creationId xmlns:a16="http://schemas.microsoft.com/office/drawing/2014/main" id="{15725B0F-D727-1EFE-A382-3143FCA77092}"/>
              </a:ext>
            </a:extLst>
          </p:cNvPr>
          <p:cNvSpPr txBox="1"/>
          <p:nvPr/>
        </p:nvSpPr>
        <p:spPr>
          <a:xfrm>
            <a:off x="5277136" y="2157737"/>
            <a:ext cx="572593"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TN</a:t>
            </a:r>
          </a:p>
        </p:txBody>
      </p:sp>
      <p:sp>
        <p:nvSpPr>
          <p:cNvPr id="44" name="TextBox 43">
            <a:extLst>
              <a:ext uri="{FF2B5EF4-FFF2-40B4-BE49-F238E27FC236}">
                <a16:creationId xmlns:a16="http://schemas.microsoft.com/office/drawing/2014/main" id="{5CDDBEE8-8F30-2F1D-5419-71583CD595DA}"/>
              </a:ext>
            </a:extLst>
          </p:cNvPr>
          <p:cNvSpPr txBox="1"/>
          <p:nvPr/>
        </p:nvSpPr>
        <p:spPr>
          <a:xfrm>
            <a:off x="6780693" y="3604112"/>
            <a:ext cx="529312" cy="430887"/>
          </a:xfrm>
          <a:prstGeom prst="rect">
            <a:avLst/>
          </a:prstGeom>
          <a:noFill/>
        </p:spPr>
        <p:txBody>
          <a:bodyPr wrap="none" rtlCol="0">
            <a:spAutoFit/>
          </a:bodyPr>
          <a:lstStyle/>
          <a:p>
            <a:r>
              <a:rPr lang="en-FR" sz="2200" b="1" dirty="0">
                <a:solidFill>
                  <a:srgbClr val="00B050"/>
                </a:solidFill>
                <a:latin typeface="Lato" panose="020F0502020204030203" pitchFamily="34" charset="0"/>
                <a:ea typeface="Lato" panose="020F0502020204030203" pitchFamily="34" charset="0"/>
                <a:cs typeface="Lato" panose="020F0502020204030203" pitchFamily="34" charset="0"/>
              </a:rPr>
              <a:t>TP</a:t>
            </a:r>
          </a:p>
        </p:txBody>
      </p:sp>
      <p:sp>
        <p:nvSpPr>
          <p:cNvPr id="45" name="TextBox 44">
            <a:extLst>
              <a:ext uri="{FF2B5EF4-FFF2-40B4-BE49-F238E27FC236}">
                <a16:creationId xmlns:a16="http://schemas.microsoft.com/office/drawing/2014/main" id="{4D974E80-82CC-8115-5FF7-CE61F59CFF4C}"/>
              </a:ext>
            </a:extLst>
          </p:cNvPr>
          <p:cNvSpPr txBox="1"/>
          <p:nvPr/>
        </p:nvSpPr>
        <p:spPr>
          <a:xfrm>
            <a:off x="6752232" y="2155762"/>
            <a:ext cx="562975"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FN</a:t>
            </a:r>
          </a:p>
        </p:txBody>
      </p:sp>
      <p:sp>
        <p:nvSpPr>
          <p:cNvPr id="46" name="TextBox 45">
            <a:extLst>
              <a:ext uri="{FF2B5EF4-FFF2-40B4-BE49-F238E27FC236}">
                <a16:creationId xmlns:a16="http://schemas.microsoft.com/office/drawing/2014/main" id="{B648C3F7-2196-BF3D-1C38-46425B945F66}"/>
              </a:ext>
            </a:extLst>
          </p:cNvPr>
          <p:cNvSpPr txBox="1"/>
          <p:nvPr/>
        </p:nvSpPr>
        <p:spPr>
          <a:xfrm>
            <a:off x="5320745" y="3614230"/>
            <a:ext cx="519694" cy="430887"/>
          </a:xfrm>
          <a:prstGeom prst="rect">
            <a:avLst/>
          </a:prstGeom>
          <a:noFill/>
        </p:spPr>
        <p:txBody>
          <a:bodyPr wrap="none" rtlCol="0">
            <a:spAutoFit/>
          </a:bodyPr>
          <a:lstStyle/>
          <a:p>
            <a:r>
              <a:rPr lang="en-FR" sz="2200" b="1" dirty="0">
                <a:solidFill>
                  <a:srgbClr val="FA2743"/>
                </a:solidFill>
                <a:latin typeface="Lato" panose="020F0502020204030203" pitchFamily="34" charset="0"/>
                <a:ea typeface="Lato" panose="020F0502020204030203" pitchFamily="34" charset="0"/>
                <a:cs typeface="Lato" panose="020F0502020204030203" pitchFamily="34" charset="0"/>
              </a:rPr>
              <a:t>FP</a:t>
            </a:r>
          </a:p>
        </p:txBody>
      </p:sp>
      <p:sp>
        <p:nvSpPr>
          <p:cNvPr id="48" name="TextBox 47">
            <a:extLst>
              <a:ext uri="{FF2B5EF4-FFF2-40B4-BE49-F238E27FC236}">
                <a16:creationId xmlns:a16="http://schemas.microsoft.com/office/drawing/2014/main" id="{D02BCAEA-D8AF-40C6-9C53-00E373A88D3E}"/>
              </a:ext>
            </a:extLst>
          </p:cNvPr>
          <p:cNvSpPr txBox="1"/>
          <p:nvPr/>
        </p:nvSpPr>
        <p:spPr>
          <a:xfrm>
            <a:off x="1813039" y="1886378"/>
            <a:ext cx="2127505" cy="1200329"/>
          </a:xfrm>
          <a:prstGeom prst="rect">
            <a:avLst/>
          </a:prstGeom>
          <a:noFill/>
        </p:spPr>
        <p:txBody>
          <a:bodyPr wrap="none" rtlCol="0">
            <a:spAutoFit/>
          </a:bodyPr>
          <a:lstStyle/>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TN = true negative</a:t>
            </a:r>
          </a:p>
          <a:p>
            <a:r>
              <a:rPr lang="en-FR" b="1" dirty="0">
                <a:solidFill>
                  <a:srgbClr val="00B050"/>
                </a:solidFill>
                <a:latin typeface="Lato" panose="020F0502020204030203" pitchFamily="34" charset="0"/>
                <a:ea typeface="Lato" panose="020F0502020204030203" pitchFamily="34" charset="0"/>
                <a:cs typeface="Lato" panose="020F0502020204030203" pitchFamily="34" charset="0"/>
              </a:rPr>
              <a:t>TP = true positive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FP = false negative</a:t>
            </a:r>
          </a:p>
          <a:p>
            <a:r>
              <a:rPr lang="en-FR" b="1" dirty="0">
                <a:solidFill>
                  <a:srgbClr val="FA2743"/>
                </a:solidFill>
                <a:latin typeface="Lato" panose="020F0502020204030203" pitchFamily="34" charset="0"/>
                <a:ea typeface="Lato" panose="020F0502020204030203" pitchFamily="34" charset="0"/>
                <a:cs typeface="Lato" panose="020F0502020204030203" pitchFamily="34" charset="0"/>
              </a:rPr>
              <a:t>FN = false positive</a:t>
            </a:r>
          </a:p>
        </p:txBody>
      </p:sp>
      <p:sp>
        <p:nvSpPr>
          <p:cNvPr id="8" name="TextBox 7">
            <a:extLst>
              <a:ext uri="{FF2B5EF4-FFF2-40B4-BE49-F238E27FC236}">
                <a16:creationId xmlns:a16="http://schemas.microsoft.com/office/drawing/2014/main" id="{E15200C0-40A4-FB45-A95E-8A3382402BA4}"/>
              </a:ext>
            </a:extLst>
          </p:cNvPr>
          <p:cNvSpPr txBox="1"/>
          <p:nvPr/>
        </p:nvSpPr>
        <p:spPr>
          <a:xfrm>
            <a:off x="8328551" y="2078399"/>
            <a:ext cx="1560042" cy="430887"/>
          </a:xfrm>
          <a:prstGeom prst="rect">
            <a:avLst/>
          </a:prstGeom>
          <a:noFill/>
        </p:spPr>
        <p:txBody>
          <a:bodyPr wrap="none" rtlCol="0">
            <a:spAutoFit/>
          </a:bodyPr>
          <a:lstStyle/>
          <a:p>
            <a:r>
              <a:rPr lang="en-FR" sz="2200" dirty="0">
                <a:solidFill>
                  <a:srgbClr val="5E5E5E"/>
                </a:solidFill>
              </a:rPr>
              <a:t>TPR =       </a:t>
            </a:r>
            <a:r>
              <a:rPr lang="en-FR" sz="2200" dirty="0">
                <a:solidFill>
                  <a:srgbClr val="00B050"/>
                </a:solidFill>
              </a:rPr>
              <a:t>TP</a:t>
            </a:r>
          </a:p>
        </p:txBody>
      </p:sp>
      <p:cxnSp>
        <p:nvCxnSpPr>
          <p:cNvPr id="12" name="Straight Connector 11">
            <a:extLst>
              <a:ext uri="{FF2B5EF4-FFF2-40B4-BE49-F238E27FC236}">
                <a16:creationId xmlns:a16="http://schemas.microsoft.com/office/drawing/2014/main" id="{41A64421-8723-C7D0-C11D-91E89A243B55}"/>
              </a:ext>
            </a:extLst>
          </p:cNvPr>
          <p:cNvCxnSpPr>
            <a:cxnSpLocks/>
          </p:cNvCxnSpPr>
          <p:nvPr/>
        </p:nvCxnSpPr>
        <p:spPr>
          <a:xfrm>
            <a:off x="9173884" y="2509286"/>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561E3DB-4950-4572-7FE8-82ED2B7D2EF5}"/>
              </a:ext>
            </a:extLst>
          </p:cNvPr>
          <p:cNvSpPr txBox="1"/>
          <p:nvPr/>
        </p:nvSpPr>
        <p:spPr>
          <a:xfrm>
            <a:off x="9098064" y="2532789"/>
            <a:ext cx="1050288" cy="430887"/>
          </a:xfrm>
          <a:prstGeom prst="rect">
            <a:avLst/>
          </a:prstGeom>
          <a:noFill/>
        </p:spPr>
        <p:txBody>
          <a:bodyPr wrap="none" rtlCol="0">
            <a:spAutoFit/>
          </a:bodyPr>
          <a:lstStyle/>
          <a:p>
            <a:r>
              <a:rPr lang="en-FR" sz="2200" dirty="0">
                <a:solidFill>
                  <a:srgbClr val="00B050"/>
                </a:solidFill>
              </a:rPr>
              <a:t>TP</a:t>
            </a:r>
            <a:r>
              <a:rPr lang="en-FR" sz="2200" dirty="0">
                <a:solidFill>
                  <a:srgbClr val="5E5E5E"/>
                </a:solidFill>
              </a:rPr>
              <a:t> + </a:t>
            </a:r>
            <a:r>
              <a:rPr lang="en-FR" sz="2200" dirty="0">
                <a:solidFill>
                  <a:srgbClr val="FA2743"/>
                </a:solidFill>
              </a:rPr>
              <a:t>FN</a:t>
            </a:r>
          </a:p>
        </p:txBody>
      </p:sp>
      <p:sp>
        <p:nvSpPr>
          <p:cNvPr id="19" name="TextBox 18">
            <a:extLst>
              <a:ext uri="{FF2B5EF4-FFF2-40B4-BE49-F238E27FC236}">
                <a16:creationId xmlns:a16="http://schemas.microsoft.com/office/drawing/2014/main" id="{C87AC6AC-29B6-3FE1-D3DA-767CE4E901AB}"/>
              </a:ext>
            </a:extLst>
          </p:cNvPr>
          <p:cNvSpPr txBox="1"/>
          <p:nvPr/>
        </p:nvSpPr>
        <p:spPr>
          <a:xfrm>
            <a:off x="8342839" y="3375283"/>
            <a:ext cx="1544012" cy="430887"/>
          </a:xfrm>
          <a:prstGeom prst="rect">
            <a:avLst/>
          </a:prstGeom>
          <a:noFill/>
        </p:spPr>
        <p:txBody>
          <a:bodyPr wrap="none" rtlCol="0">
            <a:spAutoFit/>
          </a:bodyPr>
          <a:lstStyle/>
          <a:p>
            <a:r>
              <a:rPr lang="en-FR" sz="2200" dirty="0">
                <a:solidFill>
                  <a:srgbClr val="5E5E5E"/>
                </a:solidFill>
              </a:rPr>
              <a:t>FPR =       </a:t>
            </a:r>
            <a:r>
              <a:rPr lang="en-FR" sz="2200" dirty="0">
                <a:solidFill>
                  <a:srgbClr val="FA2743"/>
                </a:solidFill>
              </a:rPr>
              <a:t>FP</a:t>
            </a:r>
          </a:p>
        </p:txBody>
      </p:sp>
      <p:cxnSp>
        <p:nvCxnSpPr>
          <p:cNvPr id="20" name="Straight Connector 19">
            <a:extLst>
              <a:ext uri="{FF2B5EF4-FFF2-40B4-BE49-F238E27FC236}">
                <a16:creationId xmlns:a16="http://schemas.microsoft.com/office/drawing/2014/main" id="{C9EE2CAB-E676-A8B9-2A9F-6B9A4F22E0E0}"/>
              </a:ext>
            </a:extLst>
          </p:cNvPr>
          <p:cNvCxnSpPr>
            <a:cxnSpLocks/>
          </p:cNvCxnSpPr>
          <p:nvPr/>
        </p:nvCxnSpPr>
        <p:spPr>
          <a:xfrm>
            <a:off x="9188172" y="3806170"/>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CBCDC3C-F96D-895F-F618-BEA25192AAF5}"/>
              </a:ext>
            </a:extLst>
          </p:cNvPr>
          <p:cNvSpPr txBox="1"/>
          <p:nvPr/>
        </p:nvSpPr>
        <p:spPr>
          <a:xfrm>
            <a:off x="9112352" y="3829673"/>
            <a:ext cx="1050288" cy="430887"/>
          </a:xfrm>
          <a:prstGeom prst="rect">
            <a:avLst/>
          </a:prstGeom>
          <a:noFill/>
        </p:spPr>
        <p:txBody>
          <a:bodyPr wrap="none" rtlCol="0">
            <a:spAutoFit/>
          </a:bodyPr>
          <a:lstStyle/>
          <a:p>
            <a:r>
              <a:rPr lang="en-FR" sz="2200" dirty="0">
                <a:solidFill>
                  <a:srgbClr val="00B050"/>
                </a:solidFill>
              </a:rPr>
              <a:t>TN</a:t>
            </a:r>
            <a:r>
              <a:rPr lang="en-FR" sz="2200" dirty="0">
                <a:solidFill>
                  <a:srgbClr val="5E5E5E"/>
                </a:solidFill>
              </a:rPr>
              <a:t> + </a:t>
            </a:r>
            <a:r>
              <a:rPr lang="en-FR" sz="2200" dirty="0">
                <a:solidFill>
                  <a:srgbClr val="FA2743"/>
                </a:solidFill>
              </a:rPr>
              <a:t>FP</a:t>
            </a:r>
          </a:p>
        </p:txBody>
      </p:sp>
      <p:sp>
        <p:nvSpPr>
          <p:cNvPr id="30" name="Oval 29">
            <a:extLst>
              <a:ext uri="{FF2B5EF4-FFF2-40B4-BE49-F238E27FC236}">
                <a16:creationId xmlns:a16="http://schemas.microsoft.com/office/drawing/2014/main" id="{071D8B5A-254F-E31F-36B7-D7136B66F2DC}"/>
              </a:ext>
            </a:extLst>
          </p:cNvPr>
          <p:cNvSpPr/>
          <p:nvPr/>
        </p:nvSpPr>
        <p:spPr>
          <a:xfrm>
            <a:off x="577653" y="5268601"/>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1" name="Oval 30">
            <a:extLst>
              <a:ext uri="{FF2B5EF4-FFF2-40B4-BE49-F238E27FC236}">
                <a16:creationId xmlns:a16="http://schemas.microsoft.com/office/drawing/2014/main" id="{763D73C6-A53F-9DC9-9184-D831651C2AC6}"/>
              </a:ext>
            </a:extLst>
          </p:cNvPr>
          <p:cNvSpPr/>
          <p:nvPr/>
        </p:nvSpPr>
        <p:spPr>
          <a:xfrm>
            <a:off x="577653" y="6029180"/>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5" name="Rounded Rectangle 4">
            <a:extLst>
              <a:ext uri="{FF2B5EF4-FFF2-40B4-BE49-F238E27FC236}">
                <a16:creationId xmlns:a16="http://schemas.microsoft.com/office/drawing/2014/main" id="{141177AB-06F3-B548-D180-0D7998784EC8}"/>
              </a:ext>
            </a:extLst>
          </p:cNvPr>
          <p:cNvSpPr/>
          <p:nvPr/>
        </p:nvSpPr>
        <p:spPr>
          <a:xfrm>
            <a:off x="8120032" y="1987586"/>
            <a:ext cx="2258929"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1" name="Rounded Rectangle 10">
            <a:extLst>
              <a:ext uri="{FF2B5EF4-FFF2-40B4-BE49-F238E27FC236}">
                <a16:creationId xmlns:a16="http://schemas.microsoft.com/office/drawing/2014/main" id="{0122979E-2D4A-6C36-0342-50EF9DCF2348}"/>
              </a:ext>
            </a:extLst>
          </p:cNvPr>
          <p:cNvSpPr/>
          <p:nvPr/>
        </p:nvSpPr>
        <p:spPr>
          <a:xfrm>
            <a:off x="8120031" y="3282287"/>
            <a:ext cx="2258929"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TextBox 3">
            <a:extLst>
              <a:ext uri="{FF2B5EF4-FFF2-40B4-BE49-F238E27FC236}">
                <a16:creationId xmlns:a16="http://schemas.microsoft.com/office/drawing/2014/main" id="{F4DD117E-FB1F-C13A-A563-5D1549B3266C}"/>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
        <p:nvSpPr>
          <p:cNvPr id="15" name="TextBox 14">
            <a:extLst>
              <a:ext uri="{FF2B5EF4-FFF2-40B4-BE49-F238E27FC236}">
                <a16:creationId xmlns:a16="http://schemas.microsoft.com/office/drawing/2014/main" id="{380A7CB2-88C7-8E96-7BB3-D107CE5B21AF}"/>
              </a:ext>
            </a:extLst>
          </p:cNvPr>
          <p:cNvSpPr txBox="1"/>
          <p:nvPr/>
        </p:nvSpPr>
        <p:spPr>
          <a:xfrm>
            <a:off x="812358" y="5167741"/>
            <a:ext cx="8900154" cy="646331"/>
          </a:xfrm>
          <a:prstGeom prst="rect">
            <a:avLst/>
          </a:prstGeom>
          <a:noFill/>
        </p:spPr>
        <p:txBody>
          <a:bodyPr wrap="square">
            <a:spAutoFit/>
          </a:bodyPr>
          <a:lstStyle/>
          <a:p>
            <a:r>
              <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If we were interested in checking how well the classifier detected clients that were really in default, we would prefer to check the quantity called "True Positive Rate" </a:t>
            </a:r>
          </a:p>
        </p:txBody>
      </p:sp>
      <p:sp>
        <p:nvSpPr>
          <p:cNvPr id="16" name="TextBox 15">
            <a:extLst>
              <a:ext uri="{FF2B5EF4-FFF2-40B4-BE49-F238E27FC236}">
                <a16:creationId xmlns:a16="http://schemas.microsoft.com/office/drawing/2014/main" id="{1A279E44-9F18-8745-C2CA-A5FADEFBBB78}"/>
              </a:ext>
            </a:extLst>
          </p:cNvPr>
          <p:cNvSpPr txBox="1"/>
          <p:nvPr/>
        </p:nvSpPr>
        <p:spPr>
          <a:xfrm>
            <a:off x="833397" y="5915529"/>
            <a:ext cx="9805295" cy="646331"/>
          </a:xfrm>
          <a:prstGeom prst="rect">
            <a:avLst/>
          </a:prstGeom>
          <a:noFill/>
        </p:spPr>
        <p:txBody>
          <a:bodyPr wrap="square">
            <a:spAutoFit/>
          </a:bodyPr>
          <a:lstStyle/>
          <a:p>
            <a:r>
              <a:rPr lang="en-GB" sz="18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Another quantity that might be of interest is how many clients the bank think will be in default when in fact they are not. This is what we call the "False Positive Rate"</a:t>
            </a:r>
            <a:endPar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21" name="TextBox 20">
            <a:extLst>
              <a:ext uri="{FF2B5EF4-FFF2-40B4-BE49-F238E27FC236}">
                <a16:creationId xmlns:a16="http://schemas.microsoft.com/office/drawing/2014/main" id="{A0B9B042-92BB-4D33-D6FE-449FDD9BA411}"/>
              </a:ext>
            </a:extLst>
          </p:cNvPr>
          <p:cNvSpPr txBox="1"/>
          <p:nvPr/>
        </p:nvSpPr>
        <p:spPr>
          <a:xfrm>
            <a:off x="1552109" y="831890"/>
            <a:ext cx="8626079" cy="461665"/>
          </a:xfrm>
          <a:prstGeom prst="rect">
            <a:avLst/>
          </a:prstGeom>
          <a:noFill/>
        </p:spPr>
        <p:txBody>
          <a:bodyPr wrap="none" rtlCol="0">
            <a:spAutoFit/>
          </a:bodyPr>
          <a:lstStyle/>
          <a:p>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Consider the </a:t>
            </a:r>
            <a:r>
              <a:rPr lang="en-FR" sz="2400" dirty="0">
                <a:solidFill>
                  <a:srgbClr val="5E5E5E"/>
                </a:solidFill>
                <a:latin typeface="Roboto Light" panose="02000000000000000000" pitchFamily="2" charset="0"/>
                <a:ea typeface="Roboto Light" panose="02000000000000000000" pitchFamily="2" charset="0"/>
                <a:cs typeface="Courier New" panose="02070309020205020404" pitchFamily="49" charset="0"/>
              </a:rPr>
              <a:t>default</a:t>
            </a:r>
            <a:r>
              <a:rPr lang="en-FR"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 dataset from the James et al. (2022) book</a:t>
            </a:r>
          </a:p>
        </p:txBody>
      </p:sp>
    </p:spTree>
    <p:extLst>
      <p:ext uri="{BB962C8B-B14F-4D97-AF65-F5344CB8AC3E}">
        <p14:creationId xmlns:p14="http://schemas.microsoft.com/office/powerpoint/2010/main" val="2341561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6" name="TextBox 5">
            <a:extLst>
              <a:ext uri="{FF2B5EF4-FFF2-40B4-BE49-F238E27FC236}">
                <a16:creationId xmlns:a16="http://schemas.microsoft.com/office/drawing/2014/main" id="{8051AD1C-A4CC-213C-033F-1A7C0BB09659}"/>
              </a:ext>
            </a:extLst>
          </p:cNvPr>
          <p:cNvSpPr txBox="1"/>
          <p:nvPr/>
        </p:nvSpPr>
        <p:spPr>
          <a:xfrm>
            <a:off x="240033" y="851885"/>
            <a:ext cx="10640502"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In the en</a:t>
            </a:r>
            <a:r>
              <a:rPr lang="en-GB"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d of the day, we want a </a:t>
            </a:r>
            <a:r>
              <a:rPr lang="en-GB" sz="2400" dirty="0">
                <a:solidFill>
                  <a:srgbClr val="00B050"/>
                </a:solidFill>
                <a:latin typeface="Roboto Light" panose="02000000000000000000" pitchFamily="2" charset="0"/>
                <a:ea typeface="Roboto Light" panose="02000000000000000000" pitchFamily="2" charset="0"/>
                <a:cs typeface="Lato" panose="020F0502020204030203" pitchFamily="34" charset="0"/>
              </a:rPr>
              <a:t>large TPR </a:t>
            </a:r>
            <a:r>
              <a:rPr lang="en-GB" sz="2400" dirty="0">
                <a:solidFill>
                  <a:srgbClr val="5E5E5E"/>
                </a:solidFill>
                <a:latin typeface="Roboto Light" panose="02000000000000000000" pitchFamily="2" charset="0"/>
                <a:ea typeface="Roboto Light" panose="02000000000000000000" pitchFamily="2" charset="0"/>
                <a:cs typeface="Lato" panose="020F0502020204030203" pitchFamily="34" charset="0"/>
              </a:rPr>
              <a:t>and a </a:t>
            </a:r>
            <a:r>
              <a:rPr lang="en-GB" sz="2400" dirty="0">
                <a:solidFill>
                  <a:srgbClr val="FF0000"/>
                </a:solidFill>
                <a:latin typeface="Roboto Light" panose="02000000000000000000" pitchFamily="2" charset="0"/>
                <a:ea typeface="Roboto Light" panose="02000000000000000000" pitchFamily="2" charset="0"/>
                <a:cs typeface="Lato" panose="020F0502020204030203" pitchFamily="34" charset="0"/>
              </a:rPr>
              <a:t>small FPR</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5" name="TextBox 4">
            <a:extLst>
              <a:ext uri="{FF2B5EF4-FFF2-40B4-BE49-F238E27FC236}">
                <a16:creationId xmlns:a16="http://schemas.microsoft.com/office/drawing/2014/main" id="{9B196D62-125C-7125-6F90-71E8E22CF11B}"/>
              </a:ext>
            </a:extLst>
          </p:cNvPr>
          <p:cNvSpPr txBox="1"/>
          <p:nvPr/>
        </p:nvSpPr>
        <p:spPr>
          <a:xfrm>
            <a:off x="240032" y="1465669"/>
            <a:ext cx="11951967"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Note that depending of the context it might be preferable to invest on one or the other</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11" name="TextBox 10">
            <a:extLst>
              <a:ext uri="{FF2B5EF4-FFF2-40B4-BE49-F238E27FC236}">
                <a16:creationId xmlns:a16="http://schemas.microsoft.com/office/drawing/2014/main" id="{0370EDAF-1293-1BCE-7542-7973DC91401D}"/>
              </a:ext>
            </a:extLst>
          </p:cNvPr>
          <p:cNvSpPr txBox="1"/>
          <p:nvPr/>
        </p:nvSpPr>
        <p:spPr>
          <a:xfrm>
            <a:off x="240032" y="1989930"/>
            <a:ext cx="11347131" cy="868571"/>
          </a:xfrm>
          <a:prstGeom prst="rect">
            <a:avLst/>
          </a:prstGeom>
          <a:noFill/>
        </p:spPr>
        <p:txBody>
          <a:bodyPr wrap="square" rtlCol="0">
            <a:spAutoFit/>
          </a:bodyPr>
          <a:lstStyle/>
          <a:p>
            <a:pPr marL="342900" indent="-342900">
              <a:lnSpc>
                <a:spcPct val="150000"/>
              </a:lnSpc>
              <a:buFont typeface="Courier New" panose="02070309020205020404" pitchFamily="49" charset="0"/>
              <a:buChar char="o"/>
            </a:pPr>
            <a:r>
              <a:rPr lang="en-GB" dirty="0">
                <a:solidFill>
                  <a:srgbClr val="757575"/>
                </a:solidFill>
                <a:effectLst/>
                <a:latin typeface="Lato" panose="020F0502020204030203" pitchFamily="34" charset="0"/>
                <a:ea typeface="Lato" panose="020F0502020204030203" pitchFamily="34" charset="0"/>
                <a:cs typeface="Lato" panose="020F0502020204030203" pitchFamily="34" charset="0"/>
              </a:rPr>
              <a:t>For banks, it is more costly to have a weak true positive rate (TPR) than a slightly larger false positive rate </a:t>
            </a:r>
          </a:p>
          <a:p>
            <a:pPr marL="342900" indent="-342900">
              <a:lnSpc>
                <a:spcPct val="150000"/>
              </a:lnSpc>
              <a:buFont typeface="Courier New" panose="02070309020205020404" pitchFamily="49" charset="0"/>
              <a:buChar char="o"/>
            </a:pPr>
            <a:r>
              <a:rPr lang="en-GB" dirty="0">
                <a:solidFill>
                  <a:srgbClr val="757575"/>
                </a:solidFill>
                <a:effectLst/>
                <a:latin typeface="Lato" panose="020F0502020204030203" pitchFamily="34" charset="0"/>
                <a:ea typeface="Lato" panose="020F0502020204030203" pitchFamily="34" charset="0"/>
                <a:cs typeface="Lato" panose="020F0502020204030203" pitchFamily="34" charset="0"/>
              </a:rPr>
              <a:t>In the case of radars in a cold war, a high false positive rate could have catastrophic consequences</a:t>
            </a:r>
            <a:endParaRPr lang="en-GB" dirty="0">
              <a:effectLst/>
              <a:latin typeface="Lato" panose="020F0502020204030203" pitchFamily="34" charset="0"/>
              <a:ea typeface="Lato" panose="020F0502020204030203" pitchFamily="34" charset="0"/>
              <a:cs typeface="Lato" panose="020F0502020204030203" pitchFamily="34" charset="0"/>
            </a:endParaRPr>
          </a:p>
        </p:txBody>
      </p:sp>
      <p:sp>
        <p:nvSpPr>
          <p:cNvPr id="15" name="TextBox 14">
            <a:extLst>
              <a:ext uri="{FF2B5EF4-FFF2-40B4-BE49-F238E27FC236}">
                <a16:creationId xmlns:a16="http://schemas.microsoft.com/office/drawing/2014/main" id="{14145D92-F372-AB17-BBD5-9DF60DDF9737}"/>
              </a:ext>
            </a:extLst>
          </p:cNvPr>
          <p:cNvSpPr txBox="1"/>
          <p:nvPr/>
        </p:nvSpPr>
        <p:spPr>
          <a:xfrm>
            <a:off x="240031" y="2985858"/>
            <a:ext cx="11951967"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If we change our definition of the classifier, we can change the error rates</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16" name="Picture 15">
            <a:extLst>
              <a:ext uri="{FF2B5EF4-FFF2-40B4-BE49-F238E27FC236}">
                <a16:creationId xmlns:a16="http://schemas.microsoft.com/office/drawing/2014/main" id="{E16E754B-9B09-E14F-3B8D-2FA2CBC405F8}"/>
              </a:ext>
            </a:extLst>
          </p:cNvPr>
          <p:cNvPicPr>
            <a:picLocks noChangeAspect="1"/>
          </p:cNvPicPr>
          <p:nvPr/>
        </p:nvPicPr>
        <p:blipFill>
          <a:blip r:embed="rId2"/>
          <a:stretch>
            <a:fillRect/>
          </a:stretch>
        </p:blipFill>
        <p:spPr>
          <a:xfrm>
            <a:off x="4195627" y="4118035"/>
            <a:ext cx="762000" cy="355600"/>
          </a:xfrm>
          <a:prstGeom prst="rect">
            <a:avLst/>
          </a:prstGeom>
        </p:spPr>
      </p:pic>
      <p:sp>
        <p:nvSpPr>
          <p:cNvPr id="39" name="Left Brace 38">
            <a:extLst>
              <a:ext uri="{FF2B5EF4-FFF2-40B4-BE49-F238E27FC236}">
                <a16:creationId xmlns:a16="http://schemas.microsoft.com/office/drawing/2014/main" id="{B4531000-033D-971F-632A-FA0BA540E0A1}"/>
              </a:ext>
            </a:extLst>
          </p:cNvPr>
          <p:cNvSpPr/>
          <p:nvPr/>
        </p:nvSpPr>
        <p:spPr>
          <a:xfrm>
            <a:off x="5151468" y="3678505"/>
            <a:ext cx="235449" cy="1236143"/>
          </a:xfrm>
          <a:prstGeom prst="leftBrace">
            <a:avLst/>
          </a:prstGeom>
          <a:ln w="25400">
            <a:solidFill>
              <a:srgbClr val="5E5E5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R" dirty="0"/>
          </a:p>
        </p:txBody>
      </p:sp>
      <p:sp>
        <p:nvSpPr>
          <p:cNvPr id="40" name="TextBox 39">
            <a:extLst>
              <a:ext uri="{FF2B5EF4-FFF2-40B4-BE49-F238E27FC236}">
                <a16:creationId xmlns:a16="http://schemas.microsoft.com/office/drawing/2014/main" id="{AE4F26C0-BF3A-FF34-797D-6E1C88463498}"/>
              </a:ext>
            </a:extLst>
          </p:cNvPr>
          <p:cNvSpPr txBox="1"/>
          <p:nvPr/>
        </p:nvSpPr>
        <p:spPr>
          <a:xfrm>
            <a:off x="6216014" y="3770431"/>
            <a:ext cx="1654620" cy="369332"/>
          </a:xfrm>
          <a:prstGeom prst="rect">
            <a:avLst/>
          </a:prstGeom>
          <a:noFill/>
        </p:spPr>
        <p:txBody>
          <a:bodyPr wrap="none" rtlCol="0">
            <a:spAutoFit/>
          </a:bodyPr>
          <a:lstStyle/>
          <a:p>
            <a:r>
              <a:rPr lang="en-GB" dirty="0">
                <a:solidFill>
                  <a:srgbClr val="5E5E5E"/>
                </a:solidFill>
                <a:latin typeface="Lato" panose="020F0502020204030203" pitchFamily="34" charset="0"/>
                <a:ea typeface="Lato" panose="020F0502020204030203" pitchFamily="34" charset="0"/>
                <a:cs typeface="Lato" panose="020F0502020204030203" pitchFamily="34" charset="0"/>
              </a:rPr>
              <a:t>classify as YES</a:t>
            </a:r>
            <a:endParaRPr lang="en-FR" dirty="0">
              <a:solidFill>
                <a:srgbClr val="5E5E5E"/>
              </a:solidFill>
              <a:latin typeface="Lato" panose="020F0502020204030203" pitchFamily="34" charset="0"/>
              <a:ea typeface="Lato" panose="020F0502020204030203" pitchFamily="34" charset="0"/>
              <a:cs typeface="Lato" panose="020F0502020204030203" pitchFamily="34" charset="0"/>
            </a:endParaRPr>
          </a:p>
        </p:txBody>
      </p:sp>
      <p:sp>
        <p:nvSpPr>
          <p:cNvPr id="41" name="TextBox 40">
            <a:extLst>
              <a:ext uri="{FF2B5EF4-FFF2-40B4-BE49-F238E27FC236}">
                <a16:creationId xmlns:a16="http://schemas.microsoft.com/office/drawing/2014/main" id="{2EFEDB9A-BCBD-8F66-AD63-4B59EF581997}"/>
              </a:ext>
            </a:extLst>
          </p:cNvPr>
          <p:cNvSpPr txBox="1"/>
          <p:nvPr/>
        </p:nvSpPr>
        <p:spPr>
          <a:xfrm>
            <a:off x="6216014" y="4380071"/>
            <a:ext cx="1612942" cy="369332"/>
          </a:xfrm>
          <a:prstGeom prst="rect">
            <a:avLst/>
          </a:prstGeom>
          <a:noFill/>
        </p:spPr>
        <p:txBody>
          <a:bodyPr wrap="none" rtlCol="0">
            <a:spAutoFit/>
          </a:bodyPr>
          <a:lstStyle/>
          <a:p>
            <a:r>
              <a:rPr lang="en-GB" dirty="0">
                <a:solidFill>
                  <a:srgbClr val="5E5E5E"/>
                </a:solidFill>
                <a:latin typeface="Lato" panose="020F0502020204030203" pitchFamily="34" charset="0"/>
                <a:ea typeface="Lato" panose="020F0502020204030203" pitchFamily="34" charset="0"/>
                <a:cs typeface="Lato" panose="020F0502020204030203" pitchFamily="34" charset="0"/>
              </a:rPr>
              <a:t>classify as NO</a:t>
            </a:r>
            <a:endParaRPr lang="en-FR" dirty="0">
              <a:solidFill>
                <a:srgbClr val="5E5E5E"/>
              </a:solidFill>
              <a:latin typeface="Lato" panose="020F0502020204030203" pitchFamily="34" charset="0"/>
              <a:ea typeface="Lato" panose="020F0502020204030203" pitchFamily="34" charset="0"/>
              <a:cs typeface="Lato" panose="020F0502020204030203" pitchFamily="34" charset="0"/>
            </a:endParaRPr>
          </a:p>
        </p:txBody>
      </p:sp>
      <p:pic>
        <p:nvPicPr>
          <p:cNvPr id="42" name="Picture 41">
            <a:extLst>
              <a:ext uri="{FF2B5EF4-FFF2-40B4-BE49-F238E27FC236}">
                <a16:creationId xmlns:a16="http://schemas.microsoft.com/office/drawing/2014/main" id="{1E80C666-55F7-C7B8-B297-810921F5BA90}"/>
              </a:ext>
            </a:extLst>
          </p:cNvPr>
          <p:cNvPicPr>
            <a:picLocks noChangeAspect="1"/>
          </p:cNvPicPr>
          <p:nvPr/>
        </p:nvPicPr>
        <p:blipFill>
          <a:blip r:embed="rId3"/>
          <a:stretch>
            <a:fillRect/>
          </a:stretch>
        </p:blipFill>
        <p:spPr>
          <a:xfrm>
            <a:off x="5542863" y="4473635"/>
            <a:ext cx="508000" cy="254000"/>
          </a:xfrm>
          <a:prstGeom prst="rect">
            <a:avLst/>
          </a:prstGeom>
        </p:spPr>
      </p:pic>
      <p:pic>
        <p:nvPicPr>
          <p:cNvPr id="47" name="Picture 46">
            <a:extLst>
              <a:ext uri="{FF2B5EF4-FFF2-40B4-BE49-F238E27FC236}">
                <a16:creationId xmlns:a16="http://schemas.microsoft.com/office/drawing/2014/main" id="{2CB7DD0B-D27E-44A1-C5D8-7B1EC4545560}"/>
              </a:ext>
            </a:extLst>
          </p:cNvPr>
          <p:cNvPicPr>
            <a:picLocks noChangeAspect="1"/>
          </p:cNvPicPr>
          <p:nvPr/>
        </p:nvPicPr>
        <p:blipFill>
          <a:blip r:embed="rId4"/>
          <a:stretch>
            <a:fillRect/>
          </a:stretch>
        </p:blipFill>
        <p:spPr>
          <a:xfrm>
            <a:off x="5542863" y="3803274"/>
            <a:ext cx="508000" cy="292100"/>
          </a:xfrm>
          <a:prstGeom prst="rect">
            <a:avLst/>
          </a:prstGeom>
        </p:spPr>
      </p:pic>
      <p:sp>
        <p:nvSpPr>
          <p:cNvPr id="50" name="TextBox 49">
            <a:extLst>
              <a:ext uri="{FF2B5EF4-FFF2-40B4-BE49-F238E27FC236}">
                <a16:creationId xmlns:a16="http://schemas.microsoft.com/office/drawing/2014/main" id="{30E7BC0E-B54A-FEFE-7C87-601D0C49BDD3}"/>
              </a:ext>
            </a:extLst>
          </p:cNvPr>
          <p:cNvSpPr txBox="1"/>
          <p:nvPr/>
        </p:nvSpPr>
        <p:spPr>
          <a:xfrm>
            <a:off x="240031" y="5144147"/>
            <a:ext cx="10318432" cy="923330"/>
          </a:xfrm>
          <a:prstGeom prst="rect">
            <a:avLst/>
          </a:prstGeom>
          <a:noFill/>
        </p:spPr>
        <p:txBody>
          <a:bodyPr wrap="square">
            <a:spAutoFit/>
          </a:bodyPr>
          <a:lstStyle/>
          <a:p>
            <a:pPr marL="285750" indent="-285750">
              <a:buFont typeface="Helvetica Neue" panose="02000503000000020004" pitchFamily="2" charset="0"/>
              <a:buChar char="⮑"/>
            </a:pPr>
            <a:r>
              <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For smaller values of gamma, the classifier will have more tendency to consider data points as       from YES, meaning that we would more easily detect clients that defaulted. Thus, we would have a higher TPR. However, this comes at a cost: we also get a larger FPR. </a:t>
            </a:r>
            <a:r>
              <a:rPr lang="en-GB" dirty="0">
                <a:solidFill>
                  <a:srgbClr val="5E5E5E"/>
                </a:solidFill>
                <a:latin typeface="Roboto Light" panose="02000000000000000000" pitchFamily="2" charset="0"/>
                <a:ea typeface="Roboto Light" panose="02000000000000000000" pitchFamily="2" charset="0"/>
                <a:cs typeface="Lato" panose="020F0502020204030203" pitchFamily="34" charset="0"/>
              </a:rPr>
              <a:t>We need to find a balance.</a:t>
            </a:r>
            <a:endPar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4" name="TextBox 3">
            <a:extLst>
              <a:ext uri="{FF2B5EF4-FFF2-40B4-BE49-F238E27FC236}">
                <a16:creationId xmlns:a16="http://schemas.microsoft.com/office/drawing/2014/main" id="{A9C1D134-8CBF-563B-4813-36FADF148130}"/>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Tree>
    <p:extLst>
      <p:ext uri="{BB962C8B-B14F-4D97-AF65-F5344CB8AC3E}">
        <p14:creationId xmlns:p14="http://schemas.microsoft.com/office/powerpoint/2010/main" val="3240359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pic>
        <p:nvPicPr>
          <p:cNvPr id="7" name="Picture 6">
            <a:extLst>
              <a:ext uri="{FF2B5EF4-FFF2-40B4-BE49-F238E27FC236}">
                <a16:creationId xmlns:a16="http://schemas.microsoft.com/office/drawing/2014/main" id="{CC922799-4168-B677-6672-551F1D290FAB}"/>
              </a:ext>
            </a:extLst>
          </p:cNvPr>
          <p:cNvPicPr>
            <a:picLocks noChangeAspect="1"/>
          </p:cNvPicPr>
          <p:nvPr/>
        </p:nvPicPr>
        <p:blipFill>
          <a:blip r:embed="rId2"/>
          <a:stretch>
            <a:fillRect/>
          </a:stretch>
        </p:blipFill>
        <p:spPr>
          <a:xfrm>
            <a:off x="344102" y="461339"/>
            <a:ext cx="11503796" cy="6390997"/>
          </a:xfrm>
          <a:prstGeom prst="rect">
            <a:avLst/>
          </a:prstGeom>
        </p:spPr>
      </p:pic>
      <p:sp>
        <p:nvSpPr>
          <p:cNvPr id="5" name="TextBox 4">
            <a:extLst>
              <a:ext uri="{FF2B5EF4-FFF2-40B4-BE49-F238E27FC236}">
                <a16:creationId xmlns:a16="http://schemas.microsoft.com/office/drawing/2014/main" id="{B0EDC07A-5C21-2086-9C02-013723957B0D}"/>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Tree>
    <p:extLst>
      <p:ext uri="{BB962C8B-B14F-4D97-AF65-F5344CB8AC3E}">
        <p14:creationId xmlns:p14="http://schemas.microsoft.com/office/powerpoint/2010/main" val="1201643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6" name="TextBox 5">
            <a:extLst>
              <a:ext uri="{FF2B5EF4-FFF2-40B4-BE49-F238E27FC236}">
                <a16:creationId xmlns:a16="http://schemas.microsoft.com/office/drawing/2014/main" id="{8051AD1C-A4CC-213C-033F-1A7C0BB09659}"/>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In certain applications, it might be preferable to speak in terms of other quantities</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7" name="Picture 6">
            <a:extLst>
              <a:ext uri="{FF2B5EF4-FFF2-40B4-BE49-F238E27FC236}">
                <a16:creationId xmlns:a16="http://schemas.microsoft.com/office/drawing/2014/main" id="{6AE96264-A067-5257-C567-9BABE3A9B7A6}"/>
              </a:ext>
            </a:extLst>
          </p:cNvPr>
          <p:cNvPicPr>
            <a:picLocks noChangeAspect="1"/>
          </p:cNvPicPr>
          <p:nvPr/>
        </p:nvPicPr>
        <p:blipFill>
          <a:blip r:embed="rId2"/>
          <a:stretch>
            <a:fillRect/>
          </a:stretch>
        </p:blipFill>
        <p:spPr>
          <a:xfrm>
            <a:off x="2009775" y="1511919"/>
            <a:ext cx="8172450" cy="4929840"/>
          </a:xfrm>
          <a:prstGeom prst="rect">
            <a:avLst/>
          </a:prstGeom>
        </p:spPr>
      </p:pic>
      <p:sp>
        <p:nvSpPr>
          <p:cNvPr id="8" name="Rounded Rectangle 7">
            <a:extLst>
              <a:ext uri="{FF2B5EF4-FFF2-40B4-BE49-F238E27FC236}">
                <a16:creationId xmlns:a16="http://schemas.microsoft.com/office/drawing/2014/main" id="{2CA24660-AF11-E4FB-ECF6-21F544DD3891}"/>
              </a:ext>
            </a:extLst>
          </p:cNvPr>
          <p:cNvSpPr/>
          <p:nvPr/>
        </p:nvSpPr>
        <p:spPr>
          <a:xfrm>
            <a:off x="2009775" y="4714877"/>
            <a:ext cx="1833563" cy="371475"/>
          </a:xfrm>
          <a:prstGeom prst="roundRect">
            <a:avLst/>
          </a:prstGeom>
          <a:noFill/>
          <a:ln w="25400">
            <a:solidFill>
              <a:srgbClr val="FA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9" name="Rounded Rectangle 8">
            <a:extLst>
              <a:ext uri="{FF2B5EF4-FFF2-40B4-BE49-F238E27FC236}">
                <a16:creationId xmlns:a16="http://schemas.microsoft.com/office/drawing/2014/main" id="{37097CA7-7F75-93A9-7D44-7124FCA8FDCA}"/>
              </a:ext>
            </a:extLst>
          </p:cNvPr>
          <p:cNvSpPr/>
          <p:nvPr/>
        </p:nvSpPr>
        <p:spPr>
          <a:xfrm>
            <a:off x="6138864" y="4676810"/>
            <a:ext cx="1833563" cy="371475"/>
          </a:xfrm>
          <a:prstGeom prst="roundRect">
            <a:avLst/>
          </a:prstGeom>
          <a:noFill/>
          <a:ln w="25400">
            <a:solidFill>
              <a:srgbClr val="FA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TextBox 3">
            <a:extLst>
              <a:ext uri="{FF2B5EF4-FFF2-40B4-BE49-F238E27FC236}">
                <a16:creationId xmlns:a16="http://schemas.microsoft.com/office/drawing/2014/main" id="{0661E3D5-DCAB-E8AF-0ACC-103654DB6AC0}"/>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Tree>
    <p:extLst>
      <p:ext uri="{BB962C8B-B14F-4D97-AF65-F5344CB8AC3E}">
        <p14:creationId xmlns:p14="http://schemas.microsoft.com/office/powerpoint/2010/main" val="4182194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C33100-D1BC-0569-EAF8-14AA3200C17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grpSp>
        <p:nvGrpSpPr>
          <p:cNvPr id="16" name="Group 15">
            <a:extLst>
              <a:ext uri="{FF2B5EF4-FFF2-40B4-BE49-F238E27FC236}">
                <a16:creationId xmlns:a16="http://schemas.microsoft.com/office/drawing/2014/main" id="{6A978BA0-931F-3ADB-54AC-F298932F45A6}"/>
              </a:ext>
            </a:extLst>
          </p:cNvPr>
          <p:cNvGrpSpPr/>
          <p:nvPr/>
        </p:nvGrpSpPr>
        <p:grpSpPr>
          <a:xfrm>
            <a:off x="6451292" y="2319712"/>
            <a:ext cx="2491313" cy="885277"/>
            <a:chOff x="6096000" y="1630721"/>
            <a:chExt cx="2491313" cy="885277"/>
          </a:xfrm>
        </p:grpSpPr>
        <p:sp>
          <p:nvSpPr>
            <p:cNvPr id="10" name="TextBox 9">
              <a:extLst>
                <a:ext uri="{FF2B5EF4-FFF2-40B4-BE49-F238E27FC236}">
                  <a16:creationId xmlns:a16="http://schemas.microsoft.com/office/drawing/2014/main" id="{1F25E622-3EA0-E9E0-4F8A-0E151D93FF92}"/>
                </a:ext>
              </a:extLst>
            </p:cNvPr>
            <p:cNvSpPr txBox="1"/>
            <p:nvPr/>
          </p:nvSpPr>
          <p:spPr>
            <a:xfrm>
              <a:off x="6096000" y="1630721"/>
              <a:ext cx="2297424" cy="430887"/>
            </a:xfrm>
            <a:prstGeom prst="rect">
              <a:avLst/>
            </a:prstGeom>
            <a:noFill/>
          </p:spPr>
          <p:txBody>
            <a:bodyPr wrap="none" rtlCol="0">
              <a:spAutoFit/>
            </a:bodyPr>
            <a:lstStyle/>
            <a:p>
              <a:r>
                <a:rPr lang="en-FR" sz="2200" dirty="0">
                  <a:solidFill>
                    <a:srgbClr val="5E5E5E"/>
                  </a:solidFill>
                </a:rPr>
                <a:t>specificity =       </a:t>
              </a:r>
              <a:r>
                <a:rPr lang="en-FR" sz="2200" dirty="0">
                  <a:solidFill>
                    <a:srgbClr val="00B050"/>
                  </a:solidFill>
                </a:rPr>
                <a:t>TN</a:t>
              </a:r>
            </a:p>
          </p:txBody>
        </p:sp>
        <p:cxnSp>
          <p:nvCxnSpPr>
            <p:cNvPr id="11" name="Straight Connector 10">
              <a:extLst>
                <a:ext uri="{FF2B5EF4-FFF2-40B4-BE49-F238E27FC236}">
                  <a16:creationId xmlns:a16="http://schemas.microsoft.com/office/drawing/2014/main" id="{57F054F7-4F2E-07D2-D33B-07C472926AE1}"/>
                </a:ext>
              </a:extLst>
            </p:cNvPr>
            <p:cNvCxnSpPr>
              <a:cxnSpLocks/>
            </p:cNvCxnSpPr>
            <p:nvPr/>
          </p:nvCxnSpPr>
          <p:spPr>
            <a:xfrm>
              <a:off x="7612845" y="2061608"/>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E36E93-CBE4-AD7A-D052-29988BBB789D}"/>
                </a:ext>
              </a:extLst>
            </p:cNvPr>
            <p:cNvSpPr txBox="1"/>
            <p:nvPr/>
          </p:nvSpPr>
          <p:spPr>
            <a:xfrm>
              <a:off x="7537025" y="2085111"/>
              <a:ext cx="1050288" cy="430887"/>
            </a:xfrm>
            <a:prstGeom prst="rect">
              <a:avLst/>
            </a:prstGeom>
            <a:noFill/>
          </p:spPr>
          <p:txBody>
            <a:bodyPr wrap="none" rtlCol="0">
              <a:spAutoFit/>
            </a:bodyPr>
            <a:lstStyle/>
            <a:p>
              <a:r>
                <a:rPr lang="en-FR" sz="2200" dirty="0">
                  <a:solidFill>
                    <a:srgbClr val="00B050"/>
                  </a:solidFill>
                </a:rPr>
                <a:t>TN</a:t>
              </a:r>
              <a:r>
                <a:rPr lang="en-FR" sz="2200" dirty="0">
                  <a:solidFill>
                    <a:srgbClr val="5E5E5E"/>
                  </a:solidFill>
                </a:rPr>
                <a:t> + </a:t>
              </a:r>
              <a:r>
                <a:rPr lang="en-FR" sz="2200" dirty="0">
                  <a:solidFill>
                    <a:srgbClr val="FA2743"/>
                  </a:solidFill>
                </a:rPr>
                <a:t>FP</a:t>
              </a:r>
            </a:p>
          </p:txBody>
        </p:sp>
      </p:grpSp>
      <p:grpSp>
        <p:nvGrpSpPr>
          <p:cNvPr id="17" name="Group 16">
            <a:extLst>
              <a:ext uri="{FF2B5EF4-FFF2-40B4-BE49-F238E27FC236}">
                <a16:creationId xmlns:a16="http://schemas.microsoft.com/office/drawing/2014/main" id="{8D9512DE-FFB1-50A8-6495-B41A88751882}"/>
              </a:ext>
            </a:extLst>
          </p:cNvPr>
          <p:cNvGrpSpPr/>
          <p:nvPr/>
        </p:nvGrpSpPr>
        <p:grpSpPr>
          <a:xfrm>
            <a:off x="3201556" y="2243393"/>
            <a:ext cx="2491313" cy="885277"/>
            <a:chOff x="3104220" y="1630721"/>
            <a:chExt cx="2491313" cy="885277"/>
          </a:xfrm>
        </p:grpSpPr>
        <p:sp>
          <p:nvSpPr>
            <p:cNvPr id="13" name="TextBox 12">
              <a:extLst>
                <a:ext uri="{FF2B5EF4-FFF2-40B4-BE49-F238E27FC236}">
                  <a16:creationId xmlns:a16="http://schemas.microsoft.com/office/drawing/2014/main" id="{FA55E958-C264-E05A-938F-54D2DDB0136F}"/>
                </a:ext>
              </a:extLst>
            </p:cNvPr>
            <p:cNvSpPr txBox="1"/>
            <p:nvPr/>
          </p:nvSpPr>
          <p:spPr>
            <a:xfrm>
              <a:off x="3104220" y="1630721"/>
              <a:ext cx="2268570" cy="430887"/>
            </a:xfrm>
            <a:prstGeom prst="rect">
              <a:avLst/>
            </a:prstGeom>
            <a:noFill/>
          </p:spPr>
          <p:txBody>
            <a:bodyPr wrap="none" rtlCol="0">
              <a:spAutoFit/>
            </a:bodyPr>
            <a:lstStyle/>
            <a:p>
              <a:r>
                <a:rPr lang="en-FR" sz="2200" dirty="0">
                  <a:solidFill>
                    <a:srgbClr val="5E5E5E"/>
                  </a:solidFill>
                </a:rPr>
                <a:t>sensitivity =       </a:t>
              </a:r>
              <a:r>
                <a:rPr lang="en-FR" sz="2200" dirty="0">
                  <a:solidFill>
                    <a:srgbClr val="00B050"/>
                  </a:solidFill>
                </a:rPr>
                <a:t>TP</a:t>
              </a:r>
            </a:p>
          </p:txBody>
        </p:sp>
        <p:cxnSp>
          <p:nvCxnSpPr>
            <p:cNvPr id="14" name="Straight Connector 13">
              <a:extLst>
                <a:ext uri="{FF2B5EF4-FFF2-40B4-BE49-F238E27FC236}">
                  <a16:creationId xmlns:a16="http://schemas.microsoft.com/office/drawing/2014/main" id="{D75AC699-3340-46E3-1C2E-F2959C6FA28B}"/>
                </a:ext>
              </a:extLst>
            </p:cNvPr>
            <p:cNvCxnSpPr>
              <a:cxnSpLocks/>
            </p:cNvCxnSpPr>
            <p:nvPr/>
          </p:nvCxnSpPr>
          <p:spPr>
            <a:xfrm>
              <a:off x="4621065" y="2061608"/>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A61BFD6-9E49-8CF9-A5C3-B52B81A99126}"/>
                </a:ext>
              </a:extLst>
            </p:cNvPr>
            <p:cNvSpPr txBox="1"/>
            <p:nvPr/>
          </p:nvSpPr>
          <p:spPr>
            <a:xfrm>
              <a:off x="4545245" y="2085111"/>
              <a:ext cx="1050288" cy="430887"/>
            </a:xfrm>
            <a:prstGeom prst="rect">
              <a:avLst/>
            </a:prstGeom>
            <a:noFill/>
          </p:spPr>
          <p:txBody>
            <a:bodyPr wrap="none" rtlCol="0">
              <a:spAutoFit/>
            </a:bodyPr>
            <a:lstStyle/>
            <a:p>
              <a:r>
                <a:rPr lang="en-FR" sz="2200" dirty="0">
                  <a:solidFill>
                    <a:srgbClr val="00B050"/>
                  </a:solidFill>
                </a:rPr>
                <a:t>TP</a:t>
              </a:r>
              <a:r>
                <a:rPr lang="en-FR" sz="2200" dirty="0">
                  <a:solidFill>
                    <a:srgbClr val="5E5E5E"/>
                  </a:solidFill>
                </a:rPr>
                <a:t> + </a:t>
              </a:r>
              <a:r>
                <a:rPr lang="en-FR" sz="2200" dirty="0">
                  <a:solidFill>
                    <a:srgbClr val="FA2743"/>
                  </a:solidFill>
                </a:rPr>
                <a:t>FN</a:t>
              </a:r>
            </a:p>
          </p:txBody>
        </p:sp>
      </p:grpSp>
      <p:sp>
        <p:nvSpPr>
          <p:cNvPr id="18" name="TextBox 17">
            <a:extLst>
              <a:ext uri="{FF2B5EF4-FFF2-40B4-BE49-F238E27FC236}">
                <a16:creationId xmlns:a16="http://schemas.microsoft.com/office/drawing/2014/main" id="{56ACE1D2-D735-52F6-0CD9-B248BCC60EB6}"/>
              </a:ext>
            </a:extLst>
          </p:cNvPr>
          <p:cNvSpPr txBox="1"/>
          <p:nvPr/>
        </p:nvSpPr>
        <p:spPr>
          <a:xfrm>
            <a:off x="682854" y="1511919"/>
            <a:ext cx="5982389"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In medical tests, it is common to use</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19" name="Oval 18">
            <a:extLst>
              <a:ext uri="{FF2B5EF4-FFF2-40B4-BE49-F238E27FC236}">
                <a16:creationId xmlns:a16="http://schemas.microsoft.com/office/drawing/2014/main" id="{3FAE0D77-11AD-9B80-85BD-FF6997E60283}"/>
              </a:ext>
            </a:extLst>
          </p:cNvPr>
          <p:cNvSpPr/>
          <p:nvPr/>
        </p:nvSpPr>
        <p:spPr>
          <a:xfrm>
            <a:off x="391916" y="1643917"/>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0" name="TextBox 19">
            <a:extLst>
              <a:ext uri="{FF2B5EF4-FFF2-40B4-BE49-F238E27FC236}">
                <a16:creationId xmlns:a16="http://schemas.microsoft.com/office/drawing/2014/main" id="{0F19EACD-000B-F903-6968-1803AFC99C6C}"/>
              </a:ext>
            </a:extLst>
          </p:cNvPr>
          <p:cNvSpPr txBox="1"/>
          <p:nvPr/>
        </p:nvSpPr>
        <p:spPr>
          <a:xfrm>
            <a:off x="682854" y="3429000"/>
            <a:ext cx="10077911"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In information retrieval, it is common to use</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21" name="Oval 20">
            <a:extLst>
              <a:ext uri="{FF2B5EF4-FFF2-40B4-BE49-F238E27FC236}">
                <a16:creationId xmlns:a16="http://schemas.microsoft.com/office/drawing/2014/main" id="{79470D85-4F85-0A7C-0DD6-28B34591B86B}"/>
              </a:ext>
            </a:extLst>
          </p:cNvPr>
          <p:cNvSpPr/>
          <p:nvPr/>
        </p:nvSpPr>
        <p:spPr>
          <a:xfrm>
            <a:off x="391916" y="3560998"/>
            <a:ext cx="166889" cy="166889"/>
          </a:xfrm>
          <a:prstGeom prst="ellipse">
            <a:avLst/>
          </a:prstGeom>
          <a:solidFill>
            <a:srgbClr val="FA2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grpSp>
        <p:nvGrpSpPr>
          <p:cNvPr id="22" name="Group 21">
            <a:extLst>
              <a:ext uri="{FF2B5EF4-FFF2-40B4-BE49-F238E27FC236}">
                <a16:creationId xmlns:a16="http://schemas.microsoft.com/office/drawing/2014/main" id="{883537FD-865B-BF22-471F-7EA6AF0EF2F0}"/>
              </a:ext>
            </a:extLst>
          </p:cNvPr>
          <p:cNvGrpSpPr/>
          <p:nvPr/>
        </p:nvGrpSpPr>
        <p:grpSpPr>
          <a:xfrm>
            <a:off x="3201556" y="4183650"/>
            <a:ext cx="2454444" cy="885277"/>
            <a:chOff x="3104220" y="1630721"/>
            <a:chExt cx="2454444" cy="885277"/>
          </a:xfrm>
        </p:grpSpPr>
        <p:sp>
          <p:nvSpPr>
            <p:cNvPr id="23" name="TextBox 22">
              <a:extLst>
                <a:ext uri="{FF2B5EF4-FFF2-40B4-BE49-F238E27FC236}">
                  <a16:creationId xmlns:a16="http://schemas.microsoft.com/office/drawing/2014/main" id="{0BE93A1A-D4C0-C91A-B159-68FDF1254A29}"/>
                </a:ext>
              </a:extLst>
            </p:cNvPr>
            <p:cNvSpPr txBox="1"/>
            <p:nvPr/>
          </p:nvSpPr>
          <p:spPr>
            <a:xfrm>
              <a:off x="3104220" y="1630721"/>
              <a:ext cx="2223173" cy="430887"/>
            </a:xfrm>
            <a:prstGeom prst="rect">
              <a:avLst/>
            </a:prstGeom>
            <a:noFill/>
          </p:spPr>
          <p:txBody>
            <a:bodyPr wrap="none" rtlCol="0">
              <a:spAutoFit/>
            </a:bodyPr>
            <a:lstStyle/>
            <a:p>
              <a:r>
                <a:rPr lang="en-FR" sz="2200" dirty="0">
                  <a:solidFill>
                    <a:srgbClr val="5E5E5E"/>
                  </a:solidFill>
                </a:rPr>
                <a:t>precision =        </a:t>
              </a:r>
              <a:r>
                <a:rPr lang="en-FR" sz="2200" dirty="0">
                  <a:solidFill>
                    <a:srgbClr val="00B050"/>
                  </a:solidFill>
                </a:rPr>
                <a:t>TP</a:t>
              </a:r>
            </a:p>
          </p:txBody>
        </p:sp>
        <p:cxnSp>
          <p:nvCxnSpPr>
            <p:cNvPr id="24" name="Straight Connector 23">
              <a:extLst>
                <a:ext uri="{FF2B5EF4-FFF2-40B4-BE49-F238E27FC236}">
                  <a16:creationId xmlns:a16="http://schemas.microsoft.com/office/drawing/2014/main" id="{9ECA6831-464E-BA99-1724-240829BB5EBE}"/>
                </a:ext>
              </a:extLst>
            </p:cNvPr>
            <p:cNvCxnSpPr>
              <a:cxnSpLocks/>
            </p:cNvCxnSpPr>
            <p:nvPr/>
          </p:nvCxnSpPr>
          <p:spPr>
            <a:xfrm>
              <a:off x="4621065" y="2061608"/>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50709FB-5C4E-B4B0-4F6E-88638EDE623F}"/>
                </a:ext>
              </a:extLst>
            </p:cNvPr>
            <p:cNvSpPr txBox="1"/>
            <p:nvPr/>
          </p:nvSpPr>
          <p:spPr>
            <a:xfrm>
              <a:off x="4545245" y="2085111"/>
              <a:ext cx="1013419" cy="430887"/>
            </a:xfrm>
            <a:prstGeom prst="rect">
              <a:avLst/>
            </a:prstGeom>
            <a:noFill/>
          </p:spPr>
          <p:txBody>
            <a:bodyPr wrap="none" rtlCol="0">
              <a:spAutoFit/>
            </a:bodyPr>
            <a:lstStyle/>
            <a:p>
              <a:r>
                <a:rPr lang="en-FR" sz="2200" dirty="0">
                  <a:solidFill>
                    <a:srgbClr val="00B050"/>
                  </a:solidFill>
                </a:rPr>
                <a:t>TP</a:t>
              </a:r>
              <a:r>
                <a:rPr lang="en-FR" sz="2200" dirty="0">
                  <a:solidFill>
                    <a:srgbClr val="5E5E5E"/>
                  </a:solidFill>
                </a:rPr>
                <a:t> + </a:t>
              </a:r>
              <a:r>
                <a:rPr lang="en-FR" sz="2200" dirty="0">
                  <a:solidFill>
                    <a:srgbClr val="FA2743"/>
                  </a:solidFill>
                </a:rPr>
                <a:t>FP</a:t>
              </a:r>
            </a:p>
          </p:txBody>
        </p:sp>
      </p:grpSp>
      <p:sp>
        <p:nvSpPr>
          <p:cNvPr id="26" name="TextBox 25">
            <a:extLst>
              <a:ext uri="{FF2B5EF4-FFF2-40B4-BE49-F238E27FC236}">
                <a16:creationId xmlns:a16="http://schemas.microsoft.com/office/drawing/2014/main" id="{E729B235-577E-8CCF-B023-0EE38ED0BEB1}"/>
              </a:ext>
            </a:extLst>
          </p:cNvPr>
          <p:cNvSpPr txBox="1"/>
          <p:nvPr/>
        </p:nvSpPr>
        <p:spPr>
          <a:xfrm>
            <a:off x="6018253" y="4291371"/>
            <a:ext cx="4862282" cy="646331"/>
          </a:xfrm>
          <a:prstGeom prst="rect">
            <a:avLst/>
          </a:prstGeom>
          <a:noFill/>
        </p:spPr>
        <p:txBody>
          <a:bodyPr wrap="square" rtlCol="0">
            <a:spAutoFit/>
          </a:bodyPr>
          <a:lstStyle/>
          <a:p>
            <a:r>
              <a:rPr lang="en-GB" sz="18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among all positive predictions from our classifier, how many of them were correct. </a:t>
            </a:r>
            <a:endPar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27" name="Rounded Rectangle 26">
            <a:extLst>
              <a:ext uri="{FF2B5EF4-FFF2-40B4-BE49-F238E27FC236}">
                <a16:creationId xmlns:a16="http://schemas.microsoft.com/office/drawing/2014/main" id="{01A9BEF5-4102-13D5-FE1E-1A318E0DC4FC}"/>
              </a:ext>
            </a:extLst>
          </p:cNvPr>
          <p:cNvSpPr/>
          <p:nvPr/>
        </p:nvSpPr>
        <p:spPr>
          <a:xfrm>
            <a:off x="3091365" y="4098179"/>
            <a:ext cx="2765516"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9" name="Rounded Rectangle 28">
            <a:extLst>
              <a:ext uri="{FF2B5EF4-FFF2-40B4-BE49-F238E27FC236}">
                <a16:creationId xmlns:a16="http://schemas.microsoft.com/office/drawing/2014/main" id="{85720C81-6712-3C12-29B0-8A7EED2FA713}"/>
              </a:ext>
            </a:extLst>
          </p:cNvPr>
          <p:cNvSpPr/>
          <p:nvPr/>
        </p:nvSpPr>
        <p:spPr>
          <a:xfrm>
            <a:off x="3090864" y="2174833"/>
            <a:ext cx="2765516"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0" name="Rounded Rectangle 29">
            <a:extLst>
              <a:ext uri="{FF2B5EF4-FFF2-40B4-BE49-F238E27FC236}">
                <a16:creationId xmlns:a16="http://schemas.microsoft.com/office/drawing/2014/main" id="{B6FA50A2-934D-2757-1F07-507497DB6C28}"/>
              </a:ext>
            </a:extLst>
          </p:cNvPr>
          <p:cNvSpPr/>
          <p:nvPr/>
        </p:nvSpPr>
        <p:spPr>
          <a:xfrm>
            <a:off x="6335621" y="2179713"/>
            <a:ext cx="2765516"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grpSp>
        <p:nvGrpSpPr>
          <p:cNvPr id="31" name="Group 30">
            <a:extLst>
              <a:ext uri="{FF2B5EF4-FFF2-40B4-BE49-F238E27FC236}">
                <a16:creationId xmlns:a16="http://schemas.microsoft.com/office/drawing/2014/main" id="{70D58DCC-933F-1ADB-9773-9E2C1351D6B9}"/>
              </a:ext>
            </a:extLst>
          </p:cNvPr>
          <p:cNvGrpSpPr/>
          <p:nvPr/>
        </p:nvGrpSpPr>
        <p:grpSpPr>
          <a:xfrm>
            <a:off x="3201556" y="5507820"/>
            <a:ext cx="2491313" cy="885277"/>
            <a:chOff x="3104220" y="1630721"/>
            <a:chExt cx="2491313" cy="885277"/>
          </a:xfrm>
        </p:grpSpPr>
        <p:sp>
          <p:nvSpPr>
            <p:cNvPr id="32" name="TextBox 31">
              <a:extLst>
                <a:ext uri="{FF2B5EF4-FFF2-40B4-BE49-F238E27FC236}">
                  <a16:creationId xmlns:a16="http://schemas.microsoft.com/office/drawing/2014/main" id="{25520435-F3F8-39C9-34BF-23C05854B49E}"/>
                </a:ext>
              </a:extLst>
            </p:cNvPr>
            <p:cNvSpPr txBox="1"/>
            <p:nvPr/>
          </p:nvSpPr>
          <p:spPr>
            <a:xfrm>
              <a:off x="3104220" y="1630721"/>
              <a:ext cx="2185535" cy="430887"/>
            </a:xfrm>
            <a:prstGeom prst="rect">
              <a:avLst/>
            </a:prstGeom>
            <a:noFill/>
          </p:spPr>
          <p:txBody>
            <a:bodyPr wrap="none" rtlCol="0">
              <a:spAutoFit/>
            </a:bodyPr>
            <a:lstStyle/>
            <a:p>
              <a:r>
                <a:rPr lang="en-FR" sz="2200" dirty="0">
                  <a:solidFill>
                    <a:srgbClr val="5E5E5E"/>
                  </a:solidFill>
                </a:rPr>
                <a:t>      recall =        </a:t>
              </a:r>
              <a:r>
                <a:rPr lang="en-FR" sz="2200" dirty="0">
                  <a:solidFill>
                    <a:srgbClr val="00B050"/>
                  </a:solidFill>
                </a:rPr>
                <a:t>TP</a:t>
              </a:r>
            </a:p>
          </p:txBody>
        </p:sp>
        <p:cxnSp>
          <p:nvCxnSpPr>
            <p:cNvPr id="33" name="Straight Connector 32">
              <a:extLst>
                <a:ext uri="{FF2B5EF4-FFF2-40B4-BE49-F238E27FC236}">
                  <a16:creationId xmlns:a16="http://schemas.microsoft.com/office/drawing/2014/main" id="{B0EAD679-DF89-045E-ECBB-12683AD2C5A5}"/>
                </a:ext>
              </a:extLst>
            </p:cNvPr>
            <p:cNvCxnSpPr>
              <a:cxnSpLocks/>
            </p:cNvCxnSpPr>
            <p:nvPr/>
          </p:nvCxnSpPr>
          <p:spPr>
            <a:xfrm>
              <a:off x="4621065" y="2061608"/>
              <a:ext cx="900000" cy="0"/>
            </a:xfrm>
            <a:prstGeom prst="line">
              <a:avLst/>
            </a:prstGeom>
            <a:ln w="25400">
              <a:solidFill>
                <a:srgbClr val="5E5E5E"/>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838CA45-C77A-CD04-07B2-AB5B50C857E1}"/>
                </a:ext>
              </a:extLst>
            </p:cNvPr>
            <p:cNvSpPr txBox="1"/>
            <p:nvPr/>
          </p:nvSpPr>
          <p:spPr>
            <a:xfrm>
              <a:off x="4545245" y="2085111"/>
              <a:ext cx="1050288" cy="430887"/>
            </a:xfrm>
            <a:prstGeom prst="rect">
              <a:avLst/>
            </a:prstGeom>
            <a:noFill/>
          </p:spPr>
          <p:txBody>
            <a:bodyPr wrap="none" rtlCol="0">
              <a:spAutoFit/>
            </a:bodyPr>
            <a:lstStyle/>
            <a:p>
              <a:r>
                <a:rPr lang="en-FR" sz="2200" dirty="0">
                  <a:solidFill>
                    <a:srgbClr val="00B050"/>
                  </a:solidFill>
                </a:rPr>
                <a:t>TP</a:t>
              </a:r>
              <a:r>
                <a:rPr lang="en-FR" sz="2200" dirty="0">
                  <a:solidFill>
                    <a:srgbClr val="5E5E5E"/>
                  </a:solidFill>
                </a:rPr>
                <a:t> + </a:t>
              </a:r>
              <a:r>
                <a:rPr lang="en-FR" sz="2200" dirty="0">
                  <a:solidFill>
                    <a:srgbClr val="FA2743"/>
                  </a:solidFill>
                </a:rPr>
                <a:t>FN</a:t>
              </a:r>
            </a:p>
          </p:txBody>
        </p:sp>
      </p:grpSp>
      <p:sp>
        <p:nvSpPr>
          <p:cNvPr id="35" name="TextBox 34">
            <a:extLst>
              <a:ext uri="{FF2B5EF4-FFF2-40B4-BE49-F238E27FC236}">
                <a16:creationId xmlns:a16="http://schemas.microsoft.com/office/drawing/2014/main" id="{A891F6D3-3C05-33A6-FB84-AE82CC9680CD}"/>
              </a:ext>
            </a:extLst>
          </p:cNvPr>
          <p:cNvSpPr txBox="1"/>
          <p:nvPr/>
        </p:nvSpPr>
        <p:spPr>
          <a:xfrm>
            <a:off x="6018253" y="5615541"/>
            <a:ext cx="4862282" cy="646331"/>
          </a:xfrm>
          <a:prstGeom prst="rect">
            <a:avLst/>
          </a:prstGeom>
          <a:noFill/>
        </p:spPr>
        <p:txBody>
          <a:bodyPr wrap="square" rtlCol="0">
            <a:spAutoFit/>
          </a:bodyPr>
          <a:lstStyle/>
          <a:p>
            <a:r>
              <a:rPr lang="en-GB" sz="18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how many of the truly positive observations were indeed detected by our classifier </a:t>
            </a:r>
            <a:endParaRPr lang="en-GB" dirty="0">
              <a:solidFill>
                <a:srgbClr val="5E5E5E"/>
              </a:solidFill>
              <a:effectLst/>
              <a:latin typeface="Roboto Light" panose="02000000000000000000" pitchFamily="2" charset="0"/>
              <a:ea typeface="Roboto Light" panose="02000000000000000000" pitchFamily="2" charset="0"/>
              <a:cs typeface="Lato" panose="020F0502020204030203" pitchFamily="34" charset="0"/>
            </a:endParaRPr>
          </a:p>
        </p:txBody>
      </p:sp>
      <p:sp>
        <p:nvSpPr>
          <p:cNvPr id="36" name="Rounded Rectangle 35">
            <a:extLst>
              <a:ext uri="{FF2B5EF4-FFF2-40B4-BE49-F238E27FC236}">
                <a16:creationId xmlns:a16="http://schemas.microsoft.com/office/drawing/2014/main" id="{BFC7351D-8652-0BF6-86B1-F5236ABCA97B}"/>
              </a:ext>
            </a:extLst>
          </p:cNvPr>
          <p:cNvSpPr/>
          <p:nvPr/>
        </p:nvSpPr>
        <p:spPr>
          <a:xfrm>
            <a:off x="3091365" y="5422349"/>
            <a:ext cx="2765516" cy="1045897"/>
          </a:xfrm>
          <a:prstGeom prst="roundRect">
            <a:avLst/>
          </a:prstGeom>
          <a:noFill/>
          <a:ln w="25400">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TextBox 3">
            <a:extLst>
              <a:ext uri="{FF2B5EF4-FFF2-40B4-BE49-F238E27FC236}">
                <a16:creationId xmlns:a16="http://schemas.microsoft.com/office/drawing/2014/main" id="{80A33EB1-6D51-E8F6-47F7-8899F43C046A}"/>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Classification</a:t>
            </a:r>
          </a:p>
        </p:txBody>
      </p:sp>
      <p:sp>
        <p:nvSpPr>
          <p:cNvPr id="5" name="TextBox 4">
            <a:extLst>
              <a:ext uri="{FF2B5EF4-FFF2-40B4-BE49-F238E27FC236}">
                <a16:creationId xmlns:a16="http://schemas.microsoft.com/office/drawing/2014/main" id="{0B0C5838-1DB2-5A1C-9166-2F0AE9881250}"/>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In certain applications, it might be preferable to speak in terms of other quantities</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Tree>
    <p:extLst>
      <p:ext uri="{BB962C8B-B14F-4D97-AF65-F5344CB8AC3E}">
        <p14:creationId xmlns:p14="http://schemas.microsoft.com/office/powerpoint/2010/main" val="2208564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2EA4D-EA93-62EB-34AD-BE71A2CE6B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087FF6-3426-9D6A-889E-37E74E7F8CA8}"/>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993D159A-B19B-EEC9-2986-A32704A4AB82}"/>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pic>
        <p:nvPicPr>
          <p:cNvPr id="6" name="Picture 5">
            <a:extLst>
              <a:ext uri="{FF2B5EF4-FFF2-40B4-BE49-F238E27FC236}">
                <a16:creationId xmlns:a16="http://schemas.microsoft.com/office/drawing/2014/main" id="{F0A65374-DE4D-469A-2B9E-113143B60FE6}"/>
              </a:ext>
            </a:extLst>
          </p:cNvPr>
          <p:cNvPicPr>
            <a:picLocks noChangeAspect="1"/>
          </p:cNvPicPr>
          <p:nvPr/>
        </p:nvPicPr>
        <p:blipFill>
          <a:blip r:embed="rId2"/>
          <a:stretch>
            <a:fillRect/>
          </a:stretch>
        </p:blipFill>
        <p:spPr>
          <a:xfrm>
            <a:off x="1044967" y="1080000"/>
            <a:ext cx="5575300" cy="5486400"/>
          </a:xfrm>
          <a:prstGeom prst="rect">
            <a:avLst/>
          </a:prstGeom>
        </p:spPr>
      </p:pic>
      <p:sp>
        <p:nvSpPr>
          <p:cNvPr id="5" name="TextBox 4">
            <a:extLst>
              <a:ext uri="{FF2B5EF4-FFF2-40B4-BE49-F238E27FC236}">
                <a16:creationId xmlns:a16="http://schemas.microsoft.com/office/drawing/2014/main" id="{91788353-672B-CE24-3173-A6E5000A281D}"/>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8" name="Picture 7">
            <a:extLst>
              <a:ext uri="{FF2B5EF4-FFF2-40B4-BE49-F238E27FC236}">
                <a16:creationId xmlns:a16="http://schemas.microsoft.com/office/drawing/2014/main" id="{BAEA0D00-49F8-880E-E3C2-2D95CF13E718}"/>
              </a:ext>
            </a:extLst>
          </p:cNvPr>
          <p:cNvPicPr>
            <a:picLocks noChangeAspect="1"/>
          </p:cNvPicPr>
          <p:nvPr/>
        </p:nvPicPr>
        <p:blipFill>
          <a:blip r:embed="rId3"/>
          <a:stretch>
            <a:fillRect/>
          </a:stretch>
        </p:blipFill>
        <p:spPr>
          <a:xfrm>
            <a:off x="7109400" y="1798782"/>
            <a:ext cx="4038600" cy="342900"/>
          </a:xfrm>
          <a:prstGeom prst="rect">
            <a:avLst/>
          </a:prstGeom>
        </p:spPr>
      </p:pic>
    </p:spTree>
    <p:extLst>
      <p:ext uri="{BB962C8B-B14F-4D97-AF65-F5344CB8AC3E}">
        <p14:creationId xmlns:p14="http://schemas.microsoft.com/office/powerpoint/2010/main" val="3198141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92DAC-D073-D7B6-F58A-CCE087577DD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0B1E724-AE85-DD27-9A86-F36A835F0372}"/>
              </a:ext>
            </a:extLst>
          </p:cNvPr>
          <p:cNvPicPr>
            <a:picLocks noChangeAspect="1"/>
          </p:cNvPicPr>
          <p:nvPr/>
        </p:nvPicPr>
        <p:blipFill>
          <a:blip r:embed="rId2"/>
          <a:stretch>
            <a:fillRect/>
          </a:stretch>
        </p:blipFill>
        <p:spPr>
          <a:xfrm>
            <a:off x="1044000" y="1080000"/>
            <a:ext cx="5575300" cy="5486400"/>
          </a:xfrm>
          <a:prstGeom prst="rect">
            <a:avLst/>
          </a:prstGeom>
        </p:spPr>
      </p:pic>
      <p:sp>
        <p:nvSpPr>
          <p:cNvPr id="2" name="Rectangle 1">
            <a:extLst>
              <a:ext uri="{FF2B5EF4-FFF2-40B4-BE49-F238E27FC236}">
                <a16:creationId xmlns:a16="http://schemas.microsoft.com/office/drawing/2014/main" id="{C22B5AB1-B377-9417-D7E0-94DF511A7082}"/>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60DD8419-A068-B34C-D281-BB19B7EB7189}"/>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sp>
        <p:nvSpPr>
          <p:cNvPr id="5" name="TextBox 4">
            <a:extLst>
              <a:ext uri="{FF2B5EF4-FFF2-40B4-BE49-F238E27FC236}">
                <a16:creationId xmlns:a16="http://schemas.microsoft.com/office/drawing/2014/main" id="{4DA4C63D-B962-AF11-DD3F-A610794EE171}"/>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3" name="Picture 2">
            <a:extLst>
              <a:ext uri="{FF2B5EF4-FFF2-40B4-BE49-F238E27FC236}">
                <a16:creationId xmlns:a16="http://schemas.microsoft.com/office/drawing/2014/main" id="{080C9CC5-C1B5-1843-49E6-AF7D4297685E}"/>
              </a:ext>
            </a:extLst>
          </p:cNvPr>
          <p:cNvPicPr>
            <a:picLocks noChangeAspect="1"/>
          </p:cNvPicPr>
          <p:nvPr/>
        </p:nvPicPr>
        <p:blipFill>
          <a:blip r:embed="rId3"/>
          <a:stretch>
            <a:fillRect/>
          </a:stretch>
        </p:blipFill>
        <p:spPr>
          <a:xfrm>
            <a:off x="7109400" y="1798782"/>
            <a:ext cx="4038600" cy="342900"/>
          </a:xfrm>
          <a:prstGeom prst="rect">
            <a:avLst/>
          </a:prstGeom>
        </p:spPr>
      </p:pic>
    </p:spTree>
    <p:extLst>
      <p:ext uri="{BB962C8B-B14F-4D97-AF65-F5344CB8AC3E}">
        <p14:creationId xmlns:p14="http://schemas.microsoft.com/office/powerpoint/2010/main" val="2923492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7AE8C-93BD-3CD5-63BB-918915125BC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50E327-AD1D-F6D9-CE2F-EB7492E6B184}"/>
              </a:ext>
            </a:extLst>
          </p:cNvPr>
          <p:cNvPicPr>
            <a:picLocks noChangeAspect="1"/>
          </p:cNvPicPr>
          <p:nvPr/>
        </p:nvPicPr>
        <p:blipFill>
          <a:blip r:embed="rId2"/>
          <a:stretch>
            <a:fillRect/>
          </a:stretch>
        </p:blipFill>
        <p:spPr>
          <a:xfrm>
            <a:off x="1044000" y="1080000"/>
            <a:ext cx="5575300" cy="5486400"/>
          </a:xfrm>
          <a:prstGeom prst="rect">
            <a:avLst/>
          </a:prstGeom>
        </p:spPr>
      </p:pic>
      <p:sp>
        <p:nvSpPr>
          <p:cNvPr id="2" name="Rectangle 1">
            <a:extLst>
              <a:ext uri="{FF2B5EF4-FFF2-40B4-BE49-F238E27FC236}">
                <a16:creationId xmlns:a16="http://schemas.microsoft.com/office/drawing/2014/main" id="{40A8F45B-D95C-BF32-8D37-E62A463D4FF7}"/>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6B24EB1D-C650-F0A7-1EE2-2EA81C90587A}"/>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sp>
        <p:nvSpPr>
          <p:cNvPr id="5" name="TextBox 4">
            <a:extLst>
              <a:ext uri="{FF2B5EF4-FFF2-40B4-BE49-F238E27FC236}">
                <a16:creationId xmlns:a16="http://schemas.microsoft.com/office/drawing/2014/main" id="{19DC19D3-6CC1-A569-E1DE-399720F1A565}"/>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10" name="Picture 9">
            <a:extLst>
              <a:ext uri="{FF2B5EF4-FFF2-40B4-BE49-F238E27FC236}">
                <a16:creationId xmlns:a16="http://schemas.microsoft.com/office/drawing/2014/main" id="{B7622D42-80E2-250F-1AAD-230D6619BFEE}"/>
              </a:ext>
            </a:extLst>
          </p:cNvPr>
          <p:cNvPicPr>
            <a:picLocks noChangeAspect="1"/>
          </p:cNvPicPr>
          <p:nvPr/>
        </p:nvPicPr>
        <p:blipFill>
          <a:blip r:embed="rId3"/>
          <a:stretch>
            <a:fillRect/>
          </a:stretch>
        </p:blipFill>
        <p:spPr>
          <a:xfrm>
            <a:off x="7109400" y="1798782"/>
            <a:ext cx="4038600" cy="342900"/>
          </a:xfrm>
          <a:prstGeom prst="rect">
            <a:avLst/>
          </a:prstGeom>
        </p:spPr>
      </p:pic>
      <p:sp>
        <p:nvSpPr>
          <p:cNvPr id="14" name="Oval 13">
            <a:extLst>
              <a:ext uri="{FF2B5EF4-FFF2-40B4-BE49-F238E27FC236}">
                <a16:creationId xmlns:a16="http://schemas.microsoft.com/office/drawing/2014/main" id="{E73DAD87-5C3E-7124-23E6-CF510D379B4E}"/>
              </a:ext>
            </a:extLst>
          </p:cNvPr>
          <p:cNvSpPr/>
          <p:nvPr/>
        </p:nvSpPr>
        <p:spPr>
          <a:xfrm rot="20276249">
            <a:off x="5382254" y="4691920"/>
            <a:ext cx="629587" cy="1379096"/>
          </a:xfrm>
          <a:prstGeom prst="ellipse">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5" name="Oval 14">
            <a:extLst>
              <a:ext uri="{FF2B5EF4-FFF2-40B4-BE49-F238E27FC236}">
                <a16:creationId xmlns:a16="http://schemas.microsoft.com/office/drawing/2014/main" id="{5372D9B6-BD6B-4B3B-B773-949F0D226DCE}"/>
              </a:ext>
            </a:extLst>
          </p:cNvPr>
          <p:cNvSpPr/>
          <p:nvPr/>
        </p:nvSpPr>
        <p:spPr>
          <a:xfrm rot="892840">
            <a:off x="1667192" y="1669010"/>
            <a:ext cx="629587" cy="1379096"/>
          </a:xfrm>
          <a:prstGeom prst="ellipse">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Freeform 15">
            <a:extLst>
              <a:ext uri="{FF2B5EF4-FFF2-40B4-BE49-F238E27FC236}">
                <a16:creationId xmlns:a16="http://schemas.microsoft.com/office/drawing/2014/main" id="{0118556F-608F-663E-74DB-D07CE11A7F3D}"/>
              </a:ext>
            </a:extLst>
          </p:cNvPr>
          <p:cNvSpPr/>
          <p:nvPr/>
        </p:nvSpPr>
        <p:spPr>
          <a:xfrm>
            <a:off x="6187641" y="4982063"/>
            <a:ext cx="1648918" cy="1139252"/>
          </a:xfrm>
          <a:custGeom>
            <a:avLst/>
            <a:gdLst>
              <a:gd name="connsiteX0" fmla="*/ 0 w 1648918"/>
              <a:gd name="connsiteY0" fmla="*/ 1139252 h 1139252"/>
              <a:gd name="connsiteX1" fmla="*/ 1049311 w 1648918"/>
              <a:gd name="connsiteY1" fmla="*/ 914400 h 1139252"/>
              <a:gd name="connsiteX2" fmla="*/ 1648918 w 1648918"/>
              <a:gd name="connsiteY2" fmla="*/ 0 h 1139252"/>
            </a:gdLst>
            <a:ahLst/>
            <a:cxnLst>
              <a:cxn ang="0">
                <a:pos x="connsiteX0" y="connsiteY0"/>
              </a:cxn>
              <a:cxn ang="0">
                <a:pos x="connsiteX1" y="connsiteY1"/>
              </a:cxn>
              <a:cxn ang="0">
                <a:pos x="connsiteX2" y="connsiteY2"/>
              </a:cxn>
            </a:cxnLst>
            <a:rect l="l" t="t" r="r" b="b"/>
            <a:pathLst>
              <a:path w="1648918" h="1139252">
                <a:moveTo>
                  <a:pt x="0" y="1139252"/>
                </a:moveTo>
                <a:cubicBezTo>
                  <a:pt x="387245" y="1121763"/>
                  <a:pt x="774491" y="1104275"/>
                  <a:pt x="1049311" y="914400"/>
                </a:cubicBezTo>
                <a:cubicBezTo>
                  <a:pt x="1324131" y="724525"/>
                  <a:pt x="1486524" y="362262"/>
                  <a:pt x="1648918" y="0"/>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7" name="Freeform 16">
            <a:extLst>
              <a:ext uri="{FF2B5EF4-FFF2-40B4-BE49-F238E27FC236}">
                <a16:creationId xmlns:a16="http://schemas.microsoft.com/office/drawing/2014/main" id="{64C31B97-1435-EC32-E4AF-5D015B4DBEBD}"/>
              </a:ext>
            </a:extLst>
          </p:cNvPr>
          <p:cNvSpPr/>
          <p:nvPr/>
        </p:nvSpPr>
        <p:spPr>
          <a:xfrm>
            <a:off x="2479863" y="2079120"/>
            <a:ext cx="5111646" cy="2571067"/>
          </a:xfrm>
          <a:custGeom>
            <a:avLst/>
            <a:gdLst>
              <a:gd name="connsiteX0" fmla="*/ 0 w 5111646"/>
              <a:gd name="connsiteY0" fmla="*/ 380367 h 2571067"/>
              <a:gd name="connsiteX1" fmla="*/ 2728210 w 5111646"/>
              <a:gd name="connsiteY1" fmla="*/ 155514 h 2571067"/>
              <a:gd name="connsiteX2" fmla="*/ 4032354 w 5111646"/>
              <a:gd name="connsiteY2" fmla="*/ 2419029 h 2571067"/>
              <a:gd name="connsiteX3" fmla="*/ 5111646 w 5111646"/>
              <a:gd name="connsiteY3" fmla="*/ 2179186 h 2571067"/>
            </a:gdLst>
            <a:ahLst/>
            <a:cxnLst>
              <a:cxn ang="0">
                <a:pos x="connsiteX0" y="connsiteY0"/>
              </a:cxn>
              <a:cxn ang="0">
                <a:pos x="connsiteX1" y="connsiteY1"/>
              </a:cxn>
              <a:cxn ang="0">
                <a:pos x="connsiteX2" y="connsiteY2"/>
              </a:cxn>
              <a:cxn ang="0">
                <a:pos x="connsiteX3" y="connsiteY3"/>
              </a:cxn>
            </a:cxnLst>
            <a:rect l="l" t="t" r="r" b="b"/>
            <a:pathLst>
              <a:path w="5111646" h="2571067">
                <a:moveTo>
                  <a:pt x="0" y="380367"/>
                </a:moveTo>
                <a:cubicBezTo>
                  <a:pt x="1028075" y="98052"/>
                  <a:pt x="2056151" y="-184263"/>
                  <a:pt x="2728210" y="155514"/>
                </a:cubicBezTo>
                <a:cubicBezTo>
                  <a:pt x="3400269" y="495291"/>
                  <a:pt x="3635115" y="2081750"/>
                  <a:pt x="4032354" y="2419029"/>
                </a:cubicBezTo>
                <a:cubicBezTo>
                  <a:pt x="4429593" y="2756308"/>
                  <a:pt x="4770619" y="2467747"/>
                  <a:pt x="5111646" y="2179186"/>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8" name="TextBox 17">
            <a:extLst>
              <a:ext uri="{FF2B5EF4-FFF2-40B4-BE49-F238E27FC236}">
                <a16:creationId xmlns:a16="http://schemas.microsoft.com/office/drawing/2014/main" id="{E8CD75AF-AEB1-C5D1-0AE4-850A2F1E0120}"/>
              </a:ext>
            </a:extLst>
          </p:cNvPr>
          <p:cNvSpPr txBox="1"/>
          <p:nvPr/>
        </p:nvSpPr>
        <p:spPr>
          <a:xfrm>
            <a:off x="7836559" y="4074481"/>
            <a:ext cx="3930524" cy="830997"/>
          </a:xfrm>
          <a:prstGeom prst="rect">
            <a:avLst/>
          </a:prstGeom>
          <a:noFill/>
        </p:spPr>
        <p:txBody>
          <a:bodyPr wrap="square" rtlCol="0">
            <a:spAutoFit/>
          </a:bodyPr>
          <a:lstStyle/>
          <a:p>
            <a:r>
              <a:rPr lang="en-FR" sz="2400" dirty="0">
                <a:solidFill>
                  <a:srgbClr val="00B050"/>
                </a:solidFill>
                <a:latin typeface="Roboto Light" panose="02000000000000000000" pitchFamily="2" charset="0"/>
                <a:ea typeface="Roboto Light" panose="02000000000000000000" pitchFamily="2" charset="0"/>
              </a:rPr>
              <a:t>The outliers contribute a lot to the minimization!</a:t>
            </a:r>
          </a:p>
        </p:txBody>
      </p:sp>
      <p:pic>
        <p:nvPicPr>
          <p:cNvPr id="21" name="Picture 20">
            <a:extLst>
              <a:ext uri="{FF2B5EF4-FFF2-40B4-BE49-F238E27FC236}">
                <a16:creationId xmlns:a16="http://schemas.microsoft.com/office/drawing/2014/main" id="{337CC244-5DC0-6F3F-3119-3C0DD3915956}"/>
              </a:ext>
            </a:extLst>
          </p:cNvPr>
          <p:cNvPicPr>
            <a:picLocks noChangeAspect="1"/>
          </p:cNvPicPr>
          <p:nvPr/>
        </p:nvPicPr>
        <p:blipFill>
          <a:blip r:embed="rId4"/>
          <a:stretch>
            <a:fillRect/>
          </a:stretch>
        </p:blipFill>
        <p:spPr>
          <a:xfrm>
            <a:off x="6841630" y="2626914"/>
            <a:ext cx="4584700" cy="965200"/>
          </a:xfrm>
          <a:prstGeom prst="rect">
            <a:avLst/>
          </a:prstGeom>
        </p:spPr>
      </p:pic>
    </p:spTree>
    <p:extLst>
      <p:ext uri="{BB962C8B-B14F-4D97-AF65-F5344CB8AC3E}">
        <p14:creationId xmlns:p14="http://schemas.microsoft.com/office/powerpoint/2010/main" val="280464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A51F5-55D9-9576-7457-CB3332AC851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FD16A0D-C32D-A35F-AC14-991D3B933B46}"/>
              </a:ext>
            </a:extLst>
          </p:cNvPr>
          <p:cNvPicPr>
            <a:picLocks noChangeAspect="1"/>
          </p:cNvPicPr>
          <p:nvPr/>
        </p:nvPicPr>
        <p:blipFill>
          <a:blip r:embed="rId2"/>
          <a:stretch>
            <a:fillRect/>
          </a:stretch>
        </p:blipFill>
        <p:spPr>
          <a:xfrm>
            <a:off x="1044000" y="1080000"/>
            <a:ext cx="5575300" cy="5486400"/>
          </a:xfrm>
          <a:prstGeom prst="rect">
            <a:avLst/>
          </a:prstGeom>
        </p:spPr>
      </p:pic>
      <p:sp>
        <p:nvSpPr>
          <p:cNvPr id="2" name="Rectangle 1">
            <a:extLst>
              <a:ext uri="{FF2B5EF4-FFF2-40B4-BE49-F238E27FC236}">
                <a16:creationId xmlns:a16="http://schemas.microsoft.com/office/drawing/2014/main" id="{DB84C87A-B1E9-563F-1B89-D273B64EB6EC}"/>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452B65B1-FAC2-DA0E-3B1B-52D9D004500C}"/>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sp>
        <p:nvSpPr>
          <p:cNvPr id="5" name="TextBox 4">
            <a:extLst>
              <a:ext uri="{FF2B5EF4-FFF2-40B4-BE49-F238E27FC236}">
                <a16:creationId xmlns:a16="http://schemas.microsoft.com/office/drawing/2014/main" id="{C96DB5E5-4C0D-2C0B-55E0-845A65224E6C}"/>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10" name="Picture 9">
            <a:extLst>
              <a:ext uri="{FF2B5EF4-FFF2-40B4-BE49-F238E27FC236}">
                <a16:creationId xmlns:a16="http://schemas.microsoft.com/office/drawing/2014/main" id="{C5329FC3-5BCE-51D4-2E18-FC397952D800}"/>
              </a:ext>
            </a:extLst>
          </p:cNvPr>
          <p:cNvPicPr>
            <a:picLocks noChangeAspect="1"/>
          </p:cNvPicPr>
          <p:nvPr/>
        </p:nvPicPr>
        <p:blipFill>
          <a:blip r:embed="rId3"/>
          <a:stretch>
            <a:fillRect/>
          </a:stretch>
        </p:blipFill>
        <p:spPr>
          <a:xfrm>
            <a:off x="7109400" y="1798782"/>
            <a:ext cx="4038600" cy="342900"/>
          </a:xfrm>
          <a:prstGeom prst="rect">
            <a:avLst/>
          </a:prstGeom>
        </p:spPr>
      </p:pic>
      <p:pic>
        <p:nvPicPr>
          <p:cNvPr id="8" name="Picture 7">
            <a:extLst>
              <a:ext uri="{FF2B5EF4-FFF2-40B4-BE49-F238E27FC236}">
                <a16:creationId xmlns:a16="http://schemas.microsoft.com/office/drawing/2014/main" id="{3AB0D732-84E5-0494-E911-9FBFF1308229}"/>
              </a:ext>
            </a:extLst>
          </p:cNvPr>
          <p:cNvPicPr>
            <a:picLocks noChangeAspect="1"/>
          </p:cNvPicPr>
          <p:nvPr/>
        </p:nvPicPr>
        <p:blipFill>
          <a:blip r:embed="rId4"/>
          <a:stretch>
            <a:fillRect/>
          </a:stretch>
        </p:blipFill>
        <p:spPr>
          <a:xfrm>
            <a:off x="6841630" y="2626914"/>
            <a:ext cx="4584700" cy="965200"/>
          </a:xfrm>
          <a:prstGeom prst="rect">
            <a:avLst/>
          </a:prstGeom>
        </p:spPr>
      </p:pic>
      <p:pic>
        <p:nvPicPr>
          <p:cNvPr id="9" name="Picture 8">
            <a:extLst>
              <a:ext uri="{FF2B5EF4-FFF2-40B4-BE49-F238E27FC236}">
                <a16:creationId xmlns:a16="http://schemas.microsoft.com/office/drawing/2014/main" id="{0B58FCAB-A726-D7C3-14DB-F4AB69B6CDD8}"/>
              </a:ext>
            </a:extLst>
          </p:cNvPr>
          <p:cNvPicPr>
            <a:picLocks noChangeAspect="1"/>
          </p:cNvPicPr>
          <p:nvPr/>
        </p:nvPicPr>
        <p:blipFill>
          <a:blip r:embed="rId5"/>
          <a:stretch>
            <a:fillRect/>
          </a:stretch>
        </p:blipFill>
        <p:spPr>
          <a:xfrm>
            <a:off x="6841630" y="4602001"/>
            <a:ext cx="4241800" cy="965200"/>
          </a:xfrm>
          <a:prstGeom prst="rect">
            <a:avLst/>
          </a:prstGeom>
        </p:spPr>
      </p:pic>
      <p:cxnSp>
        <p:nvCxnSpPr>
          <p:cNvPr id="14" name="Straight Arrow Connector 13">
            <a:extLst>
              <a:ext uri="{FF2B5EF4-FFF2-40B4-BE49-F238E27FC236}">
                <a16:creationId xmlns:a16="http://schemas.microsoft.com/office/drawing/2014/main" id="{6254521C-0A4B-03D6-B6E0-6AE907ED3145}"/>
              </a:ext>
            </a:extLst>
          </p:cNvPr>
          <p:cNvCxnSpPr>
            <a:cxnSpLocks/>
          </p:cNvCxnSpPr>
          <p:nvPr/>
        </p:nvCxnSpPr>
        <p:spPr>
          <a:xfrm flipH="1">
            <a:off x="9128700" y="3689560"/>
            <a:ext cx="5280" cy="8149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303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CFED-C34A-CCD8-E524-5C0065F3D32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0D6E3E-DF9D-429E-7AE5-CDBC1850E970}"/>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3A17E854-1168-5D7A-87AD-6B092F77A8BB}"/>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pic>
        <p:nvPicPr>
          <p:cNvPr id="10" name="Picture 9">
            <a:extLst>
              <a:ext uri="{FF2B5EF4-FFF2-40B4-BE49-F238E27FC236}">
                <a16:creationId xmlns:a16="http://schemas.microsoft.com/office/drawing/2014/main" id="{460363C2-7980-5EC2-2F7D-E0978DFBFD1A}"/>
              </a:ext>
            </a:extLst>
          </p:cNvPr>
          <p:cNvPicPr>
            <a:picLocks noChangeAspect="1"/>
          </p:cNvPicPr>
          <p:nvPr/>
        </p:nvPicPr>
        <p:blipFill>
          <a:blip r:embed="rId2"/>
          <a:stretch>
            <a:fillRect/>
          </a:stretch>
        </p:blipFill>
        <p:spPr>
          <a:xfrm>
            <a:off x="7109400" y="1798782"/>
            <a:ext cx="4038600" cy="342900"/>
          </a:xfrm>
          <a:prstGeom prst="rect">
            <a:avLst/>
          </a:prstGeom>
        </p:spPr>
      </p:pic>
      <p:pic>
        <p:nvPicPr>
          <p:cNvPr id="8" name="Picture 7">
            <a:extLst>
              <a:ext uri="{FF2B5EF4-FFF2-40B4-BE49-F238E27FC236}">
                <a16:creationId xmlns:a16="http://schemas.microsoft.com/office/drawing/2014/main" id="{A698A3F5-E649-0D27-1233-3D64DEE5F25E}"/>
              </a:ext>
            </a:extLst>
          </p:cNvPr>
          <p:cNvPicPr>
            <a:picLocks noChangeAspect="1"/>
          </p:cNvPicPr>
          <p:nvPr/>
        </p:nvPicPr>
        <p:blipFill>
          <a:blip r:embed="rId3"/>
          <a:stretch>
            <a:fillRect/>
          </a:stretch>
        </p:blipFill>
        <p:spPr>
          <a:xfrm>
            <a:off x="6841630" y="2626914"/>
            <a:ext cx="4584700" cy="965200"/>
          </a:xfrm>
          <a:prstGeom prst="rect">
            <a:avLst/>
          </a:prstGeom>
        </p:spPr>
      </p:pic>
      <p:pic>
        <p:nvPicPr>
          <p:cNvPr id="9" name="Picture 8">
            <a:extLst>
              <a:ext uri="{FF2B5EF4-FFF2-40B4-BE49-F238E27FC236}">
                <a16:creationId xmlns:a16="http://schemas.microsoft.com/office/drawing/2014/main" id="{F4031B14-373B-3D8E-039D-1642AAC6C22C}"/>
              </a:ext>
            </a:extLst>
          </p:cNvPr>
          <p:cNvPicPr>
            <a:picLocks noChangeAspect="1"/>
          </p:cNvPicPr>
          <p:nvPr/>
        </p:nvPicPr>
        <p:blipFill>
          <a:blip r:embed="rId4"/>
          <a:stretch>
            <a:fillRect/>
          </a:stretch>
        </p:blipFill>
        <p:spPr>
          <a:xfrm>
            <a:off x="6841630" y="4602001"/>
            <a:ext cx="4241800" cy="965200"/>
          </a:xfrm>
          <a:prstGeom prst="rect">
            <a:avLst/>
          </a:prstGeom>
        </p:spPr>
      </p:pic>
      <p:cxnSp>
        <p:nvCxnSpPr>
          <p:cNvPr id="14" name="Straight Arrow Connector 13">
            <a:extLst>
              <a:ext uri="{FF2B5EF4-FFF2-40B4-BE49-F238E27FC236}">
                <a16:creationId xmlns:a16="http://schemas.microsoft.com/office/drawing/2014/main" id="{4C4EF60E-9EB0-FDCE-A1A1-02A2F8AA1F48}"/>
              </a:ext>
            </a:extLst>
          </p:cNvPr>
          <p:cNvCxnSpPr>
            <a:cxnSpLocks/>
          </p:cNvCxnSpPr>
          <p:nvPr/>
        </p:nvCxnSpPr>
        <p:spPr>
          <a:xfrm flipH="1">
            <a:off x="9128700" y="3689560"/>
            <a:ext cx="5280" cy="8149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graph of a function&#10;&#10;AI-generated content may be incorrect.">
            <a:extLst>
              <a:ext uri="{FF2B5EF4-FFF2-40B4-BE49-F238E27FC236}">
                <a16:creationId xmlns:a16="http://schemas.microsoft.com/office/drawing/2014/main" id="{29BC3258-9998-0846-C3C2-C2986502A030}"/>
              </a:ext>
            </a:extLst>
          </p:cNvPr>
          <p:cNvPicPr>
            <a:picLocks noChangeAspect="1"/>
          </p:cNvPicPr>
          <p:nvPr/>
        </p:nvPicPr>
        <p:blipFill>
          <a:blip r:embed="rId5"/>
          <a:stretch>
            <a:fillRect/>
          </a:stretch>
        </p:blipFill>
        <p:spPr>
          <a:xfrm>
            <a:off x="540001" y="1229003"/>
            <a:ext cx="6301629" cy="4726222"/>
          </a:xfrm>
          <a:prstGeom prst="rect">
            <a:avLst/>
          </a:prstGeom>
        </p:spPr>
      </p:pic>
      <p:sp>
        <p:nvSpPr>
          <p:cNvPr id="11" name="TextBox 10">
            <a:extLst>
              <a:ext uri="{FF2B5EF4-FFF2-40B4-BE49-F238E27FC236}">
                <a16:creationId xmlns:a16="http://schemas.microsoft.com/office/drawing/2014/main" id="{1C0EFCE1-5CA9-4629-3E67-EA337DFD7122}"/>
              </a:ext>
            </a:extLst>
          </p:cNvPr>
          <p:cNvSpPr txBox="1"/>
          <p:nvPr/>
        </p:nvSpPr>
        <p:spPr>
          <a:xfrm>
            <a:off x="1641215" y="6006115"/>
            <a:ext cx="4099199" cy="369332"/>
          </a:xfrm>
          <a:prstGeom prst="rect">
            <a:avLst/>
          </a:prstGeom>
          <a:noFill/>
        </p:spPr>
        <p:txBody>
          <a:bodyPr wrap="none" rtlCol="0">
            <a:spAutoFit/>
          </a:bodyPr>
          <a:lstStyle/>
          <a:p>
            <a:r>
              <a:rPr lang="en-GB" dirty="0">
                <a:latin typeface="Roboto Light" panose="02000000000000000000" pitchFamily="2" charset="0"/>
                <a:ea typeface="Roboto Light" panose="02000000000000000000" pitchFamily="2" charset="0"/>
              </a:rPr>
              <a:t>R</a:t>
            </a:r>
            <a:r>
              <a:rPr lang="en-FR" dirty="0">
                <a:latin typeface="Roboto Light" panose="02000000000000000000" pitchFamily="2" charset="0"/>
                <a:ea typeface="Roboto Light" panose="02000000000000000000" pitchFamily="2" charset="0"/>
              </a:rPr>
              <a:t>ef: </a:t>
            </a:r>
            <a:r>
              <a:rPr lang="en-GB" dirty="0">
                <a:latin typeface="Roboto Light" panose="02000000000000000000" pitchFamily="2" charset="0"/>
                <a:ea typeface="Roboto Light" panose="02000000000000000000" pitchFamily="2" charset="0"/>
                <a:hlinkClick r:id="rId6"/>
              </a:rPr>
              <a:t>https://medium.com/data-science</a:t>
            </a:r>
            <a:endParaRPr lang="en-GB" dirty="0">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006DAE13-85E6-932A-AE17-0E0E725486C4}"/>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spTree>
    <p:extLst>
      <p:ext uri="{BB962C8B-B14F-4D97-AF65-F5344CB8AC3E}">
        <p14:creationId xmlns:p14="http://schemas.microsoft.com/office/powerpoint/2010/main" val="12682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A4F4-6946-C6F0-9A91-59C4975BE3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46EB166-5BA2-5F47-BA1D-767BA7BF245D}"/>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694A92B3-3B73-4479-04F0-8DF89246A87B}"/>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sp>
        <p:nvSpPr>
          <p:cNvPr id="5" name="TextBox 4">
            <a:extLst>
              <a:ext uri="{FF2B5EF4-FFF2-40B4-BE49-F238E27FC236}">
                <a16:creationId xmlns:a16="http://schemas.microsoft.com/office/drawing/2014/main" id="{AFCC693B-CF7F-B14D-9A20-8369311CE6EA}"/>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Consider now a simple regression with one predictor X and one observed variable Y</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10" name="Picture 9">
            <a:extLst>
              <a:ext uri="{FF2B5EF4-FFF2-40B4-BE49-F238E27FC236}">
                <a16:creationId xmlns:a16="http://schemas.microsoft.com/office/drawing/2014/main" id="{18FEBD23-C8EC-89B5-CBAC-2D530A6807A7}"/>
              </a:ext>
            </a:extLst>
          </p:cNvPr>
          <p:cNvPicPr>
            <a:picLocks noChangeAspect="1"/>
          </p:cNvPicPr>
          <p:nvPr/>
        </p:nvPicPr>
        <p:blipFill>
          <a:blip r:embed="rId2"/>
          <a:stretch>
            <a:fillRect/>
          </a:stretch>
        </p:blipFill>
        <p:spPr>
          <a:xfrm>
            <a:off x="318672" y="1796260"/>
            <a:ext cx="4038600" cy="342900"/>
          </a:xfrm>
          <a:prstGeom prst="rect">
            <a:avLst/>
          </a:prstGeom>
        </p:spPr>
      </p:pic>
      <p:pic>
        <p:nvPicPr>
          <p:cNvPr id="8" name="Picture 7">
            <a:extLst>
              <a:ext uri="{FF2B5EF4-FFF2-40B4-BE49-F238E27FC236}">
                <a16:creationId xmlns:a16="http://schemas.microsoft.com/office/drawing/2014/main" id="{0D2813CB-942A-5A01-98AC-E2BB5DB6FD23}"/>
              </a:ext>
            </a:extLst>
          </p:cNvPr>
          <p:cNvPicPr>
            <a:picLocks noChangeAspect="1"/>
          </p:cNvPicPr>
          <p:nvPr/>
        </p:nvPicPr>
        <p:blipFill>
          <a:blip r:embed="rId3"/>
          <a:stretch>
            <a:fillRect/>
          </a:stretch>
        </p:blipFill>
        <p:spPr>
          <a:xfrm>
            <a:off x="288692" y="2626914"/>
            <a:ext cx="4584700" cy="965200"/>
          </a:xfrm>
          <a:prstGeom prst="rect">
            <a:avLst/>
          </a:prstGeom>
        </p:spPr>
      </p:pic>
      <p:pic>
        <p:nvPicPr>
          <p:cNvPr id="9" name="Picture 8">
            <a:extLst>
              <a:ext uri="{FF2B5EF4-FFF2-40B4-BE49-F238E27FC236}">
                <a16:creationId xmlns:a16="http://schemas.microsoft.com/office/drawing/2014/main" id="{1AC8D079-C05C-87B0-BCA2-AAC43DBF84CA}"/>
              </a:ext>
            </a:extLst>
          </p:cNvPr>
          <p:cNvPicPr>
            <a:picLocks noChangeAspect="1"/>
          </p:cNvPicPr>
          <p:nvPr/>
        </p:nvPicPr>
        <p:blipFill>
          <a:blip r:embed="rId4"/>
          <a:stretch>
            <a:fillRect/>
          </a:stretch>
        </p:blipFill>
        <p:spPr>
          <a:xfrm>
            <a:off x="288692" y="4232282"/>
            <a:ext cx="4241800" cy="965200"/>
          </a:xfrm>
          <a:prstGeom prst="rect">
            <a:avLst/>
          </a:prstGeom>
        </p:spPr>
      </p:pic>
      <p:pic>
        <p:nvPicPr>
          <p:cNvPr id="13" name="Picture 12" descr="A black text with black letters&#10;&#10;AI-generated content may be incorrect.">
            <a:extLst>
              <a:ext uri="{FF2B5EF4-FFF2-40B4-BE49-F238E27FC236}">
                <a16:creationId xmlns:a16="http://schemas.microsoft.com/office/drawing/2014/main" id="{70AD47D8-79E0-4F3B-0844-D5BCA72CABDD}"/>
              </a:ext>
            </a:extLst>
          </p:cNvPr>
          <p:cNvPicPr>
            <a:picLocks noChangeAspect="1"/>
          </p:cNvPicPr>
          <p:nvPr/>
        </p:nvPicPr>
        <p:blipFill>
          <a:blip r:embed="rId5"/>
          <a:stretch>
            <a:fillRect/>
          </a:stretch>
        </p:blipFill>
        <p:spPr>
          <a:xfrm>
            <a:off x="5043055" y="2626914"/>
            <a:ext cx="4161370" cy="1182339"/>
          </a:xfrm>
          <a:prstGeom prst="rect">
            <a:avLst/>
          </a:prstGeom>
        </p:spPr>
      </p:pic>
      <p:pic>
        <p:nvPicPr>
          <p:cNvPr id="16" name="Picture 15" descr="A close-up of words&#10;&#10;AI-generated content may be incorrect.">
            <a:extLst>
              <a:ext uri="{FF2B5EF4-FFF2-40B4-BE49-F238E27FC236}">
                <a16:creationId xmlns:a16="http://schemas.microsoft.com/office/drawing/2014/main" id="{88CB123C-FBC5-68E6-C1C9-1836E4A94640}"/>
              </a:ext>
            </a:extLst>
          </p:cNvPr>
          <p:cNvPicPr>
            <a:picLocks noChangeAspect="1"/>
          </p:cNvPicPr>
          <p:nvPr/>
        </p:nvPicPr>
        <p:blipFill>
          <a:blip r:embed="rId6"/>
          <a:stretch>
            <a:fillRect/>
          </a:stretch>
        </p:blipFill>
        <p:spPr>
          <a:xfrm>
            <a:off x="5010639" y="4077346"/>
            <a:ext cx="7047668" cy="1275072"/>
          </a:xfrm>
          <a:prstGeom prst="rect">
            <a:avLst/>
          </a:prstGeom>
        </p:spPr>
      </p:pic>
      <p:cxnSp>
        <p:nvCxnSpPr>
          <p:cNvPr id="7" name="Straight Connector 6">
            <a:extLst>
              <a:ext uri="{FF2B5EF4-FFF2-40B4-BE49-F238E27FC236}">
                <a16:creationId xmlns:a16="http://schemas.microsoft.com/office/drawing/2014/main" id="{9DCA9B8D-9F03-EDE5-0702-7826580E3C66}"/>
              </a:ext>
            </a:extLst>
          </p:cNvPr>
          <p:cNvCxnSpPr/>
          <p:nvPr/>
        </p:nvCxnSpPr>
        <p:spPr>
          <a:xfrm>
            <a:off x="5043055" y="5352418"/>
            <a:ext cx="6908912" cy="0"/>
          </a:xfrm>
          <a:prstGeom prst="line">
            <a:avLst/>
          </a:prstGeom>
          <a:ln w="50800">
            <a:solidFill>
              <a:srgbClr val="FA2743"/>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86E3C1-EB21-2C50-E665-7A9C235E5082}"/>
              </a:ext>
            </a:extLst>
          </p:cNvPr>
          <p:cNvSpPr txBox="1"/>
          <p:nvPr/>
        </p:nvSpPr>
        <p:spPr>
          <a:xfrm>
            <a:off x="6874098" y="5545561"/>
            <a:ext cx="3560590" cy="369332"/>
          </a:xfrm>
          <a:prstGeom prst="rect">
            <a:avLst/>
          </a:prstGeom>
          <a:noFill/>
        </p:spPr>
        <p:txBody>
          <a:bodyPr wrap="none" rtlCol="0">
            <a:spAutoFit/>
          </a:bodyPr>
          <a:lstStyle/>
          <a:p>
            <a:r>
              <a:rPr lang="en-FR" dirty="0">
                <a:solidFill>
                  <a:srgbClr val="FF0000"/>
                </a:solidFill>
                <a:latin typeface="Roboto Light" panose="02000000000000000000" pitchFamily="2" charset="0"/>
                <a:ea typeface="Roboto Light" panose="02000000000000000000" pitchFamily="2" charset="0"/>
              </a:rPr>
              <a:t>Why take the QuantileRegressor ?</a:t>
            </a:r>
          </a:p>
        </p:txBody>
      </p:sp>
    </p:spTree>
    <p:extLst>
      <p:ext uri="{BB962C8B-B14F-4D97-AF65-F5344CB8AC3E}">
        <p14:creationId xmlns:p14="http://schemas.microsoft.com/office/powerpoint/2010/main" val="1521180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9280C-80A9-9092-F0E5-3FDFBC3554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3BA86D0-2CC7-DD63-962A-E53AC78FB118}"/>
              </a:ext>
            </a:extLst>
          </p:cNvPr>
          <p:cNvSpPr/>
          <p:nvPr/>
        </p:nvSpPr>
        <p:spPr>
          <a:xfrm>
            <a:off x="0" y="0"/>
            <a:ext cx="12192000" cy="622738"/>
          </a:xfrm>
          <a:prstGeom prst="rect">
            <a:avLst/>
          </a:prstGeom>
          <a:solidFill>
            <a:srgbClr val="E8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4" name="TextBox 3">
            <a:extLst>
              <a:ext uri="{FF2B5EF4-FFF2-40B4-BE49-F238E27FC236}">
                <a16:creationId xmlns:a16="http://schemas.microsoft.com/office/drawing/2014/main" id="{CA03F042-D5A6-4BF9-359F-5113EA0B30FC}"/>
              </a:ext>
            </a:extLst>
          </p:cNvPr>
          <p:cNvSpPr txBox="1"/>
          <p:nvPr/>
        </p:nvSpPr>
        <p:spPr>
          <a:xfrm>
            <a:off x="240033" y="-89174"/>
            <a:ext cx="8414360" cy="666849"/>
          </a:xfrm>
          <a:prstGeom prst="rect">
            <a:avLst/>
          </a:prstGeom>
          <a:noFill/>
        </p:spPr>
        <p:txBody>
          <a:bodyPr wrap="square" rtlCol="0">
            <a:spAutoFit/>
          </a:bodyPr>
          <a:lstStyle/>
          <a:p>
            <a:pPr>
              <a:lnSpc>
                <a:spcPct val="150000"/>
              </a:lnSpc>
            </a:pPr>
            <a:r>
              <a:rPr lang="en-GB" sz="2800" b="1" dirty="0">
                <a:solidFill>
                  <a:srgbClr val="5E5E5E"/>
                </a:solidFill>
                <a:latin typeface="Roboto Black" panose="02000000000000000000" pitchFamily="2" charset="0"/>
                <a:ea typeface="Roboto Black" panose="02000000000000000000" pitchFamily="2" charset="0"/>
                <a:cs typeface="Lato" panose="020F0502020204030203" pitchFamily="34" charset="0"/>
              </a:rPr>
              <a:t>Performance metrics -- Regression</a:t>
            </a:r>
          </a:p>
        </p:txBody>
      </p:sp>
      <p:sp>
        <p:nvSpPr>
          <p:cNvPr id="5" name="TextBox 4">
            <a:extLst>
              <a:ext uri="{FF2B5EF4-FFF2-40B4-BE49-F238E27FC236}">
                <a16:creationId xmlns:a16="http://schemas.microsoft.com/office/drawing/2014/main" id="{9E268381-D96A-9559-7A14-3CBE8C7E1803}"/>
              </a:ext>
            </a:extLst>
          </p:cNvPr>
          <p:cNvSpPr txBox="1"/>
          <p:nvPr/>
        </p:nvSpPr>
        <p:spPr>
          <a:xfrm>
            <a:off x="240033" y="851885"/>
            <a:ext cx="11408628" cy="461665"/>
          </a:xfrm>
          <a:prstGeom prst="rect">
            <a:avLst/>
          </a:prstGeom>
          <a:noFill/>
        </p:spPr>
        <p:txBody>
          <a:bodyPr wrap="square">
            <a:spAutoFit/>
          </a:bodyPr>
          <a:lstStyle/>
          <a:p>
            <a:r>
              <a:rPr lang="en-GB" sz="2400" dirty="0">
                <a:solidFill>
                  <a:srgbClr val="5E5E5E"/>
                </a:solidFill>
                <a:effectLst/>
                <a:latin typeface="Roboto Light" panose="02000000000000000000" pitchFamily="2" charset="0"/>
                <a:ea typeface="Roboto Light" panose="02000000000000000000" pitchFamily="2" charset="0"/>
                <a:cs typeface="Lato" panose="020F0502020204030203" pitchFamily="34" charset="0"/>
              </a:rPr>
              <a:t>There are many other metrics for regression, such as</a:t>
            </a:r>
            <a:endParaRPr lang="en-GB" sz="2400" dirty="0">
              <a:solidFill>
                <a:srgbClr val="FF0000"/>
              </a:solidFill>
              <a:effectLst/>
              <a:latin typeface="Roboto Light" panose="02000000000000000000" pitchFamily="2" charset="0"/>
              <a:ea typeface="Roboto Light" panose="02000000000000000000" pitchFamily="2" charset="0"/>
              <a:cs typeface="Lato" panose="020F0502020204030203" pitchFamily="34" charset="0"/>
            </a:endParaRPr>
          </a:p>
        </p:txBody>
      </p:sp>
      <p:pic>
        <p:nvPicPr>
          <p:cNvPr id="8" name="Picture 7">
            <a:extLst>
              <a:ext uri="{FF2B5EF4-FFF2-40B4-BE49-F238E27FC236}">
                <a16:creationId xmlns:a16="http://schemas.microsoft.com/office/drawing/2014/main" id="{DA0F155A-CBB4-D64F-9C7E-8C75292E5F16}"/>
              </a:ext>
            </a:extLst>
          </p:cNvPr>
          <p:cNvPicPr>
            <a:picLocks noChangeAspect="1"/>
          </p:cNvPicPr>
          <p:nvPr/>
        </p:nvPicPr>
        <p:blipFill>
          <a:blip r:embed="rId2"/>
          <a:stretch>
            <a:fillRect/>
          </a:stretch>
        </p:blipFill>
        <p:spPr>
          <a:xfrm>
            <a:off x="288692" y="1542697"/>
            <a:ext cx="4584700" cy="965200"/>
          </a:xfrm>
          <a:prstGeom prst="rect">
            <a:avLst/>
          </a:prstGeom>
        </p:spPr>
      </p:pic>
      <p:pic>
        <p:nvPicPr>
          <p:cNvPr id="9" name="Picture 8">
            <a:extLst>
              <a:ext uri="{FF2B5EF4-FFF2-40B4-BE49-F238E27FC236}">
                <a16:creationId xmlns:a16="http://schemas.microsoft.com/office/drawing/2014/main" id="{C1842F64-C7A6-448D-DC7A-8588331E8D55}"/>
              </a:ext>
            </a:extLst>
          </p:cNvPr>
          <p:cNvPicPr>
            <a:picLocks noChangeAspect="1"/>
          </p:cNvPicPr>
          <p:nvPr/>
        </p:nvPicPr>
        <p:blipFill>
          <a:blip r:embed="rId3"/>
          <a:stretch>
            <a:fillRect/>
          </a:stretch>
        </p:blipFill>
        <p:spPr>
          <a:xfrm>
            <a:off x="288692" y="2975008"/>
            <a:ext cx="4241800" cy="965200"/>
          </a:xfrm>
          <a:prstGeom prst="rect">
            <a:avLst/>
          </a:prstGeom>
        </p:spPr>
      </p:pic>
      <p:pic>
        <p:nvPicPr>
          <p:cNvPr id="3" name="Picture 2">
            <a:extLst>
              <a:ext uri="{FF2B5EF4-FFF2-40B4-BE49-F238E27FC236}">
                <a16:creationId xmlns:a16="http://schemas.microsoft.com/office/drawing/2014/main" id="{B348C71D-4D53-B936-636F-1947487E74AE}"/>
              </a:ext>
            </a:extLst>
          </p:cNvPr>
          <p:cNvPicPr>
            <a:picLocks noChangeAspect="1"/>
          </p:cNvPicPr>
          <p:nvPr/>
        </p:nvPicPr>
        <p:blipFill>
          <a:blip r:embed="rId4"/>
          <a:stretch>
            <a:fillRect/>
          </a:stretch>
        </p:blipFill>
        <p:spPr>
          <a:xfrm>
            <a:off x="5733393" y="2975008"/>
            <a:ext cx="5842000" cy="965200"/>
          </a:xfrm>
          <a:prstGeom prst="rect">
            <a:avLst/>
          </a:prstGeom>
        </p:spPr>
      </p:pic>
      <p:cxnSp>
        <p:nvCxnSpPr>
          <p:cNvPr id="11" name="Straight Arrow Connector 10">
            <a:extLst>
              <a:ext uri="{FF2B5EF4-FFF2-40B4-BE49-F238E27FC236}">
                <a16:creationId xmlns:a16="http://schemas.microsoft.com/office/drawing/2014/main" id="{DAEC8195-5232-2083-FBE2-3FCBAB08BDF8}"/>
              </a:ext>
            </a:extLst>
          </p:cNvPr>
          <p:cNvCxnSpPr/>
          <p:nvPr/>
        </p:nvCxnSpPr>
        <p:spPr>
          <a:xfrm>
            <a:off x="4873392" y="3457608"/>
            <a:ext cx="53805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658E77B-12E2-B0A6-9608-F7DC56E200E0}"/>
              </a:ext>
            </a:extLst>
          </p:cNvPr>
          <p:cNvSpPr txBox="1"/>
          <p:nvPr/>
        </p:nvSpPr>
        <p:spPr>
          <a:xfrm>
            <a:off x="5550154" y="4037987"/>
            <a:ext cx="4714752" cy="369332"/>
          </a:xfrm>
          <a:prstGeom prst="rect">
            <a:avLst/>
          </a:prstGeom>
          <a:noFill/>
        </p:spPr>
        <p:txBody>
          <a:bodyPr wrap="none" rtlCol="0">
            <a:spAutoFit/>
          </a:bodyPr>
          <a:lstStyle/>
          <a:p>
            <a:r>
              <a:rPr lang="en-FR" b="1" dirty="0">
                <a:solidFill>
                  <a:srgbClr val="0070C0"/>
                </a:solidFill>
                <a:latin typeface="Roboto Black" panose="02000000000000000000" pitchFamily="2" charset="0"/>
                <a:ea typeface="Roboto Black" panose="02000000000000000000" pitchFamily="2" charset="0"/>
              </a:rPr>
              <a:t>(ensure a scale-free property to the metric)</a:t>
            </a:r>
          </a:p>
        </p:txBody>
      </p:sp>
      <p:pic>
        <p:nvPicPr>
          <p:cNvPr id="15" name="Picture 14">
            <a:extLst>
              <a:ext uri="{FF2B5EF4-FFF2-40B4-BE49-F238E27FC236}">
                <a16:creationId xmlns:a16="http://schemas.microsoft.com/office/drawing/2014/main" id="{59552FF8-67AE-39CC-6CD3-321984343D66}"/>
              </a:ext>
            </a:extLst>
          </p:cNvPr>
          <p:cNvPicPr>
            <a:picLocks noChangeAspect="1"/>
          </p:cNvPicPr>
          <p:nvPr/>
        </p:nvPicPr>
        <p:blipFill>
          <a:blip r:embed="rId5"/>
          <a:stretch>
            <a:fillRect/>
          </a:stretch>
        </p:blipFill>
        <p:spPr>
          <a:xfrm>
            <a:off x="288692" y="4407319"/>
            <a:ext cx="7467600" cy="965200"/>
          </a:xfrm>
          <a:prstGeom prst="rect">
            <a:avLst/>
          </a:prstGeom>
        </p:spPr>
      </p:pic>
      <p:sp>
        <p:nvSpPr>
          <p:cNvPr id="17" name="TextBox 16">
            <a:extLst>
              <a:ext uri="{FF2B5EF4-FFF2-40B4-BE49-F238E27FC236}">
                <a16:creationId xmlns:a16="http://schemas.microsoft.com/office/drawing/2014/main" id="{83D3EE83-DDD6-5D2B-A3D1-D27204F61DE7}"/>
              </a:ext>
            </a:extLst>
          </p:cNvPr>
          <p:cNvSpPr txBox="1"/>
          <p:nvPr/>
        </p:nvSpPr>
        <p:spPr>
          <a:xfrm>
            <a:off x="197414" y="5470298"/>
            <a:ext cx="7770076" cy="369332"/>
          </a:xfrm>
          <a:prstGeom prst="rect">
            <a:avLst/>
          </a:prstGeom>
          <a:noFill/>
        </p:spPr>
        <p:txBody>
          <a:bodyPr wrap="none" rtlCol="0">
            <a:spAutoFit/>
          </a:bodyPr>
          <a:lstStyle/>
          <a:p>
            <a:r>
              <a:rPr lang="en-FR" b="1" dirty="0">
                <a:solidFill>
                  <a:srgbClr val="0070C0"/>
                </a:solidFill>
                <a:latin typeface="Roboto Black" panose="02000000000000000000" pitchFamily="2" charset="0"/>
                <a:ea typeface="Roboto Black" panose="02000000000000000000" pitchFamily="2" charset="0"/>
              </a:rPr>
              <a:t>(this metric penalizes an under-prediction </a:t>
            </a:r>
            <a:r>
              <a:rPr lang="en-FR" b="1" u="sng" dirty="0">
                <a:solidFill>
                  <a:srgbClr val="0070C0"/>
                </a:solidFill>
                <a:latin typeface="Roboto Black" panose="02000000000000000000" pitchFamily="2" charset="0"/>
                <a:ea typeface="Roboto Black" panose="02000000000000000000" pitchFamily="2" charset="0"/>
              </a:rPr>
              <a:t>more</a:t>
            </a:r>
            <a:r>
              <a:rPr lang="en-FR" b="1" dirty="0">
                <a:solidFill>
                  <a:srgbClr val="0070C0"/>
                </a:solidFill>
                <a:latin typeface="Roboto Black" panose="02000000000000000000" pitchFamily="2" charset="0"/>
                <a:ea typeface="Roboto Black" panose="02000000000000000000" pitchFamily="2" charset="0"/>
              </a:rPr>
              <a:t> than an over-prediction)</a:t>
            </a:r>
          </a:p>
        </p:txBody>
      </p:sp>
    </p:spTree>
    <p:extLst>
      <p:ext uri="{BB962C8B-B14F-4D97-AF65-F5344CB8AC3E}">
        <p14:creationId xmlns:p14="http://schemas.microsoft.com/office/powerpoint/2010/main" val="1314574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49611</TotalTime>
  <Words>1537</Words>
  <Application>Microsoft Macintosh PowerPoint</Application>
  <PresentationFormat>Widescreen</PresentationFormat>
  <Paragraphs>219</Paragraphs>
  <Slides>27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Courier New</vt:lpstr>
      <vt:lpstr>Helvetica Neue</vt:lpstr>
      <vt:lpstr>Lato</vt:lpstr>
      <vt:lpstr>Roboto Black</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Pedro Rodrigues</dc:creator>
  <cp:lastModifiedBy>Pedro Rodrigues</cp:lastModifiedBy>
  <cp:revision>1655</cp:revision>
  <dcterms:created xsi:type="dcterms:W3CDTF">2022-01-14T10:39:20Z</dcterms:created>
  <dcterms:modified xsi:type="dcterms:W3CDTF">2026-04-12T20:19:54Z</dcterms:modified>
</cp:coreProperties>
</file>