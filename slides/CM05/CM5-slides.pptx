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382" r:id="rId2"/>
    <p:sldId id="425" r:id="rId3"/>
    <p:sldId id="475" r:id="rId4"/>
    <p:sldId id="427" r:id="rId5"/>
    <p:sldId id="529" r:id="rId6"/>
    <p:sldId id="519" r:id="rId7"/>
    <p:sldId id="531" r:id="rId8"/>
    <p:sldId id="516" r:id="rId9"/>
    <p:sldId id="517" r:id="rId10"/>
    <p:sldId id="532" r:id="rId11"/>
    <p:sldId id="505" r:id="rId12"/>
    <p:sldId id="542" r:id="rId13"/>
    <p:sldId id="508" r:id="rId14"/>
    <p:sldId id="481" r:id="rId15"/>
    <p:sldId id="530" r:id="rId16"/>
    <p:sldId id="485" r:id="rId17"/>
    <p:sldId id="509" r:id="rId18"/>
    <p:sldId id="534" r:id="rId19"/>
    <p:sldId id="533" r:id="rId20"/>
    <p:sldId id="487" r:id="rId21"/>
    <p:sldId id="512" r:id="rId22"/>
    <p:sldId id="490" r:id="rId23"/>
    <p:sldId id="491" r:id="rId24"/>
    <p:sldId id="492" r:id="rId25"/>
    <p:sldId id="493" r:id="rId26"/>
    <p:sldId id="536" r:id="rId27"/>
    <p:sldId id="514" r:id="rId28"/>
    <p:sldId id="496" r:id="rId29"/>
    <p:sldId id="497" r:id="rId30"/>
    <p:sldId id="537" r:id="rId31"/>
    <p:sldId id="500" r:id="rId32"/>
    <p:sldId id="535" r:id="rId33"/>
    <p:sldId id="538" r:id="rId34"/>
    <p:sldId id="479" r:id="rId35"/>
    <p:sldId id="539" r:id="rId36"/>
    <p:sldId id="540" r:id="rId37"/>
    <p:sldId id="541" r:id="rId38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2743"/>
    <a:srgbClr val="5E5E5E"/>
    <a:srgbClr val="0000FF"/>
    <a:srgbClr val="E8EBE4"/>
    <a:srgbClr val="FF7F0F"/>
    <a:srgbClr val="1E77B4"/>
    <a:srgbClr val="F5AE00"/>
    <a:srgbClr val="9B5222"/>
    <a:srgbClr val="FF871B"/>
    <a:srgbClr val="BBD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74"/>
    <p:restoredTop sz="94910"/>
  </p:normalViewPr>
  <p:slideViewPr>
    <p:cSldViewPr snapToGrid="0" snapToObjects="1">
      <p:cViewPr varScale="1">
        <p:scale>
          <a:sx n="95" d="100"/>
          <a:sy n="95" d="100"/>
        </p:scale>
        <p:origin x="171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FE6C1-AB26-3F44-9C87-C500B9817AF1}" type="datetimeFigureOut">
              <a:rPr lang="en-FR" smtClean="0"/>
              <a:t>09/03/2026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39096-BE51-9C45-B82B-FA0E89D4584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537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9930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19753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26513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33277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82629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52319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14935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44D9-D4DD-998A-002E-504E41239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8F99D-E8AA-EF0B-DC47-AB7898D86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88222-4210-4DD0-102B-8F48F604D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AFD32-3EF7-A6CE-952A-77BD7D3B2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64204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22765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84251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89262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18974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612941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37847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17A33-0AA0-F105-4D0B-8CEACFF38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4C855-481F-AAF2-2872-BBA3F7BDD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A387D-C23A-4E51-9906-8936ECE5B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64763-6E68-16B8-B2E5-7C143A079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2510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EC9B-787C-824C-894C-857B659FB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034B8-C425-C946-83B5-386EB7480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8366-FA73-7C40-9D66-F01278D9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09/03/2026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613DA-3627-824F-B630-E2948873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35195-A057-A740-ABFD-A4428E7E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1446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7FAB-44BF-AB48-8D73-DA1AEA67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A5C9-E435-904F-9A50-ED9242E28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2556-21DE-C043-BE7B-9E2A5497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09/03/2026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DE1C2-7A56-054D-A23E-DD2241BE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48906-A5FE-FF4D-A27E-550C5990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2565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4E8A-2B0D-EB42-A978-1FE768A3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DEB75-EBFD-8E42-82F0-A331F604D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81795-369A-C94E-9F66-0A208AF1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09/03/2026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FBA02-0FCB-EA44-B7B5-96861116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F71C-9EF7-0C4B-BDDD-FB6BA964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1860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8381-A6CF-6F47-A7A3-14C7831D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1EC3-D19C-DC4D-A5B9-9460AD4AA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A3376-5078-194F-9992-6B02E62E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51E5D-D454-0943-B25A-DA182891A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09/03/2026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67DE1-3EE7-D943-B7FD-A51C83BA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BA756-9D8E-C845-B692-3873FF00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0877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190A-2F02-BD4E-9E22-FE2A2CC9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7E7DD-D354-C048-8942-567BCCBE7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92036-8FA2-734D-A0A4-540FA63FA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EAE85-DEC4-6042-A589-63117EF75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B7604-EC7A-9F4B-8B40-82D381275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45EAB-187C-284A-B3CB-5EC78439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09/03/2026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DA07A-26C9-CA4B-8592-EA2C357C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9D14B-3E77-C64E-BBF4-00C096EE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2615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EED17-FBEF-0040-96E6-994DBD52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2881A-CF7D-8C45-9008-E61A46B5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09/03/2026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5F0EE-BDC6-3E43-BEAC-A339A972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E1059-D3D9-064E-BFD5-C588BE34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575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CF8FB-7AEB-7147-A83A-4DF08A93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09/03/2026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F6FAA-2A77-D645-B7D9-87AF35941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85873-66FC-0E4A-A249-F6FA1658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1041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E7F8-26AB-8045-9C68-095EB3F35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37C8-7D1E-D745-A650-7BE338722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687F2-0361-5E48-9242-1481CECC5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96C55-C72A-6346-9F4D-E7EBB953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09/03/2026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2A30C-17EA-D843-AB84-DCC67550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58998-8FCD-4A48-8077-41D395F1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5873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4506-CC8C-3948-98A1-3618A657C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23419-833F-ED48-BCFF-352972904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7541E-9161-9845-900C-0B7F4D6B4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F6B3E-FD83-2742-B704-CAA2A3EB7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09/03/2026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2EB9A-F8B6-4F40-A237-D183B7FA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D7B30-1A12-B54A-9EC7-A21A9020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8946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F93D-B2C2-7048-94E6-5B0A3937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1939D-3520-5A4E-AC60-F1060FE9B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D6DC-E506-5049-B0CD-01E32D73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09/03/2026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9E02-B2EF-CC4E-A982-1A0F3130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DBA1F-361D-CF4C-A4FB-8D2BD097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1076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8988E-5C51-134D-8C79-867D44453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2FE0-5CF2-8544-A5E3-F37FBDD35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776C2-05A5-5A4B-9AA6-732FC73A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09/03/2026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24220-F883-2A4C-82CA-C524A70A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0F099-3857-6B40-AE2C-2127FDED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72570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95531-CC31-C242-807F-85E2E673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68A4-CCF7-2A40-831F-1C89AC50A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E3EE-7349-1747-80AE-DCDB34EFE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05F58-0AA8-724B-8DBF-E28AC2D343FC}" type="datetimeFigureOut">
              <a:rPr lang="en-FR" smtClean="0"/>
              <a:t>09/03/2026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ED396-5C82-A643-8632-51B3DE0CC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D28E0-1C6E-1140-BACB-EBB4D140C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8282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10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Relationship Id="rId9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7" Type="http://schemas.openxmlformats.org/officeDocument/2006/relationships/image" Target="../media/image28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10" Type="http://schemas.openxmlformats.org/officeDocument/2006/relationships/image" Target="../media/image23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image" Target="../media/image4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image" Target="../media/image48.emf"/><Relationship Id="rId7" Type="http://schemas.openxmlformats.org/officeDocument/2006/relationships/image" Target="../media/image5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7" Type="http://schemas.openxmlformats.org/officeDocument/2006/relationships/image" Target="../media/image5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emf"/><Relationship Id="rId5" Type="http://schemas.openxmlformats.org/officeDocument/2006/relationships/image" Target="../media/image56.emf"/><Relationship Id="rId4" Type="http://schemas.openxmlformats.org/officeDocument/2006/relationships/image" Target="../media/image5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emf"/><Relationship Id="rId4" Type="http://schemas.openxmlformats.org/officeDocument/2006/relationships/image" Target="../media/image55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image" Target="../media/image63.emf"/><Relationship Id="rId7" Type="http://schemas.openxmlformats.org/officeDocument/2006/relationships/image" Target="../media/image6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emf"/><Relationship Id="rId5" Type="http://schemas.openxmlformats.org/officeDocument/2006/relationships/image" Target="../media/image65.emf"/><Relationship Id="rId4" Type="http://schemas.openxmlformats.org/officeDocument/2006/relationships/image" Target="../media/image6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emf"/><Relationship Id="rId4" Type="http://schemas.openxmlformats.org/officeDocument/2006/relationships/image" Target="../media/image7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emf"/><Relationship Id="rId5" Type="http://schemas.openxmlformats.org/officeDocument/2006/relationships/image" Target="../media/image79.emf"/><Relationship Id="rId4" Type="http://schemas.openxmlformats.org/officeDocument/2006/relationships/image" Target="../media/image78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emf"/><Relationship Id="rId5" Type="http://schemas.openxmlformats.org/officeDocument/2006/relationships/image" Target="../media/image83.emf"/><Relationship Id="rId4" Type="http://schemas.openxmlformats.org/officeDocument/2006/relationships/image" Target="../media/image8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emf"/><Relationship Id="rId4" Type="http://schemas.openxmlformats.org/officeDocument/2006/relationships/image" Target="../media/image86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emf"/><Relationship Id="rId4" Type="http://schemas.openxmlformats.org/officeDocument/2006/relationships/image" Target="../media/image99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emf"/><Relationship Id="rId4" Type="http://schemas.openxmlformats.org/officeDocument/2006/relationships/image" Target="../media/image9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30E4DC-5BA1-4A88-3549-39BB252362F9}"/>
              </a:ext>
            </a:extLst>
          </p:cNvPr>
          <p:cNvSpPr/>
          <p:nvPr/>
        </p:nvSpPr>
        <p:spPr>
          <a:xfrm>
            <a:off x="0" y="5801193"/>
            <a:ext cx="12192000" cy="1056807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9F4F4-12FE-580B-E00C-CFCF2FCF9F40}"/>
              </a:ext>
            </a:extLst>
          </p:cNvPr>
          <p:cNvSpPr txBox="1"/>
          <p:nvPr/>
        </p:nvSpPr>
        <p:spPr>
          <a:xfrm>
            <a:off x="6742386" y="5960264"/>
            <a:ext cx="53190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Pedro L. C. Rodrigues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537CB7-C4BB-7CE0-0825-9715A7575578}"/>
              </a:ext>
            </a:extLst>
          </p:cNvPr>
          <p:cNvSpPr/>
          <p:nvPr/>
        </p:nvSpPr>
        <p:spPr>
          <a:xfrm>
            <a:off x="1006145" y="663992"/>
            <a:ext cx="10179710" cy="2511684"/>
          </a:xfrm>
          <a:prstGeom prst="round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C973D-E8B9-CA36-F0E5-BE9D3B33A408}"/>
              </a:ext>
            </a:extLst>
          </p:cNvPr>
          <p:cNvSpPr txBox="1"/>
          <p:nvPr/>
        </p:nvSpPr>
        <p:spPr>
          <a:xfrm>
            <a:off x="945537" y="950338"/>
            <a:ext cx="10300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60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 to Statistical Learning with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8D681-85A3-D3D9-0655-46D9193F23C1}"/>
              </a:ext>
            </a:extLst>
          </p:cNvPr>
          <p:cNvSpPr txBox="1"/>
          <p:nvPr/>
        </p:nvSpPr>
        <p:spPr>
          <a:xfrm>
            <a:off x="581859" y="3968671"/>
            <a:ext cx="11028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CM5: Linear classifiers – Part 1</a:t>
            </a:r>
            <a:endParaRPr lang="en-FR" sz="48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99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5ABBC-E592-BDEA-BDA0-9EB632F88E2C}"/>
              </a:ext>
            </a:extLst>
          </p:cNvPr>
          <p:cNvSpPr txBox="1"/>
          <p:nvPr/>
        </p:nvSpPr>
        <p:spPr>
          <a:xfrm>
            <a:off x="240033" y="-865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Motivation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AEA1C4-A7F2-A7F7-74C6-713AE0A04406}"/>
              </a:ext>
            </a:extLst>
          </p:cNvPr>
          <p:cNvSpPr txBox="1"/>
          <p:nvPr/>
        </p:nvSpPr>
        <p:spPr>
          <a:xfrm>
            <a:off x="240033" y="913066"/>
            <a:ext cx="11522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are once again interested in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supervised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methods, but with an important novelty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297CFCE-2269-8FB7-23CA-3C99DAD037DC}"/>
              </a:ext>
            </a:extLst>
          </p:cNvPr>
          <p:cNvGrpSpPr/>
          <p:nvPr/>
        </p:nvGrpSpPr>
        <p:grpSpPr>
          <a:xfrm>
            <a:off x="3087480" y="1562757"/>
            <a:ext cx="5827579" cy="2486934"/>
            <a:chOff x="3361753" y="1565006"/>
            <a:chExt cx="5827579" cy="2486934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B6FE634-09D5-627B-0268-43C6F6B470AB}"/>
                </a:ext>
              </a:extLst>
            </p:cNvPr>
            <p:cNvGrpSpPr/>
            <p:nvPr/>
          </p:nvGrpSpPr>
          <p:grpSpPr>
            <a:xfrm>
              <a:off x="5624247" y="1565006"/>
              <a:ext cx="3565085" cy="1925711"/>
              <a:chOff x="595746" y="1005198"/>
              <a:chExt cx="3565085" cy="1925711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4219902-E6E9-FEEA-4DB6-DC4F80E588A7}"/>
                  </a:ext>
                </a:extLst>
              </p:cNvPr>
              <p:cNvSpPr/>
              <p:nvPr/>
            </p:nvSpPr>
            <p:spPr>
              <a:xfrm>
                <a:off x="595746" y="1192206"/>
                <a:ext cx="3565085" cy="1684800"/>
              </a:xfrm>
              <a:prstGeom prst="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CAC0BA2-BBF9-2877-7976-40ACEB6DD016}"/>
                  </a:ext>
                </a:extLst>
              </p:cNvPr>
              <p:cNvSpPr/>
              <p:nvPr/>
            </p:nvSpPr>
            <p:spPr>
              <a:xfrm>
                <a:off x="796636" y="1005198"/>
                <a:ext cx="3163305" cy="1925711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0471329-2CFA-31B3-093D-9A646D8516AF}"/>
                </a:ext>
              </a:extLst>
            </p:cNvPr>
            <p:cNvSpPr/>
            <p:nvPr/>
          </p:nvSpPr>
          <p:spPr>
            <a:xfrm>
              <a:off x="4120867" y="1578259"/>
              <a:ext cx="297872" cy="1980516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BC0C111-F416-6BE2-506D-963F2B11AC80}"/>
                </a:ext>
              </a:extLst>
            </p:cNvPr>
            <p:cNvGrpSpPr/>
            <p:nvPr/>
          </p:nvGrpSpPr>
          <p:grpSpPr>
            <a:xfrm>
              <a:off x="3361753" y="1752479"/>
              <a:ext cx="5600819" cy="2299461"/>
              <a:chOff x="3361753" y="1752479"/>
              <a:chExt cx="5600819" cy="2299461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34CECB9-F91F-D60E-5CEF-D218121C6194}"/>
                  </a:ext>
                </a:extLst>
              </p:cNvPr>
              <p:cNvSpPr/>
              <p:nvPr/>
            </p:nvSpPr>
            <p:spPr>
              <a:xfrm>
                <a:off x="3935878" y="1752479"/>
                <a:ext cx="671945" cy="1683298"/>
              </a:xfrm>
              <a:prstGeom prst="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681BD20-96FD-9697-EC93-AD71B2BA1BF1}"/>
                  </a:ext>
                </a:extLst>
              </p:cNvPr>
              <p:cNvSpPr/>
              <p:nvPr/>
            </p:nvSpPr>
            <p:spPr>
              <a:xfrm>
                <a:off x="4125839" y="1865903"/>
                <a:ext cx="288000" cy="288000"/>
              </a:xfrm>
              <a:prstGeom prst="rect">
                <a:avLst/>
              </a:prstGeom>
              <a:solidFill>
                <a:srgbClr val="5E5E5E"/>
              </a:solidFill>
              <a:ln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 dirty="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3EB41D26-1301-F89B-9CCB-C8F142B06565}"/>
                  </a:ext>
                </a:extLst>
              </p:cNvPr>
              <p:cNvSpPr/>
              <p:nvPr/>
            </p:nvSpPr>
            <p:spPr>
              <a:xfrm>
                <a:off x="4125839" y="2255696"/>
                <a:ext cx="288000" cy="288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199AF00-C6B9-7E44-71D1-8CB479841BF3}"/>
                  </a:ext>
                </a:extLst>
              </p:cNvPr>
              <p:cNvSpPr/>
              <p:nvPr/>
            </p:nvSpPr>
            <p:spPr>
              <a:xfrm>
                <a:off x="4125839" y="2644332"/>
                <a:ext cx="288000" cy="288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1088864-2C94-DE38-3605-70FDF7564408}"/>
                  </a:ext>
                </a:extLst>
              </p:cNvPr>
              <p:cNvSpPr/>
              <p:nvPr/>
            </p:nvSpPr>
            <p:spPr>
              <a:xfrm>
                <a:off x="4125839" y="3036718"/>
                <a:ext cx="288000" cy="288000"/>
              </a:xfrm>
              <a:prstGeom prst="rect">
                <a:avLst/>
              </a:prstGeom>
              <a:solidFill>
                <a:srgbClr val="5E5E5E"/>
              </a:solidFill>
              <a:ln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474FCC8-39A8-D916-A7F0-6A2D1A426E99}"/>
                  </a:ext>
                </a:extLst>
              </p:cNvPr>
              <p:cNvSpPr/>
              <p:nvPr/>
            </p:nvSpPr>
            <p:spPr>
              <a:xfrm>
                <a:off x="5847945" y="1852651"/>
                <a:ext cx="288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11DD4362-3157-1401-3899-CF83ACB03E97}"/>
                  </a:ext>
                </a:extLst>
              </p:cNvPr>
              <p:cNvSpPr/>
              <p:nvPr/>
            </p:nvSpPr>
            <p:spPr>
              <a:xfrm>
                <a:off x="5847945" y="2242444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BD72E5B-F09F-5D4C-23C4-A4D1204C67D2}"/>
                  </a:ext>
                </a:extLst>
              </p:cNvPr>
              <p:cNvSpPr/>
              <p:nvPr/>
            </p:nvSpPr>
            <p:spPr>
              <a:xfrm>
                <a:off x="5847945" y="2631080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1BC2D80-1F6A-606D-B07B-70C9EB9F26D2}"/>
                  </a:ext>
                </a:extLst>
              </p:cNvPr>
              <p:cNvSpPr/>
              <p:nvPr/>
            </p:nvSpPr>
            <p:spPr>
              <a:xfrm>
                <a:off x="5847945" y="3023466"/>
                <a:ext cx="288000" cy="288000"/>
              </a:xfrm>
              <a:prstGeom prst="rect">
                <a:avLst/>
              </a:prstGeom>
              <a:solidFill>
                <a:srgbClr val="9B52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82C23E5-A601-C339-A717-DAD10CB45B25}"/>
                  </a:ext>
                </a:extLst>
              </p:cNvPr>
              <p:cNvSpPr/>
              <p:nvPr/>
            </p:nvSpPr>
            <p:spPr>
              <a:xfrm>
                <a:off x="6320042" y="1852651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4160F3C-30FC-2CEA-0191-B83605B9E169}"/>
                  </a:ext>
                </a:extLst>
              </p:cNvPr>
              <p:cNvSpPr/>
              <p:nvPr/>
            </p:nvSpPr>
            <p:spPr>
              <a:xfrm>
                <a:off x="6320042" y="2242444"/>
                <a:ext cx="288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407C803A-B065-691F-5969-F437D6066A41}"/>
                  </a:ext>
                </a:extLst>
              </p:cNvPr>
              <p:cNvSpPr/>
              <p:nvPr/>
            </p:nvSpPr>
            <p:spPr>
              <a:xfrm>
                <a:off x="6320042" y="2631080"/>
                <a:ext cx="288000" cy="288000"/>
              </a:xfrm>
              <a:prstGeom prst="rect">
                <a:avLst/>
              </a:prstGeom>
              <a:solidFill>
                <a:srgbClr val="9B52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059879F-DD68-2787-25A9-D47DAEF0FF44}"/>
                  </a:ext>
                </a:extLst>
              </p:cNvPr>
              <p:cNvSpPr/>
              <p:nvPr/>
            </p:nvSpPr>
            <p:spPr>
              <a:xfrm>
                <a:off x="6320042" y="3023466"/>
                <a:ext cx="288000" cy="288000"/>
              </a:xfrm>
              <a:prstGeom prst="rect">
                <a:avLst/>
              </a:prstGeom>
              <a:solidFill>
                <a:srgbClr val="F5AE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8D25E22-F5ED-376B-7CCC-5C2DC6337EC6}"/>
                  </a:ext>
                </a:extLst>
              </p:cNvPr>
              <p:cNvSpPr/>
              <p:nvPr/>
            </p:nvSpPr>
            <p:spPr>
              <a:xfrm>
                <a:off x="6792139" y="1852651"/>
                <a:ext cx="288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84E38820-8E08-78D7-CE54-5F4C7D83D319}"/>
                  </a:ext>
                </a:extLst>
              </p:cNvPr>
              <p:cNvSpPr/>
              <p:nvPr/>
            </p:nvSpPr>
            <p:spPr>
              <a:xfrm>
                <a:off x="6792139" y="2242444"/>
                <a:ext cx="288000" cy="288000"/>
              </a:xfrm>
              <a:prstGeom prst="rect">
                <a:avLst/>
              </a:prstGeom>
              <a:solidFill>
                <a:srgbClr val="FF871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AE17EA6-360A-FAF2-BBE4-0412A450E50B}"/>
                  </a:ext>
                </a:extLst>
              </p:cNvPr>
              <p:cNvSpPr/>
              <p:nvPr/>
            </p:nvSpPr>
            <p:spPr>
              <a:xfrm>
                <a:off x="6792139" y="2631080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A2EC9B89-90E5-24E9-605C-E59C4EC50B03}"/>
                  </a:ext>
                </a:extLst>
              </p:cNvPr>
              <p:cNvSpPr/>
              <p:nvPr/>
            </p:nvSpPr>
            <p:spPr>
              <a:xfrm>
                <a:off x="6792139" y="3023466"/>
                <a:ext cx="288000" cy="288000"/>
              </a:xfrm>
              <a:prstGeom prst="rect">
                <a:avLst/>
              </a:prstGeom>
              <a:solidFill>
                <a:srgbClr val="9B52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DE03D850-87F5-D003-86A1-AB210DD99D94}"/>
                  </a:ext>
                </a:extLst>
              </p:cNvPr>
              <p:cNvSpPr/>
              <p:nvPr/>
            </p:nvSpPr>
            <p:spPr>
              <a:xfrm>
                <a:off x="7261464" y="1852651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9AC80C92-E1DD-A6F2-6D6F-E0920082FB36}"/>
                  </a:ext>
                </a:extLst>
              </p:cNvPr>
              <p:cNvSpPr/>
              <p:nvPr/>
            </p:nvSpPr>
            <p:spPr>
              <a:xfrm>
                <a:off x="7261464" y="2242444"/>
                <a:ext cx="288000" cy="288000"/>
              </a:xfrm>
              <a:prstGeom prst="rect">
                <a:avLst/>
              </a:prstGeom>
              <a:solidFill>
                <a:srgbClr val="FF871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10EF98B3-1FEF-2E0D-7203-3927A0338C93}"/>
                  </a:ext>
                </a:extLst>
              </p:cNvPr>
              <p:cNvSpPr/>
              <p:nvPr/>
            </p:nvSpPr>
            <p:spPr>
              <a:xfrm>
                <a:off x="7261464" y="2631080"/>
                <a:ext cx="288000" cy="288000"/>
              </a:xfrm>
              <a:prstGeom prst="rect">
                <a:avLst/>
              </a:prstGeom>
              <a:solidFill>
                <a:srgbClr val="FF871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09887F3D-B791-6344-CC2B-E30DBE023859}"/>
                  </a:ext>
                </a:extLst>
              </p:cNvPr>
              <p:cNvSpPr/>
              <p:nvPr/>
            </p:nvSpPr>
            <p:spPr>
              <a:xfrm>
                <a:off x="7261464" y="3023466"/>
                <a:ext cx="288000" cy="288000"/>
              </a:xfrm>
              <a:prstGeom prst="rect">
                <a:avLst/>
              </a:prstGeom>
              <a:solidFill>
                <a:srgbClr val="F5AE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F4272F48-98F5-7CC7-F9C9-1E7F04260101}"/>
                  </a:ext>
                </a:extLst>
              </p:cNvPr>
              <p:cNvSpPr/>
              <p:nvPr/>
            </p:nvSpPr>
            <p:spPr>
              <a:xfrm>
                <a:off x="7732500" y="1852651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D271814-F07F-3DAD-44F2-4A33199B5F97}"/>
                  </a:ext>
                </a:extLst>
              </p:cNvPr>
              <p:cNvSpPr/>
              <p:nvPr/>
            </p:nvSpPr>
            <p:spPr>
              <a:xfrm>
                <a:off x="7732500" y="2242444"/>
                <a:ext cx="288000" cy="28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7EC89E4-234E-CE09-1988-CECE7F7397D9}"/>
                  </a:ext>
                </a:extLst>
              </p:cNvPr>
              <p:cNvSpPr/>
              <p:nvPr/>
            </p:nvSpPr>
            <p:spPr>
              <a:xfrm>
                <a:off x="7732500" y="2631080"/>
                <a:ext cx="288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F43413C7-2338-F2C2-653B-95D3CD3E0FB0}"/>
                  </a:ext>
                </a:extLst>
              </p:cNvPr>
              <p:cNvSpPr/>
              <p:nvPr/>
            </p:nvSpPr>
            <p:spPr>
              <a:xfrm>
                <a:off x="7732500" y="3023466"/>
                <a:ext cx="288000" cy="288000"/>
              </a:xfrm>
              <a:prstGeom prst="rect">
                <a:avLst/>
              </a:prstGeom>
              <a:solidFill>
                <a:srgbClr val="F5AE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1FAB6C56-B916-5AB2-5F16-965AAFDDF786}"/>
                  </a:ext>
                </a:extLst>
              </p:cNvPr>
              <p:cNvSpPr/>
              <p:nvPr/>
            </p:nvSpPr>
            <p:spPr>
              <a:xfrm>
                <a:off x="8203536" y="1852651"/>
                <a:ext cx="288000" cy="288000"/>
              </a:xfrm>
              <a:prstGeom prst="rect">
                <a:avLst/>
              </a:prstGeom>
              <a:solidFill>
                <a:srgbClr val="F5AE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A9528827-E837-05E8-F586-D0460C26D23C}"/>
                  </a:ext>
                </a:extLst>
              </p:cNvPr>
              <p:cNvSpPr/>
              <p:nvPr/>
            </p:nvSpPr>
            <p:spPr>
              <a:xfrm>
                <a:off x="8203536" y="2242444"/>
                <a:ext cx="288000" cy="28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9FAEEC7A-54F4-9F90-2CA4-1B780F7C3A67}"/>
                  </a:ext>
                </a:extLst>
              </p:cNvPr>
              <p:cNvSpPr/>
              <p:nvPr/>
            </p:nvSpPr>
            <p:spPr>
              <a:xfrm>
                <a:off x="8203536" y="2631080"/>
                <a:ext cx="288000" cy="288000"/>
              </a:xfrm>
              <a:prstGeom prst="rect">
                <a:avLst/>
              </a:prstGeom>
              <a:solidFill>
                <a:srgbClr val="FF871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7BE772BB-4D74-6C06-0A4A-4DBF3B164369}"/>
                  </a:ext>
                </a:extLst>
              </p:cNvPr>
              <p:cNvSpPr/>
              <p:nvPr/>
            </p:nvSpPr>
            <p:spPr>
              <a:xfrm>
                <a:off x="8203536" y="3023466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7AAB78F0-7567-31A0-8CCE-4E34DB5A950D}"/>
                  </a:ext>
                </a:extLst>
              </p:cNvPr>
              <p:cNvSpPr/>
              <p:nvPr/>
            </p:nvSpPr>
            <p:spPr>
              <a:xfrm>
                <a:off x="8674572" y="1852651"/>
                <a:ext cx="288000" cy="288000"/>
              </a:xfrm>
              <a:prstGeom prst="rect">
                <a:avLst/>
              </a:prstGeom>
              <a:solidFill>
                <a:srgbClr val="FF871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93558A1E-C155-A345-8262-51D7E7A20BDD}"/>
                  </a:ext>
                </a:extLst>
              </p:cNvPr>
              <p:cNvSpPr/>
              <p:nvPr/>
            </p:nvSpPr>
            <p:spPr>
              <a:xfrm>
                <a:off x="8674572" y="2242444"/>
                <a:ext cx="288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63DC9557-8695-369F-B3E6-6E386AB003E9}"/>
                  </a:ext>
                </a:extLst>
              </p:cNvPr>
              <p:cNvSpPr/>
              <p:nvPr/>
            </p:nvSpPr>
            <p:spPr>
              <a:xfrm>
                <a:off x="8674572" y="2631080"/>
                <a:ext cx="288000" cy="288000"/>
              </a:xfrm>
              <a:prstGeom prst="rect">
                <a:avLst/>
              </a:prstGeom>
              <a:solidFill>
                <a:srgbClr val="F5AE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EAA5A92-14D9-1BA5-A265-42070ED9C863}"/>
                  </a:ext>
                </a:extLst>
              </p:cNvPr>
              <p:cNvSpPr/>
              <p:nvPr/>
            </p:nvSpPr>
            <p:spPr>
              <a:xfrm>
                <a:off x="8674572" y="3023466"/>
                <a:ext cx="288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CC6FE385-BB4F-EBC4-9184-CF7128DB84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6164" y="3691161"/>
                <a:ext cx="1498600" cy="317500"/>
              </a:xfrm>
              <a:prstGeom prst="rect">
                <a:avLst/>
              </a:prstGeom>
            </p:spPr>
          </p:pic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C82A5E1D-04EB-E244-10F5-65098EFB5F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61753" y="3670940"/>
                <a:ext cx="1816100" cy="381000"/>
              </a:xfrm>
              <a:prstGeom prst="rect">
                <a:avLst/>
              </a:prstGeom>
            </p:spPr>
          </p:pic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010232A-BF4F-0922-266F-6D69FA6F7901}"/>
                  </a:ext>
                </a:extLst>
              </p:cNvPr>
              <p:cNvSpPr/>
              <p:nvPr/>
            </p:nvSpPr>
            <p:spPr>
              <a:xfrm>
                <a:off x="4535950" y="3733461"/>
                <a:ext cx="232900" cy="232900"/>
              </a:xfrm>
              <a:prstGeom prst="rect">
                <a:avLst/>
              </a:prstGeom>
              <a:solidFill>
                <a:srgbClr val="5E5E5E"/>
              </a:solidFill>
              <a:ln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9FD5E0A-59F6-0753-B44F-E01731D96B68}"/>
                  </a:ext>
                </a:extLst>
              </p:cNvPr>
              <p:cNvSpPr/>
              <p:nvPr/>
            </p:nvSpPr>
            <p:spPr>
              <a:xfrm>
                <a:off x="4134303" y="3732995"/>
                <a:ext cx="232900" cy="2329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 dirty="0"/>
              </a:p>
            </p:txBody>
          </p:sp>
        </p:grp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1C592108-013A-84C6-57C2-F414619B04CB}"/>
              </a:ext>
            </a:extLst>
          </p:cNvPr>
          <p:cNvSpPr txBox="1"/>
          <p:nvPr/>
        </p:nvSpPr>
        <p:spPr>
          <a:xfrm>
            <a:off x="334763" y="4306657"/>
            <a:ext cx="11522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Problems with observations defined in a set are called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classification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problems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854F060-FB61-8485-3E99-3CCACA5026E7}"/>
              </a:ext>
            </a:extLst>
          </p:cNvPr>
          <p:cNvGrpSpPr/>
          <p:nvPr/>
        </p:nvGrpSpPr>
        <p:grpSpPr>
          <a:xfrm>
            <a:off x="3580887" y="5004857"/>
            <a:ext cx="6636956" cy="808349"/>
            <a:chOff x="2732551" y="5004857"/>
            <a:chExt cx="6636956" cy="808349"/>
          </a:xfrm>
        </p:grpSpPr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1D3BC17C-ADE4-EB63-B63F-B942E8B2356B}"/>
                </a:ext>
              </a:extLst>
            </p:cNvPr>
            <p:cNvSpPr/>
            <p:nvPr/>
          </p:nvSpPr>
          <p:spPr>
            <a:xfrm>
              <a:off x="2732551" y="5004857"/>
              <a:ext cx="5196711" cy="808349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214C8DF5-5AB5-9FCB-461B-26F04346C298}"/>
                </a:ext>
              </a:extLst>
            </p:cNvPr>
            <p:cNvGrpSpPr/>
            <p:nvPr/>
          </p:nvGrpSpPr>
          <p:grpSpPr>
            <a:xfrm>
              <a:off x="2898404" y="5170651"/>
              <a:ext cx="6471103" cy="461665"/>
              <a:chOff x="244823" y="5030623"/>
              <a:chExt cx="6471103" cy="461665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47F3F7A-5D03-D9E0-D7C6-E73583B1DCE7}"/>
                  </a:ext>
                </a:extLst>
              </p:cNvPr>
              <p:cNvSpPr txBox="1"/>
              <p:nvPr/>
            </p:nvSpPr>
            <p:spPr>
              <a:xfrm>
                <a:off x="244823" y="5030623"/>
                <a:ext cx="64711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FR" sz="22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Decide </a:t>
                </a:r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the</a:t>
                </a:r>
                <a:r>
                  <a:rPr lang="en-FR" sz="22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 value of            given</a:t>
                </a:r>
              </a:p>
            </p:txBody>
          </p:sp>
          <p:pic>
            <p:nvPicPr>
              <p:cNvPr id="95" name="Picture 94">
                <a:extLst>
                  <a:ext uri="{FF2B5EF4-FFF2-40B4-BE49-F238E27FC236}">
                    <a16:creationId xmlns:a16="http://schemas.microsoft.com/office/drawing/2014/main" id="{A178FBCC-511E-8B9D-3FB7-9D5BFB8929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84099" y="5178654"/>
                <a:ext cx="609600" cy="215900"/>
              </a:xfrm>
              <a:prstGeom prst="rect">
                <a:avLst/>
              </a:prstGeom>
            </p:spPr>
          </p:pic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D99988C8-C30E-CBFA-BD63-5B39998503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08708" y="5163085"/>
                <a:ext cx="584200" cy="228600"/>
              </a:xfrm>
              <a:prstGeom prst="rect">
                <a:avLst/>
              </a:prstGeom>
            </p:spPr>
          </p:pic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FB7ECB30-9816-F304-AC65-35ECBDB12A2F}"/>
              </a:ext>
            </a:extLst>
          </p:cNvPr>
          <p:cNvSpPr txBox="1"/>
          <p:nvPr/>
        </p:nvSpPr>
        <p:spPr>
          <a:xfrm>
            <a:off x="334762" y="6077322"/>
            <a:ext cx="11427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ISLA, we will focus on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fundamentals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of classification methods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75569E0-02AA-D0B3-732D-AA95186B859D}"/>
              </a:ext>
            </a:extLst>
          </p:cNvPr>
          <p:cNvSpPr/>
          <p:nvPr/>
        </p:nvSpPr>
        <p:spPr>
          <a:xfrm>
            <a:off x="3783190" y="1644198"/>
            <a:ext cx="439406" cy="175539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AA5073E-3389-F82E-4A9D-F1FD56001358}"/>
              </a:ext>
            </a:extLst>
          </p:cNvPr>
          <p:cNvSpPr/>
          <p:nvPr/>
        </p:nvSpPr>
        <p:spPr>
          <a:xfrm>
            <a:off x="3774886" y="3371557"/>
            <a:ext cx="439406" cy="175539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3A45344-6BDC-DAB1-2E84-FD92FD58D7EF}"/>
              </a:ext>
            </a:extLst>
          </p:cNvPr>
          <p:cNvSpPr txBox="1"/>
          <p:nvPr/>
        </p:nvSpPr>
        <p:spPr>
          <a:xfrm>
            <a:off x="2500485" y="5213328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3378569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8538E42E-F69C-00BB-E335-14D530B8A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1450257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F3F278-B1A0-E02B-5FB1-832131E89666}"/>
              </a:ext>
            </a:extLst>
          </p:cNvPr>
          <p:cNvSpPr txBox="1"/>
          <p:nvPr/>
        </p:nvSpPr>
        <p:spPr>
          <a:xfrm>
            <a:off x="1865622" y="1450257"/>
            <a:ext cx="8372805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Important tools from Probability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Bayes classifier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Discriminative approaches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</p:spTree>
    <p:extLst>
      <p:ext uri="{BB962C8B-B14F-4D97-AF65-F5344CB8AC3E}">
        <p14:creationId xmlns:p14="http://schemas.microsoft.com/office/powerpoint/2010/main" val="1345156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D9EC4-CEC7-36AE-5DDA-258033964660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Important tools from probability theory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399245-1667-C600-50A9-6AA08BEEEBD3}"/>
              </a:ext>
            </a:extLst>
          </p:cNvPr>
          <p:cNvSpPr txBox="1"/>
          <p:nvPr/>
        </p:nvSpPr>
        <p:spPr>
          <a:xfrm>
            <a:off x="240033" y="914400"/>
            <a:ext cx="11214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will be needing several concepts from your classes in probability and statistics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94929F-61D4-32CF-106F-E148C794CC7F}"/>
              </a:ext>
            </a:extLst>
          </p:cNvPr>
          <p:cNvSpPr txBox="1"/>
          <p:nvPr/>
        </p:nvSpPr>
        <p:spPr>
          <a:xfrm>
            <a:off x="240033" y="1636949"/>
            <a:ext cx="2100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any set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D7DE0-8F21-70E5-645D-F365FACB9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198" y="1719042"/>
            <a:ext cx="1079500" cy="266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B1E3B2-8247-76F5-1F7B-6654004B0362}"/>
              </a:ext>
            </a:extLst>
          </p:cNvPr>
          <p:cNvSpPr txBox="1"/>
          <p:nvPr/>
        </p:nvSpPr>
        <p:spPr>
          <a:xfrm>
            <a:off x="3193652" y="1636949"/>
            <a:ext cx="4293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and a pdf           w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 have that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58A459-694E-568D-1B2E-970161976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028" y="1680942"/>
            <a:ext cx="609600" cy="3429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6DF0D49-7D36-0278-89A1-BCD460034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0850" y="2320021"/>
            <a:ext cx="89662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96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5F55364-73C6-7D5C-02A3-AB56DCD8C589}"/>
              </a:ext>
            </a:extLst>
          </p:cNvPr>
          <p:cNvSpPr txBox="1"/>
          <p:nvPr/>
        </p:nvSpPr>
        <p:spPr>
          <a:xfrm>
            <a:off x="240033" y="3429000"/>
            <a:ext cx="2917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any function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304C14-B2DA-E7AB-D318-9DED53C2D81C}"/>
              </a:ext>
            </a:extLst>
          </p:cNvPr>
          <p:cNvSpPr txBox="1"/>
          <p:nvPr/>
        </p:nvSpPr>
        <p:spPr>
          <a:xfrm>
            <a:off x="5693355" y="3392704"/>
            <a:ext cx="4859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and joint pdf                w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 have that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3B25FB-FD7E-A7BA-7635-37868AE26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983" y="3448550"/>
            <a:ext cx="927100" cy="3429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970547-1833-381A-1DCD-40CABEEE8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2740" y="3480691"/>
            <a:ext cx="2794000" cy="342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0001EC5-0FDA-70E2-B354-56B0AF24E9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00" y="4205601"/>
            <a:ext cx="10337800" cy="7493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903808E-0722-84AB-3B49-98CF735972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8541" y="5251286"/>
            <a:ext cx="8636000" cy="1003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802327-E248-17CA-131A-4F1640EC0D27}"/>
              </a:ext>
            </a:extLst>
          </p:cNvPr>
          <p:cNvSpPr txBox="1"/>
          <p:nvPr/>
        </p:nvSpPr>
        <p:spPr>
          <a:xfrm>
            <a:off x="240033" y="914400"/>
            <a:ext cx="11214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will be needing several concepts from your classes in probability and statistics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1579BC-8B22-236A-AF5F-B1BD5EAE60AC}"/>
              </a:ext>
            </a:extLst>
          </p:cNvPr>
          <p:cNvSpPr txBox="1"/>
          <p:nvPr/>
        </p:nvSpPr>
        <p:spPr>
          <a:xfrm>
            <a:off x="240033" y="1636949"/>
            <a:ext cx="2100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any set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EBAC4E-FA07-D45B-B856-F487F9446F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0198" y="1719042"/>
            <a:ext cx="1079500" cy="2667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656B682-1C66-FDD1-1E49-32C73E23F422}"/>
              </a:ext>
            </a:extLst>
          </p:cNvPr>
          <p:cNvSpPr txBox="1"/>
          <p:nvPr/>
        </p:nvSpPr>
        <p:spPr>
          <a:xfrm>
            <a:off x="3193652" y="1636949"/>
            <a:ext cx="4293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and a pdf           w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 have that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CE3AF0B-1326-354E-08FB-B83DD4C6A9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4028" y="1680942"/>
            <a:ext cx="609600" cy="342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F7906AE-197F-8A3E-8A4E-A008657ED0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0850" y="2320021"/>
            <a:ext cx="8966200" cy="7747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8EF2BDB-7AD5-289D-BAC3-97D7A64926FB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09BE0E-F6C2-0D2E-0C0B-6F4D82FE20DB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Important tools from probability theory</a:t>
            </a:r>
          </a:p>
        </p:txBody>
      </p:sp>
    </p:spTree>
    <p:extLst>
      <p:ext uri="{BB962C8B-B14F-4D97-AF65-F5344CB8AC3E}">
        <p14:creationId xmlns:p14="http://schemas.microsoft.com/office/powerpoint/2010/main" val="2302116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0AE4D0-D9F3-F73C-4ED4-E6AFA28BEB5A}"/>
              </a:ext>
            </a:extLst>
          </p:cNvPr>
          <p:cNvSpPr txBox="1"/>
          <p:nvPr/>
        </p:nvSpPr>
        <p:spPr>
          <a:xfrm>
            <a:off x="240033" y="824149"/>
            <a:ext cx="9634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conditional probability we will be using most often is written 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E6B0DB-2ED2-4867-5938-17C18D2BDC13}"/>
              </a:ext>
            </a:extLst>
          </p:cNvPr>
          <p:cNvSpPr txBox="1"/>
          <p:nvPr/>
        </p:nvSpPr>
        <p:spPr>
          <a:xfrm>
            <a:off x="653010" y="2585107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89312D2-0767-BCB8-C720-4209FDB01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10" y="3338404"/>
            <a:ext cx="11188700" cy="7747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41C50FD-2A07-7660-75F8-F97537C3D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14553"/>
            <a:ext cx="7772400" cy="15643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A44113-1D3F-5B20-B843-A0A6F25B9C25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Important tools from probability 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D5EDF-ED5F-044D-FFE8-B2CC39E0A92D}"/>
              </a:ext>
            </a:extLst>
          </p:cNvPr>
          <p:cNvSpPr txBox="1"/>
          <p:nvPr/>
        </p:nvSpPr>
        <p:spPr>
          <a:xfrm>
            <a:off x="1435597" y="4379167"/>
            <a:ext cx="10307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we are </a:t>
            </a:r>
            <a:r>
              <a:rPr lang="en-FR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very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careful when mixing continuous and discrete objects!</a:t>
            </a: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5E71F221-9166-12B9-EEB0-9EB03F21BB81}"/>
              </a:ext>
            </a:extLst>
          </p:cNvPr>
          <p:cNvCxnSpPr/>
          <p:nvPr/>
        </p:nvCxnSpPr>
        <p:spPr>
          <a:xfrm>
            <a:off x="929254" y="4379167"/>
            <a:ext cx="412977" cy="230832"/>
          </a:xfrm>
          <a:prstGeom prst="bentConnector3">
            <a:avLst>
              <a:gd name="adj1" fmla="val -1664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194B331-CD42-E4C3-7EF6-16879E0B2E9F}"/>
              </a:ext>
            </a:extLst>
          </p:cNvPr>
          <p:cNvSpPr/>
          <p:nvPr/>
        </p:nvSpPr>
        <p:spPr>
          <a:xfrm>
            <a:off x="9675445" y="3429000"/>
            <a:ext cx="1688123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F3B9ED-6FFB-ECBD-322B-A57381B1DDB6}"/>
              </a:ext>
            </a:extLst>
          </p:cNvPr>
          <p:cNvSpPr txBox="1"/>
          <p:nvPr/>
        </p:nvSpPr>
        <p:spPr>
          <a:xfrm>
            <a:off x="9737080" y="3046772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data likelihood</a:t>
            </a:r>
            <a:endParaRPr lang="en-FR" dirty="0">
              <a:solidFill>
                <a:srgbClr val="00B050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681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370F7-A0B2-0A25-D9B0-4BA738E15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FB7E5DF-AA6F-459D-6C94-4BEFE76C07A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4438B9-4041-4E66-A98D-77B2EAF4E2EF}"/>
              </a:ext>
            </a:extLst>
          </p:cNvPr>
          <p:cNvSpPr txBox="1"/>
          <p:nvPr/>
        </p:nvSpPr>
        <p:spPr>
          <a:xfrm>
            <a:off x="240033" y="824149"/>
            <a:ext cx="9634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conditional probability we will be using most often is written 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BA3D36-BB10-1684-7D28-88BE7485860A}"/>
              </a:ext>
            </a:extLst>
          </p:cNvPr>
          <p:cNvSpPr txBox="1"/>
          <p:nvPr/>
        </p:nvSpPr>
        <p:spPr>
          <a:xfrm>
            <a:off x="653010" y="2585107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96B5FF7-54F8-EB76-E2A6-92DF50C40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10" y="3338404"/>
            <a:ext cx="11188700" cy="7747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2C994E2-5EB4-2C5F-8700-380C85E15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14553"/>
            <a:ext cx="7772400" cy="156433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9EA0CB6-8D69-46AC-F5A1-C1F60D793003}"/>
              </a:ext>
            </a:extLst>
          </p:cNvPr>
          <p:cNvSpPr txBox="1"/>
          <p:nvPr/>
        </p:nvSpPr>
        <p:spPr>
          <a:xfrm>
            <a:off x="240033" y="5010874"/>
            <a:ext cx="907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probability in a small ball of radius    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entered around       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D8DF0-375C-B2D0-D7E6-2DC065606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825" y="5144711"/>
            <a:ext cx="167640" cy="198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AEDEBF-82B0-2822-0132-1BEB2EC32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520" y="5153518"/>
            <a:ext cx="317500" cy="215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D9B942-23D5-28DC-3F28-0A28B9E2B7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9750" y="5642581"/>
            <a:ext cx="6032500" cy="609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6B8B5B-219C-39D6-7458-F7C8FD5474BA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Important tools from probability theory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C12B0-6FC8-9D69-1655-D01FB1FB18CB}"/>
              </a:ext>
            </a:extLst>
          </p:cNvPr>
          <p:cNvSpPr txBox="1"/>
          <p:nvPr/>
        </p:nvSpPr>
        <p:spPr>
          <a:xfrm>
            <a:off x="1435597" y="4379167"/>
            <a:ext cx="10307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we are </a:t>
            </a:r>
            <a:r>
              <a:rPr lang="en-FR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very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careful when mixing continuous and discrete objects!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27B0FCC9-87FE-7D49-653E-F2748216D426}"/>
              </a:ext>
            </a:extLst>
          </p:cNvPr>
          <p:cNvCxnSpPr/>
          <p:nvPr/>
        </p:nvCxnSpPr>
        <p:spPr>
          <a:xfrm>
            <a:off x="929254" y="4379167"/>
            <a:ext cx="412977" cy="230832"/>
          </a:xfrm>
          <a:prstGeom prst="bentConnector3">
            <a:avLst>
              <a:gd name="adj1" fmla="val -1664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F3810D1-162B-5882-A380-E6ECD9FA240E}"/>
              </a:ext>
            </a:extLst>
          </p:cNvPr>
          <p:cNvSpPr/>
          <p:nvPr/>
        </p:nvSpPr>
        <p:spPr>
          <a:xfrm>
            <a:off x="9675445" y="3429000"/>
            <a:ext cx="1688123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FDE2BE-DD02-0F13-506C-F509D8F29D23}"/>
              </a:ext>
            </a:extLst>
          </p:cNvPr>
          <p:cNvSpPr txBox="1"/>
          <p:nvPr/>
        </p:nvSpPr>
        <p:spPr>
          <a:xfrm>
            <a:off x="9737080" y="3046772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data likelihood</a:t>
            </a:r>
            <a:endParaRPr lang="en-FR" dirty="0">
              <a:solidFill>
                <a:srgbClr val="00B050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648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80F4FA-E977-7285-51CD-A9C69BC22B16}"/>
              </a:ext>
            </a:extLst>
          </p:cNvPr>
          <p:cNvSpPr txBox="1"/>
          <p:nvPr/>
        </p:nvSpPr>
        <p:spPr>
          <a:xfrm>
            <a:off x="240033" y="901874"/>
            <a:ext cx="8241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</a:t>
            </a:r>
            <a:r>
              <a:rPr lang="en-FR" sz="2400" dirty="0">
                <a:solidFill>
                  <a:srgbClr val="FF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rigorous (and correct)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way of expressing something like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F1ADE2-7DD6-D536-6A0F-DF98DCF15F91}"/>
              </a:ext>
            </a:extLst>
          </p:cNvPr>
          <p:cNvGrpSpPr/>
          <p:nvPr/>
        </p:nvGrpSpPr>
        <p:grpSpPr>
          <a:xfrm>
            <a:off x="2278505" y="1611897"/>
            <a:ext cx="7600013" cy="710023"/>
            <a:chOff x="2278504" y="1611897"/>
            <a:chExt cx="7600013" cy="710023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7C114E7-445A-51C6-08CF-8A65D4ED984C}"/>
                </a:ext>
              </a:extLst>
            </p:cNvPr>
            <p:cNvSpPr/>
            <p:nvPr/>
          </p:nvSpPr>
          <p:spPr>
            <a:xfrm>
              <a:off x="2278504" y="1611897"/>
              <a:ext cx="7600013" cy="710023"/>
            </a:xfrm>
            <a:prstGeom prst="roundRect">
              <a:avLst/>
            </a:prstGeom>
            <a:solidFill>
              <a:schemeClr val="bg2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AB69D0-8840-692C-E599-3BFF763B7F32}"/>
                </a:ext>
              </a:extLst>
            </p:cNvPr>
            <p:cNvSpPr txBox="1"/>
            <p:nvPr/>
          </p:nvSpPr>
          <p:spPr>
            <a:xfrm>
              <a:off x="2446602" y="1726412"/>
              <a:ext cx="72987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The probability of Y being equal to 1 given that X is x</a:t>
              </a:r>
              <a:r>
                <a:rPr lang="en-FR" sz="2400" baseline="-25000" dirty="0"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0</a:t>
              </a:r>
              <a:endParaRPr lang="en-FR" sz="2400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4B18714-A723-A19D-FB78-C0F2F73931D6}"/>
              </a:ext>
            </a:extLst>
          </p:cNvPr>
          <p:cNvSpPr txBox="1"/>
          <p:nvPr/>
        </p:nvSpPr>
        <p:spPr>
          <a:xfrm>
            <a:off x="240033" y="2601056"/>
            <a:ext cx="1534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 to write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7A6DECD-F8FA-825A-2C92-4ABF5D6C0CAD}"/>
              </a:ext>
            </a:extLst>
          </p:cNvPr>
          <p:cNvGrpSpPr/>
          <p:nvPr/>
        </p:nvGrpSpPr>
        <p:grpSpPr>
          <a:xfrm>
            <a:off x="839564" y="2892885"/>
            <a:ext cx="10625329" cy="3063241"/>
            <a:chOff x="554798" y="2958320"/>
            <a:chExt cx="10625329" cy="306324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2A56764-B9C5-0460-AE7C-3DE5E4F38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798" y="2958320"/>
              <a:ext cx="9829800" cy="17145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07FDAB3-9D70-2C73-79F1-CDDEBC3BF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5327" y="5119861"/>
              <a:ext cx="6654800" cy="90170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BD7CC46-1740-2C9A-3FC2-CC67832AA8E9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Important tools from probability theory</a:t>
            </a:r>
          </a:p>
        </p:txBody>
      </p:sp>
    </p:spTree>
    <p:extLst>
      <p:ext uri="{BB962C8B-B14F-4D97-AF65-F5344CB8AC3E}">
        <p14:creationId xmlns:p14="http://schemas.microsoft.com/office/powerpoint/2010/main" val="3271518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220F5-D05A-17E7-BBB8-553AF40F1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079" y="3031943"/>
            <a:ext cx="8496300" cy="812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43D7FAF-9245-190E-F861-C44104387643}"/>
              </a:ext>
            </a:extLst>
          </p:cNvPr>
          <p:cNvSpPr/>
          <p:nvPr/>
        </p:nvSpPr>
        <p:spPr>
          <a:xfrm>
            <a:off x="3895595" y="3821883"/>
            <a:ext cx="1615857" cy="45719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176E7D-260D-297A-89C9-F7AF3852CDDD}"/>
              </a:ext>
            </a:extLst>
          </p:cNvPr>
          <p:cNvSpPr txBox="1"/>
          <p:nvPr/>
        </p:nvSpPr>
        <p:spPr>
          <a:xfrm>
            <a:off x="2100630" y="3988352"/>
            <a:ext cx="56342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2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continuous random variables we always consider their probability to be in a 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84266-6CC2-837E-1113-69A826D95357}"/>
              </a:ext>
            </a:extLst>
          </p:cNvPr>
          <p:cNvSpPr txBox="1"/>
          <p:nvPr/>
        </p:nvSpPr>
        <p:spPr>
          <a:xfrm>
            <a:off x="240033" y="5010261"/>
            <a:ext cx="6633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most books, articles, </a:t>
            </a:r>
            <a:r>
              <a:rPr lang="en-US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etc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, will simply write 😟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069F48-65E8-B4D5-6AD2-9F82EF20E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299" y="5616716"/>
            <a:ext cx="6375400" cy="8128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B5457E-5934-59B8-17DD-3CFA0E707A27}"/>
              </a:ext>
            </a:extLst>
          </p:cNvPr>
          <p:cNvSpPr txBox="1"/>
          <p:nvPr/>
        </p:nvSpPr>
        <p:spPr>
          <a:xfrm>
            <a:off x="240033" y="2601056"/>
            <a:ext cx="1534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 to write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9FB064-2281-6F1D-B127-7150821493AC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Important tools from probability theory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6AC49-2DDE-B6BF-1E15-A86C2432B533}"/>
              </a:ext>
            </a:extLst>
          </p:cNvPr>
          <p:cNvSpPr txBox="1"/>
          <p:nvPr/>
        </p:nvSpPr>
        <p:spPr>
          <a:xfrm>
            <a:off x="240033" y="901874"/>
            <a:ext cx="8241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</a:t>
            </a:r>
            <a:r>
              <a:rPr lang="en-FR" sz="2400" dirty="0">
                <a:solidFill>
                  <a:srgbClr val="FF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rigorous (and correct)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way of expressing something like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4198089-95E2-BABB-0B64-B1BAC46A0BF7}"/>
              </a:ext>
            </a:extLst>
          </p:cNvPr>
          <p:cNvGrpSpPr/>
          <p:nvPr/>
        </p:nvGrpSpPr>
        <p:grpSpPr>
          <a:xfrm>
            <a:off x="2278505" y="1611897"/>
            <a:ext cx="7600013" cy="710023"/>
            <a:chOff x="2278504" y="1611897"/>
            <a:chExt cx="7600013" cy="710023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65030EFB-5ED3-8CE6-9233-C5C788FF2D63}"/>
                </a:ext>
              </a:extLst>
            </p:cNvPr>
            <p:cNvSpPr/>
            <p:nvPr/>
          </p:nvSpPr>
          <p:spPr>
            <a:xfrm>
              <a:off x="2278504" y="1611897"/>
              <a:ext cx="7600013" cy="710023"/>
            </a:xfrm>
            <a:prstGeom prst="roundRect">
              <a:avLst/>
            </a:prstGeom>
            <a:solidFill>
              <a:schemeClr val="bg2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BE2140-C09A-A1E9-3FD9-DDD78FEDC9A5}"/>
                </a:ext>
              </a:extLst>
            </p:cNvPr>
            <p:cNvSpPr txBox="1"/>
            <p:nvPr/>
          </p:nvSpPr>
          <p:spPr>
            <a:xfrm>
              <a:off x="2446602" y="1726412"/>
              <a:ext cx="72987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The probability of Y being equal to 1 given that X is x</a:t>
              </a:r>
              <a:r>
                <a:rPr lang="en-FR" sz="2400" baseline="-25000" dirty="0"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0</a:t>
              </a:r>
              <a:endParaRPr lang="en-FR" sz="2400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3747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0062-10E3-38FC-F4AE-241D453C2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B8393B-DDAC-9482-DABD-A8B1BD20936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78656C40-57B2-60F4-7966-79E2CA6D0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2735230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C8A332-D2BE-3820-04DD-43E124958C96}"/>
              </a:ext>
            </a:extLst>
          </p:cNvPr>
          <p:cNvSpPr txBox="1"/>
          <p:nvPr/>
        </p:nvSpPr>
        <p:spPr>
          <a:xfrm>
            <a:off x="1865622" y="1450257"/>
            <a:ext cx="8372805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Important tools from Probability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Bayes classifier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Discriminative approaches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</p:spTree>
    <p:extLst>
      <p:ext uri="{BB962C8B-B14F-4D97-AF65-F5344CB8AC3E}">
        <p14:creationId xmlns:p14="http://schemas.microsoft.com/office/powerpoint/2010/main" val="2162857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D9EC4-CEC7-36AE-5DDA-258033964660}"/>
              </a:ext>
            </a:extLst>
          </p:cNvPr>
          <p:cNvSpPr txBox="1"/>
          <p:nvPr/>
        </p:nvSpPr>
        <p:spPr>
          <a:xfrm>
            <a:off x="240033" y="-100223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Bayes classifier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D97BE0-1E43-7C08-EA2C-2E078AF6CEE7}"/>
              </a:ext>
            </a:extLst>
          </p:cNvPr>
          <p:cNvSpPr txBox="1"/>
          <p:nvPr/>
        </p:nvSpPr>
        <p:spPr>
          <a:xfrm>
            <a:off x="240033" y="929391"/>
            <a:ext cx="3793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want to find a function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0D221-BC48-840A-8124-FF7F0EBC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247" y="988374"/>
            <a:ext cx="2146300" cy="342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689AC4-D42E-B6A0-3212-6ED8E3B8ADDC}"/>
              </a:ext>
            </a:extLst>
          </p:cNvPr>
          <p:cNvSpPr txBox="1"/>
          <p:nvPr/>
        </p:nvSpPr>
        <p:spPr>
          <a:xfrm>
            <a:off x="6040547" y="910574"/>
            <a:ext cx="5846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uch that it minimizes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probability error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92D878-BA56-4F0D-E9A5-272B29070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95" y="1710924"/>
            <a:ext cx="10274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02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47A8-36B8-ECA3-5AC4-17A82FCD5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DFD802-A161-48EB-41A8-1D30573B7B9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C92A41-3C9B-BA6D-801E-D5CC634A4BDD}"/>
              </a:ext>
            </a:extLst>
          </p:cNvPr>
          <p:cNvSpPr txBox="1"/>
          <p:nvPr/>
        </p:nvSpPr>
        <p:spPr>
          <a:xfrm>
            <a:off x="240033" y="-100223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Bayes classifier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6E9A48-0BA7-8167-96A4-45E1BE05747A}"/>
              </a:ext>
            </a:extLst>
          </p:cNvPr>
          <p:cNvSpPr txBox="1"/>
          <p:nvPr/>
        </p:nvSpPr>
        <p:spPr>
          <a:xfrm>
            <a:off x="240033" y="929391"/>
            <a:ext cx="3793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want to find a function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2D37F-B4AB-8F41-F7E9-BF13D7875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247" y="988374"/>
            <a:ext cx="2146300" cy="342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9D232A-9BF9-54B8-CB12-F8E7C35B1E7C}"/>
              </a:ext>
            </a:extLst>
          </p:cNvPr>
          <p:cNvSpPr txBox="1"/>
          <p:nvPr/>
        </p:nvSpPr>
        <p:spPr>
          <a:xfrm>
            <a:off x="6040547" y="910574"/>
            <a:ext cx="5846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uch that it minimizes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probability error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831CA6-9E85-CBDC-592C-0FAAA025F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95" y="1710924"/>
            <a:ext cx="10274300" cy="60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319EEF-0280-EF16-0433-557F93C38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315" y="2689987"/>
            <a:ext cx="8674100" cy="609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4D3D48-FEE3-E921-C97E-DD5FAA9CB4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315" y="3669050"/>
            <a:ext cx="8674100" cy="609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879FA8C-1ED5-7A71-A38C-B82CC2063689}"/>
              </a:ext>
            </a:extLst>
          </p:cNvPr>
          <p:cNvSpPr txBox="1"/>
          <p:nvPr/>
        </p:nvSpPr>
        <p:spPr>
          <a:xfrm>
            <a:off x="2296178" y="5538987"/>
            <a:ext cx="8427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focus on what is going on </a:t>
            </a:r>
            <a:r>
              <a:rPr lang="en-US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inside the expectation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over 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F329DC-A8CA-D849-9E2C-33BED217E2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3265" y="5668482"/>
            <a:ext cx="279400" cy="2286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33DFA48-E703-8495-DE25-74C5698E989B}"/>
              </a:ext>
            </a:extLst>
          </p:cNvPr>
          <p:cNvSpPr/>
          <p:nvPr/>
        </p:nvSpPr>
        <p:spPr>
          <a:xfrm>
            <a:off x="2211185" y="5341658"/>
            <a:ext cx="9443259" cy="54000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869B1C-3BDC-C828-4948-25A1387159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4654332"/>
            <a:ext cx="11353800" cy="609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A9FE2ED-3F48-0C64-185B-DF8505573212}"/>
              </a:ext>
            </a:extLst>
          </p:cNvPr>
          <p:cNvSpPr/>
          <p:nvPr/>
        </p:nvSpPr>
        <p:spPr>
          <a:xfrm>
            <a:off x="240033" y="4495800"/>
            <a:ext cx="852167" cy="1071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88970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369313C-1E15-42E2-FC12-0E3FFE3FE590}"/>
              </a:ext>
            </a:extLst>
          </p:cNvPr>
          <p:cNvSpPr txBox="1"/>
          <p:nvPr/>
        </p:nvSpPr>
        <p:spPr>
          <a:xfrm>
            <a:off x="240033" y="2573634"/>
            <a:ext cx="2754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for each 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2B872E8-A6ED-4E98-DBC8-B64944B93893}"/>
              </a:ext>
            </a:extLst>
          </p:cNvPr>
          <p:cNvSpPr/>
          <p:nvPr/>
        </p:nvSpPr>
        <p:spPr>
          <a:xfrm>
            <a:off x="2669415" y="5056628"/>
            <a:ext cx="6853170" cy="911346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F640F04-B858-3248-B212-987222775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521" y="2674777"/>
            <a:ext cx="279400" cy="228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6FB108-B65C-F73D-0082-B55B38517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657431"/>
            <a:ext cx="11353800" cy="6096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39DAE56-9208-0D53-AE74-403A21AB429C}"/>
              </a:ext>
            </a:extLst>
          </p:cNvPr>
          <p:cNvSpPr txBox="1"/>
          <p:nvPr/>
        </p:nvSpPr>
        <p:spPr>
          <a:xfrm>
            <a:off x="3100341" y="2564184"/>
            <a:ext cx="3320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two things can happen: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99CBA63-8E59-CC29-99F4-A0CDE01EF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811" y="3267741"/>
            <a:ext cx="1320800" cy="342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392D35B-5ABC-5C64-7A8C-54927AA06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587" y="3252751"/>
            <a:ext cx="2895600" cy="3429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63B3A48-0D49-4A04-5B51-98612FA0FA73}"/>
              </a:ext>
            </a:extLst>
          </p:cNvPr>
          <p:cNvSpPr txBox="1"/>
          <p:nvPr/>
        </p:nvSpPr>
        <p:spPr>
          <a:xfrm>
            <a:off x="2766318" y="3179754"/>
            <a:ext cx="32864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contributes with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290878-591A-F8E4-46AE-1881BBE2CD41}"/>
              </a:ext>
            </a:extLst>
          </p:cNvPr>
          <p:cNvSpPr txBox="1"/>
          <p:nvPr/>
        </p:nvSpPr>
        <p:spPr>
          <a:xfrm>
            <a:off x="8946951" y="3179754"/>
            <a:ext cx="2791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 the loss function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B7963E-F6B6-5495-69F3-47B0A6EF02AA}"/>
              </a:ext>
            </a:extLst>
          </p:cNvPr>
          <p:cNvSpPr txBox="1"/>
          <p:nvPr/>
        </p:nvSpPr>
        <p:spPr>
          <a:xfrm>
            <a:off x="2766318" y="3736951"/>
            <a:ext cx="32864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contributes with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79B936-174F-05B0-36BC-9F771BC22C39}"/>
              </a:ext>
            </a:extLst>
          </p:cNvPr>
          <p:cNvSpPr txBox="1"/>
          <p:nvPr/>
        </p:nvSpPr>
        <p:spPr>
          <a:xfrm>
            <a:off x="8946951" y="3736951"/>
            <a:ext cx="2791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 the loss function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129C627-D78B-505B-E8A5-7C5A4A6B5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587" y="3809948"/>
            <a:ext cx="2895600" cy="3429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C46D7AD-48E3-3874-D575-E6B05F9890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9811" y="3824938"/>
            <a:ext cx="1308100" cy="342900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F7550BAF-23A0-FC4A-D980-A41963ABCAEA}"/>
              </a:ext>
            </a:extLst>
          </p:cNvPr>
          <p:cNvSpPr/>
          <p:nvPr/>
        </p:nvSpPr>
        <p:spPr>
          <a:xfrm>
            <a:off x="1015576" y="3360720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87C31A-7520-741C-4DD1-375BF0B6C94F}"/>
              </a:ext>
            </a:extLst>
          </p:cNvPr>
          <p:cNvSpPr/>
          <p:nvPr/>
        </p:nvSpPr>
        <p:spPr>
          <a:xfrm>
            <a:off x="1015576" y="3912943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D22074-F755-A158-791B-C784C2498FA3}"/>
              </a:ext>
            </a:extLst>
          </p:cNvPr>
          <p:cNvSpPr txBox="1"/>
          <p:nvPr/>
        </p:nvSpPr>
        <p:spPr>
          <a:xfrm>
            <a:off x="240033" y="4395898"/>
            <a:ext cx="9645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optimal discriminant function for a test observation     is therefore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1EE861C-B369-E661-A8ED-92EA812955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9418" y="4564439"/>
            <a:ext cx="190500" cy="152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5FFE02A-A88C-6C6D-627F-A6A4D6862820}"/>
              </a:ext>
            </a:extLst>
          </p:cNvPr>
          <p:cNvSpPr txBox="1"/>
          <p:nvPr/>
        </p:nvSpPr>
        <p:spPr>
          <a:xfrm>
            <a:off x="240033" y="61544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hich is also known as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Bayes classifier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75317E-E6F9-F832-8A5B-F404F5A685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0050" y="5175751"/>
            <a:ext cx="6311900" cy="6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73DDBC-B9FC-37B8-8BD5-038BA92C2CDF}"/>
              </a:ext>
            </a:extLst>
          </p:cNvPr>
          <p:cNvSpPr txBox="1"/>
          <p:nvPr/>
        </p:nvSpPr>
        <p:spPr>
          <a:xfrm>
            <a:off x="240033" y="-100223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Bayes classifier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8F1DAE-9F7B-2006-0BA9-69584E5C5961}"/>
              </a:ext>
            </a:extLst>
          </p:cNvPr>
          <p:cNvSpPr txBox="1"/>
          <p:nvPr/>
        </p:nvSpPr>
        <p:spPr>
          <a:xfrm>
            <a:off x="240033" y="929391"/>
            <a:ext cx="3793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want to find a function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E8A104-5CE9-A831-7FDE-85489AEC6C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4247" y="988374"/>
            <a:ext cx="2146300" cy="342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2FA8DD-5832-F2D3-5748-5C148F2A926D}"/>
              </a:ext>
            </a:extLst>
          </p:cNvPr>
          <p:cNvSpPr txBox="1"/>
          <p:nvPr/>
        </p:nvSpPr>
        <p:spPr>
          <a:xfrm>
            <a:off x="6040547" y="910574"/>
            <a:ext cx="5846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uch that it minimizes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probability error</a:t>
            </a:r>
          </a:p>
        </p:txBody>
      </p:sp>
    </p:spTree>
    <p:extLst>
      <p:ext uri="{BB962C8B-B14F-4D97-AF65-F5344CB8AC3E}">
        <p14:creationId xmlns:p14="http://schemas.microsoft.com/office/powerpoint/2010/main" val="3683527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62933AC-6006-282B-0ACC-04A46EE49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800" y="327600"/>
            <a:ext cx="6976872" cy="64785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D80E93-86F4-EB25-980D-8FC3FA17F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537" y="2195168"/>
            <a:ext cx="1574800" cy="812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24A038-E87C-1E29-90CE-51E96A539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287" y="4043241"/>
            <a:ext cx="2527300" cy="342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923629-D099-300C-1896-4D18402B0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9287" y="4616431"/>
            <a:ext cx="2527300" cy="3429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52DCD2-CDB5-E93A-71E4-D6E864A98E99}"/>
              </a:ext>
            </a:extLst>
          </p:cNvPr>
          <p:cNvSpPr txBox="1"/>
          <p:nvPr/>
        </p:nvSpPr>
        <p:spPr>
          <a:xfrm>
            <a:off x="632641" y="1491524"/>
            <a:ext cx="4289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data points are defined in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62F2B2-9016-C319-62E0-F9D2F4488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993" y="1540904"/>
            <a:ext cx="355600" cy="304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FB4349-FBA3-90EB-FC21-DCBB1AACEFBB}"/>
              </a:ext>
            </a:extLst>
          </p:cNvPr>
          <p:cNvSpPr txBox="1"/>
          <p:nvPr/>
        </p:nvSpPr>
        <p:spPr>
          <a:xfrm>
            <a:off x="632641" y="3305469"/>
            <a:ext cx="3954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they are sampled as per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251C42-98E9-EF3B-8262-DC988A51AB16}"/>
              </a:ext>
            </a:extLst>
          </p:cNvPr>
          <p:cNvSpPr txBox="1"/>
          <p:nvPr/>
        </p:nvSpPr>
        <p:spPr>
          <a:xfrm>
            <a:off x="632641" y="5108829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CD08F9-215A-341E-593B-BFD3398A06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776" y="5786691"/>
            <a:ext cx="4051300" cy="3429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BC3A63E-DC58-A621-230F-864B7DBCFBB3}"/>
              </a:ext>
            </a:extLst>
          </p:cNvPr>
          <p:cNvSpPr txBox="1"/>
          <p:nvPr/>
        </p:nvSpPr>
        <p:spPr>
          <a:xfrm>
            <a:off x="632641" y="824248"/>
            <a:ext cx="46341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Example on a simulated dataset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611B7DB-2CEB-238A-8033-08CC6424E128}"/>
              </a:ext>
            </a:extLst>
          </p:cNvPr>
          <p:cNvSpPr/>
          <p:nvPr/>
        </p:nvSpPr>
        <p:spPr>
          <a:xfrm>
            <a:off x="386955" y="956246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141CF9-3EFA-B578-6046-6BBB72E240E9}"/>
              </a:ext>
            </a:extLst>
          </p:cNvPr>
          <p:cNvSpPr/>
          <p:nvPr/>
        </p:nvSpPr>
        <p:spPr>
          <a:xfrm>
            <a:off x="1363931" y="4146912"/>
            <a:ext cx="179843" cy="179843"/>
          </a:xfrm>
          <a:prstGeom prst="rect">
            <a:avLst/>
          </a:prstGeom>
          <a:solidFill>
            <a:srgbClr val="1E77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987091-90DB-6262-CBC4-D943213D0D10}"/>
              </a:ext>
            </a:extLst>
          </p:cNvPr>
          <p:cNvSpPr/>
          <p:nvPr/>
        </p:nvSpPr>
        <p:spPr>
          <a:xfrm>
            <a:off x="1355955" y="4695666"/>
            <a:ext cx="179843" cy="179843"/>
          </a:xfrm>
          <a:prstGeom prst="rect">
            <a:avLst/>
          </a:prstGeom>
          <a:solidFill>
            <a:srgbClr val="FF7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C47C61-684A-FF8C-A59E-2FDF90912A4B}"/>
              </a:ext>
            </a:extLst>
          </p:cNvPr>
          <p:cNvSpPr txBox="1"/>
          <p:nvPr/>
        </p:nvSpPr>
        <p:spPr>
          <a:xfrm>
            <a:off x="240033" y="-100223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Bayes classifier</a:t>
            </a:r>
          </a:p>
        </p:txBody>
      </p:sp>
    </p:spTree>
    <p:extLst>
      <p:ext uri="{BB962C8B-B14F-4D97-AF65-F5344CB8AC3E}">
        <p14:creationId xmlns:p14="http://schemas.microsoft.com/office/powerpoint/2010/main" val="2580066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690DAA-BA37-2FFE-6A83-8D3F1E7D2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800" y="327600"/>
            <a:ext cx="6976872" cy="64785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16D3D-305C-7039-F284-17D95AC744FC}"/>
              </a:ext>
            </a:extLst>
          </p:cNvPr>
          <p:cNvSpPr txBox="1"/>
          <p:nvPr/>
        </p:nvSpPr>
        <p:spPr>
          <a:xfrm>
            <a:off x="240033" y="-100223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Bayes classifier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F91555-ABB3-0C26-54D9-D3A5CF4BA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537" y="2195168"/>
            <a:ext cx="1574800" cy="812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FFBFAA-01BB-73FE-A133-8656E39DE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287" y="4043241"/>
            <a:ext cx="2527300" cy="342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804725-D545-CA88-A0EC-E5F5B7A74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9287" y="4616431"/>
            <a:ext cx="2527300" cy="3429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2E466E8-D73A-D1B5-0672-E27D1F7D627F}"/>
              </a:ext>
            </a:extLst>
          </p:cNvPr>
          <p:cNvSpPr txBox="1"/>
          <p:nvPr/>
        </p:nvSpPr>
        <p:spPr>
          <a:xfrm>
            <a:off x="632641" y="1491524"/>
            <a:ext cx="4289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data points are defined in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C4E8EA3-C88C-E061-BD3B-3713DC16E3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993" y="1540904"/>
            <a:ext cx="355600" cy="3048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FF21D2A-46A7-E4D2-0BDC-BE1FC2182BCB}"/>
              </a:ext>
            </a:extLst>
          </p:cNvPr>
          <p:cNvSpPr txBox="1"/>
          <p:nvPr/>
        </p:nvSpPr>
        <p:spPr>
          <a:xfrm>
            <a:off x="632641" y="3305469"/>
            <a:ext cx="3954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they are sampled as per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143836-2EAA-2FC0-7E88-FC3B037D154F}"/>
              </a:ext>
            </a:extLst>
          </p:cNvPr>
          <p:cNvSpPr txBox="1"/>
          <p:nvPr/>
        </p:nvSpPr>
        <p:spPr>
          <a:xfrm>
            <a:off x="632641" y="5108829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43E1A1A-283F-AAA0-6AE5-1D10BDF60F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776" y="5786691"/>
            <a:ext cx="4051300" cy="3429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D723AF9-CE30-943B-7547-488E79FAC0DB}"/>
              </a:ext>
            </a:extLst>
          </p:cNvPr>
          <p:cNvSpPr txBox="1"/>
          <p:nvPr/>
        </p:nvSpPr>
        <p:spPr>
          <a:xfrm>
            <a:off x="632641" y="824248"/>
            <a:ext cx="46341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Example on a simulated dataset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84C7488-862C-BE93-23E3-DA378231F434}"/>
              </a:ext>
            </a:extLst>
          </p:cNvPr>
          <p:cNvSpPr/>
          <p:nvPr/>
        </p:nvSpPr>
        <p:spPr>
          <a:xfrm>
            <a:off x="386955" y="956246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578058-A361-2A11-4D91-CF04DC0F66E3}"/>
              </a:ext>
            </a:extLst>
          </p:cNvPr>
          <p:cNvSpPr/>
          <p:nvPr/>
        </p:nvSpPr>
        <p:spPr>
          <a:xfrm>
            <a:off x="1363931" y="4146912"/>
            <a:ext cx="179843" cy="179843"/>
          </a:xfrm>
          <a:prstGeom prst="rect">
            <a:avLst/>
          </a:prstGeom>
          <a:solidFill>
            <a:srgbClr val="1E77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C32D74-0EA4-B9C6-C2A0-D698287C9061}"/>
              </a:ext>
            </a:extLst>
          </p:cNvPr>
          <p:cNvSpPr/>
          <p:nvPr/>
        </p:nvSpPr>
        <p:spPr>
          <a:xfrm>
            <a:off x="1355955" y="4695666"/>
            <a:ext cx="179843" cy="179843"/>
          </a:xfrm>
          <a:prstGeom prst="rect">
            <a:avLst/>
          </a:prstGeom>
          <a:solidFill>
            <a:srgbClr val="FF7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34955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B072DC1-BBCD-A82A-2546-981E1E8A9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0" y="1984181"/>
            <a:ext cx="6972300" cy="1219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7C2C94-6EE3-4FEA-5EE3-28EF181C1D2D}"/>
              </a:ext>
            </a:extLst>
          </p:cNvPr>
          <p:cNvSpPr txBox="1"/>
          <p:nvPr/>
        </p:nvSpPr>
        <p:spPr>
          <a:xfrm>
            <a:off x="240033" y="1456643"/>
            <a:ext cx="6239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conditional probability for small     is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DFDAFE-70EE-0C81-9FF3-2F6F08171E93}"/>
              </a:ext>
            </a:extLst>
          </p:cNvPr>
          <p:cNvCxnSpPr/>
          <p:nvPr/>
        </p:nvCxnSpPr>
        <p:spPr>
          <a:xfrm>
            <a:off x="4571995" y="2742420"/>
            <a:ext cx="1908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93615F4-26C3-70C5-315C-F4B9522578A3}"/>
              </a:ext>
            </a:extLst>
          </p:cNvPr>
          <p:cNvSpPr txBox="1"/>
          <p:nvPr/>
        </p:nvSpPr>
        <p:spPr>
          <a:xfrm>
            <a:off x="4349771" y="2826641"/>
            <a:ext cx="2496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ball centered around x</a:t>
            </a:r>
            <a:r>
              <a:rPr lang="en-FR" baseline="-250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0</a:t>
            </a:r>
            <a:endParaRPr lang="en-FR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1439F6-AF77-EB64-C8F5-C193E30ECB9B}"/>
              </a:ext>
            </a:extLst>
          </p:cNvPr>
          <p:cNvSpPr txBox="1"/>
          <p:nvPr/>
        </p:nvSpPr>
        <p:spPr>
          <a:xfrm>
            <a:off x="240032" y="3573246"/>
            <a:ext cx="5414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the Bayes classifier is written as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7987F74-14C5-75A6-1397-80D27D4CF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150" y="4311207"/>
            <a:ext cx="6235700" cy="10033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476231F-4F71-D199-DB61-31B93AC1D4F4}"/>
              </a:ext>
            </a:extLst>
          </p:cNvPr>
          <p:cNvSpPr txBox="1"/>
          <p:nvPr/>
        </p:nvSpPr>
        <p:spPr>
          <a:xfrm>
            <a:off x="240031" y="5686310"/>
            <a:ext cx="5944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boundary region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defined as 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489C18E-F2BC-8D29-267C-2F01E3535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088" y="5612342"/>
            <a:ext cx="6413500" cy="60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E6E270-6CFC-E140-02DB-81127ABF2B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975" y="1580887"/>
            <a:ext cx="167640" cy="1981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8524DE-E6E8-B52A-D962-A58E26E373A1}"/>
              </a:ext>
            </a:extLst>
          </p:cNvPr>
          <p:cNvSpPr txBox="1"/>
          <p:nvPr/>
        </p:nvSpPr>
        <p:spPr>
          <a:xfrm>
            <a:off x="240033" y="-100223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Bayes classifier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E5A2F-5EDA-A383-B8F6-9B01EFEC9BC7}"/>
              </a:ext>
            </a:extLst>
          </p:cNvPr>
          <p:cNvSpPr txBox="1"/>
          <p:nvPr/>
        </p:nvSpPr>
        <p:spPr>
          <a:xfrm>
            <a:off x="632641" y="824248"/>
            <a:ext cx="46341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Example on a simulated dataset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2DE186-92EC-181B-4873-A311CB618B74}"/>
              </a:ext>
            </a:extLst>
          </p:cNvPr>
          <p:cNvSpPr/>
          <p:nvPr/>
        </p:nvSpPr>
        <p:spPr>
          <a:xfrm>
            <a:off x="386955" y="956246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87929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B35D8DD-7DA3-A7DA-C046-C9A1B006D93A}"/>
              </a:ext>
            </a:extLst>
          </p:cNvPr>
          <p:cNvSpPr/>
          <p:nvPr/>
        </p:nvSpPr>
        <p:spPr>
          <a:xfrm>
            <a:off x="386954" y="2834184"/>
            <a:ext cx="4879845" cy="697832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CEF735-F19B-3698-392A-E18755EB2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340" y="327600"/>
            <a:ext cx="6976872" cy="64785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611B7DB-2CEB-238A-8033-08CC6424E128}"/>
              </a:ext>
            </a:extLst>
          </p:cNvPr>
          <p:cNvSpPr/>
          <p:nvPr/>
        </p:nvSpPr>
        <p:spPr>
          <a:xfrm>
            <a:off x="386955" y="956246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600A1-23EC-7B4B-837B-273B0FD3B0C8}"/>
              </a:ext>
            </a:extLst>
          </p:cNvPr>
          <p:cNvSpPr txBox="1"/>
          <p:nvPr/>
        </p:nvSpPr>
        <p:spPr>
          <a:xfrm>
            <a:off x="300193" y="1456643"/>
            <a:ext cx="54293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error rate of the Bayes classifier is the minimal value that one may expect for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any classifier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applied to the dataset.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6ABAEC-0AA3-DAF8-2E65-B6C311828B99}"/>
              </a:ext>
            </a:extLst>
          </p:cNvPr>
          <p:cNvSpPr txBox="1"/>
          <p:nvPr/>
        </p:nvSpPr>
        <p:spPr>
          <a:xfrm>
            <a:off x="917010" y="2952267"/>
            <a:ext cx="45861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the problem solved then?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F8907E-70A2-6A71-F1B0-9EBB356AE168}"/>
              </a:ext>
            </a:extLst>
          </p:cNvPr>
          <p:cNvSpPr txBox="1"/>
          <p:nvPr/>
        </p:nvSpPr>
        <p:spPr>
          <a:xfrm>
            <a:off x="632641" y="824248"/>
            <a:ext cx="46341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Example on a simulated dataset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C2927F-FF88-090D-77A8-443897A930A8}"/>
              </a:ext>
            </a:extLst>
          </p:cNvPr>
          <p:cNvSpPr txBox="1"/>
          <p:nvPr/>
        </p:nvSpPr>
        <p:spPr>
          <a:xfrm>
            <a:off x="240033" y="-100223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Bayes classifier</a:t>
            </a:r>
          </a:p>
        </p:txBody>
      </p:sp>
    </p:spTree>
    <p:extLst>
      <p:ext uri="{BB962C8B-B14F-4D97-AF65-F5344CB8AC3E}">
        <p14:creationId xmlns:p14="http://schemas.microsoft.com/office/powerpoint/2010/main" val="947511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23E41-EC0B-12FD-8A49-D9BAAFED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92BD788-CBCF-F08E-9CC6-07C111AAFC8A}"/>
              </a:ext>
            </a:extLst>
          </p:cNvPr>
          <p:cNvSpPr/>
          <p:nvPr/>
        </p:nvSpPr>
        <p:spPr>
          <a:xfrm>
            <a:off x="386954" y="2834184"/>
            <a:ext cx="4879845" cy="697832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7D4D44-D556-FAEC-3A3A-EB754298A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340" y="327600"/>
            <a:ext cx="6976872" cy="64785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FD3E99-899C-A308-E0B0-F69C09A3972F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82F303A-A0E0-B10F-B52B-40D23EE4DC6A}"/>
              </a:ext>
            </a:extLst>
          </p:cNvPr>
          <p:cNvSpPr/>
          <p:nvPr/>
        </p:nvSpPr>
        <p:spPr>
          <a:xfrm>
            <a:off x="386955" y="956246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B3031-366C-8B19-32E7-555264DDEB49}"/>
              </a:ext>
            </a:extLst>
          </p:cNvPr>
          <p:cNvSpPr txBox="1"/>
          <p:nvPr/>
        </p:nvSpPr>
        <p:spPr>
          <a:xfrm>
            <a:off x="300193" y="1456643"/>
            <a:ext cx="54293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error rate of the Bayes classifier is the minimal value that one may expect for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any classifier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applied to the dataset.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F73050-57A0-F0DA-728D-9FFCBDF248E1}"/>
              </a:ext>
            </a:extLst>
          </p:cNvPr>
          <p:cNvSpPr txBox="1"/>
          <p:nvPr/>
        </p:nvSpPr>
        <p:spPr>
          <a:xfrm>
            <a:off x="917010" y="2952267"/>
            <a:ext cx="45861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the problem solved then?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DCF4AD3-3201-DC2D-CF48-2CD2969246AF}"/>
              </a:ext>
            </a:extLst>
          </p:cNvPr>
          <p:cNvGrpSpPr/>
          <p:nvPr/>
        </p:nvGrpSpPr>
        <p:grpSpPr>
          <a:xfrm>
            <a:off x="2024034" y="3665489"/>
            <a:ext cx="1815540" cy="848347"/>
            <a:chOff x="1788440" y="3885162"/>
            <a:chExt cx="1815540" cy="84834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365430-06C9-10E9-29D7-FD3E1062D2D5}"/>
                </a:ext>
              </a:extLst>
            </p:cNvPr>
            <p:cNvSpPr txBox="1"/>
            <p:nvPr/>
          </p:nvSpPr>
          <p:spPr>
            <a:xfrm>
              <a:off x="1788440" y="3885162"/>
              <a:ext cx="1005403" cy="8002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4600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NO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0D3A45-0489-99E8-4937-D2FCA9B9EFD8}"/>
                </a:ext>
              </a:extLst>
            </p:cNvPr>
            <p:cNvSpPr txBox="1"/>
            <p:nvPr/>
          </p:nvSpPr>
          <p:spPr>
            <a:xfrm>
              <a:off x="2737706" y="3994845"/>
              <a:ext cx="866274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FR" sz="4200" b="1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😔</a:t>
              </a:r>
              <a:endParaRPr lang="en-FR" sz="420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72E77D2-09E8-3343-32CA-B47A66657F41}"/>
              </a:ext>
            </a:extLst>
          </p:cNvPr>
          <p:cNvSpPr txBox="1"/>
          <p:nvPr/>
        </p:nvSpPr>
        <p:spPr>
          <a:xfrm>
            <a:off x="300193" y="4599181"/>
            <a:ext cx="59357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never know the true data distributions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756AC06-1CF3-556B-B9C3-314E47372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418" y="5241956"/>
            <a:ext cx="1028700" cy="3429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FB13A96-0ECA-B10C-C0B4-DD71E10F8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5277" y="5241956"/>
            <a:ext cx="609600" cy="3429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C2B6334-5A3D-10FA-6227-F7A59FDFA0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136" y="5265041"/>
            <a:ext cx="1752600" cy="3429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28841EB-444E-0593-4190-B45C0748A363}"/>
              </a:ext>
            </a:extLst>
          </p:cNvPr>
          <p:cNvSpPr txBox="1"/>
          <p:nvPr/>
        </p:nvSpPr>
        <p:spPr>
          <a:xfrm>
            <a:off x="300192" y="5842914"/>
            <a:ext cx="54293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 we end up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approximating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things…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783B3B-29AE-3417-0A96-424FDE857241}"/>
              </a:ext>
            </a:extLst>
          </p:cNvPr>
          <p:cNvSpPr txBox="1"/>
          <p:nvPr/>
        </p:nvSpPr>
        <p:spPr>
          <a:xfrm>
            <a:off x="632641" y="824248"/>
            <a:ext cx="46341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Example on a simulated dataset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2E9957-34BE-E58A-17B8-1E0DC51B0CC0}"/>
              </a:ext>
            </a:extLst>
          </p:cNvPr>
          <p:cNvSpPr txBox="1"/>
          <p:nvPr/>
        </p:nvSpPr>
        <p:spPr>
          <a:xfrm>
            <a:off x="240033" y="-100223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Bayes classifier</a:t>
            </a:r>
          </a:p>
        </p:txBody>
      </p:sp>
    </p:spTree>
    <p:extLst>
      <p:ext uri="{BB962C8B-B14F-4D97-AF65-F5344CB8AC3E}">
        <p14:creationId xmlns:p14="http://schemas.microsoft.com/office/powerpoint/2010/main" val="322987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6D1AA-6BCF-B700-4F1A-A2727877C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6870DF-D1D6-C51E-2AE9-4FA5296A3D8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0DDCE102-C0D1-704D-00C0-9A6BF9052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4028565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1E7D9D-E65E-48DA-4FDD-3ABA70309C35}"/>
              </a:ext>
            </a:extLst>
          </p:cNvPr>
          <p:cNvSpPr txBox="1"/>
          <p:nvPr/>
        </p:nvSpPr>
        <p:spPr>
          <a:xfrm>
            <a:off x="1865622" y="1450257"/>
            <a:ext cx="8372805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Important tools from Probability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Bayes classifier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Discriminative approaches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</p:spTree>
    <p:extLst>
      <p:ext uri="{BB962C8B-B14F-4D97-AF65-F5344CB8AC3E}">
        <p14:creationId xmlns:p14="http://schemas.microsoft.com/office/powerpoint/2010/main" val="3710732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41E2808-127D-CB36-E864-78DA27569110}"/>
              </a:ext>
            </a:extLst>
          </p:cNvPr>
          <p:cNvSpPr/>
          <p:nvPr/>
        </p:nvSpPr>
        <p:spPr>
          <a:xfrm>
            <a:off x="2610918" y="1574789"/>
            <a:ext cx="6970163" cy="945728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D9EC4-CEC7-36AE-5DDA-258033964660}"/>
              </a:ext>
            </a:extLst>
          </p:cNvPr>
          <p:cNvSpPr txBox="1"/>
          <p:nvPr/>
        </p:nvSpPr>
        <p:spPr>
          <a:xfrm>
            <a:off x="240033" y="-11625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B5076-F99D-A3EC-0690-C0CC215F2134}"/>
              </a:ext>
            </a:extLst>
          </p:cNvPr>
          <p:cNvSpPr txBox="1"/>
          <p:nvPr/>
        </p:nvSpPr>
        <p:spPr>
          <a:xfrm>
            <a:off x="240033" y="855064"/>
            <a:ext cx="11611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 are many strategies for approximating the Bayes classifier.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7910F-8B56-EA99-7E56-DDA41A98B76E}"/>
              </a:ext>
            </a:extLst>
          </p:cNvPr>
          <p:cNvSpPr txBox="1"/>
          <p:nvPr/>
        </p:nvSpPr>
        <p:spPr>
          <a:xfrm>
            <a:off x="733328" y="3492572"/>
            <a:ext cx="51428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K-nearest neighbours (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02BBE-DF51-09D3-2CDB-34327A24569B}"/>
              </a:ext>
            </a:extLst>
          </p:cNvPr>
          <p:cNvSpPr txBox="1"/>
          <p:nvPr/>
        </p:nvSpPr>
        <p:spPr>
          <a:xfrm>
            <a:off x="733328" y="3987044"/>
            <a:ext cx="4175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Logistic regression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9870B-86CC-BFB7-ED15-95DCC068F4F7}"/>
              </a:ext>
            </a:extLst>
          </p:cNvPr>
          <p:cNvSpPr txBox="1"/>
          <p:nvPr/>
        </p:nvSpPr>
        <p:spPr>
          <a:xfrm>
            <a:off x="733327" y="4481516"/>
            <a:ext cx="69701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Linear and quadratic discriminant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38003-014A-E516-9CB9-14F6333BF8F4}"/>
              </a:ext>
            </a:extLst>
          </p:cNvPr>
          <p:cNvSpPr txBox="1"/>
          <p:nvPr/>
        </p:nvSpPr>
        <p:spPr>
          <a:xfrm>
            <a:off x="733328" y="4975988"/>
            <a:ext cx="3971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Naïve Bayes classifier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2E241C-F261-2E93-E67D-BB428811B00D}"/>
              </a:ext>
            </a:extLst>
          </p:cNvPr>
          <p:cNvSpPr/>
          <p:nvPr/>
        </p:nvSpPr>
        <p:spPr>
          <a:xfrm>
            <a:off x="7055802" y="4557017"/>
            <a:ext cx="72190" cy="86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DFD69B-AE1D-466E-9922-514A67CC2F55}"/>
              </a:ext>
            </a:extLst>
          </p:cNvPr>
          <p:cNvSpPr txBox="1"/>
          <p:nvPr/>
        </p:nvSpPr>
        <p:spPr>
          <a:xfrm>
            <a:off x="7164088" y="4760544"/>
            <a:ext cx="30460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Generative approaches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03193E-0770-4D77-4B49-AE30E12DD77F}"/>
              </a:ext>
            </a:extLst>
          </p:cNvPr>
          <p:cNvSpPr txBox="1"/>
          <p:nvPr/>
        </p:nvSpPr>
        <p:spPr>
          <a:xfrm>
            <a:off x="240032" y="2813003"/>
            <a:ext cx="610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this course we will focus on: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92CB06-14A8-67AE-95A9-99E69518B65F}"/>
              </a:ext>
            </a:extLst>
          </p:cNvPr>
          <p:cNvSpPr/>
          <p:nvPr/>
        </p:nvSpPr>
        <p:spPr>
          <a:xfrm>
            <a:off x="7055802" y="3554616"/>
            <a:ext cx="72190" cy="864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20B42A-05A0-3FC9-5CC3-1281B23CBAF8}"/>
              </a:ext>
            </a:extLst>
          </p:cNvPr>
          <p:cNvSpPr txBox="1"/>
          <p:nvPr/>
        </p:nvSpPr>
        <p:spPr>
          <a:xfrm>
            <a:off x="7164088" y="3758143"/>
            <a:ext cx="34467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rgbClr val="00B0F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Discriminative approaches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7AC831-8F7C-9792-A847-B4F630CA8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049" y="1714105"/>
            <a:ext cx="6311900" cy="673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6C2A71-BDB6-966D-7DA1-4BFEB8503C0C}"/>
              </a:ext>
            </a:extLst>
          </p:cNvPr>
          <p:cNvSpPr txBox="1"/>
          <p:nvPr/>
        </p:nvSpPr>
        <p:spPr>
          <a:xfrm>
            <a:off x="733328" y="5470460"/>
            <a:ext cx="3971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Random forests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AAC393-703D-0427-E032-37BC9CAD4D61}"/>
              </a:ext>
            </a:extLst>
          </p:cNvPr>
          <p:cNvSpPr txBox="1"/>
          <p:nvPr/>
        </p:nvSpPr>
        <p:spPr>
          <a:xfrm>
            <a:off x="733328" y="5964932"/>
            <a:ext cx="3971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Gradient boosted trees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FF1F2F-CEC5-E021-5586-5FC02120E8E1}"/>
              </a:ext>
            </a:extLst>
          </p:cNvPr>
          <p:cNvSpPr/>
          <p:nvPr/>
        </p:nvSpPr>
        <p:spPr>
          <a:xfrm>
            <a:off x="7055802" y="5570936"/>
            <a:ext cx="72190" cy="864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E31AF7-50CD-74C4-F12B-5AE497B18735}"/>
              </a:ext>
            </a:extLst>
          </p:cNvPr>
          <p:cNvSpPr txBox="1"/>
          <p:nvPr/>
        </p:nvSpPr>
        <p:spPr>
          <a:xfrm>
            <a:off x="7164088" y="5787492"/>
            <a:ext cx="31005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Ensembling approaches</a:t>
            </a:r>
          </a:p>
        </p:txBody>
      </p:sp>
    </p:spTree>
    <p:extLst>
      <p:ext uri="{BB962C8B-B14F-4D97-AF65-F5344CB8AC3E}">
        <p14:creationId xmlns:p14="http://schemas.microsoft.com/office/powerpoint/2010/main" val="4251408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B5076-F99D-A3EC-0690-C0CC215F2134}"/>
              </a:ext>
            </a:extLst>
          </p:cNvPr>
          <p:cNvSpPr txBox="1"/>
          <p:nvPr/>
        </p:nvSpPr>
        <p:spPr>
          <a:xfrm>
            <a:off x="515824" y="855062"/>
            <a:ext cx="52703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K-nearest neighbours (</a:t>
            </a:r>
            <a:r>
              <a:rPr lang="en-GB" sz="2400" b="1" dirty="0" err="1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68DF09-2747-180C-4AFF-5D401EA9F9D4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DB48A7-C847-42BF-D677-7DCFF9C28E0F}"/>
              </a:ext>
            </a:extLst>
          </p:cNvPr>
          <p:cNvSpPr txBox="1"/>
          <p:nvPr/>
        </p:nvSpPr>
        <p:spPr>
          <a:xfrm>
            <a:off x="278388" y="1448018"/>
            <a:ext cx="9987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first that for any test point                   we can always write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666F045-E6B7-B849-60C7-AE65CF97E6E7}"/>
              </a:ext>
            </a:extLst>
          </p:cNvPr>
          <p:cNvSpPr/>
          <p:nvPr/>
        </p:nvSpPr>
        <p:spPr>
          <a:xfrm>
            <a:off x="9356639" y="5523482"/>
            <a:ext cx="2606020" cy="820284"/>
          </a:xfrm>
          <a:prstGeom prst="rect">
            <a:avLst/>
          </a:prstGeom>
          <a:noFill/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DA8BC4-6C4A-7E7B-6F49-D94284304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77" y="2151652"/>
            <a:ext cx="7556500" cy="596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4C4DC3-FCEB-B41D-E517-6D8EFBE88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077" y="3060700"/>
            <a:ext cx="6146800" cy="736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1AC2DD-0F69-F63E-7034-0BA6AADB5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1077" y="4116101"/>
            <a:ext cx="9372600" cy="1003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513700-562A-EDE3-850E-7328207CBB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1077" y="5438202"/>
            <a:ext cx="6591300" cy="762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428FFD0-00B5-1C1E-3F85-E74E0E29D5BB}"/>
              </a:ext>
            </a:extLst>
          </p:cNvPr>
          <p:cNvGrpSpPr/>
          <p:nvPr/>
        </p:nvGrpSpPr>
        <p:grpSpPr>
          <a:xfrm>
            <a:off x="9445496" y="5478956"/>
            <a:ext cx="2440417" cy="918876"/>
            <a:chOff x="8946143" y="2984258"/>
            <a:chExt cx="2440417" cy="91887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9BFA062-AB4C-DA8A-20FF-D58DF57CFA46}"/>
                </a:ext>
              </a:extLst>
            </p:cNvPr>
            <p:cNvSpPr/>
            <p:nvPr/>
          </p:nvSpPr>
          <p:spPr>
            <a:xfrm>
              <a:off x="8946143" y="3770933"/>
              <a:ext cx="2440417" cy="132201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80F7AC9-B69A-CD50-0999-EEF39CBD84F5}"/>
                </a:ext>
              </a:extLst>
            </p:cNvPr>
            <p:cNvSpPr/>
            <p:nvPr/>
          </p:nvSpPr>
          <p:spPr>
            <a:xfrm>
              <a:off x="8946143" y="2984258"/>
              <a:ext cx="2440417" cy="132201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6601476-D517-A932-3C64-8C054EF85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88162" y="3165721"/>
              <a:ext cx="2144268" cy="544576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FAA78DD-B38E-589B-F77A-A5F250E147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6282" y="1518213"/>
            <a:ext cx="1117600" cy="3048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E8C3D7-17BC-CE68-BAE7-D7CBFA083E2B}"/>
              </a:ext>
            </a:extLst>
          </p:cNvPr>
          <p:cNvCxnSpPr>
            <a:cxnSpLocks/>
          </p:cNvCxnSpPr>
          <p:nvPr/>
        </p:nvCxnSpPr>
        <p:spPr>
          <a:xfrm flipV="1">
            <a:off x="9844391" y="5159062"/>
            <a:ext cx="648511" cy="50135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85829F-0C2D-2607-E6D9-611E3425DDE6}"/>
              </a:ext>
            </a:extLst>
          </p:cNvPr>
          <p:cNvSpPr txBox="1"/>
          <p:nvPr/>
        </p:nvSpPr>
        <p:spPr>
          <a:xfrm>
            <a:off x="240033" y="-11625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</p:spTree>
    <p:extLst>
      <p:ext uri="{BB962C8B-B14F-4D97-AF65-F5344CB8AC3E}">
        <p14:creationId xmlns:p14="http://schemas.microsoft.com/office/powerpoint/2010/main" val="2808793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68DF09-2747-180C-4AFF-5D401EA9F9D4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FEB2B0C-A8D9-ADD2-33B9-C62990A4D84A}"/>
              </a:ext>
            </a:extLst>
          </p:cNvPr>
          <p:cNvGrpSpPr/>
          <p:nvPr/>
        </p:nvGrpSpPr>
        <p:grpSpPr>
          <a:xfrm>
            <a:off x="323534" y="3202493"/>
            <a:ext cx="2847685" cy="461665"/>
            <a:chOff x="4074414" y="4768616"/>
            <a:chExt cx="2847685" cy="46166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1ADD721-982D-5DDC-73EA-F4CCA9D43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3269" y="4856658"/>
              <a:ext cx="2068830" cy="30861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5F6A5D-B290-451B-FA60-ADE88164B282}"/>
                </a:ext>
              </a:extLst>
            </p:cNvPr>
            <p:cNvSpPr txBox="1"/>
            <p:nvPr/>
          </p:nvSpPr>
          <p:spPr>
            <a:xfrm>
              <a:off x="4074414" y="4768616"/>
              <a:ext cx="96316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with</a:t>
              </a:r>
              <a:endParaRPr lang="en-FR" sz="2400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054FFC9-AF08-31C4-CCEE-A500E86F9F70}"/>
              </a:ext>
            </a:extLst>
          </p:cNvPr>
          <p:cNvGrpSpPr/>
          <p:nvPr/>
        </p:nvGrpSpPr>
        <p:grpSpPr>
          <a:xfrm>
            <a:off x="323533" y="3924890"/>
            <a:ext cx="11443745" cy="461665"/>
            <a:chOff x="529335" y="5599819"/>
            <a:chExt cx="11443745" cy="4616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92AA3A-332E-C903-2D21-D0214E9E5135}"/>
                </a:ext>
              </a:extLst>
            </p:cNvPr>
            <p:cNvSpPr txBox="1"/>
            <p:nvPr/>
          </p:nvSpPr>
          <p:spPr>
            <a:xfrm>
              <a:off x="529335" y="5599819"/>
              <a:ext cx="1144374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In </a:t>
              </a:r>
              <a:r>
                <a:rPr lang="en-GB" sz="2400" dirty="0" err="1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kNN</a:t>
              </a:r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 we approximate			     i.e. the set of K nearest neighbours of</a:t>
              </a:r>
              <a:endParaRPr lang="en-FR" sz="2400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9F5AE92-72BA-AC20-982C-5D61C397F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18495" y="5751254"/>
              <a:ext cx="190500" cy="152400"/>
            </a:xfrm>
            <a:prstGeom prst="rect">
              <a:avLst/>
            </a:prstGeom>
          </p:spPr>
        </p:pic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3C5238A-D4E4-5A3D-D4C2-1CBCD48996B6}"/>
              </a:ext>
            </a:extLst>
          </p:cNvPr>
          <p:cNvSpPr/>
          <p:nvPr/>
        </p:nvSpPr>
        <p:spPr>
          <a:xfrm>
            <a:off x="3566082" y="4477836"/>
            <a:ext cx="2590800" cy="63903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B31F5E-3FF0-E516-5AD4-920CAC8E0B8A}"/>
              </a:ext>
            </a:extLst>
          </p:cNvPr>
          <p:cNvSpPr txBox="1"/>
          <p:nvPr/>
        </p:nvSpPr>
        <p:spPr>
          <a:xfrm>
            <a:off x="1040153" y="4663798"/>
            <a:ext cx="98700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approximation is good when the data points are densely distributed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FD66DD-744B-9FA7-311C-A5854C971406}"/>
              </a:ext>
            </a:extLst>
          </p:cNvPr>
          <p:cNvSpPr txBox="1"/>
          <p:nvPr/>
        </p:nvSpPr>
        <p:spPr>
          <a:xfrm>
            <a:off x="515824" y="855062"/>
            <a:ext cx="6319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K-nearest neighbours (</a:t>
            </a:r>
            <a:r>
              <a:rPr lang="en-GB" sz="2400" b="1" dirty="0" err="1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AEE521-4D7D-C8FD-E411-3BDEEBB56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50" y="2022600"/>
            <a:ext cx="10807700" cy="1092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9409E3-148C-AF3D-C059-BC4B5AC57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5501" y="3962533"/>
            <a:ext cx="2501900" cy="355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5FFD1A-9E75-D1A4-E3BC-1C5C2C96F022}"/>
              </a:ext>
            </a:extLst>
          </p:cNvPr>
          <p:cNvSpPr txBox="1"/>
          <p:nvPr/>
        </p:nvSpPr>
        <p:spPr>
          <a:xfrm>
            <a:off x="240033" y="-11625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97AA06-B8A9-179A-CF82-4552BD59AE71}"/>
              </a:ext>
            </a:extLst>
          </p:cNvPr>
          <p:cNvSpPr txBox="1"/>
          <p:nvPr/>
        </p:nvSpPr>
        <p:spPr>
          <a:xfrm>
            <a:off x="278388" y="1448018"/>
            <a:ext cx="9987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first that for any test point                   we can always write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A3F7C2-D30B-4867-93AF-4AD090462A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6282" y="1518213"/>
            <a:ext cx="11176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342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68DF09-2747-180C-4AFF-5D401EA9F9D4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5F5B26-E5E4-92A5-4C2D-BE97B3647F0F}"/>
              </a:ext>
            </a:extLst>
          </p:cNvPr>
          <p:cNvSpPr txBox="1"/>
          <p:nvPr/>
        </p:nvSpPr>
        <p:spPr>
          <a:xfrm>
            <a:off x="323534" y="3741840"/>
            <a:ext cx="10541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 is a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nonparametric classifier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: it makes no assumptions about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49DD61-83D9-AF39-BD79-61517BA33D9E}"/>
              </a:ext>
            </a:extLst>
          </p:cNvPr>
          <p:cNvSpPr txBox="1"/>
          <p:nvPr/>
        </p:nvSpPr>
        <p:spPr>
          <a:xfrm>
            <a:off x="360110" y="4239158"/>
            <a:ext cx="11097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It can be very flexible but not optimal when we know something about the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E904A-D913-DCD7-0EE5-283013BE5806}"/>
              </a:ext>
            </a:extLst>
          </p:cNvPr>
          <p:cNvSpPr txBox="1"/>
          <p:nvPr/>
        </p:nvSpPr>
        <p:spPr>
          <a:xfrm>
            <a:off x="345051" y="4902369"/>
            <a:ext cx="10724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It works well in low dimensions, but suffers from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curse of dimensionality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879343-558D-1F0A-9A6A-0A28B3B3332B}"/>
              </a:ext>
            </a:extLst>
          </p:cNvPr>
          <p:cNvSpPr txBox="1"/>
          <p:nvPr/>
        </p:nvSpPr>
        <p:spPr>
          <a:xfrm>
            <a:off x="381627" y="5399687"/>
            <a:ext cx="5487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You will see more of this with Razan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6915EA-FFEB-E848-331A-9FD93ACF5130}"/>
              </a:ext>
            </a:extLst>
          </p:cNvPr>
          <p:cNvSpPr txBox="1"/>
          <p:nvPr/>
        </p:nvSpPr>
        <p:spPr>
          <a:xfrm>
            <a:off x="345051" y="6062898"/>
            <a:ext cx="86581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hyper-parameter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K is usually chosen via cross-validation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B79E83-BC93-2F43-1B8F-319001AD9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950" y="2344989"/>
            <a:ext cx="74041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DD18B7-28D9-2312-3D1F-AEDBE153BB48}"/>
              </a:ext>
            </a:extLst>
          </p:cNvPr>
          <p:cNvSpPr txBox="1"/>
          <p:nvPr/>
        </p:nvSpPr>
        <p:spPr>
          <a:xfrm>
            <a:off x="240033" y="-11625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15BA-0B9E-C56E-578C-794E008E8ADE}"/>
              </a:ext>
            </a:extLst>
          </p:cNvPr>
          <p:cNvSpPr txBox="1"/>
          <p:nvPr/>
        </p:nvSpPr>
        <p:spPr>
          <a:xfrm>
            <a:off x="515824" y="855062"/>
            <a:ext cx="6319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K-nearest neighbours (</a:t>
            </a:r>
            <a:r>
              <a:rPr lang="en-GB" sz="2400" b="1" dirty="0" err="1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E352394-9C1E-40F6-E1FB-12F0FF9DE6AC}"/>
              </a:ext>
            </a:extLst>
          </p:cNvPr>
          <p:cNvGrpSpPr/>
          <p:nvPr/>
        </p:nvGrpSpPr>
        <p:grpSpPr>
          <a:xfrm>
            <a:off x="323533" y="1430853"/>
            <a:ext cx="11443745" cy="461665"/>
            <a:chOff x="529335" y="5599819"/>
            <a:chExt cx="11443745" cy="46166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0536C9D-3072-BB32-E30D-225B93CE126C}"/>
                </a:ext>
              </a:extLst>
            </p:cNvPr>
            <p:cNvSpPr txBox="1"/>
            <p:nvPr/>
          </p:nvSpPr>
          <p:spPr>
            <a:xfrm>
              <a:off x="529335" y="5599819"/>
              <a:ext cx="1144374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In </a:t>
              </a:r>
              <a:r>
                <a:rPr lang="en-GB" sz="2400" dirty="0" err="1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kNN</a:t>
              </a:r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 we approximate			     i.e. the set of K nearest neighbours of</a:t>
              </a:r>
              <a:endParaRPr lang="en-FR" sz="2400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F65283C-BEEB-F783-F780-1AF25DF78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18495" y="5751254"/>
              <a:ext cx="190500" cy="152400"/>
            </a:xfrm>
            <a:prstGeom prst="rect">
              <a:avLst/>
            </a:prstGeom>
          </p:spPr>
        </p:pic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7CBF2FFA-3E8B-90AE-4FB1-DE9FF0116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5501" y="1468496"/>
            <a:ext cx="2501900" cy="3556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79808624-9B56-69C7-ED4E-C709E96BC2FB}"/>
              </a:ext>
            </a:extLst>
          </p:cNvPr>
          <p:cNvSpPr/>
          <p:nvPr/>
        </p:nvSpPr>
        <p:spPr>
          <a:xfrm>
            <a:off x="1948721" y="2128603"/>
            <a:ext cx="8334531" cy="1405328"/>
          </a:xfrm>
          <a:prstGeom prst="rect">
            <a:avLst/>
          </a:prstGeom>
          <a:noFill/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6639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68DF09-2747-180C-4AFF-5D401EA9F9D4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DCF5C9-18B3-8766-174E-21F2AE0B9AFE}"/>
              </a:ext>
            </a:extLst>
          </p:cNvPr>
          <p:cNvSpPr txBox="1"/>
          <p:nvPr/>
        </p:nvSpPr>
        <p:spPr>
          <a:xfrm>
            <a:off x="240032" y="1408344"/>
            <a:ext cx="9659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classifier boundary gets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smoother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when K increases (Why?)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8F1905-3F95-67E5-A57A-FDA7176831E8}"/>
              </a:ext>
            </a:extLst>
          </p:cNvPr>
          <p:cNvSpPr txBox="1"/>
          <p:nvPr/>
        </p:nvSpPr>
        <p:spPr>
          <a:xfrm>
            <a:off x="240033" y="5931957"/>
            <a:ext cx="10612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However, it does not look that much like the Bayes classifier boundary…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DCC4F7-4C35-12B3-0336-D0E0A423E5B7}"/>
              </a:ext>
            </a:extLst>
          </p:cNvPr>
          <p:cNvSpPr txBox="1"/>
          <p:nvPr/>
        </p:nvSpPr>
        <p:spPr>
          <a:xfrm>
            <a:off x="515824" y="855062"/>
            <a:ext cx="5420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K-nearest neighbours (</a:t>
            </a:r>
            <a:r>
              <a:rPr lang="en-GB" sz="2400" b="1" dirty="0" err="1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C01B0DE-E1E8-CCA9-28E3-9B72BD691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000" y="2098800"/>
            <a:ext cx="3756660" cy="35839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B7A58A-9C59-F5B7-660B-AB9111D73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9600" y="2098800"/>
            <a:ext cx="3756660" cy="35839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4B5A445-4D63-2BD7-7A17-960FFDE30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00" y="2099171"/>
            <a:ext cx="3756660" cy="35839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71A8DF-ED23-3861-DDBF-365DAA7C8D36}"/>
              </a:ext>
            </a:extLst>
          </p:cNvPr>
          <p:cNvSpPr txBox="1"/>
          <p:nvPr/>
        </p:nvSpPr>
        <p:spPr>
          <a:xfrm>
            <a:off x="240033" y="-11625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</p:spTree>
    <p:extLst>
      <p:ext uri="{BB962C8B-B14F-4D97-AF65-F5344CB8AC3E}">
        <p14:creationId xmlns:p14="http://schemas.microsoft.com/office/powerpoint/2010/main" val="109655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E32E69-C7C4-4DC1-9543-F7BB8DF6C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574" y="1665862"/>
            <a:ext cx="6922851" cy="519213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68DF09-2747-180C-4AFF-5D401EA9F9D4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9D5AF-977A-3F35-47F6-D5E2409A2422}"/>
              </a:ext>
            </a:extLst>
          </p:cNvPr>
          <p:cNvSpPr txBox="1"/>
          <p:nvPr/>
        </p:nvSpPr>
        <p:spPr>
          <a:xfrm>
            <a:off x="240033" y="1408344"/>
            <a:ext cx="9578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error of 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usually evolves with the choice of K as below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B7764B-0069-5512-6919-A66B3533BDE2}"/>
              </a:ext>
            </a:extLst>
          </p:cNvPr>
          <p:cNvSpPr txBox="1"/>
          <p:nvPr/>
        </p:nvSpPr>
        <p:spPr>
          <a:xfrm>
            <a:off x="240033" y="-11625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ABB1BD-FDFD-5243-EB0E-4C5B5195B776}"/>
              </a:ext>
            </a:extLst>
          </p:cNvPr>
          <p:cNvSpPr txBox="1"/>
          <p:nvPr/>
        </p:nvSpPr>
        <p:spPr>
          <a:xfrm>
            <a:off x="515824" y="855062"/>
            <a:ext cx="5420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K-nearest neighbours (</a:t>
            </a:r>
            <a:r>
              <a:rPr lang="en-GB" sz="2400" b="1" dirty="0" err="1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77612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55B2F-9E2A-BF76-6D9E-488BE7C0E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41E44C-92D8-D452-6EB7-E7E0D19D2541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903E3B-8906-E978-4CCB-2D0388B3FD5C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7A83C1-B6E5-0A0B-11FF-03484801435A}"/>
              </a:ext>
            </a:extLst>
          </p:cNvPr>
          <p:cNvSpPr txBox="1"/>
          <p:nvPr/>
        </p:nvSpPr>
        <p:spPr>
          <a:xfrm>
            <a:off x="240033" y="-11625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86C63-B097-FCE9-6A3C-B2EDC2B4E100}"/>
              </a:ext>
            </a:extLst>
          </p:cNvPr>
          <p:cNvSpPr txBox="1"/>
          <p:nvPr/>
        </p:nvSpPr>
        <p:spPr>
          <a:xfrm>
            <a:off x="515824" y="855062"/>
            <a:ext cx="5420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What about a parametric approach?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76473-0AD8-6DB2-DD9D-94CA95682BF6}"/>
              </a:ext>
            </a:extLst>
          </p:cNvPr>
          <p:cNvSpPr txBox="1"/>
          <p:nvPr/>
        </p:nvSpPr>
        <p:spPr>
          <a:xfrm>
            <a:off x="240032" y="1493183"/>
            <a:ext cx="9157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First, note that if we had 				       and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EBB0A2-1292-F21A-DBD2-A3E37572D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668" y="1537258"/>
            <a:ext cx="3365500" cy="381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786240-F7A8-16DB-FE28-8A77F429C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628" y="1537200"/>
            <a:ext cx="3365500" cy="381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F284AB-D138-028C-E9DA-A10C1DE06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965" y="2307295"/>
            <a:ext cx="4051300" cy="342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5EAE37-427A-C278-2E49-0145BA1C6F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2379" y="2585991"/>
            <a:ext cx="3976087" cy="41677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6673D0-6D3D-0F68-D884-D5EA5C648643}"/>
              </a:ext>
            </a:extLst>
          </p:cNvPr>
          <p:cNvSpPr txBox="1"/>
          <p:nvPr/>
        </p:nvSpPr>
        <p:spPr>
          <a:xfrm>
            <a:off x="240032" y="2248312"/>
            <a:ext cx="698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			 		    then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9B153A2-07BD-ECF1-1D4B-3893EFEE5F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504" y="3003441"/>
            <a:ext cx="6997700" cy="12065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B33AF3D-4E93-50EE-2797-3F80F03D80C7}"/>
              </a:ext>
            </a:extLst>
          </p:cNvPr>
          <p:cNvSpPr txBox="1"/>
          <p:nvPr/>
        </p:nvSpPr>
        <p:spPr>
          <a:xfrm>
            <a:off x="240032" y="4272572"/>
            <a:ext cx="698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Therefore, the Bayes classifier is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B59A920-62FF-F493-11F0-2AB38303D3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984" y="5103032"/>
            <a:ext cx="58928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127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519AD0-F0A0-A87D-8082-7AA70B89F10E}"/>
              </a:ext>
            </a:extLst>
          </p:cNvPr>
          <p:cNvSpPr txBox="1"/>
          <p:nvPr/>
        </p:nvSpPr>
        <p:spPr>
          <a:xfrm>
            <a:off x="515824" y="855062"/>
            <a:ext cx="36751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Logistic regression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D1A63BE-262F-CC0D-C3B9-B927BB0D7B4F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81EA3D-9A28-B492-8922-30E4D3C92005}"/>
              </a:ext>
            </a:extLst>
          </p:cNvPr>
          <p:cNvSpPr txBox="1"/>
          <p:nvPr/>
        </p:nvSpPr>
        <p:spPr>
          <a:xfrm>
            <a:off x="240032" y="1408344"/>
            <a:ext cx="10762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It sounds reasonable to propose a parametric approximator 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BB2F5-30F2-7A2A-47CA-09BF9D742B15}"/>
              </a:ext>
            </a:extLst>
          </p:cNvPr>
          <p:cNvSpPr txBox="1"/>
          <p:nvPr/>
        </p:nvSpPr>
        <p:spPr>
          <a:xfrm>
            <a:off x="240033" y="-11625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8F68F9-AE8C-FC76-05E5-708E85588734}"/>
              </a:ext>
            </a:extLst>
          </p:cNvPr>
          <p:cNvSpPr txBox="1"/>
          <p:nvPr/>
        </p:nvSpPr>
        <p:spPr>
          <a:xfrm>
            <a:off x="240032" y="3154260"/>
            <a:ext cx="10762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where we will consider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ACBF2F-B974-A937-EB60-EB03C3152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476" y="2932928"/>
            <a:ext cx="3022600" cy="939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3C4533-9CA9-CCD6-F8A0-EE87EE221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172" y="3169517"/>
            <a:ext cx="3927828" cy="36472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B24F750-4BD7-45A7-6A0A-56C893B2F266}"/>
              </a:ext>
            </a:extLst>
          </p:cNvPr>
          <p:cNvSpPr txBox="1"/>
          <p:nvPr/>
        </p:nvSpPr>
        <p:spPr>
          <a:xfrm>
            <a:off x="240032" y="5199674"/>
            <a:ext cx="6512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we have a quantity that is in [0, 1]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53EE0-A62A-259F-32EC-0501BA056D99}"/>
              </a:ext>
            </a:extLst>
          </p:cNvPr>
          <p:cNvSpPr txBox="1"/>
          <p:nvPr/>
        </p:nvSpPr>
        <p:spPr>
          <a:xfrm>
            <a:off x="240032" y="5812344"/>
            <a:ext cx="69675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What if we had used linear regression instead?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7C162-8352-1230-9B84-7C7B617F48E9}"/>
              </a:ext>
            </a:extLst>
          </p:cNvPr>
          <p:cNvSpPr txBox="1"/>
          <p:nvPr/>
        </p:nvSpPr>
        <p:spPr>
          <a:xfrm>
            <a:off x="240032" y="4228595"/>
            <a:ext cx="1919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denote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6BC9FA-B3AE-D95C-A1EE-CDB6A908D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0" y="1980851"/>
            <a:ext cx="6985000" cy="812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997150-1196-E4C0-E703-EE3A44937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529" y="4073355"/>
            <a:ext cx="35306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55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519AD0-F0A0-A87D-8082-7AA70B89F10E}"/>
              </a:ext>
            </a:extLst>
          </p:cNvPr>
          <p:cNvSpPr txBox="1"/>
          <p:nvPr/>
        </p:nvSpPr>
        <p:spPr>
          <a:xfrm>
            <a:off x="515824" y="855062"/>
            <a:ext cx="36751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Logistic regression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D1A63BE-262F-CC0D-C3B9-B927BB0D7B4F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E444ED-3D3B-A697-3396-9E6E910B6C5A}"/>
              </a:ext>
            </a:extLst>
          </p:cNvPr>
          <p:cNvSpPr txBox="1"/>
          <p:nvPr/>
        </p:nvSpPr>
        <p:spPr>
          <a:xfrm>
            <a:off x="240032" y="1408344"/>
            <a:ext cx="58559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Despite being nonlinear in the parameters, the classification boundary of logistic regression is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linear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819C90-CE12-D34D-395B-7872DAB4A3C1}"/>
              </a:ext>
            </a:extLst>
          </p:cNvPr>
          <p:cNvSpPr txBox="1"/>
          <p:nvPr/>
        </p:nvSpPr>
        <p:spPr>
          <a:xfrm>
            <a:off x="240032" y="2628496"/>
            <a:ext cx="56683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Which is why it is a linear classifier!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7D4607-8288-925A-25EA-441321D46E19}"/>
              </a:ext>
            </a:extLst>
          </p:cNvPr>
          <p:cNvSpPr/>
          <p:nvPr/>
        </p:nvSpPr>
        <p:spPr>
          <a:xfrm>
            <a:off x="1612134" y="5703857"/>
            <a:ext cx="2556000" cy="70339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D7D837-3B68-F401-C22E-F2C013D514EE}"/>
              </a:ext>
            </a:extLst>
          </p:cNvPr>
          <p:cNvSpPr txBox="1"/>
          <p:nvPr/>
        </p:nvSpPr>
        <p:spPr>
          <a:xfrm>
            <a:off x="694179" y="5891577"/>
            <a:ext cx="4464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efines a separating hyperplane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4D30342-CB09-4529-CAA2-ED219837D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21" y="3427262"/>
            <a:ext cx="5105400" cy="8001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BA06FD3-506A-51A3-600B-BE0546670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434" y="4632608"/>
            <a:ext cx="2565400" cy="939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1657B1-8C8A-1031-BBE8-95EF97011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263" y="855062"/>
            <a:ext cx="6021705" cy="57448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361D09-8C09-6123-7CBE-B28D7601F1C4}"/>
              </a:ext>
            </a:extLst>
          </p:cNvPr>
          <p:cNvSpPr txBox="1"/>
          <p:nvPr/>
        </p:nvSpPr>
        <p:spPr>
          <a:xfrm>
            <a:off x="240033" y="-11625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</p:spTree>
    <p:extLst>
      <p:ext uri="{BB962C8B-B14F-4D97-AF65-F5344CB8AC3E}">
        <p14:creationId xmlns:p14="http://schemas.microsoft.com/office/powerpoint/2010/main" val="3458620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519AD0-F0A0-A87D-8082-7AA70B89F10E}"/>
              </a:ext>
            </a:extLst>
          </p:cNvPr>
          <p:cNvSpPr txBox="1"/>
          <p:nvPr/>
        </p:nvSpPr>
        <p:spPr>
          <a:xfrm>
            <a:off x="515824" y="855062"/>
            <a:ext cx="36751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Logistic regression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D1A63BE-262F-CC0D-C3B9-B927BB0D7B4F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3D3D56-9D89-8101-5856-99558F52B1ED}"/>
              </a:ext>
            </a:extLst>
          </p:cNvPr>
          <p:cNvGrpSpPr/>
          <p:nvPr/>
        </p:nvGrpSpPr>
        <p:grpSpPr>
          <a:xfrm>
            <a:off x="3510429" y="855062"/>
            <a:ext cx="7076599" cy="697832"/>
            <a:chOff x="490422" y="1518273"/>
            <a:chExt cx="7076599" cy="697832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95F30BE9-3BAF-DFEB-65E8-758B92D09D0C}"/>
                </a:ext>
              </a:extLst>
            </p:cNvPr>
            <p:cNvSpPr/>
            <p:nvPr/>
          </p:nvSpPr>
          <p:spPr>
            <a:xfrm>
              <a:off x="490422" y="1518273"/>
              <a:ext cx="6772823" cy="697832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A5A0943-23F0-48DF-44F0-E06CAF8A38E6}"/>
                </a:ext>
              </a:extLst>
            </p:cNvPr>
            <p:cNvSpPr txBox="1"/>
            <p:nvPr/>
          </p:nvSpPr>
          <p:spPr>
            <a:xfrm>
              <a:off x="577474" y="1632667"/>
              <a:ext cx="698954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How do we estimate                             in general?</a:t>
              </a:r>
              <a:endParaRPr lang="en-FR" sz="2400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0DBEF13-BA84-6127-DA9D-B14149DD8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75925" y="1706586"/>
              <a:ext cx="1854200" cy="3429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34AF811-6FF3-5F64-2C8A-078353354946}"/>
              </a:ext>
            </a:extLst>
          </p:cNvPr>
          <p:cNvSpPr txBox="1"/>
          <p:nvPr/>
        </p:nvSpPr>
        <p:spPr>
          <a:xfrm>
            <a:off x="323534" y="1785218"/>
            <a:ext cx="6458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Our goal is to have an approximator such that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2C744F-6FCF-BCB7-CBD4-CB2CC10BC26F}"/>
              </a:ext>
            </a:extLst>
          </p:cNvPr>
          <p:cNvSpPr txBox="1"/>
          <p:nvPr/>
        </p:nvSpPr>
        <p:spPr>
          <a:xfrm>
            <a:off x="240033" y="-11625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CFE270-3D99-2121-9874-C7D7B579AA9F}"/>
              </a:ext>
            </a:extLst>
          </p:cNvPr>
          <p:cNvSpPr txBox="1"/>
          <p:nvPr/>
        </p:nvSpPr>
        <p:spPr>
          <a:xfrm>
            <a:off x="323534" y="4382348"/>
            <a:ext cx="11254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We will look for parameters capable of minimizing a </a:t>
            </a:r>
            <a:r>
              <a:rPr lang="en-FR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statistical divergence</a:t>
            </a:r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, i.e.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8189E77-529A-2B61-C747-98695064C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650" y="2367308"/>
            <a:ext cx="6870700" cy="5969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36DF69-7124-79C4-CA5F-BCFA159643B5}"/>
              </a:ext>
            </a:extLst>
          </p:cNvPr>
          <p:cNvSpPr txBox="1"/>
          <p:nvPr/>
        </p:nvSpPr>
        <p:spPr>
          <a:xfrm>
            <a:off x="323534" y="3083783"/>
            <a:ext cx="11254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since we’re in the binary case, we can write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7D6097-EF2B-778B-54D2-4B322BE76495}"/>
              </a:ext>
            </a:extLst>
          </p:cNvPr>
          <p:cNvSpPr txBox="1"/>
          <p:nvPr/>
        </p:nvSpPr>
        <p:spPr>
          <a:xfrm>
            <a:off x="5574660" y="3741070"/>
            <a:ext cx="1042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</a:t>
            </a:r>
            <a:endParaRPr lang="en-FR" sz="2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C443165-BDEF-AD0E-E66F-AE0C01B01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849" y="5039635"/>
            <a:ext cx="6210300" cy="7239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9EDD634-E02B-E969-17D2-CDF422182FA4}"/>
              </a:ext>
            </a:extLst>
          </p:cNvPr>
          <p:cNvSpPr txBox="1"/>
          <p:nvPr/>
        </p:nvSpPr>
        <p:spPr>
          <a:xfrm>
            <a:off x="323534" y="5959157"/>
            <a:ext cx="11254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The approximator should be close to the target in average for every data point 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282E06-A0DB-0F0E-22B0-909BF808C0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4937" y="3757660"/>
            <a:ext cx="2374900" cy="419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F7FD9F-3A38-68D3-7D0E-E8B6B2C8CE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950" y="3767626"/>
            <a:ext cx="29337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567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69FA5-0DE8-CDDA-5E2C-68AE01B7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37C43BC-3D0E-A477-FEDB-0676FDA392BB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C3BEEE-06A7-983C-CABD-5EECDD278641}"/>
              </a:ext>
            </a:extLst>
          </p:cNvPr>
          <p:cNvSpPr txBox="1"/>
          <p:nvPr/>
        </p:nvSpPr>
        <p:spPr>
          <a:xfrm>
            <a:off x="515824" y="855062"/>
            <a:ext cx="36751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Logistic regression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3F602B-6AFA-28B6-92AA-B39C016234F6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D099DBE-49AD-99B1-0B69-205A8DC422FE}"/>
              </a:ext>
            </a:extLst>
          </p:cNvPr>
          <p:cNvGrpSpPr/>
          <p:nvPr/>
        </p:nvGrpSpPr>
        <p:grpSpPr>
          <a:xfrm>
            <a:off x="3510429" y="855062"/>
            <a:ext cx="7076599" cy="697832"/>
            <a:chOff x="490422" y="1518273"/>
            <a:chExt cx="7076599" cy="697832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E9C880C3-C129-9261-6114-D9FACDD93EE1}"/>
                </a:ext>
              </a:extLst>
            </p:cNvPr>
            <p:cNvSpPr/>
            <p:nvPr/>
          </p:nvSpPr>
          <p:spPr>
            <a:xfrm>
              <a:off x="490422" y="1518273"/>
              <a:ext cx="6772823" cy="697832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CF25A97-F649-8572-CB3B-1B4325DAD05C}"/>
                </a:ext>
              </a:extLst>
            </p:cNvPr>
            <p:cNvSpPr txBox="1"/>
            <p:nvPr/>
          </p:nvSpPr>
          <p:spPr>
            <a:xfrm>
              <a:off x="577474" y="1632667"/>
              <a:ext cx="698954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How do we estimate                             in general?</a:t>
              </a:r>
              <a:endParaRPr lang="en-FR" sz="2400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703BA1BE-5047-C231-7945-F09B6F6EA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75925" y="1706586"/>
              <a:ext cx="1854200" cy="3429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188CA77-1DDE-B487-77C1-814C3BB6BD2A}"/>
              </a:ext>
            </a:extLst>
          </p:cNvPr>
          <p:cNvSpPr txBox="1"/>
          <p:nvPr/>
        </p:nvSpPr>
        <p:spPr>
          <a:xfrm>
            <a:off x="323534" y="1653268"/>
            <a:ext cx="6458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Expanding, we get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A36859-31FE-0139-C2D2-55F4F2D504D2}"/>
              </a:ext>
            </a:extLst>
          </p:cNvPr>
          <p:cNvSpPr txBox="1"/>
          <p:nvPr/>
        </p:nvSpPr>
        <p:spPr>
          <a:xfrm>
            <a:off x="240033" y="-11625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686F3E-4035-DE78-DCAD-E4E00FC57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0" y="2215307"/>
            <a:ext cx="11264900" cy="1054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1BA46C-5A02-DA88-4EBF-1476FE415F07}"/>
              </a:ext>
            </a:extLst>
          </p:cNvPr>
          <p:cNvSpPr txBox="1"/>
          <p:nvPr/>
        </p:nvSpPr>
        <p:spPr>
          <a:xfrm>
            <a:off x="323534" y="3248153"/>
            <a:ext cx="6458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can be rewritten to give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8D5AD3-4C95-1836-06B6-2C8028492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4089613"/>
            <a:ext cx="9474200" cy="965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D507FB-310F-49B5-8AE3-BE797972672A}"/>
              </a:ext>
            </a:extLst>
          </p:cNvPr>
          <p:cNvSpPr txBox="1"/>
          <p:nvPr/>
        </p:nvSpPr>
        <p:spPr>
          <a:xfrm>
            <a:off x="406978" y="5518418"/>
            <a:ext cx="6458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Where the data points are                        with 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7635C3-8530-314B-75CE-42AEB2F18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102" y="5492032"/>
            <a:ext cx="1485900" cy="495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907E47-E41C-B569-C855-88C4C69AA3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767" y="5568232"/>
            <a:ext cx="1460500" cy="3429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613823-9B33-22AD-F5B6-054F4C6101B3}"/>
              </a:ext>
            </a:extLst>
          </p:cNvPr>
          <p:cNvSpPr txBox="1"/>
          <p:nvPr/>
        </p:nvSpPr>
        <p:spPr>
          <a:xfrm>
            <a:off x="406977" y="6154057"/>
            <a:ext cx="9348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is also what people very often call the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cross-entropy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loss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130CE4-0A19-CF30-9062-E13607514966}"/>
              </a:ext>
            </a:extLst>
          </p:cNvPr>
          <p:cNvSpPr/>
          <p:nvPr/>
        </p:nvSpPr>
        <p:spPr>
          <a:xfrm>
            <a:off x="1170958" y="3931820"/>
            <a:ext cx="9920254" cy="129594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998107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D1A63BE-262F-CC0D-C3B9-B927BB0D7B4F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63A615-1D11-7957-536B-9AE4C016A3B2}"/>
              </a:ext>
            </a:extLst>
          </p:cNvPr>
          <p:cNvSpPr txBox="1"/>
          <p:nvPr/>
        </p:nvSpPr>
        <p:spPr>
          <a:xfrm>
            <a:off x="319203" y="1626813"/>
            <a:ext cx="11441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Remember that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AC6B08-DF86-D293-1118-D833273B5225}"/>
              </a:ext>
            </a:extLst>
          </p:cNvPr>
          <p:cNvSpPr txBox="1"/>
          <p:nvPr/>
        </p:nvSpPr>
        <p:spPr>
          <a:xfrm>
            <a:off x="319203" y="3145786"/>
            <a:ext cx="11441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Unfortunately, we no longer have a closed form solution for the parameters…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DD3E4-E91C-3EE2-270B-7E053ED2EC97}"/>
              </a:ext>
            </a:extLst>
          </p:cNvPr>
          <p:cNvSpPr txBox="1"/>
          <p:nvPr/>
        </p:nvSpPr>
        <p:spPr>
          <a:xfrm>
            <a:off x="240033" y="-11625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002D64-A964-FC58-5942-0E3EAC683518}"/>
              </a:ext>
            </a:extLst>
          </p:cNvPr>
          <p:cNvSpPr txBox="1"/>
          <p:nvPr/>
        </p:nvSpPr>
        <p:spPr>
          <a:xfrm>
            <a:off x="515824" y="855062"/>
            <a:ext cx="36751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Logistic regression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9EFDA91-781C-2C73-6E32-772512199ABB}"/>
              </a:ext>
            </a:extLst>
          </p:cNvPr>
          <p:cNvGrpSpPr/>
          <p:nvPr/>
        </p:nvGrpSpPr>
        <p:grpSpPr>
          <a:xfrm>
            <a:off x="3510429" y="855062"/>
            <a:ext cx="7076599" cy="697832"/>
            <a:chOff x="490422" y="1518273"/>
            <a:chExt cx="7076599" cy="697832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3BBA569A-ACD7-F4B0-26A4-BEF5D15C42DD}"/>
                </a:ext>
              </a:extLst>
            </p:cNvPr>
            <p:cNvSpPr/>
            <p:nvPr/>
          </p:nvSpPr>
          <p:spPr>
            <a:xfrm>
              <a:off x="490422" y="1518273"/>
              <a:ext cx="6772823" cy="697832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E4ECCC5-A02B-EEBE-3C76-70357E251C31}"/>
                </a:ext>
              </a:extLst>
            </p:cNvPr>
            <p:cNvSpPr txBox="1"/>
            <p:nvPr/>
          </p:nvSpPr>
          <p:spPr>
            <a:xfrm>
              <a:off x="577474" y="1632667"/>
              <a:ext cx="698954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How do we estimate                             in general?</a:t>
              </a:r>
              <a:endParaRPr lang="en-FR" sz="2400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5D9FEFD-F53C-356B-34F3-71EB0F84C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75925" y="1706586"/>
              <a:ext cx="1854200" cy="3429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494CC5D-EE1E-EA62-E222-460EBA75339F}"/>
              </a:ext>
            </a:extLst>
          </p:cNvPr>
          <p:cNvSpPr txBox="1"/>
          <p:nvPr/>
        </p:nvSpPr>
        <p:spPr>
          <a:xfrm>
            <a:off x="319205" y="3832421"/>
            <a:ext cx="85856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we can proceed with a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gradient descent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procedure 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AA715-3E32-C6D2-9626-F262E14308B0}"/>
              </a:ext>
            </a:extLst>
          </p:cNvPr>
          <p:cNvSpPr txBox="1"/>
          <p:nvPr/>
        </p:nvSpPr>
        <p:spPr>
          <a:xfrm>
            <a:off x="5158491" y="4620173"/>
            <a:ext cx="11016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where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BF6330-9773-3983-3201-A1AB4FE2DBAD}"/>
              </a:ext>
            </a:extLst>
          </p:cNvPr>
          <p:cNvSpPr txBox="1"/>
          <p:nvPr/>
        </p:nvSpPr>
        <p:spPr>
          <a:xfrm>
            <a:off x="319204" y="5581034"/>
            <a:ext cx="10848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will converge to a global minimum since the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loss function is concave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F86564E-9310-02E2-0F87-5060D2F47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733" y="4662820"/>
            <a:ext cx="3263900" cy="40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40FF71-A848-549B-F793-85D8F9743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7900" y="1998812"/>
            <a:ext cx="5156200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4491E9-991E-7E00-9EA4-6F9C79021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451" y="4411799"/>
            <a:ext cx="48768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3566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A0B72-A273-E826-2244-A6D3F682E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51EAB8-C0EB-6A65-4554-F25059E8B0B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E8D829F2-2A7C-462D-9A63-53D14D4F5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5302729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7C9758-46E7-5482-6362-AFC018181327}"/>
              </a:ext>
            </a:extLst>
          </p:cNvPr>
          <p:cNvSpPr txBox="1"/>
          <p:nvPr/>
        </p:nvSpPr>
        <p:spPr>
          <a:xfrm>
            <a:off x="1865622" y="1450257"/>
            <a:ext cx="8372805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Important tools from Probability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Bayes classifier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Discriminative approaches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</p:spTree>
    <p:extLst>
      <p:ext uri="{BB962C8B-B14F-4D97-AF65-F5344CB8AC3E}">
        <p14:creationId xmlns:p14="http://schemas.microsoft.com/office/powerpoint/2010/main" val="14449903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A4802-F018-64B1-15B9-6298F8AFB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0CCA92-DCBA-0177-2D45-868B74B4930F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43AA7-FC2A-9A44-F486-B48877B5BF4D}"/>
              </a:ext>
            </a:extLst>
          </p:cNvPr>
          <p:cNvSpPr txBox="1"/>
          <p:nvPr/>
        </p:nvSpPr>
        <p:spPr>
          <a:xfrm>
            <a:off x="240033" y="-97590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B0665F9-D36C-F8F9-53EA-B5DE8412814F}"/>
              </a:ext>
            </a:extLst>
          </p:cNvPr>
          <p:cNvSpPr/>
          <p:nvPr/>
        </p:nvSpPr>
        <p:spPr>
          <a:xfrm>
            <a:off x="240033" y="953440"/>
            <a:ext cx="6475560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24F82D-136D-8DEA-7AB8-D05DBBEBCD20}"/>
              </a:ext>
            </a:extLst>
          </p:cNvPr>
          <p:cNvSpPr txBox="1"/>
          <p:nvPr/>
        </p:nvSpPr>
        <p:spPr>
          <a:xfrm>
            <a:off x="402871" y="1101288"/>
            <a:ext cx="6191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What if we have more than just two classes?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1BE901-CBCC-C27A-49B2-B4E1DE82E641}"/>
              </a:ext>
            </a:extLst>
          </p:cNvPr>
          <p:cNvSpPr txBox="1"/>
          <p:nvPr/>
        </p:nvSpPr>
        <p:spPr>
          <a:xfrm>
            <a:off x="240033" y="2091612"/>
            <a:ext cx="117175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Bayes classifier is defined as before, but we compare the posteriors for all classes 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E24473-6C57-3812-CD06-A77BBB150962}"/>
              </a:ext>
            </a:extLst>
          </p:cNvPr>
          <p:cNvSpPr txBox="1"/>
          <p:nvPr/>
        </p:nvSpPr>
        <p:spPr>
          <a:xfrm>
            <a:off x="240033" y="3664164"/>
            <a:ext cx="117175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logistic regression with C classes we use a 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softmax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operator as below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0BF068-878D-984C-E548-93B286474A51}"/>
              </a:ext>
            </a:extLst>
          </p:cNvPr>
          <p:cNvSpPr txBox="1"/>
          <p:nvPr/>
        </p:nvSpPr>
        <p:spPr>
          <a:xfrm>
            <a:off x="240033" y="5904560"/>
            <a:ext cx="115627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 we have a set of p parameters for each class. This is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multinomial regression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51A12E-F851-29A5-71C3-AF6E86740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903" y="2756781"/>
            <a:ext cx="6311900" cy="673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DB54DC-83F4-14E2-EF92-5E4C0CCD2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553" y="4491351"/>
            <a:ext cx="88646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24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D9EC4-CEC7-36AE-5DDA-258033964660}"/>
              </a:ext>
            </a:extLst>
          </p:cNvPr>
          <p:cNvSpPr txBox="1"/>
          <p:nvPr/>
        </p:nvSpPr>
        <p:spPr>
          <a:xfrm>
            <a:off x="240033" y="-97590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3797FD-8611-ABBE-FA89-CA8C2746C2B8}"/>
              </a:ext>
            </a:extLst>
          </p:cNvPr>
          <p:cNvSpPr/>
          <p:nvPr/>
        </p:nvSpPr>
        <p:spPr>
          <a:xfrm>
            <a:off x="240033" y="953440"/>
            <a:ext cx="6029199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6BA5A-C47E-CC4A-3F51-6BEDD423E5BA}"/>
              </a:ext>
            </a:extLst>
          </p:cNvPr>
          <p:cNvSpPr txBox="1"/>
          <p:nvPr/>
        </p:nvSpPr>
        <p:spPr>
          <a:xfrm>
            <a:off x="402871" y="1101288"/>
            <a:ext cx="5700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 to use logistic regression in python?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C1D0B5-AAE5-B14C-658A-68CF80C33AEF}"/>
              </a:ext>
            </a:extLst>
          </p:cNvPr>
          <p:cNvGrpSpPr/>
          <p:nvPr/>
        </p:nvGrpSpPr>
        <p:grpSpPr>
          <a:xfrm>
            <a:off x="1951751" y="2010723"/>
            <a:ext cx="8288498" cy="3839301"/>
            <a:chOff x="2047898" y="2065259"/>
            <a:chExt cx="8288498" cy="3839301"/>
          </a:xfrm>
        </p:grpSpPr>
        <p:pic>
          <p:nvPicPr>
            <p:cNvPr id="9" name="Picture 8" descr="A screenshot of a computer program&#10;&#10;AI-generated content may be incorrect.">
              <a:extLst>
                <a:ext uri="{FF2B5EF4-FFF2-40B4-BE49-F238E27FC236}">
                  <a16:creationId xmlns:a16="http://schemas.microsoft.com/office/drawing/2014/main" id="{61638F37-D5F9-1098-44B2-52A75138E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7898" y="2065260"/>
              <a:ext cx="8229293" cy="3711452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25FB029-6693-58C1-523F-57711182A8BF}"/>
                </a:ext>
              </a:extLst>
            </p:cNvPr>
            <p:cNvSpPr/>
            <p:nvPr/>
          </p:nvSpPr>
          <p:spPr>
            <a:xfrm>
              <a:off x="2107103" y="2065259"/>
              <a:ext cx="8229293" cy="383930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DCA855C2-744C-D5C3-D5CA-AF407D682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4583" y="821147"/>
            <a:ext cx="1587384" cy="8588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10A3AB-3FA4-D50C-D513-B58EA0EF8304}"/>
              </a:ext>
            </a:extLst>
          </p:cNvPr>
          <p:cNvSpPr/>
          <p:nvPr/>
        </p:nvSpPr>
        <p:spPr>
          <a:xfrm>
            <a:off x="4284921" y="4816549"/>
            <a:ext cx="3668232" cy="276446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44AFB-D467-4979-4862-4683FECCB7CE}"/>
              </a:ext>
            </a:extLst>
          </p:cNvPr>
          <p:cNvSpPr txBox="1"/>
          <p:nvPr/>
        </p:nvSpPr>
        <p:spPr>
          <a:xfrm>
            <a:off x="8771860" y="63476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31015354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64069-5D05-F102-7681-87A0B9427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3D176C-A551-B445-BDC9-61B485393166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6F320-8F31-59AC-B554-1B62B00FE141}"/>
              </a:ext>
            </a:extLst>
          </p:cNvPr>
          <p:cNvSpPr txBox="1"/>
          <p:nvPr/>
        </p:nvSpPr>
        <p:spPr>
          <a:xfrm>
            <a:off x="240033" y="-103077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 from final exam in 2024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AACCD3-0D13-D292-4BF6-7E5C8E16D17C}"/>
              </a:ext>
            </a:extLst>
          </p:cNvPr>
          <p:cNvSpPr txBox="1"/>
          <p:nvPr/>
        </p:nvSpPr>
        <p:spPr>
          <a:xfrm>
            <a:off x="240033" y="859988"/>
            <a:ext cx="107099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a binary classification problem for which the data is generated as per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16FB86-D34F-4714-F564-6CF42868EFA7}"/>
              </a:ext>
            </a:extLst>
          </p:cNvPr>
          <p:cNvSpPr txBox="1"/>
          <p:nvPr/>
        </p:nvSpPr>
        <p:spPr>
          <a:xfrm>
            <a:off x="240033" y="5060186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450208-B813-88AD-A82B-66CF67E98A06}"/>
              </a:ext>
            </a:extLst>
          </p:cNvPr>
          <p:cNvSpPr/>
          <p:nvPr/>
        </p:nvSpPr>
        <p:spPr>
          <a:xfrm>
            <a:off x="2045485" y="1762176"/>
            <a:ext cx="179843" cy="179843"/>
          </a:xfrm>
          <a:prstGeom prst="rect">
            <a:avLst/>
          </a:prstGeom>
          <a:solidFill>
            <a:srgbClr val="1E77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C60625-9105-A6AF-9115-78384D885D6C}"/>
              </a:ext>
            </a:extLst>
          </p:cNvPr>
          <p:cNvSpPr/>
          <p:nvPr/>
        </p:nvSpPr>
        <p:spPr>
          <a:xfrm>
            <a:off x="2045485" y="2487757"/>
            <a:ext cx="179843" cy="179843"/>
          </a:xfrm>
          <a:prstGeom prst="rect">
            <a:avLst/>
          </a:prstGeom>
          <a:solidFill>
            <a:srgbClr val="FF7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7DBD98-C5D0-598A-F3BB-CF210AA03A8B}"/>
              </a:ext>
            </a:extLst>
          </p:cNvPr>
          <p:cNvSpPr txBox="1"/>
          <p:nvPr/>
        </p:nvSpPr>
        <p:spPr>
          <a:xfrm>
            <a:off x="240033" y="2803760"/>
            <a:ext cx="1007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C795D4-00AE-C5AB-78F5-22724AB65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554" y="1556016"/>
            <a:ext cx="7493000" cy="1155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2EB4EC-0849-2C86-2DBC-8A1B3479E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0" y="3150817"/>
            <a:ext cx="6578600" cy="800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9F1421-C693-BEF3-DE8D-894781650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4850" y="4299554"/>
            <a:ext cx="5702300" cy="800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27ACF1-B98F-E211-5B4C-59E8C6212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238" y="5119568"/>
            <a:ext cx="1333500" cy="3429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95E39D2-7898-EAF9-DC4B-7DA6A29C3FD5}"/>
              </a:ext>
            </a:extLst>
          </p:cNvPr>
          <p:cNvSpPr txBox="1"/>
          <p:nvPr/>
        </p:nvSpPr>
        <p:spPr>
          <a:xfrm>
            <a:off x="240033" y="5767179"/>
            <a:ext cx="4501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Denote a set of N data points as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C1669A-9993-B321-5E42-D1263EE35E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8696" y="5833139"/>
            <a:ext cx="15240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61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EBBDD-1102-244D-BA53-9E59B2EF8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72698F6-712A-ED14-EEA3-10E2AAA00EF6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6F779-0B75-5FA1-3222-0BCA1139CCC0}"/>
              </a:ext>
            </a:extLst>
          </p:cNvPr>
          <p:cNvSpPr txBox="1"/>
          <p:nvPr/>
        </p:nvSpPr>
        <p:spPr>
          <a:xfrm>
            <a:off x="240033" y="-103077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 from final exam in 2024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3BA145-560E-0C78-D021-2BE254FB8628}"/>
              </a:ext>
            </a:extLst>
          </p:cNvPr>
          <p:cNvSpPr txBox="1"/>
          <p:nvPr/>
        </p:nvSpPr>
        <p:spPr>
          <a:xfrm>
            <a:off x="240033" y="859988"/>
            <a:ext cx="109038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(a)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Plot the data points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                            using different colors to indicate classes of each data point and different symbols to indicate whether a point is from the train or the test set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(b)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What is the </a:t>
            </a:r>
            <a:r>
              <a:rPr lang="en-FR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mathematical expression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the optimal Bayes classifier? And for its boundary region? Do you expect it to be linear?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(c)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Estimate the </a:t>
            </a:r>
            <a:r>
              <a:rPr lang="en-FR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error of the Bayes classifier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on the </a:t>
            </a: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samples from            . How do you expect this error to</a:t>
            </a: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change as a function of epsilon? </a:t>
            </a:r>
            <a:endParaRPr lang="en-FR" sz="24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A94A2-1981-2073-23BB-8148C017C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176" y="954687"/>
            <a:ext cx="1854200" cy="292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EE2E611-2710-52B4-F03A-4D8FD1F35011}"/>
              </a:ext>
            </a:extLst>
          </p:cNvPr>
          <p:cNvSpPr txBox="1"/>
          <p:nvPr/>
        </p:nvSpPr>
        <p:spPr>
          <a:xfrm>
            <a:off x="5442499" y="2297567"/>
            <a:ext cx="731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</a:t>
            </a:r>
            <a:endParaRPr lang="en-FR" sz="2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96B1AB3-89DA-6FCC-BF49-FEC068D69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013" y="4643404"/>
            <a:ext cx="673100" cy="292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6AA58C-6F20-1D90-175F-042EE8B17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254" y="2363297"/>
            <a:ext cx="3289300" cy="3429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CEAD976-3C78-4570-62E3-8A3116C09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7013" y="2363297"/>
            <a:ext cx="30861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959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C75CD-73A9-CE80-E633-10BDC35DC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35BA1E-10B9-EFAA-2CD5-176967AE762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F2DF5-3D2E-FB06-195C-4A97489077A6}"/>
              </a:ext>
            </a:extLst>
          </p:cNvPr>
          <p:cNvSpPr txBox="1"/>
          <p:nvPr/>
        </p:nvSpPr>
        <p:spPr>
          <a:xfrm>
            <a:off x="240033" y="-103077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 from final exam in 2024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40AE0-42EA-09EC-8FD3-D3E1A7B8BA2E}"/>
              </a:ext>
            </a:extLst>
          </p:cNvPr>
          <p:cNvSpPr txBox="1"/>
          <p:nvPr/>
        </p:nvSpPr>
        <p:spPr>
          <a:xfrm>
            <a:off x="240033" y="859988"/>
            <a:ext cx="109038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(a)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Plot the data points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                            using different colors to indicate classes of each data point and different symbols to indicate whether a point is from the train or the test set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(b)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What is the </a:t>
            </a:r>
            <a:r>
              <a:rPr lang="en-FR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mathematical expression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the optimal Bayes classifier? And for its boundary region? Do you expect it to be linear?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(c)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Estimate the </a:t>
            </a:r>
            <a:r>
              <a:rPr lang="en-FR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error of the Bayes classifier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on the </a:t>
            </a: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samples from            . How do you expect this error to</a:t>
            </a: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change as a function of epsilon? </a:t>
            </a:r>
            <a:endParaRPr lang="en-FR" sz="24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D88933-AA56-C167-F7DC-434945C03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176" y="954687"/>
            <a:ext cx="1854200" cy="292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557E1A-F344-8633-1E8A-AD64258CC54D}"/>
              </a:ext>
            </a:extLst>
          </p:cNvPr>
          <p:cNvSpPr txBox="1"/>
          <p:nvPr/>
        </p:nvSpPr>
        <p:spPr>
          <a:xfrm>
            <a:off x="5442499" y="2297567"/>
            <a:ext cx="731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</a:t>
            </a:r>
            <a:endParaRPr lang="en-FR" sz="2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6F3B4EA-5FEE-9A19-43D2-567D43544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013" y="4643404"/>
            <a:ext cx="673100" cy="292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B8CE3C-668E-B447-EF26-B411B0928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254" y="2363297"/>
            <a:ext cx="3289300" cy="3429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5A7770-5AE1-7D6A-DFD7-5CA0AA2D81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7013" y="2363297"/>
            <a:ext cx="3086100" cy="3429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D31FDBE-4062-DDD6-7DB6-78C678B706F0}"/>
              </a:ext>
            </a:extLst>
          </p:cNvPr>
          <p:cNvSpPr txBox="1"/>
          <p:nvPr/>
        </p:nvSpPr>
        <p:spPr>
          <a:xfrm>
            <a:off x="4104910" y="5696419"/>
            <a:ext cx="39821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Let’s do this! 🔥</a:t>
            </a:r>
          </a:p>
        </p:txBody>
      </p:sp>
      <p:pic>
        <p:nvPicPr>
          <p:cNvPr id="27" name="Picture 26" descr="A dog wearing a tie and a computer&#10;&#10;AI-generated content may be incorrect.">
            <a:extLst>
              <a:ext uri="{FF2B5EF4-FFF2-40B4-BE49-F238E27FC236}">
                <a16:creationId xmlns:a16="http://schemas.microsoft.com/office/drawing/2014/main" id="{2E556CFA-6061-4159-6A8C-85B35E12B0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756"/>
          <a:stretch/>
        </p:blipFill>
        <p:spPr>
          <a:xfrm>
            <a:off x="8251825" y="3963597"/>
            <a:ext cx="3547742" cy="232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78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37830</TotalTime>
  <Words>1449</Words>
  <Application>Microsoft Macintosh PowerPoint</Application>
  <PresentationFormat>Widescreen</PresentationFormat>
  <Paragraphs>241</Paragraphs>
  <Slides>37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Calibri</vt:lpstr>
      <vt:lpstr>Calibri Light</vt:lpstr>
      <vt:lpstr>Courier New</vt:lpstr>
      <vt:lpstr>Helvetica Neue</vt:lpstr>
      <vt:lpstr>Lato</vt:lpstr>
      <vt:lpstr>Roboto Black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 Rodrigues</dc:creator>
  <cp:lastModifiedBy>Pedro Rodrigues</cp:lastModifiedBy>
  <cp:revision>1353</cp:revision>
  <dcterms:created xsi:type="dcterms:W3CDTF">2022-01-14T10:39:20Z</dcterms:created>
  <dcterms:modified xsi:type="dcterms:W3CDTF">2026-03-09T15:47:36Z</dcterms:modified>
</cp:coreProperties>
</file>