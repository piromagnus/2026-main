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382" r:id="rId2"/>
    <p:sldId id="475" r:id="rId3"/>
    <p:sldId id="487" r:id="rId4"/>
    <p:sldId id="677" r:id="rId5"/>
    <p:sldId id="718" r:id="rId6"/>
    <p:sldId id="683" r:id="rId7"/>
    <p:sldId id="684" r:id="rId8"/>
    <p:sldId id="685" r:id="rId9"/>
    <p:sldId id="686" r:id="rId10"/>
    <p:sldId id="719" r:id="rId11"/>
    <p:sldId id="720" r:id="rId12"/>
    <p:sldId id="721" r:id="rId13"/>
    <p:sldId id="722" r:id="rId14"/>
    <p:sldId id="723" r:id="rId15"/>
    <p:sldId id="671" r:id="rId16"/>
    <p:sldId id="670" r:id="rId17"/>
    <p:sldId id="724" r:id="rId18"/>
    <p:sldId id="688" r:id="rId19"/>
    <p:sldId id="696" r:id="rId20"/>
    <p:sldId id="667" r:id="rId21"/>
    <p:sldId id="697" r:id="rId22"/>
    <p:sldId id="698" r:id="rId23"/>
    <p:sldId id="700" r:id="rId24"/>
    <p:sldId id="702" r:id="rId25"/>
    <p:sldId id="703" r:id="rId26"/>
    <p:sldId id="701" r:id="rId27"/>
    <p:sldId id="726" r:id="rId28"/>
    <p:sldId id="725" r:id="rId29"/>
    <p:sldId id="705" r:id="rId30"/>
    <p:sldId id="707" r:id="rId31"/>
    <p:sldId id="708" r:id="rId32"/>
    <p:sldId id="709" r:id="rId33"/>
    <p:sldId id="710" r:id="rId34"/>
    <p:sldId id="711" r:id="rId35"/>
    <p:sldId id="712" r:id="rId36"/>
    <p:sldId id="714" r:id="rId37"/>
    <p:sldId id="715" r:id="rId38"/>
    <p:sldId id="669" r:id="rId39"/>
    <p:sldId id="672" r:id="rId40"/>
    <p:sldId id="727" r:id="rId41"/>
    <p:sldId id="728" r:id="rId42"/>
    <p:sldId id="673" r:id="rId43"/>
    <p:sldId id="716" r:id="rId44"/>
    <p:sldId id="729" r:id="rId45"/>
    <p:sldId id="731" r:id="rId46"/>
    <p:sldId id="732" r:id="rId47"/>
    <p:sldId id="733" r:id="rId48"/>
    <p:sldId id="544" r:id="rId49"/>
    <p:sldId id="737" r:id="rId50"/>
    <p:sldId id="734" r:id="rId51"/>
    <p:sldId id="735" r:id="rId52"/>
    <p:sldId id="713" r:id="rId53"/>
    <p:sldId id="736" r:id="rId54"/>
    <p:sldId id="704" r:id="rId55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9FDE"/>
    <a:srgbClr val="5E5E5E"/>
    <a:srgbClr val="1E77B4"/>
    <a:srgbClr val="FA2743"/>
    <a:srgbClr val="FF7E0E"/>
    <a:srgbClr val="E8EBE4"/>
    <a:srgbClr val="1F76B5"/>
    <a:srgbClr val="FF7F0F"/>
    <a:srgbClr val="F5AE00"/>
    <a:srgbClr val="9B5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35"/>
    <p:restoredTop sz="94910"/>
  </p:normalViewPr>
  <p:slideViewPr>
    <p:cSldViewPr snapToGrid="0" snapToObjects="1">
      <p:cViewPr varScale="1">
        <p:scale>
          <a:sx n="110" d="100"/>
          <a:sy n="110" d="100"/>
        </p:scale>
        <p:origin x="1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FE6C1-AB26-3F44-9C87-C500B9817AF1}" type="datetimeFigureOut">
              <a:rPr lang="en-FR" smtClean="0"/>
              <a:t>31/03/2026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39096-BE51-9C45-B82B-FA0E89D4584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537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9930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22765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1257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04977-46EA-0EC6-3C49-B7960C040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370B8-9C8A-DAC5-D8C1-875E0A6BE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817053-076A-719E-F084-6F248AEDD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AAA3F-AE86-E099-C4CC-749801316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59906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70690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92878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1426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29016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26266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98106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09843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02981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02981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16773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23284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771153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77739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29735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D076-17AD-6319-86BF-2ED33F064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37CD4C-4CA7-1035-D92B-15E558954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748A8-DD73-DE05-099B-032F07FBE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1751F-D3EE-9141-3B61-511A8C5D1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705760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558195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672234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045395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221984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837140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570874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044642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7931308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969289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319200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>
              <a:solidFill>
                <a:srgbClr val="5E5E5E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777501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6A92E-EA15-A15A-757E-A39095E54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D822DA-EA05-B595-EFC3-448647C5F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579D1-F448-1F43-E917-C1D6FD851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>
              <a:solidFill>
                <a:srgbClr val="5E5E5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4FCAC-4563-CE5C-1146-271B9EE4C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570045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DAC5F-CECE-5B4F-9102-141F8E43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C3CD3-9733-4C4B-BBEA-D6600F5FE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5011A-3D20-5F4C-C80D-14C5F99AA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>
              <a:solidFill>
                <a:srgbClr val="5E5E5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473FC-33BD-A17F-6A6F-09C55C325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862858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>
              <a:solidFill>
                <a:srgbClr val="5E5E5E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90974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918614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6EDA8-06E6-F846-2236-81333FA2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84816-1660-FF43-A74E-79F805F49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F429E-C375-68C5-3AD9-392A7DE09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D5555-1F13-9F60-BF4F-ED757718F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155324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AC147-7029-AF64-0DEC-B1CFD62D3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6069B-38BB-4F9B-5D61-F83E339B8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30DD8-7518-9A2F-40D1-BC1FF6799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52FF0-7EAF-E845-7C9E-535A828C4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74255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AB271-9CA9-AD57-34A5-071994405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A93CB-E212-C08A-2432-70499C4E4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16B86-8A97-1AD1-E047-DF3EE6FEE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36268-F366-F296-4A67-817E058BD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732682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162D-EB9F-5BAC-3720-B4D288FA9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B7F62-4D00-0B3F-A8CF-A32E393CA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714C0E-E0B5-B6EA-AA45-2D9A7AC81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98530-D6CD-83B6-BD30-EB25E611B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656208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91541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805FD-7C8B-B8FA-5895-CAD4DDA4E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96B18-C264-04C3-3921-D7D4D46B2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7B67A-2A0B-D1DF-C290-9238D311A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E1222-8488-8B21-F7D4-FC8F93B9D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180631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83675-5B13-1E3D-CCE1-E8C2688B1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A7B25-7414-7CBB-4CF3-B27D4697D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AB67D-10F6-2438-13BF-D5A740BB3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B579C-6541-3BFB-7666-6F47371EA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3717037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41AC5-40E9-E04D-7EC8-BA00F7D0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6BBD6-37BC-4AC4-AA90-908E4C13C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E0892-01C0-EA06-CA08-EC15FD4A6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F3E97-F63F-1053-E536-0341402ED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123918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021703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DCF7C-291D-B0A2-C8CD-FBAB7F4F1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D2E22-809E-7F44-932B-D81783508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AE106-1832-AD1A-9E29-16B4C437F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55D5D-51A9-F549-A81A-88ED7996C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49739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8868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EC9B-787C-824C-894C-857B659FB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034B8-C425-C946-83B5-386EB7480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8366-FA73-7C40-9D66-F01278D9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31/03/2026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613DA-3627-824F-B630-E2948873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35195-A057-A740-ABFD-A4428E7E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1446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7FAB-44BF-AB48-8D73-DA1AEA67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A5C9-E435-904F-9A50-ED9242E28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2556-21DE-C043-BE7B-9E2A5497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31/03/2026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DE1C2-7A56-054D-A23E-DD2241BE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48906-A5FE-FF4D-A27E-550C5990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2565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4E8A-2B0D-EB42-A978-1FE768A3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DEB75-EBFD-8E42-82F0-A331F604D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81795-369A-C94E-9F66-0A208AF1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31/03/2026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FBA02-0FCB-EA44-B7B5-96861116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F71C-9EF7-0C4B-BDDD-FB6BA964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1860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8381-A6CF-6F47-A7A3-14C7831D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1EC3-D19C-DC4D-A5B9-9460AD4AA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A3376-5078-194F-9992-6B02E62E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51E5D-D454-0943-B25A-DA182891A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31/03/2026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67DE1-3EE7-D943-B7FD-A51C83BA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BA756-9D8E-C845-B692-3873FF00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0877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190A-2F02-BD4E-9E22-FE2A2CC9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7E7DD-D354-C048-8942-567BCCBE7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92036-8FA2-734D-A0A4-540FA63FA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EAE85-DEC4-6042-A589-63117EF75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B7604-EC7A-9F4B-8B40-82D381275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45EAB-187C-284A-B3CB-5EC78439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31/03/2026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DA07A-26C9-CA4B-8592-EA2C357C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9D14B-3E77-C64E-BBF4-00C096EE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2615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EED17-FBEF-0040-96E6-994DBD52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2881A-CF7D-8C45-9008-E61A46B5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31/03/2026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5F0EE-BDC6-3E43-BEAC-A339A972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E1059-D3D9-064E-BFD5-C588BE34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575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CF8FB-7AEB-7147-A83A-4DF08A93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31/03/2026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F6FAA-2A77-D645-B7D9-87AF35941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85873-66FC-0E4A-A249-F6FA1658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1041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E7F8-26AB-8045-9C68-095EB3F35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37C8-7D1E-D745-A650-7BE338722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687F2-0361-5E48-9242-1481CECC5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96C55-C72A-6346-9F4D-E7EBB953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31/03/2026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2A30C-17EA-D843-AB84-DCC67550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58998-8FCD-4A48-8077-41D395F1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5873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4506-CC8C-3948-98A1-3618A657C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23419-833F-ED48-BCFF-352972904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7541E-9161-9845-900C-0B7F4D6B4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F6B3E-FD83-2742-B704-CAA2A3EB7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31/03/2026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2EB9A-F8B6-4F40-A237-D183B7FA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D7B30-1A12-B54A-9EC7-A21A9020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8946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F93D-B2C2-7048-94E6-5B0A3937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1939D-3520-5A4E-AC60-F1060FE9B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D6DC-E506-5049-B0CD-01E32D73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31/03/2026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9E02-B2EF-CC4E-A982-1A0F3130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DBA1F-361D-CF4C-A4FB-8D2BD097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1076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8988E-5C51-134D-8C79-867D44453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2FE0-5CF2-8544-A5E3-F37FBDD35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776C2-05A5-5A4B-9AA6-732FC73A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31/03/2026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24220-F883-2A4C-82CA-C524A70A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0F099-3857-6B40-AE2C-2127FDED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72570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95531-CC31-C242-807F-85E2E673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68A4-CCF7-2A40-831F-1C89AC50A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E3EE-7349-1747-80AE-DCDB34EFE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05F58-0AA8-724B-8DBF-E28AC2D343FC}" type="datetimeFigureOut">
              <a:rPr lang="en-FR" smtClean="0"/>
              <a:t>31/03/2026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ED396-5C82-A643-8632-51B3DE0CC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D28E0-1C6E-1140-BACB-EBB4D140C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8282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astie.su.domains/CASI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image" Target="../media/image46.emf"/><Relationship Id="rId7" Type="http://schemas.openxmlformats.org/officeDocument/2006/relationships/image" Target="../media/image50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emf"/><Relationship Id="rId5" Type="http://schemas.openxmlformats.org/officeDocument/2006/relationships/image" Target="../media/image48.emf"/><Relationship Id="rId4" Type="http://schemas.openxmlformats.org/officeDocument/2006/relationships/image" Target="../media/image47.emf"/><Relationship Id="rId9" Type="http://schemas.openxmlformats.org/officeDocument/2006/relationships/image" Target="../media/image52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7" Type="http://schemas.openxmlformats.org/officeDocument/2006/relationships/image" Target="../media/image57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image" Target="../media/image46.emf"/><Relationship Id="rId7" Type="http://schemas.openxmlformats.org/officeDocument/2006/relationships/image" Target="../media/image60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5" Type="http://schemas.openxmlformats.org/officeDocument/2006/relationships/image" Target="../media/image48.emf"/><Relationship Id="rId4" Type="http://schemas.openxmlformats.org/officeDocument/2006/relationships/image" Target="../media/image58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6seqpMJSTI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30E4DC-5BA1-4A88-3549-39BB252362F9}"/>
              </a:ext>
            </a:extLst>
          </p:cNvPr>
          <p:cNvSpPr/>
          <p:nvPr/>
        </p:nvSpPr>
        <p:spPr>
          <a:xfrm>
            <a:off x="0" y="5801193"/>
            <a:ext cx="12192000" cy="1056807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9F4F4-12FE-580B-E00C-CFCF2FCF9F40}"/>
              </a:ext>
            </a:extLst>
          </p:cNvPr>
          <p:cNvSpPr txBox="1"/>
          <p:nvPr/>
        </p:nvSpPr>
        <p:spPr>
          <a:xfrm>
            <a:off x="6742386" y="5960264"/>
            <a:ext cx="53190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Pedro L. C. Rodrigues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537CB7-C4BB-7CE0-0825-9715A7575578}"/>
              </a:ext>
            </a:extLst>
          </p:cNvPr>
          <p:cNvSpPr/>
          <p:nvPr/>
        </p:nvSpPr>
        <p:spPr>
          <a:xfrm>
            <a:off x="1006145" y="663992"/>
            <a:ext cx="10179710" cy="2511684"/>
          </a:xfrm>
          <a:prstGeom prst="round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C973D-E8B9-CA36-F0E5-BE9D3B33A408}"/>
              </a:ext>
            </a:extLst>
          </p:cNvPr>
          <p:cNvSpPr txBox="1"/>
          <p:nvPr/>
        </p:nvSpPr>
        <p:spPr>
          <a:xfrm>
            <a:off x="945537" y="950338"/>
            <a:ext cx="10300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60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 to Statistical Learning with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8D681-85A3-D3D9-0655-46D9193F23C1}"/>
              </a:ext>
            </a:extLst>
          </p:cNvPr>
          <p:cNvSpPr txBox="1"/>
          <p:nvPr/>
        </p:nvSpPr>
        <p:spPr>
          <a:xfrm>
            <a:off x="581859" y="3968671"/>
            <a:ext cx="11028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CM8: Ensemble methods</a:t>
            </a:r>
            <a:endParaRPr lang="en-FR" sz="48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99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8538E42E-F69C-00BB-E335-14D530B8A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1450257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F3F278-B1A0-E02B-5FB1-832131E89666}"/>
              </a:ext>
            </a:extLst>
          </p:cNvPr>
          <p:cNvSpPr txBox="1"/>
          <p:nvPr/>
        </p:nvSpPr>
        <p:spPr>
          <a:xfrm>
            <a:off x="1865622" y="1450257"/>
            <a:ext cx="515397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Recap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Ensemble methods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Bagging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1345156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41E2808-127D-CB36-E864-78DA27569110}"/>
              </a:ext>
            </a:extLst>
          </p:cNvPr>
          <p:cNvSpPr/>
          <p:nvPr/>
        </p:nvSpPr>
        <p:spPr>
          <a:xfrm>
            <a:off x="2610918" y="1574789"/>
            <a:ext cx="6970163" cy="945728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D9EC4-CEC7-36AE-5DDA-258033964660}"/>
              </a:ext>
            </a:extLst>
          </p:cNvPr>
          <p:cNvSpPr txBox="1"/>
          <p:nvPr/>
        </p:nvSpPr>
        <p:spPr>
          <a:xfrm>
            <a:off x="240033" y="-11625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B5076-F99D-A3EC-0690-C0CC215F2134}"/>
              </a:ext>
            </a:extLst>
          </p:cNvPr>
          <p:cNvSpPr txBox="1"/>
          <p:nvPr/>
        </p:nvSpPr>
        <p:spPr>
          <a:xfrm>
            <a:off x="240033" y="855064"/>
            <a:ext cx="11611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 are many strategies for approximating the Bayes classifier.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7910F-8B56-EA99-7E56-DDA41A98B76E}"/>
              </a:ext>
            </a:extLst>
          </p:cNvPr>
          <p:cNvSpPr txBox="1"/>
          <p:nvPr/>
        </p:nvSpPr>
        <p:spPr>
          <a:xfrm>
            <a:off x="733328" y="3492572"/>
            <a:ext cx="51428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K-nearest neighbours (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02BBE-DF51-09D3-2CDB-34327A24569B}"/>
              </a:ext>
            </a:extLst>
          </p:cNvPr>
          <p:cNvSpPr txBox="1"/>
          <p:nvPr/>
        </p:nvSpPr>
        <p:spPr>
          <a:xfrm>
            <a:off x="733328" y="3987044"/>
            <a:ext cx="4175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Logistic regression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9870B-86CC-BFB7-ED15-95DCC068F4F7}"/>
              </a:ext>
            </a:extLst>
          </p:cNvPr>
          <p:cNvSpPr txBox="1"/>
          <p:nvPr/>
        </p:nvSpPr>
        <p:spPr>
          <a:xfrm>
            <a:off x="733327" y="4481516"/>
            <a:ext cx="69701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Linear and quadratic discriminant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38003-014A-E516-9CB9-14F6333BF8F4}"/>
              </a:ext>
            </a:extLst>
          </p:cNvPr>
          <p:cNvSpPr txBox="1"/>
          <p:nvPr/>
        </p:nvSpPr>
        <p:spPr>
          <a:xfrm>
            <a:off x="733328" y="4975988"/>
            <a:ext cx="3971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Naïve Bayes classifier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2E241C-F261-2E93-E67D-BB428811B00D}"/>
              </a:ext>
            </a:extLst>
          </p:cNvPr>
          <p:cNvSpPr/>
          <p:nvPr/>
        </p:nvSpPr>
        <p:spPr>
          <a:xfrm>
            <a:off x="7055802" y="4557017"/>
            <a:ext cx="72190" cy="86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DFD69B-AE1D-466E-9922-514A67CC2F55}"/>
              </a:ext>
            </a:extLst>
          </p:cNvPr>
          <p:cNvSpPr txBox="1"/>
          <p:nvPr/>
        </p:nvSpPr>
        <p:spPr>
          <a:xfrm>
            <a:off x="7164088" y="4760544"/>
            <a:ext cx="30460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Generative approaches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03193E-0770-4D77-4B49-AE30E12DD77F}"/>
              </a:ext>
            </a:extLst>
          </p:cNvPr>
          <p:cNvSpPr txBox="1"/>
          <p:nvPr/>
        </p:nvSpPr>
        <p:spPr>
          <a:xfrm>
            <a:off x="240032" y="2813003"/>
            <a:ext cx="610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this course we will focus on: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92CB06-14A8-67AE-95A9-99E69518B65F}"/>
              </a:ext>
            </a:extLst>
          </p:cNvPr>
          <p:cNvSpPr/>
          <p:nvPr/>
        </p:nvSpPr>
        <p:spPr>
          <a:xfrm>
            <a:off x="7055802" y="3554616"/>
            <a:ext cx="72190" cy="864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20B42A-05A0-3FC9-5CC3-1281B23CBAF8}"/>
              </a:ext>
            </a:extLst>
          </p:cNvPr>
          <p:cNvSpPr txBox="1"/>
          <p:nvPr/>
        </p:nvSpPr>
        <p:spPr>
          <a:xfrm>
            <a:off x="7164088" y="3758143"/>
            <a:ext cx="34467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rgbClr val="00B0F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Discriminative approaches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7AC831-8F7C-9792-A847-B4F630CA8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049" y="1714105"/>
            <a:ext cx="6311900" cy="673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6C2A71-BDB6-966D-7DA1-4BFEB8503C0C}"/>
              </a:ext>
            </a:extLst>
          </p:cNvPr>
          <p:cNvSpPr txBox="1"/>
          <p:nvPr/>
        </p:nvSpPr>
        <p:spPr>
          <a:xfrm>
            <a:off x="733328" y="5470460"/>
            <a:ext cx="3971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Random forests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AAC393-703D-0427-E032-37BC9CAD4D61}"/>
              </a:ext>
            </a:extLst>
          </p:cNvPr>
          <p:cNvSpPr txBox="1"/>
          <p:nvPr/>
        </p:nvSpPr>
        <p:spPr>
          <a:xfrm>
            <a:off x="733328" y="5964932"/>
            <a:ext cx="3971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Gradient boosted trees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FF1F2F-CEC5-E021-5586-5FC02120E8E1}"/>
              </a:ext>
            </a:extLst>
          </p:cNvPr>
          <p:cNvSpPr/>
          <p:nvPr/>
        </p:nvSpPr>
        <p:spPr>
          <a:xfrm>
            <a:off x="7055802" y="5570936"/>
            <a:ext cx="72190" cy="864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E31AF7-50CD-74C4-F12B-5AE497B18735}"/>
              </a:ext>
            </a:extLst>
          </p:cNvPr>
          <p:cNvSpPr txBox="1"/>
          <p:nvPr/>
        </p:nvSpPr>
        <p:spPr>
          <a:xfrm>
            <a:off x="7164088" y="5787492"/>
            <a:ext cx="31005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Ensembling approaches</a:t>
            </a:r>
          </a:p>
        </p:txBody>
      </p:sp>
    </p:spTree>
    <p:extLst>
      <p:ext uri="{BB962C8B-B14F-4D97-AF65-F5344CB8AC3E}">
        <p14:creationId xmlns:p14="http://schemas.microsoft.com/office/powerpoint/2010/main" val="4251408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2837F6D3-710B-6B5D-8546-D56736F9F3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75" b="6333"/>
          <a:stretch/>
        </p:blipFill>
        <p:spPr>
          <a:xfrm>
            <a:off x="6561689" y="1037316"/>
            <a:ext cx="5299349" cy="4954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A78E5-15BF-8277-B899-1A619D5F3940}"/>
              </a:ext>
            </a:extLst>
          </p:cNvPr>
          <p:cNvSpPr txBox="1"/>
          <p:nvPr/>
        </p:nvSpPr>
        <p:spPr>
          <a:xfrm>
            <a:off x="278388" y="855062"/>
            <a:ext cx="10706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Decision trees split the space according to </a:t>
            </a:r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thresholds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learnt from the data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0072BE-647E-31F9-F7A1-D1249EB544A5}"/>
              </a:ext>
            </a:extLst>
          </p:cNvPr>
          <p:cNvSpPr txBox="1"/>
          <p:nvPr/>
        </p:nvSpPr>
        <p:spPr>
          <a:xfrm>
            <a:off x="240033" y="-10863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1E6E6-B0F0-C833-A84F-07AB5FBD57F6}"/>
              </a:ext>
            </a:extLst>
          </p:cNvPr>
          <p:cNvSpPr txBox="1"/>
          <p:nvPr/>
        </p:nvSpPr>
        <p:spPr>
          <a:xfrm>
            <a:off x="278388" y="6190803"/>
            <a:ext cx="10706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They are very </a:t>
            </a:r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fast to build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 it is not too expensive to make several of them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BF9015F-E14B-2E63-FB62-D5FEC653ECD2}"/>
              </a:ext>
            </a:extLst>
          </p:cNvPr>
          <p:cNvGrpSpPr/>
          <p:nvPr/>
        </p:nvGrpSpPr>
        <p:grpSpPr>
          <a:xfrm>
            <a:off x="3063619" y="2068011"/>
            <a:ext cx="849086" cy="666205"/>
            <a:chOff x="2638697" y="3226526"/>
            <a:chExt cx="849086" cy="66620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8F9FC61-3013-3500-F51A-433EE1E1B404}"/>
                </a:ext>
              </a:extLst>
            </p:cNvPr>
            <p:cNvSpPr/>
            <p:nvPr/>
          </p:nvSpPr>
          <p:spPr>
            <a:xfrm>
              <a:off x="2638697" y="3226526"/>
              <a:ext cx="849086" cy="666205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233631C-B2EA-C6DE-4B20-9765AF67258F}"/>
                </a:ext>
              </a:extLst>
            </p:cNvPr>
            <p:cNvSpPr txBox="1"/>
            <p:nvPr/>
          </p:nvSpPr>
          <p:spPr>
            <a:xfrm>
              <a:off x="2821828" y="3344184"/>
              <a:ext cx="4828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b="1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X</a:t>
              </a:r>
              <a:r>
                <a:rPr lang="en-FR" sz="2200" b="1" baseline="-25000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9D11A3-954F-EEC3-E466-05A38F404636}"/>
              </a:ext>
            </a:extLst>
          </p:cNvPr>
          <p:cNvGrpSpPr/>
          <p:nvPr/>
        </p:nvGrpSpPr>
        <p:grpSpPr>
          <a:xfrm>
            <a:off x="1446963" y="3286261"/>
            <a:ext cx="849086" cy="666205"/>
            <a:chOff x="1223554" y="4597763"/>
            <a:chExt cx="849086" cy="66620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962817-CF24-ED78-772B-A90668B45BDE}"/>
                </a:ext>
              </a:extLst>
            </p:cNvPr>
            <p:cNvSpPr/>
            <p:nvPr/>
          </p:nvSpPr>
          <p:spPr>
            <a:xfrm>
              <a:off x="1223554" y="4597763"/>
              <a:ext cx="849086" cy="666205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C3F4AB-4414-C6D4-C863-3EB7E979161D}"/>
                </a:ext>
              </a:extLst>
            </p:cNvPr>
            <p:cNvSpPr txBox="1"/>
            <p:nvPr/>
          </p:nvSpPr>
          <p:spPr>
            <a:xfrm>
              <a:off x="1406685" y="4715421"/>
              <a:ext cx="4828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b="1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X</a:t>
              </a:r>
              <a:r>
                <a:rPr lang="en-FR" sz="2200" b="1" baseline="-25000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658DA90-CD8D-37CF-0536-097E37A830F0}"/>
              </a:ext>
            </a:extLst>
          </p:cNvPr>
          <p:cNvGrpSpPr/>
          <p:nvPr/>
        </p:nvGrpSpPr>
        <p:grpSpPr>
          <a:xfrm>
            <a:off x="4586074" y="3286263"/>
            <a:ext cx="849086" cy="666205"/>
            <a:chOff x="4309371" y="4597763"/>
            <a:chExt cx="849086" cy="66620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716C0A1-51C5-EAF6-DE16-30C7DC5D561C}"/>
                </a:ext>
              </a:extLst>
            </p:cNvPr>
            <p:cNvSpPr/>
            <p:nvPr/>
          </p:nvSpPr>
          <p:spPr>
            <a:xfrm>
              <a:off x="4309371" y="4597763"/>
              <a:ext cx="849086" cy="666205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596273-2B5A-A33A-A6B2-3D5699851B61}"/>
                </a:ext>
              </a:extLst>
            </p:cNvPr>
            <p:cNvSpPr txBox="1"/>
            <p:nvPr/>
          </p:nvSpPr>
          <p:spPr>
            <a:xfrm>
              <a:off x="4492502" y="4715421"/>
              <a:ext cx="4828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b="1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X</a:t>
              </a:r>
              <a:r>
                <a:rPr lang="en-FR" sz="2200" b="1" baseline="-25000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</a:t>
              </a: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A908F98-71D7-0ED3-356C-8FFAEBF6D006}"/>
              </a:ext>
            </a:extLst>
          </p:cNvPr>
          <p:cNvCxnSpPr>
            <a:stCxn id="8" idx="2"/>
            <a:endCxn id="21" idx="0"/>
          </p:cNvCxnSpPr>
          <p:nvPr/>
        </p:nvCxnSpPr>
        <p:spPr>
          <a:xfrm>
            <a:off x="3488162" y="2734216"/>
            <a:ext cx="1522455" cy="552047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F9F5A34-6AEE-918F-A62F-5F25ABF948CF}"/>
              </a:ext>
            </a:extLst>
          </p:cNvPr>
          <p:cNvCxnSpPr>
            <a:cxnSpLocks/>
          </p:cNvCxnSpPr>
          <p:nvPr/>
        </p:nvCxnSpPr>
        <p:spPr>
          <a:xfrm flipV="1">
            <a:off x="1965707" y="2739308"/>
            <a:ext cx="1522455" cy="552047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9A9C9B0-D189-4BFE-DC09-EC834FB16E2A}"/>
              </a:ext>
            </a:extLst>
          </p:cNvPr>
          <p:cNvSpPr txBox="1"/>
          <p:nvPr/>
        </p:nvSpPr>
        <p:spPr>
          <a:xfrm>
            <a:off x="4154117" y="2616556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1.25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D91C52-19D4-B8A1-52D8-04EB239818F7}"/>
              </a:ext>
            </a:extLst>
          </p:cNvPr>
          <p:cNvSpPr txBox="1"/>
          <p:nvPr/>
        </p:nvSpPr>
        <p:spPr>
          <a:xfrm>
            <a:off x="1793177" y="2638375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1.25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7B9FF4D-5FBB-C137-50B1-060E95B2BCB9}"/>
              </a:ext>
            </a:extLst>
          </p:cNvPr>
          <p:cNvCxnSpPr>
            <a:cxnSpLocks/>
          </p:cNvCxnSpPr>
          <p:nvPr/>
        </p:nvCxnSpPr>
        <p:spPr>
          <a:xfrm>
            <a:off x="1871709" y="3954996"/>
            <a:ext cx="595853" cy="66483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FAFCA6E-FEDA-549D-0B20-46494AF6DE4B}"/>
              </a:ext>
            </a:extLst>
          </p:cNvPr>
          <p:cNvCxnSpPr>
            <a:cxnSpLocks/>
          </p:cNvCxnSpPr>
          <p:nvPr/>
        </p:nvCxnSpPr>
        <p:spPr>
          <a:xfrm flipV="1">
            <a:off x="1272633" y="3951277"/>
            <a:ext cx="595853" cy="66483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F6F561D-1844-8C18-F9C9-8F5E60DB316A}"/>
              </a:ext>
            </a:extLst>
          </p:cNvPr>
          <p:cNvSpPr txBox="1"/>
          <p:nvPr/>
        </p:nvSpPr>
        <p:spPr>
          <a:xfrm>
            <a:off x="697630" y="4063969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0.8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0D1513-36E6-2CC8-BC50-0F6F5B13F48E}"/>
              </a:ext>
            </a:extLst>
          </p:cNvPr>
          <p:cNvSpPr txBox="1"/>
          <p:nvPr/>
        </p:nvSpPr>
        <p:spPr>
          <a:xfrm>
            <a:off x="2325064" y="4060844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0.8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1E75D39-2859-F3BA-E04C-7209CC95A987}"/>
              </a:ext>
            </a:extLst>
          </p:cNvPr>
          <p:cNvCxnSpPr>
            <a:cxnSpLocks/>
          </p:cNvCxnSpPr>
          <p:nvPr/>
        </p:nvCxnSpPr>
        <p:spPr>
          <a:xfrm>
            <a:off x="5029109" y="3962329"/>
            <a:ext cx="595853" cy="66483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87D67E4-E874-C2BA-612D-7129612317B0}"/>
              </a:ext>
            </a:extLst>
          </p:cNvPr>
          <p:cNvCxnSpPr>
            <a:cxnSpLocks/>
          </p:cNvCxnSpPr>
          <p:nvPr/>
        </p:nvCxnSpPr>
        <p:spPr>
          <a:xfrm flipV="1">
            <a:off x="4430033" y="3958610"/>
            <a:ext cx="595853" cy="66483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278474D-1C79-5D9C-91F1-15E76AE4577C}"/>
              </a:ext>
            </a:extLst>
          </p:cNvPr>
          <p:cNvSpPr txBox="1"/>
          <p:nvPr/>
        </p:nvSpPr>
        <p:spPr>
          <a:xfrm>
            <a:off x="3855030" y="4071302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0.0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F96CC0-5ADA-8A0D-F5B7-FEB52CD5DACB}"/>
              </a:ext>
            </a:extLst>
          </p:cNvPr>
          <p:cNvSpPr txBox="1"/>
          <p:nvPr/>
        </p:nvSpPr>
        <p:spPr>
          <a:xfrm>
            <a:off x="5482464" y="4068177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0.0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82DE560-8E0E-A48B-0137-C0FA2E877EA5}"/>
              </a:ext>
            </a:extLst>
          </p:cNvPr>
          <p:cNvSpPr/>
          <p:nvPr/>
        </p:nvSpPr>
        <p:spPr>
          <a:xfrm>
            <a:off x="1094982" y="4735080"/>
            <a:ext cx="345822" cy="345822"/>
          </a:xfrm>
          <a:prstGeom prst="rect">
            <a:avLst/>
          </a:prstGeom>
          <a:solidFill>
            <a:srgbClr val="1E77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5DF086-1FEE-B077-C1AE-2151020C0FF6}"/>
              </a:ext>
            </a:extLst>
          </p:cNvPr>
          <p:cNvSpPr/>
          <p:nvPr/>
        </p:nvSpPr>
        <p:spPr>
          <a:xfrm>
            <a:off x="4240252" y="4737384"/>
            <a:ext cx="345822" cy="345822"/>
          </a:xfrm>
          <a:prstGeom prst="rect">
            <a:avLst/>
          </a:prstGeom>
          <a:solidFill>
            <a:srgbClr val="FF7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BA9D40C-AB88-D52B-180B-AB6020E18AB8}"/>
              </a:ext>
            </a:extLst>
          </p:cNvPr>
          <p:cNvSpPr/>
          <p:nvPr/>
        </p:nvSpPr>
        <p:spPr>
          <a:xfrm>
            <a:off x="2294651" y="4739381"/>
            <a:ext cx="345822" cy="345822"/>
          </a:xfrm>
          <a:prstGeom prst="rect">
            <a:avLst/>
          </a:prstGeom>
          <a:solidFill>
            <a:srgbClr val="1E77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9B0DCD1-3FC0-69C0-4700-23AD1A63C255}"/>
              </a:ext>
            </a:extLst>
          </p:cNvPr>
          <p:cNvSpPr/>
          <p:nvPr/>
        </p:nvSpPr>
        <p:spPr>
          <a:xfrm>
            <a:off x="5452051" y="4735080"/>
            <a:ext cx="345822" cy="345822"/>
          </a:xfrm>
          <a:prstGeom prst="rect">
            <a:avLst/>
          </a:prstGeom>
          <a:solidFill>
            <a:srgbClr val="FF7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1B4741-79F4-38D8-A373-45A67E6B3D8F}"/>
              </a:ext>
            </a:extLst>
          </p:cNvPr>
          <p:cNvSpPr txBox="1"/>
          <p:nvPr/>
        </p:nvSpPr>
        <p:spPr>
          <a:xfrm>
            <a:off x="6869475" y="1700625"/>
            <a:ext cx="643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(R</a:t>
            </a:r>
            <a:r>
              <a:rPr lang="en-FR" sz="2200" b="1" baseline="-25000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F67943-7EBD-598E-2B63-A1F1F2FAA767}"/>
              </a:ext>
            </a:extLst>
          </p:cNvPr>
          <p:cNvSpPr txBox="1"/>
          <p:nvPr/>
        </p:nvSpPr>
        <p:spPr>
          <a:xfrm>
            <a:off x="10680877" y="1675224"/>
            <a:ext cx="643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(R</a:t>
            </a:r>
            <a:r>
              <a:rPr lang="en-FR" sz="2200" b="1" baseline="-25000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</a:t>
            </a:r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CF5D3E8-017B-AA9C-5A66-E29852966B58}"/>
              </a:ext>
            </a:extLst>
          </p:cNvPr>
          <p:cNvSpPr txBox="1"/>
          <p:nvPr/>
        </p:nvSpPr>
        <p:spPr>
          <a:xfrm>
            <a:off x="6882175" y="3345260"/>
            <a:ext cx="643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(R</a:t>
            </a:r>
            <a:r>
              <a:rPr lang="en-FR" sz="2200" b="1" baseline="-25000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E2DA7A-6D24-C425-7603-3336A9789964}"/>
              </a:ext>
            </a:extLst>
          </p:cNvPr>
          <p:cNvSpPr txBox="1"/>
          <p:nvPr/>
        </p:nvSpPr>
        <p:spPr>
          <a:xfrm>
            <a:off x="10680877" y="4007522"/>
            <a:ext cx="643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(R</a:t>
            </a:r>
            <a:r>
              <a:rPr lang="en-FR" sz="2200" b="1" baseline="-25000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</a:t>
            </a:r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61224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C7B03E-5EF5-4ACC-4995-EFE07E75D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25C97A6A-2E76-04ED-6FF6-F9EF4B91ED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75" b="6333"/>
          <a:stretch/>
        </p:blipFill>
        <p:spPr>
          <a:xfrm>
            <a:off x="6561689" y="1037316"/>
            <a:ext cx="5299349" cy="4954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15C4A9-7943-52F1-0636-E0AADFB949E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CB60A-3BB3-AF00-D32D-E723DD965037}"/>
              </a:ext>
            </a:extLst>
          </p:cNvPr>
          <p:cNvSpPr txBox="1"/>
          <p:nvPr/>
        </p:nvSpPr>
        <p:spPr>
          <a:xfrm>
            <a:off x="278388" y="855062"/>
            <a:ext cx="10706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Decision trees split the space according to </a:t>
            </a:r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thresholds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learnt from the data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DF399C-EF8B-EDDE-5296-747917AE9CB3}"/>
              </a:ext>
            </a:extLst>
          </p:cNvPr>
          <p:cNvSpPr txBox="1"/>
          <p:nvPr/>
        </p:nvSpPr>
        <p:spPr>
          <a:xfrm>
            <a:off x="240033" y="-10863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50678D-9B0B-9551-168D-5C9D909C5734}"/>
              </a:ext>
            </a:extLst>
          </p:cNvPr>
          <p:cNvSpPr txBox="1"/>
          <p:nvPr/>
        </p:nvSpPr>
        <p:spPr>
          <a:xfrm>
            <a:off x="6869475" y="1700625"/>
            <a:ext cx="643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(R</a:t>
            </a:r>
            <a:r>
              <a:rPr lang="en-FR" sz="2200" b="1" baseline="-25000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25E15-486A-975D-DFAE-F847A2E99F0C}"/>
              </a:ext>
            </a:extLst>
          </p:cNvPr>
          <p:cNvSpPr txBox="1"/>
          <p:nvPr/>
        </p:nvSpPr>
        <p:spPr>
          <a:xfrm>
            <a:off x="10680877" y="1675224"/>
            <a:ext cx="643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(R</a:t>
            </a:r>
            <a:r>
              <a:rPr lang="en-FR" sz="2200" b="1" baseline="-25000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</a:t>
            </a:r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D57930-36BC-9442-B212-FC44DF729FA8}"/>
              </a:ext>
            </a:extLst>
          </p:cNvPr>
          <p:cNvSpPr txBox="1"/>
          <p:nvPr/>
        </p:nvSpPr>
        <p:spPr>
          <a:xfrm>
            <a:off x="6882175" y="3345260"/>
            <a:ext cx="643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(R</a:t>
            </a:r>
            <a:r>
              <a:rPr lang="en-FR" sz="2200" b="1" baseline="-25000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89A110-3C85-B90F-4B62-41A3818CF007}"/>
              </a:ext>
            </a:extLst>
          </p:cNvPr>
          <p:cNvSpPr txBox="1"/>
          <p:nvPr/>
        </p:nvSpPr>
        <p:spPr>
          <a:xfrm>
            <a:off x="10680877" y="4007522"/>
            <a:ext cx="6431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(R</a:t>
            </a:r>
            <a:r>
              <a:rPr lang="en-FR" sz="2200" b="1" baseline="-25000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</a:t>
            </a:r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125BE5-8A22-21AC-70B2-2F8DE396CE60}"/>
              </a:ext>
            </a:extLst>
          </p:cNvPr>
          <p:cNvSpPr txBox="1"/>
          <p:nvPr/>
        </p:nvSpPr>
        <p:spPr>
          <a:xfrm>
            <a:off x="278388" y="1532573"/>
            <a:ext cx="10706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Mathematically, they can be written as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881867-1BF3-5A8F-14E4-CFCBF9438C7D}"/>
              </a:ext>
            </a:extLst>
          </p:cNvPr>
          <p:cNvSpPr txBox="1"/>
          <p:nvPr/>
        </p:nvSpPr>
        <p:spPr>
          <a:xfrm>
            <a:off x="295995" y="3543769"/>
            <a:ext cx="107064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Where each c(j) corresponds to :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Wingdings" pitchFamily="2" charset="2"/>
              <a:buChar char="n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label Y of points in 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</a:t>
            </a:r>
            <a:r>
              <a:rPr lang="en-GB" sz="2400" baseline="-250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for </a:t>
            </a:r>
            <a:r>
              <a:rPr lang="en-GB" sz="2400" b="1" dirty="0">
                <a:solidFill>
                  <a:srgbClr val="1E77B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classification</a:t>
            </a:r>
          </a:p>
          <a:p>
            <a:pPr marL="342900" indent="-342900">
              <a:buFont typeface="Wingdings" pitchFamily="2" charset="2"/>
              <a:buChar char="n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Wingdings" pitchFamily="2" charset="2"/>
              <a:buChar char="n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average of Y in 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</a:t>
            </a:r>
            <a:r>
              <a:rPr lang="en-GB" sz="2400" baseline="-250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for </a:t>
            </a:r>
            <a:r>
              <a:rPr lang="en-GB" sz="2400" b="1" dirty="0">
                <a:solidFill>
                  <a:srgbClr val="1E77B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regression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ACB5907-F987-A535-3746-2DBF03DC0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4492" y="2313436"/>
            <a:ext cx="35687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569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E74CBF-56DC-0732-05B5-4186AB20BA9A}"/>
              </a:ext>
            </a:extLst>
          </p:cNvPr>
          <p:cNvSpPr txBox="1"/>
          <p:nvPr/>
        </p:nvSpPr>
        <p:spPr>
          <a:xfrm>
            <a:off x="6858000" y="6070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1F85A-8E7E-0AF0-16A9-B76C292D5DC8}"/>
              </a:ext>
            </a:extLst>
          </p:cNvPr>
          <p:cNvSpPr txBox="1"/>
          <p:nvPr/>
        </p:nvSpPr>
        <p:spPr>
          <a:xfrm>
            <a:off x="278388" y="1518273"/>
            <a:ext cx="114259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Trees are very easy to explain to people, even more than regression!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say that decision trees mirror more closely human decision-making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Trees can be displayed graphically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Trees can easily handle qualitative predictors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However, they also have some important </a:t>
            </a:r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disadvantages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They don’t have the same prediction accuracy as other approaches we’ve seen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Trees can be very non-robust to small changes in the training set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9E904BC2-1828-B605-247F-C5464944109E}"/>
              </a:ext>
            </a:extLst>
          </p:cNvPr>
          <p:cNvSpPr/>
          <p:nvPr/>
        </p:nvSpPr>
        <p:spPr>
          <a:xfrm>
            <a:off x="278388" y="1630125"/>
            <a:ext cx="268712" cy="231648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7D15F089-9619-1C23-43A5-9B65B8168072}"/>
              </a:ext>
            </a:extLst>
          </p:cNvPr>
          <p:cNvSpPr/>
          <p:nvPr/>
        </p:nvSpPr>
        <p:spPr>
          <a:xfrm>
            <a:off x="278388" y="1993368"/>
            <a:ext cx="268712" cy="231648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09A6D8C1-4E3D-8F4A-86B0-C01BACB81D8E}"/>
              </a:ext>
            </a:extLst>
          </p:cNvPr>
          <p:cNvSpPr/>
          <p:nvPr/>
        </p:nvSpPr>
        <p:spPr>
          <a:xfrm>
            <a:off x="278388" y="2356611"/>
            <a:ext cx="268712" cy="231648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1F9A47F9-2DCC-947B-05AF-95D89B64ED83}"/>
              </a:ext>
            </a:extLst>
          </p:cNvPr>
          <p:cNvSpPr/>
          <p:nvPr/>
        </p:nvSpPr>
        <p:spPr>
          <a:xfrm>
            <a:off x="278388" y="2719853"/>
            <a:ext cx="268712" cy="231648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4DD5C03F-FCD5-74C6-591C-6533A619C69E}"/>
              </a:ext>
            </a:extLst>
          </p:cNvPr>
          <p:cNvSpPr/>
          <p:nvPr/>
        </p:nvSpPr>
        <p:spPr>
          <a:xfrm rot="10800000">
            <a:off x="278388" y="4196555"/>
            <a:ext cx="268712" cy="231648"/>
          </a:xfrm>
          <a:prstGeom prst="triangl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DCEC2472-C3B7-B736-64C5-C5A46FF33F8C}"/>
              </a:ext>
            </a:extLst>
          </p:cNvPr>
          <p:cNvSpPr/>
          <p:nvPr/>
        </p:nvSpPr>
        <p:spPr>
          <a:xfrm rot="10800000">
            <a:off x="278388" y="4556090"/>
            <a:ext cx="268712" cy="231648"/>
          </a:xfrm>
          <a:prstGeom prst="triangl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CC703-28EE-7AD7-20AB-C2F2C943AC01}"/>
              </a:ext>
            </a:extLst>
          </p:cNvPr>
          <p:cNvSpPr txBox="1"/>
          <p:nvPr/>
        </p:nvSpPr>
        <p:spPr>
          <a:xfrm>
            <a:off x="278388" y="855062"/>
            <a:ext cx="11425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Decision trees have many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advantages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vs other approaches we’ve seen before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96184-EA2E-5C32-6B95-3EBDCC662DBD}"/>
              </a:ext>
            </a:extLst>
          </p:cNvPr>
          <p:cNvSpPr txBox="1"/>
          <p:nvPr/>
        </p:nvSpPr>
        <p:spPr>
          <a:xfrm>
            <a:off x="240033" y="-10863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</a:p>
        </p:txBody>
      </p:sp>
    </p:spTree>
    <p:extLst>
      <p:ext uri="{BB962C8B-B14F-4D97-AF65-F5344CB8AC3E}">
        <p14:creationId xmlns:p14="http://schemas.microsoft.com/office/powerpoint/2010/main" val="2071422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A2080-70C6-80CC-0921-D5F725992FC2}"/>
              </a:ext>
            </a:extLst>
          </p:cNvPr>
          <p:cNvSpPr txBox="1"/>
          <p:nvPr/>
        </p:nvSpPr>
        <p:spPr>
          <a:xfrm>
            <a:off x="278388" y="855062"/>
            <a:ext cx="114259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Consider the two moons dataset. </a:t>
            </a:r>
          </a:p>
          <a:p>
            <a:endParaRPr lang="en-GB" sz="2400" dirty="0">
              <a:solidFill>
                <a:srgbClr val="5E5E5E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Simulate a training dataset three times with 200 points and one test set with 1000.</a:t>
            </a:r>
          </a:p>
          <a:p>
            <a:endParaRPr lang="en-GB" sz="2400" dirty="0">
              <a:solidFill>
                <a:srgbClr val="5E5E5E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 scatter dots are points from the test set and the boundary is for a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 Light" panose="020F0502020204030203" pitchFamily="34" charset="0"/>
              </a:rPr>
              <a:t>decision tree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AE9A9E9-9D81-3CE9-9C66-D4F464E20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3" y="2934000"/>
            <a:ext cx="11198870" cy="34458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F66573-0C38-E0A6-908E-FFA683FA4E44}"/>
              </a:ext>
            </a:extLst>
          </p:cNvPr>
          <p:cNvSpPr txBox="1"/>
          <p:nvPr/>
        </p:nvSpPr>
        <p:spPr>
          <a:xfrm>
            <a:off x="240033" y="-10863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</a:p>
        </p:txBody>
      </p:sp>
    </p:spTree>
    <p:extLst>
      <p:ext uri="{BB962C8B-B14F-4D97-AF65-F5344CB8AC3E}">
        <p14:creationId xmlns:p14="http://schemas.microsoft.com/office/powerpoint/2010/main" val="1472185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67E8AF-F2B2-6E90-1794-BF91FA286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" y="2934000"/>
            <a:ext cx="11173968" cy="34381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5E90C1-C123-61A0-C1E1-1EBAC06A367A}"/>
              </a:ext>
            </a:extLst>
          </p:cNvPr>
          <p:cNvSpPr txBox="1"/>
          <p:nvPr/>
        </p:nvSpPr>
        <p:spPr>
          <a:xfrm>
            <a:off x="240033" y="-10863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EAE9D0-FEE6-6021-95BA-1BC4E4D24207}"/>
              </a:ext>
            </a:extLst>
          </p:cNvPr>
          <p:cNvSpPr txBox="1"/>
          <p:nvPr/>
        </p:nvSpPr>
        <p:spPr>
          <a:xfrm>
            <a:off x="278388" y="855062"/>
            <a:ext cx="114259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Consider the two moons dataset. </a:t>
            </a:r>
          </a:p>
          <a:p>
            <a:endParaRPr lang="en-GB" sz="2400" dirty="0">
              <a:solidFill>
                <a:srgbClr val="5E5E5E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Simulate a training dataset three times with 200 points and one test set with 1000.</a:t>
            </a:r>
          </a:p>
          <a:p>
            <a:endParaRPr lang="en-GB" sz="2400" dirty="0">
              <a:solidFill>
                <a:srgbClr val="5E5E5E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 scatter dots are points from the test set and the boundary is for a </a:t>
            </a:r>
            <a:r>
              <a:rPr lang="en-GB" sz="2400" b="1" dirty="0" err="1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 Light" panose="020F0502020204030203" pitchFamily="34" charset="0"/>
              </a:rPr>
              <a:t>kNN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 Light" panose="020F0502020204030203" pitchFamily="34" charset="0"/>
              </a:rPr>
              <a:t> (k=10) </a:t>
            </a:r>
          </a:p>
        </p:txBody>
      </p:sp>
    </p:spTree>
    <p:extLst>
      <p:ext uri="{BB962C8B-B14F-4D97-AF65-F5344CB8AC3E}">
        <p14:creationId xmlns:p14="http://schemas.microsoft.com/office/powerpoint/2010/main" val="1320301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383ADC-7AAE-E5D3-4449-681AE28A1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" y="2934000"/>
            <a:ext cx="11173968" cy="34381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D9127E-049B-FE4C-801C-B907EEBD9CBD}"/>
              </a:ext>
            </a:extLst>
          </p:cNvPr>
          <p:cNvSpPr txBox="1"/>
          <p:nvPr/>
        </p:nvSpPr>
        <p:spPr>
          <a:xfrm>
            <a:off x="240033" y="-10863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EED710-F047-0C75-A651-F1A35F8D1E04}"/>
              </a:ext>
            </a:extLst>
          </p:cNvPr>
          <p:cNvSpPr txBox="1"/>
          <p:nvPr/>
        </p:nvSpPr>
        <p:spPr>
          <a:xfrm>
            <a:off x="278387" y="855062"/>
            <a:ext cx="124120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Consider the two moons dataset. </a:t>
            </a:r>
          </a:p>
          <a:p>
            <a:endParaRPr lang="en-GB" sz="2400" dirty="0">
              <a:solidFill>
                <a:srgbClr val="5E5E5E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Simulate a training dataset three times with 200 points and one test set with 1000.</a:t>
            </a:r>
          </a:p>
          <a:p>
            <a:endParaRPr lang="en-GB" sz="2400" dirty="0">
              <a:solidFill>
                <a:srgbClr val="5E5E5E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 scatter dots are points from the test set and the boundary is for a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 Light" panose="020F0502020204030203" pitchFamily="34" charset="0"/>
              </a:rPr>
              <a:t>logistic reg</a:t>
            </a:r>
          </a:p>
        </p:txBody>
      </p:sp>
    </p:spTree>
    <p:extLst>
      <p:ext uri="{BB962C8B-B14F-4D97-AF65-F5344CB8AC3E}">
        <p14:creationId xmlns:p14="http://schemas.microsoft.com/office/powerpoint/2010/main" val="4107550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69D51-DA7B-15B3-5A16-C200DC52E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2BF3FF4-0B36-B944-A4E3-8574ED67630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814BEC39-D914-A098-284E-E216AF061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2647529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9609E7-A20A-7A17-92E6-99E1D917A71E}"/>
              </a:ext>
            </a:extLst>
          </p:cNvPr>
          <p:cNvSpPr txBox="1"/>
          <p:nvPr/>
        </p:nvSpPr>
        <p:spPr>
          <a:xfrm>
            <a:off x="1865622" y="1450257"/>
            <a:ext cx="515397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Recap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Ensemble methods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Bagging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2302118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2591D-59B5-FF21-6574-764B1475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65828B-045A-2EEB-E2C5-4AEE26C423CB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B79F74-C6A5-4BD6-D517-6B57EED1E789}"/>
              </a:ext>
            </a:extLst>
          </p:cNvPr>
          <p:cNvSpPr txBox="1"/>
          <p:nvPr/>
        </p:nvSpPr>
        <p:spPr>
          <a:xfrm>
            <a:off x="240033" y="-105549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Ensemble methods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29D862-84DA-B274-A50E-E5BDAFF04D93}"/>
              </a:ext>
            </a:extLst>
          </p:cNvPr>
          <p:cNvSpPr txBox="1"/>
          <p:nvPr/>
        </p:nvSpPr>
        <p:spPr>
          <a:xfrm>
            <a:off x="126547" y="1426910"/>
            <a:ext cx="1195196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 horse-racing gambler wants to maximize his winnings and creates a computer program that will </a:t>
            </a:r>
            <a:r>
              <a:rPr lang="en-GB" sz="2200" dirty="0">
                <a:solidFill>
                  <a:srgbClr val="00B05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accurately predict the winner of a horse race </a:t>
            </a: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based on the usual information (number of races recently won by each horse, betting odds for each horse, etc.)</a:t>
            </a:r>
            <a:endParaRPr lang="en-GB" sz="2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C59760-CCEA-A2F3-5CB3-1D5614342D3B}"/>
              </a:ext>
            </a:extLst>
          </p:cNvPr>
          <p:cNvSpPr txBox="1"/>
          <p:nvPr/>
        </p:nvSpPr>
        <p:spPr>
          <a:xfrm>
            <a:off x="240033" y="809380"/>
            <a:ext cx="89611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the following example taken from </a:t>
            </a:r>
            <a:r>
              <a:rPr lang="en-FR" sz="22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Freund and Shapire (1999)</a:t>
            </a:r>
          </a:p>
        </p:txBody>
      </p:sp>
    </p:spTree>
    <p:extLst>
      <p:ext uri="{BB962C8B-B14F-4D97-AF65-F5344CB8AC3E}">
        <p14:creationId xmlns:p14="http://schemas.microsoft.com/office/powerpoint/2010/main" val="1125870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5B1EE-6B2D-944D-A05D-B846E1600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A4863E-B5F3-B80C-B877-83E1772C2FF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B81888-35FC-1425-2973-4D18F02EB2B8}"/>
              </a:ext>
            </a:extLst>
          </p:cNvPr>
          <p:cNvSpPr txBox="1"/>
          <p:nvPr/>
        </p:nvSpPr>
        <p:spPr>
          <a:xfrm>
            <a:off x="240033" y="-105549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Ensemble methods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62C743-D170-78BE-159D-10148D92BF76}"/>
              </a:ext>
            </a:extLst>
          </p:cNvPr>
          <p:cNvSpPr txBox="1"/>
          <p:nvPr/>
        </p:nvSpPr>
        <p:spPr>
          <a:xfrm>
            <a:off x="126547" y="1426910"/>
            <a:ext cx="1195196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 horse-racing gambler wants to maximize his winnings and creates a computer program that will </a:t>
            </a:r>
            <a:r>
              <a:rPr lang="en-GB" sz="2200" dirty="0">
                <a:solidFill>
                  <a:srgbClr val="00B05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accurately predict the winner of a horse race </a:t>
            </a: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based on the usual information (number of races recently won by each horse, betting odds for each horse, etc.)</a:t>
            </a:r>
            <a:endParaRPr lang="en-GB" sz="2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algn="l"/>
            <a:endParaRPr lang="en-GB" sz="2200" dirty="0">
              <a:solidFill>
                <a:srgbClr val="5E5E5E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 create such a program, he asks a highly successful </a:t>
            </a:r>
            <a:r>
              <a:rPr lang="en-GB" sz="2200" dirty="0">
                <a:solidFill>
                  <a:srgbClr val="00B05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expert gambler to explain his betting strategy</a:t>
            </a: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. However, the expert is unable to articulate a grand set of rules for selecting a horse.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92005C-A435-42CF-2E22-8762892A56F8}"/>
              </a:ext>
            </a:extLst>
          </p:cNvPr>
          <p:cNvSpPr txBox="1"/>
          <p:nvPr/>
        </p:nvSpPr>
        <p:spPr>
          <a:xfrm>
            <a:off x="240033" y="809380"/>
            <a:ext cx="89611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the following example taken from </a:t>
            </a:r>
            <a:r>
              <a:rPr lang="en-FR" sz="22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Freund and Shapire (1999)</a:t>
            </a:r>
          </a:p>
        </p:txBody>
      </p:sp>
    </p:spTree>
    <p:extLst>
      <p:ext uri="{BB962C8B-B14F-4D97-AF65-F5344CB8AC3E}">
        <p14:creationId xmlns:p14="http://schemas.microsoft.com/office/powerpoint/2010/main" val="1994840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2634E-9C08-B3AC-1494-6DB97AE7F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04C25E-4575-D056-6B01-C236BD9D812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032192-631C-D34E-D58C-E1450FFE4264}"/>
              </a:ext>
            </a:extLst>
          </p:cNvPr>
          <p:cNvSpPr txBox="1"/>
          <p:nvPr/>
        </p:nvSpPr>
        <p:spPr>
          <a:xfrm>
            <a:off x="240033" y="-105549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Ensemble methods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C6B6D2-5A9B-248F-6ABD-754A5ACD9BDD}"/>
              </a:ext>
            </a:extLst>
          </p:cNvPr>
          <p:cNvSpPr txBox="1"/>
          <p:nvPr/>
        </p:nvSpPr>
        <p:spPr>
          <a:xfrm>
            <a:off x="126547" y="1426910"/>
            <a:ext cx="1195196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 horse-racing gambler wants to maximize his winnings and creates a computer program that will </a:t>
            </a:r>
            <a:r>
              <a:rPr lang="en-GB" sz="2200" dirty="0">
                <a:solidFill>
                  <a:srgbClr val="00B05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accurately predict the winner of a horse race </a:t>
            </a: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based on the usual information (number of races recently won by each horse, betting odds for each horse, etc.)</a:t>
            </a:r>
            <a:endParaRPr lang="en-GB" sz="2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algn="l"/>
            <a:endParaRPr lang="en-GB" sz="2200" dirty="0">
              <a:solidFill>
                <a:srgbClr val="5E5E5E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 create such a program, he asks a highly successful </a:t>
            </a:r>
            <a:r>
              <a:rPr lang="en-GB" sz="2200" dirty="0">
                <a:solidFill>
                  <a:srgbClr val="00B05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expert gambler to explain his betting strategy</a:t>
            </a: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. However, the expert is unable to articulate a grand set of rules for selecting a horse.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endParaRPr lang="en-GB" sz="2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On the other hand, when presented with the data for a specific set of races, the </a:t>
            </a:r>
            <a:r>
              <a:rPr lang="en-GB" sz="2200" dirty="0">
                <a:solidFill>
                  <a:srgbClr val="00B05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expert has no trouble coming up with a “rule of thumb” </a:t>
            </a: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that set of races (such as, “Bet on the horse that has recently won the most races” or “Bet on the horse with the most favoured odds”).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CEB610-E47A-1854-2F68-0FEAE63E98DD}"/>
              </a:ext>
            </a:extLst>
          </p:cNvPr>
          <p:cNvSpPr txBox="1"/>
          <p:nvPr/>
        </p:nvSpPr>
        <p:spPr>
          <a:xfrm>
            <a:off x="240033" y="809380"/>
            <a:ext cx="89611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the following example taken from </a:t>
            </a:r>
            <a:r>
              <a:rPr lang="en-FR" sz="22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Freund and Shapire (1999)</a:t>
            </a:r>
          </a:p>
        </p:txBody>
      </p:sp>
    </p:spTree>
    <p:extLst>
      <p:ext uri="{BB962C8B-B14F-4D97-AF65-F5344CB8AC3E}">
        <p14:creationId xmlns:p14="http://schemas.microsoft.com/office/powerpoint/2010/main" val="1583140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32A24-6C71-F9BA-0F2F-324A4456B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149ED8-648F-D52E-15E3-7FD71981C23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42732-4E17-A1BB-1705-C9E5EE26FC50}"/>
              </a:ext>
            </a:extLst>
          </p:cNvPr>
          <p:cNvSpPr txBox="1"/>
          <p:nvPr/>
        </p:nvSpPr>
        <p:spPr>
          <a:xfrm>
            <a:off x="240033" y="-105549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Ensemble methods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A9408A-5F02-5BAC-3A53-97D909FFD954}"/>
              </a:ext>
            </a:extLst>
          </p:cNvPr>
          <p:cNvSpPr txBox="1"/>
          <p:nvPr/>
        </p:nvSpPr>
        <p:spPr>
          <a:xfrm>
            <a:off x="126547" y="1426910"/>
            <a:ext cx="11951967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 horse-racing gambler wants to maximize his winnings and creates a computer program that will </a:t>
            </a:r>
            <a:r>
              <a:rPr lang="en-GB" sz="2200" dirty="0">
                <a:solidFill>
                  <a:srgbClr val="00B05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accurately predict the winner of a horse race </a:t>
            </a: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based on the usual information (number of races recently won by each horse, betting odds for each horse, etc.)</a:t>
            </a:r>
            <a:endParaRPr lang="en-GB" sz="2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algn="l"/>
            <a:endParaRPr lang="en-GB" sz="2200" dirty="0">
              <a:solidFill>
                <a:srgbClr val="5E5E5E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 create such a program, he asks a highly successful </a:t>
            </a:r>
            <a:r>
              <a:rPr lang="en-GB" sz="2200" dirty="0">
                <a:solidFill>
                  <a:srgbClr val="00B05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expert gambler to explain his betting strategy</a:t>
            </a: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. However, the expert is unable to articulate a grand set of rules for selecting a horse.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endParaRPr lang="en-GB" sz="2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On the other hand, when presented with the data for a specific set of races, the </a:t>
            </a:r>
            <a:r>
              <a:rPr lang="en-GB" sz="2200" dirty="0">
                <a:solidFill>
                  <a:srgbClr val="00B05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expert has no trouble coming up with a “rule of thumb” </a:t>
            </a: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that set of races (such as, “Bet on the horse that has recently won the most races” or “Bet on the horse with the most favoured odds”).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endParaRPr lang="en-GB" sz="2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Although such a rule of thumb, by itself, is obviously very rough and inaccurate, it is not unreasonable to expect it to provide predictions that are at least a little bit better than random guessing. Furthermore, by repeatedly asking the expert’s opinion on different collections of races, </a:t>
            </a:r>
            <a:r>
              <a:rPr lang="en-GB" sz="2200" dirty="0">
                <a:solidFill>
                  <a:srgbClr val="00B05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gambler is able to extract many rules of thumb</a:t>
            </a:r>
            <a:r>
              <a:rPr lang="en-GB" sz="22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BF4E16-0FCD-95F2-5AD3-8E6244210D22}"/>
              </a:ext>
            </a:extLst>
          </p:cNvPr>
          <p:cNvSpPr txBox="1"/>
          <p:nvPr/>
        </p:nvSpPr>
        <p:spPr>
          <a:xfrm>
            <a:off x="240033" y="809380"/>
            <a:ext cx="89611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the following example taken from </a:t>
            </a:r>
            <a:r>
              <a:rPr lang="en-FR" sz="22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Freund and Shapire (1999)</a:t>
            </a:r>
          </a:p>
        </p:txBody>
      </p:sp>
    </p:spTree>
    <p:extLst>
      <p:ext uri="{BB962C8B-B14F-4D97-AF65-F5344CB8AC3E}">
        <p14:creationId xmlns:p14="http://schemas.microsoft.com/office/powerpoint/2010/main" val="623821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79F4EC-BFC7-8AEF-E312-F558490A4887}"/>
              </a:ext>
            </a:extLst>
          </p:cNvPr>
          <p:cNvSpPr txBox="1"/>
          <p:nvPr/>
        </p:nvSpPr>
        <p:spPr>
          <a:xfrm>
            <a:off x="126547" y="956745"/>
            <a:ext cx="1195196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 use these rules of thumb, there are two problems faced by the gambler: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First, how should he </a:t>
            </a:r>
            <a:r>
              <a:rPr lang="en-GB" sz="2400" dirty="0">
                <a:solidFill>
                  <a:srgbClr val="00B05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choose the collections of races presented</a:t>
            </a: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to the expert so as to extract rules of thumb from the expert that will be the most useful?</a:t>
            </a:r>
          </a:p>
          <a:p>
            <a:pPr marL="457200" indent="-457200" algn="l">
              <a:buFont typeface="+mj-lt"/>
              <a:buAutoNum type="arabicPeriod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Second, once he has collected many rules of thumb, </a:t>
            </a:r>
            <a:r>
              <a:rPr lang="en-GB" sz="2400" dirty="0">
                <a:solidFill>
                  <a:srgbClr val="00B05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 can they be combined</a:t>
            </a: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into a single, highly accurate prediction rule?</a:t>
            </a:r>
          </a:p>
          <a:p>
            <a:pPr algn="l"/>
            <a:endParaRPr lang="en-GB" sz="2400" dirty="0">
              <a:solidFill>
                <a:srgbClr val="5E5E5E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algn="l"/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answer to these questions is of fundamental importance in machine learning and the category of algorithms that try to address them are called </a:t>
            </a:r>
            <a:r>
              <a:rPr lang="en-GB" sz="2400" dirty="0">
                <a:solidFill>
                  <a:srgbClr val="FA2743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ensemble learning </a:t>
            </a: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methods. Some examples of strategies are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2E3D72-0EAC-3DB6-7F48-D9CE36814AEE}"/>
              </a:ext>
            </a:extLst>
          </p:cNvPr>
          <p:cNvGrpSpPr/>
          <p:nvPr/>
        </p:nvGrpSpPr>
        <p:grpSpPr>
          <a:xfrm>
            <a:off x="1054937" y="5550332"/>
            <a:ext cx="10082125" cy="701846"/>
            <a:chOff x="240033" y="4730725"/>
            <a:chExt cx="10082125" cy="7018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CEBC30-D4BA-2BB9-F236-8C38F44A6BDB}"/>
                </a:ext>
              </a:extLst>
            </p:cNvPr>
            <p:cNvSpPr txBox="1"/>
            <p:nvPr/>
          </p:nvSpPr>
          <p:spPr>
            <a:xfrm>
              <a:off x="1461211" y="5063239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FR" dirty="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16968C3-8FAE-2CAA-C1E1-B85A524106BF}"/>
                </a:ext>
              </a:extLst>
            </p:cNvPr>
            <p:cNvSpPr/>
            <p:nvPr/>
          </p:nvSpPr>
          <p:spPr>
            <a:xfrm>
              <a:off x="2126230" y="4730730"/>
              <a:ext cx="1710046" cy="517175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STACKING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95AC9B58-7F59-3814-BE01-99E89F16491B}"/>
                </a:ext>
              </a:extLst>
            </p:cNvPr>
            <p:cNvSpPr/>
            <p:nvPr/>
          </p:nvSpPr>
          <p:spPr>
            <a:xfrm>
              <a:off x="4012427" y="4730729"/>
              <a:ext cx="1710046" cy="517175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BOOSTING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E17C7FE-4B2E-E7D1-6876-570B75B542CA}"/>
                </a:ext>
              </a:extLst>
            </p:cNvPr>
            <p:cNvSpPr/>
            <p:nvPr/>
          </p:nvSpPr>
          <p:spPr>
            <a:xfrm>
              <a:off x="5898624" y="4730728"/>
              <a:ext cx="1710046" cy="517175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BAGGING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A296997-8958-40C9-1929-290C916606E0}"/>
                </a:ext>
              </a:extLst>
            </p:cNvPr>
            <p:cNvSpPr/>
            <p:nvPr/>
          </p:nvSpPr>
          <p:spPr>
            <a:xfrm>
              <a:off x="7784821" y="4730727"/>
              <a:ext cx="1710046" cy="517175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BLENDING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6ECAD6-AEA2-7BC0-59D2-14C0B42672F4}"/>
                </a:ext>
              </a:extLst>
            </p:cNvPr>
            <p:cNvSpPr txBox="1"/>
            <p:nvPr/>
          </p:nvSpPr>
          <p:spPr>
            <a:xfrm>
              <a:off x="9671018" y="4773870"/>
              <a:ext cx="6511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Etc.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9605BAD8-95B3-B2DF-B841-5151AAA0F233}"/>
                </a:ext>
              </a:extLst>
            </p:cNvPr>
            <p:cNvSpPr/>
            <p:nvPr/>
          </p:nvSpPr>
          <p:spPr>
            <a:xfrm>
              <a:off x="240033" y="4730725"/>
              <a:ext cx="1710046" cy="517175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VOTING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5C98652-1148-17FA-B01A-14BF62AB8398}"/>
              </a:ext>
            </a:extLst>
          </p:cNvPr>
          <p:cNvSpPr/>
          <p:nvPr/>
        </p:nvSpPr>
        <p:spPr>
          <a:xfrm>
            <a:off x="4827331" y="6228427"/>
            <a:ext cx="3596243" cy="72000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44E673-44A6-2A5B-757E-979EDF5F6C2A}"/>
              </a:ext>
            </a:extLst>
          </p:cNvPr>
          <p:cNvSpPr txBox="1"/>
          <p:nvPr/>
        </p:nvSpPr>
        <p:spPr>
          <a:xfrm>
            <a:off x="240033" y="-105549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Ensemble methods</a:t>
            </a:r>
          </a:p>
        </p:txBody>
      </p:sp>
    </p:spTree>
    <p:extLst>
      <p:ext uri="{BB962C8B-B14F-4D97-AF65-F5344CB8AC3E}">
        <p14:creationId xmlns:p14="http://schemas.microsoft.com/office/powerpoint/2010/main" val="760309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18E77-0341-8CAA-2B3D-7FF65B10BC97}"/>
              </a:ext>
            </a:extLst>
          </p:cNvPr>
          <p:cNvSpPr txBox="1"/>
          <p:nvPr/>
        </p:nvSpPr>
        <p:spPr>
          <a:xfrm>
            <a:off x="240033" y="746721"/>
            <a:ext cx="8651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Remember that the generalization error can be decomposed as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31E76C3-0D3E-8D75-5B80-5777CD77BD9C}"/>
              </a:ext>
            </a:extLst>
          </p:cNvPr>
          <p:cNvGrpSpPr/>
          <p:nvPr/>
        </p:nvGrpSpPr>
        <p:grpSpPr>
          <a:xfrm>
            <a:off x="1669900" y="1329023"/>
            <a:ext cx="8852200" cy="646333"/>
            <a:chOff x="344632" y="1555690"/>
            <a:chExt cx="8852200" cy="646333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97A499C-8D8F-21E0-4664-B745B0668758}"/>
                </a:ext>
              </a:extLst>
            </p:cNvPr>
            <p:cNvSpPr/>
            <p:nvPr/>
          </p:nvSpPr>
          <p:spPr>
            <a:xfrm>
              <a:off x="5045104" y="1593938"/>
              <a:ext cx="1799255" cy="569843"/>
            </a:xfrm>
            <a:prstGeom prst="roundRect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C16CCC-8432-9C95-6888-4ECDDD36EB1D}"/>
                </a:ext>
              </a:extLst>
            </p:cNvPr>
            <p:cNvSpPr txBox="1"/>
            <p:nvPr/>
          </p:nvSpPr>
          <p:spPr>
            <a:xfrm>
              <a:off x="5598322" y="1694194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b="1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BIAS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13A7762-078D-11FE-BB4B-F37DABB4F2EA}"/>
                </a:ext>
              </a:extLst>
            </p:cNvPr>
            <p:cNvGrpSpPr/>
            <p:nvPr/>
          </p:nvGrpSpPr>
          <p:grpSpPr>
            <a:xfrm>
              <a:off x="7397577" y="1593938"/>
              <a:ext cx="1799255" cy="569843"/>
              <a:chOff x="7456672" y="2859156"/>
              <a:chExt cx="1799255" cy="569843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9DEDFEE3-ED63-1EDB-B5D7-D0BC00E9CD92}"/>
                  </a:ext>
                </a:extLst>
              </p:cNvPr>
              <p:cNvSpPr/>
              <p:nvPr/>
            </p:nvSpPr>
            <p:spPr>
              <a:xfrm>
                <a:off x="7456672" y="2859156"/>
                <a:ext cx="1799255" cy="569843"/>
              </a:xfrm>
              <a:prstGeom prst="roundRect">
                <a:avLst/>
              </a:prstGeom>
              <a:solidFill>
                <a:srgbClr val="5E5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AE81E1-BE05-F837-7EB4-43C736E07C1C}"/>
                  </a:ext>
                </a:extLst>
              </p:cNvPr>
              <p:cNvSpPr txBox="1"/>
              <p:nvPr/>
            </p:nvSpPr>
            <p:spPr>
              <a:xfrm>
                <a:off x="7709370" y="2959412"/>
                <a:ext cx="13468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FR" b="1" dirty="0">
                    <a:solidFill>
                      <a:srgbClr val="E8EBE4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VARIANCE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424790B-F7E0-0915-3595-D5F09E7D1E24}"/>
                </a:ext>
              </a:extLst>
            </p:cNvPr>
            <p:cNvGrpSpPr/>
            <p:nvPr/>
          </p:nvGrpSpPr>
          <p:grpSpPr>
            <a:xfrm>
              <a:off x="2697106" y="1593939"/>
              <a:ext cx="1799255" cy="569843"/>
              <a:chOff x="2936072" y="2859157"/>
              <a:chExt cx="1799255" cy="569843"/>
            </a:xfrm>
          </p:grpSpPr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A506296D-A486-E9A0-2DA9-53AD3B39D48F}"/>
                  </a:ext>
                </a:extLst>
              </p:cNvPr>
              <p:cNvSpPr/>
              <p:nvPr/>
            </p:nvSpPr>
            <p:spPr>
              <a:xfrm>
                <a:off x="2936072" y="2859157"/>
                <a:ext cx="1799255" cy="569843"/>
              </a:xfrm>
              <a:prstGeom prst="roundRect">
                <a:avLst/>
              </a:prstGeom>
              <a:solidFill>
                <a:srgbClr val="5E5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2DCA92-6272-1ED8-D5F0-A2171606D379}"/>
                  </a:ext>
                </a:extLst>
              </p:cNvPr>
              <p:cNvSpPr txBox="1"/>
              <p:nvPr/>
            </p:nvSpPr>
            <p:spPr>
              <a:xfrm>
                <a:off x="3397117" y="2959412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FR" b="1" dirty="0">
                    <a:solidFill>
                      <a:srgbClr val="E8EBE4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NOISE</a:t>
                </a:r>
              </a:p>
            </p:txBody>
          </p:sp>
        </p:grp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168BB407-5B26-48FE-3FD0-D2C3B784E481}"/>
                </a:ext>
              </a:extLst>
            </p:cNvPr>
            <p:cNvSpPr/>
            <p:nvPr/>
          </p:nvSpPr>
          <p:spPr>
            <a:xfrm>
              <a:off x="344632" y="1593937"/>
              <a:ext cx="1799255" cy="569843"/>
            </a:xfrm>
            <a:prstGeom prst="roundRect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B6BEB7D-64D6-A3D5-D6A9-DBEE6739ECD6}"/>
                </a:ext>
              </a:extLst>
            </p:cNvPr>
            <p:cNvSpPr txBox="1"/>
            <p:nvPr/>
          </p:nvSpPr>
          <p:spPr>
            <a:xfrm>
              <a:off x="744382" y="1694192"/>
              <a:ext cx="9509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b="1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ERROR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3B9D9E1-FF44-4865-AA96-C538B06987ED}"/>
                </a:ext>
              </a:extLst>
            </p:cNvPr>
            <p:cNvSpPr txBox="1"/>
            <p:nvPr/>
          </p:nvSpPr>
          <p:spPr>
            <a:xfrm>
              <a:off x="2202990" y="1555692"/>
              <a:ext cx="4523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3600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=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6E431E-5812-4CAB-C503-12C71F226F3E}"/>
                </a:ext>
              </a:extLst>
            </p:cNvPr>
            <p:cNvSpPr txBox="1"/>
            <p:nvPr/>
          </p:nvSpPr>
          <p:spPr>
            <a:xfrm>
              <a:off x="4551079" y="1555691"/>
              <a:ext cx="4523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3600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+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40D7093-D67A-4B91-3A83-B6D3CA1F5168}"/>
                </a:ext>
              </a:extLst>
            </p:cNvPr>
            <p:cNvSpPr txBox="1"/>
            <p:nvPr/>
          </p:nvSpPr>
          <p:spPr>
            <a:xfrm>
              <a:off x="6923360" y="1555690"/>
              <a:ext cx="4523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3600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+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3EA9700-05BB-9CF1-4A41-BEDD9E92E648}"/>
              </a:ext>
            </a:extLst>
          </p:cNvPr>
          <p:cNvSpPr txBox="1"/>
          <p:nvPr/>
        </p:nvSpPr>
        <p:spPr>
          <a:xfrm>
            <a:off x="240033" y="2165016"/>
            <a:ext cx="10390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Ensemble methods reduce the bias and/or variance using several predictors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FD7B3C-033D-651A-3D21-C9891FF2DF4B}"/>
              </a:ext>
            </a:extLst>
          </p:cNvPr>
          <p:cNvSpPr txBox="1"/>
          <p:nvPr/>
        </p:nvSpPr>
        <p:spPr>
          <a:xfrm>
            <a:off x="240032" y="4029014"/>
            <a:ext cx="9169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Different techniques will have different strategies for choosing the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44FCBF6-82A2-753E-1439-AFD759A3F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2087" y="4090648"/>
            <a:ext cx="1130300" cy="342900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E2879547-FC8E-CFD4-897A-910480118BC9}"/>
              </a:ext>
            </a:extLst>
          </p:cNvPr>
          <p:cNvSpPr/>
          <p:nvPr/>
        </p:nvSpPr>
        <p:spPr>
          <a:xfrm>
            <a:off x="367304" y="474848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9B92FE-8ED8-549A-2256-8C7524A7F16D}"/>
              </a:ext>
            </a:extLst>
          </p:cNvPr>
          <p:cNvSpPr txBox="1"/>
          <p:nvPr/>
        </p:nvSpPr>
        <p:spPr>
          <a:xfrm>
            <a:off x="575208" y="4608484"/>
            <a:ext cx="9629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predictors are trained on different versions of the training dataset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7AA79FF-6D07-D404-C3CA-8FFA34100086}"/>
              </a:ext>
            </a:extLst>
          </p:cNvPr>
          <p:cNvSpPr/>
          <p:nvPr/>
        </p:nvSpPr>
        <p:spPr>
          <a:xfrm>
            <a:off x="367304" y="5738839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78FD68-866F-9154-159C-658A255CC7DD}"/>
              </a:ext>
            </a:extLst>
          </p:cNvPr>
          <p:cNvSpPr txBox="1"/>
          <p:nvPr/>
        </p:nvSpPr>
        <p:spPr>
          <a:xfrm>
            <a:off x="575208" y="5598841"/>
            <a:ext cx="11242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bagging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the weights are fixed and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boosting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the       follow a scheduling strategy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ED1B131-2DDF-451D-F760-ABB2F0842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889" y="5750981"/>
            <a:ext cx="342900" cy="2159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8205288-EE0C-B48B-6034-60191427AA2C}"/>
              </a:ext>
            </a:extLst>
          </p:cNvPr>
          <p:cNvSpPr txBox="1"/>
          <p:nvPr/>
        </p:nvSpPr>
        <p:spPr>
          <a:xfrm>
            <a:off x="5116810" y="5012298"/>
            <a:ext cx="3127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(chosen wisely but randomly)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BB0FC1-4B01-E47D-A1E3-C19C6CC00A7E}"/>
              </a:ext>
            </a:extLst>
          </p:cNvPr>
          <p:cNvSpPr txBox="1"/>
          <p:nvPr/>
        </p:nvSpPr>
        <p:spPr>
          <a:xfrm>
            <a:off x="240033" y="-105549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Ensemble methods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88E83A-B4EA-58A7-DBA6-916E0F32A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331" y="2833903"/>
            <a:ext cx="82804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36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0DCBC-EE21-7F8B-239C-652980FFD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BF200C-8723-5BD5-A61E-FB02C63AA0A1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84EB7990-7038-E6E3-B897-32FEFF8D7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3877693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4C9F62-EB0F-35FB-291C-7B9CDB974631}"/>
              </a:ext>
            </a:extLst>
          </p:cNvPr>
          <p:cNvSpPr txBox="1"/>
          <p:nvPr/>
        </p:nvSpPr>
        <p:spPr>
          <a:xfrm>
            <a:off x="1865622" y="1450257"/>
            <a:ext cx="515397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Recap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Ensemble methods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Bagging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062D05-C4D4-99F6-5953-ED21151604DE}"/>
              </a:ext>
            </a:extLst>
          </p:cNvPr>
          <p:cNvSpPr txBox="1"/>
          <p:nvPr/>
        </p:nvSpPr>
        <p:spPr>
          <a:xfrm>
            <a:off x="1270800" y="6246149"/>
            <a:ext cx="9650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Many slides are inspired (or taken) from U. Luxburg’s materials on Statistical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296074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7941FF0-CA08-11F3-5BD5-CCA4D9A292C3}"/>
              </a:ext>
            </a:extLst>
          </p:cNvPr>
          <p:cNvSpPr txBox="1"/>
          <p:nvPr/>
        </p:nvSpPr>
        <p:spPr>
          <a:xfrm>
            <a:off x="240033" y="4308947"/>
            <a:ext cx="10326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here the        are IID realizations of the distribution generating the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86890-3E42-352D-06BD-38D181580C83}"/>
              </a:ext>
            </a:extLst>
          </p:cNvPr>
          <p:cNvSpPr txBox="1"/>
          <p:nvPr/>
        </p:nvSpPr>
        <p:spPr>
          <a:xfrm>
            <a:off x="240033" y="-110323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Bagging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18E77-0341-8CAA-2B3D-7FF65B10BC97}"/>
              </a:ext>
            </a:extLst>
          </p:cNvPr>
          <p:cNvSpPr txBox="1"/>
          <p:nvPr/>
        </p:nvSpPr>
        <p:spPr>
          <a:xfrm>
            <a:off x="240033" y="746721"/>
            <a:ext cx="9299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the variance of a classifier among different training sets 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508DF-B2A0-F505-FE5C-1C2373DF266C}"/>
              </a:ext>
            </a:extLst>
          </p:cNvPr>
          <p:cNvSpPr txBox="1"/>
          <p:nvPr/>
        </p:nvSpPr>
        <p:spPr>
          <a:xfrm>
            <a:off x="240033" y="2506615"/>
            <a:ext cx="11719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we could try to reduce the variance by proposing a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meta-classifier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given by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F78974-CB67-3D33-F59C-4B9C636D5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745" y="4405768"/>
            <a:ext cx="393700" cy="2921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2B669F8-E049-F8D0-AFE4-F7B357BD8DF9}"/>
              </a:ext>
            </a:extLst>
          </p:cNvPr>
          <p:cNvSpPr txBox="1"/>
          <p:nvPr/>
        </p:nvSpPr>
        <p:spPr>
          <a:xfrm>
            <a:off x="240033" y="5237572"/>
            <a:ext cx="14141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Question: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3ECB751-9E85-656D-843E-1DB497C13A19}"/>
              </a:ext>
            </a:extLst>
          </p:cNvPr>
          <p:cNvGrpSpPr/>
          <p:nvPr/>
        </p:nvGrpSpPr>
        <p:grpSpPr>
          <a:xfrm>
            <a:off x="1697067" y="5070487"/>
            <a:ext cx="9228208" cy="757237"/>
            <a:chOff x="1644069" y="4347903"/>
            <a:chExt cx="9228208" cy="757237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4C0EFEAE-44D0-BF14-1407-2F16ED3280D4}"/>
                </a:ext>
              </a:extLst>
            </p:cNvPr>
            <p:cNvSpPr/>
            <p:nvPr/>
          </p:nvSpPr>
          <p:spPr>
            <a:xfrm>
              <a:off x="1644069" y="4347903"/>
              <a:ext cx="9228208" cy="757237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8FE7A39-E33C-3330-EF0F-0D05DA9B9E52}"/>
                </a:ext>
              </a:extLst>
            </p:cNvPr>
            <p:cNvSpPr txBox="1"/>
            <p:nvPr/>
          </p:nvSpPr>
          <p:spPr>
            <a:xfrm>
              <a:off x="1768503" y="4514988"/>
              <a:ext cx="91037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How can we do this in practice if we have a fixed training dataset?</a:t>
              </a:r>
              <a:endPara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90822AC-4561-7581-074B-6FD051742C0E}"/>
              </a:ext>
            </a:extLst>
          </p:cNvPr>
          <p:cNvSpPr txBox="1"/>
          <p:nvPr/>
        </p:nvSpPr>
        <p:spPr>
          <a:xfrm>
            <a:off x="246611" y="6111279"/>
            <a:ext cx="11950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Splitting the dataset would yield IID sub-datasets, but would not work well -- Why ?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BBA7F6-F6BF-0F11-5C6B-4443A4C26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2602" y="1383434"/>
            <a:ext cx="7327900" cy="1003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288486-9523-5D13-3380-BB05E13EF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350" y="3135365"/>
            <a:ext cx="65913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37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8838C-38FA-E456-F8F7-D5D9B0C3650E}"/>
              </a:ext>
            </a:extLst>
          </p:cNvPr>
          <p:cNvSpPr txBox="1"/>
          <p:nvPr/>
        </p:nvSpPr>
        <p:spPr>
          <a:xfrm>
            <a:off x="240033" y="746721"/>
            <a:ext cx="1055930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the method of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cross-validation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: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want to estimate the test error of a classifier.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Take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random subsets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training, and another random set for testing.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 get a more reliable result, we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repeat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several times and take the average.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1" name="Picture 10" descr="A book cover with a wave&#10;&#10;Description automatically generated">
            <a:extLst>
              <a:ext uri="{FF2B5EF4-FFF2-40B4-BE49-F238E27FC236}">
                <a16:creationId xmlns:a16="http://schemas.microsoft.com/office/drawing/2014/main" id="{55D9AE6E-02E5-7698-7E7F-6CD636E1B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529" y="4460438"/>
            <a:ext cx="1382353" cy="20944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6EF6A4F-B4F9-8DF2-DA2E-AE2EF187001F}"/>
              </a:ext>
            </a:extLst>
          </p:cNvPr>
          <p:cNvSpPr txBox="1"/>
          <p:nvPr/>
        </p:nvSpPr>
        <p:spPr>
          <a:xfrm>
            <a:off x="240033" y="3604251"/>
            <a:ext cx="11443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(computational) statistics there are many methods that follow the same principle, such as jacknife, bootstrap, conformal prediction, boosting, etc.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B46B6D-2ADF-B423-F333-4782C158EDBB}"/>
              </a:ext>
            </a:extLst>
          </p:cNvPr>
          <p:cNvSpPr txBox="1"/>
          <p:nvPr/>
        </p:nvSpPr>
        <p:spPr>
          <a:xfrm>
            <a:off x="6022673" y="5446915"/>
            <a:ext cx="443685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i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“Computer Age Statistical Inference”</a:t>
            </a:r>
          </a:p>
          <a:p>
            <a:r>
              <a:rPr lang="en-FR" sz="2200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Efron and Hastie</a:t>
            </a:r>
          </a:p>
          <a:p>
            <a:r>
              <a:rPr lang="en-GB" sz="2200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https://hastie.su.domains/CASI/</a:t>
            </a:r>
            <a:endParaRPr lang="en-FR" sz="2200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D27E55-6BC4-CD55-3F76-FD0CB122BD8B}"/>
              </a:ext>
            </a:extLst>
          </p:cNvPr>
          <p:cNvSpPr txBox="1"/>
          <p:nvPr/>
        </p:nvSpPr>
        <p:spPr>
          <a:xfrm>
            <a:off x="240033" y="-110323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Bagging</a:t>
            </a:r>
          </a:p>
        </p:txBody>
      </p:sp>
    </p:spTree>
    <p:extLst>
      <p:ext uri="{BB962C8B-B14F-4D97-AF65-F5344CB8AC3E}">
        <p14:creationId xmlns:p14="http://schemas.microsoft.com/office/powerpoint/2010/main" val="3120789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9D1E89-82FA-1F14-4B7F-22DB384CC884}"/>
              </a:ext>
            </a:extLst>
          </p:cNvPr>
          <p:cNvSpPr txBox="1"/>
          <p:nvPr/>
        </p:nvSpPr>
        <p:spPr>
          <a:xfrm>
            <a:off x="735333" y="1472292"/>
            <a:ext cx="10254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Assume you have a sample                                        and obtain an estimate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C53011-9010-96CF-7E90-8FFB7DCE2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978" y="1530487"/>
            <a:ext cx="2768600" cy="342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0E6E4C-7611-BF9A-2C1F-C0B0F0283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100" y="2092767"/>
            <a:ext cx="2717800" cy="406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E8244A-AC13-DD60-741D-784B67C1EC11}"/>
              </a:ext>
            </a:extLst>
          </p:cNvPr>
          <p:cNvSpPr txBox="1"/>
          <p:nvPr/>
        </p:nvSpPr>
        <p:spPr>
          <a:xfrm>
            <a:off x="240033" y="2652634"/>
            <a:ext cx="11405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You would like to know the statistical distribution of this estimate. For example, because you want to construct confidence intervals or test its statistical significance.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EC289B-B42A-11D6-0844-3A43494F8447}"/>
              </a:ext>
            </a:extLst>
          </p:cNvPr>
          <p:cNvSpPr txBox="1"/>
          <p:nvPr/>
        </p:nvSpPr>
        <p:spPr>
          <a:xfrm>
            <a:off x="240033" y="746721"/>
            <a:ext cx="3340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</a:t>
            </a:r>
            <a:r>
              <a:rPr lang="en-FR" sz="2400" u="sng" dirty="0">
                <a:solidFill>
                  <a:srgbClr val="0070C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Bootstrap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method: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FDDAF4C9-B475-6B16-5075-6323DFBF5258}"/>
              </a:ext>
            </a:extLst>
          </p:cNvPr>
          <p:cNvSpPr/>
          <p:nvPr/>
        </p:nvSpPr>
        <p:spPr>
          <a:xfrm rot="5400000">
            <a:off x="368300" y="1599067"/>
            <a:ext cx="294640" cy="254000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C66B7B-7778-D320-4AA7-CC5B69E4E157}"/>
              </a:ext>
            </a:extLst>
          </p:cNvPr>
          <p:cNvSpPr txBox="1"/>
          <p:nvPr/>
        </p:nvSpPr>
        <p:spPr>
          <a:xfrm>
            <a:off x="735332" y="4005425"/>
            <a:ext cx="10745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You now draw a subsample of m points of the original sample (with or without </a:t>
            </a: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replacement) and on this new sample you compute a new estimate of the parameter </a:t>
            </a:r>
          </a:p>
        </p:txBody>
      </p:sp>
      <p:sp>
        <p:nvSpPr>
          <p:cNvPr id="33" name="Triangle 32">
            <a:extLst>
              <a:ext uri="{FF2B5EF4-FFF2-40B4-BE49-F238E27FC236}">
                <a16:creationId xmlns:a16="http://schemas.microsoft.com/office/drawing/2014/main" id="{04D92007-7C5E-6E4F-4345-B4DDBA72455B}"/>
              </a:ext>
            </a:extLst>
          </p:cNvPr>
          <p:cNvSpPr/>
          <p:nvPr/>
        </p:nvSpPr>
        <p:spPr>
          <a:xfrm rot="5400000">
            <a:off x="368300" y="4132200"/>
            <a:ext cx="294640" cy="254000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2BF2E85-3D94-80F6-1CFC-FBEC7C370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500" y="5105263"/>
            <a:ext cx="3175000" cy="4445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9C46AFC-FDF6-D91A-1EA8-EAA42CADFD9B}"/>
              </a:ext>
            </a:extLst>
          </p:cNvPr>
          <p:cNvSpPr txBox="1"/>
          <p:nvPr/>
        </p:nvSpPr>
        <p:spPr>
          <a:xfrm>
            <a:off x="735332" y="6014296"/>
            <a:ext cx="11068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You repeat this procedure B times to obtain                        and construct statistics</a:t>
            </a:r>
          </a:p>
        </p:txBody>
      </p:sp>
      <p:sp>
        <p:nvSpPr>
          <p:cNvPr id="38" name="Triangle 37">
            <a:extLst>
              <a:ext uri="{FF2B5EF4-FFF2-40B4-BE49-F238E27FC236}">
                <a16:creationId xmlns:a16="http://schemas.microsoft.com/office/drawing/2014/main" id="{9D3864C8-3C83-E519-3D1A-9A4CC605EFC9}"/>
              </a:ext>
            </a:extLst>
          </p:cNvPr>
          <p:cNvSpPr/>
          <p:nvPr/>
        </p:nvSpPr>
        <p:spPr>
          <a:xfrm rot="5400000">
            <a:off x="368300" y="6141071"/>
            <a:ext cx="294640" cy="254000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DF1097F-132C-F501-848C-2671014F37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305" y="6036094"/>
            <a:ext cx="1574800" cy="393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D77025-3E06-85CD-E998-D9412E69EFEA}"/>
              </a:ext>
            </a:extLst>
          </p:cNvPr>
          <p:cNvSpPr txBox="1"/>
          <p:nvPr/>
        </p:nvSpPr>
        <p:spPr>
          <a:xfrm>
            <a:off x="240033" y="-110323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Bagging</a:t>
            </a:r>
          </a:p>
        </p:txBody>
      </p:sp>
    </p:spTree>
    <p:extLst>
      <p:ext uri="{BB962C8B-B14F-4D97-AF65-F5344CB8AC3E}">
        <p14:creationId xmlns:p14="http://schemas.microsoft.com/office/powerpoint/2010/main" val="3577624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1C7F84F-8239-D231-E542-40442C60E0EC}"/>
              </a:ext>
            </a:extLst>
          </p:cNvPr>
          <p:cNvGrpSpPr/>
          <p:nvPr/>
        </p:nvGrpSpPr>
        <p:grpSpPr>
          <a:xfrm>
            <a:off x="3748840" y="1495457"/>
            <a:ext cx="3657137" cy="1712983"/>
            <a:chOff x="3426994" y="1539440"/>
            <a:chExt cx="3657137" cy="171298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8451D1B-6BB9-B00B-8069-950C17161C6E}"/>
                </a:ext>
              </a:extLst>
            </p:cNvPr>
            <p:cNvGrpSpPr/>
            <p:nvPr/>
          </p:nvGrpSpPr>
          <p:grpSpPr>
            <a:xfrm>
              <a:off x="4261476" y="1774668"/>
              <a:ext cx="2634532" cy="1359049"/>
              <a:chOff x="4447213" y="1735414"/>
              <a:chExt cx="2634532" cy="1359049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5012500-1A18-7944-60E5-6044FEF61963}"/>
                  </a:ext>
                </a:extLst>
              </p:cNvPr>
              <p:cNvSpPr/>
              <p:nvPr/>
            </p:nvSpPr>
            <p:spPr>
              <a:xfrm>
                <a:off x="5922078" y="2109305"/>
                <a:ext cx="257175" cy="2571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EEAFF72-CB60-81E1-CA56-021F12BFF860}"/>
                  </a:ext>
                </a:extLst>
              </p:cNvPr>
              <p:cNvSpPr/>
              <p:nvPr/>
            </p:nvSpPr>
            <p:spPr>
              <a:xfrm>
                <a:off x="6431666" y="2237892"/>
                <a:ext cx="257175" cy="25717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ACE3BD4-A1B1-9A6B-71BD-72546CCEDD26}"/>
                  </a:ext>
                </a:extLst>
              </p:cNvPr>
              <p:cNvSpPr/>
              <p:nvPr/>
            </p:nvSpPr>
            <p:spPr>
              <a:xfrm>
                <a:off x="6172110" y="2513518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F915F63-2BA3-D7AA-F5A8-46430C645905}"/>
                  </a:ext>
                </a:extLst>
              </p:cNvPr>
              <p:cNvSpPr/>
              <p:nvPr/>
            </p:nvSpPr>
            <p:spPr>
              <a:xfrm>
                <a:off x="5664903" y="2521844"/>
                <a:ext cx="257175" cy="257175"/>
              </a:xfrm>
              <a:prstGeom prst="ellipse">
                <a:avLst/>
              </a:prstGeom>
              <a:solidFill>
                <a:srgbClr val="02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3560B4E-93D5-20DE-BCB3-776C49D3C907}"/>
                  </a:ext>
                </a:extLst>
              </p:cNvPr>
              <p:cNvSpPr/>
              <p:nvPr/>
            </p:nvSpPr>
            <p:spPr>
              <a:xfrm>
                <a:off x="5252951" y="1782090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02CE742-8284-9339-7696-B32439D9BB96}"/>
                  </a:ext>
                </a:extLst>
              </p:cNvPr>
              <p:cNvSpPr/>
              <p:nvPr/>
            </p:nvSpPr>
            <p:spPr>
              <a:xfrm>
                <a:off x="6300697" y="1825856"/>
                <a:ext cx="257175" cy="257175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4ACBA3A-CC54-D34E-B399-D2825778ECA3}"/>
                  </a:ext>
                </a:extLst>
              </p:cNvPr>
              <p:cNvSpPr/>
              <p:nvPr/>
            </p:nvSpPr>
            <p:spPr>
              <a:xfrm>
                <a:off x="6824570" y="1942687"/>
                <a:ext cx="257175" cy="25717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FA55818-F0F3-2C9C-188D-12D6EA15BB65}"/>
                  </a:ext>
                </a:extLst>
              </p:cNvPr>
              <p:cNvSpPr/>
              <p:nvPr/>
            </p:nvSpPr>
            <p:spPr>
              <a:xfrm>
                <a:off x="5776824" y="1735414"/>
                <a:ext cx="257175" cy="257175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6A59181-2873-0DA8-05C2-2F5EB4A26F0A}"/>
                  </a:ext>
                </a:extLst>
              </p:cNvPr>
              <p:cNvSpPr/>
              <p:nvPr/>
            </p:nvSpPr>
            <p:spPr>
              <a:xfrm>
                <a:off x="5444744" y="2121792"/>
                <a:ext cx="257175" cy="257175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1D1A991-E643-88AC-4D59-C26A3EE68955}"/>
                  </a:ext>
                </a:extLst>
              </p:cNvPr>
              <p:cNvSpPr/>
              <p:nvPr/>
            </p:nvSpPr>
            <p:spPr>
              <a:xfrm>
                <a:off x="5247104" y="2521844"/>
                <a:ext cx="257175" cy="25717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83D1B19-EF91-14D4-D034-522F019D6A5D}"/>
                  </a:ext>
                </a:extLst>
              </p:cNvPr>
              <p:cNvSpPr/>
              <p:nvPr/>
            </p:nvSpPr>
            <p:spPr>
              <a:xfrm>
                <a:off x="6527998" y="2684377"/>
                <a:ext cx="257175" cy="25717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5B25630-9D28-E611-ECD9-97A64F155172}"/>
                  </a:ext>
                </a:extLst>
              </p:cNvPr>
              <p:cNvSpPr/>
              <p:nvPr/>
            </p:nvSpPr>
            <p:spPr>
              <a:xfrm>
                <a:off x="4961563" y="2126623"/>
                <a:ext cx="257175" cy="257175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D4B4074-1F08-9AA1-CAA6-6D3D8C8C5073}"/>
                  </a:ext>
                </a:extLst>
              </p:cNvPr>
              <p:cNvSpPr/>
              <p:nvPr/>
            </p:nvSpPr>
            <p:spPr>
              <a:xfrm>
                <a:off x="5887551" y="2837288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B48AE4A-8849-3937-BE44-225A73F780CB}"/>
                  </a:ext>
                </a:extLst>
              </p:cNvPr>
              <p:cNvSpPr/>
              <p:nvPr/>
            </p:nvSpPr>
            <p:spPr>
              <a:xfrm>
                <a:off x="4447213" y="2356678"/>
                <a:ext cx="257175" cy="25717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C112D38-A119-A1F0-2405-2FCD8BC267DF}"/>
                  </a:ext>
                </a:extLst>
              </p:cNvPr>
              <p:cNvSpPr/>
              <p:nvPr/>
            </p:nvSpPr>
            <p:spPr>
              <a:xfrm>
                <a:off x="4820425" y="2686678"/>
                <a:ext cx="257175" cy="257175"/>
              </a:xfrm>
              <a:prstGeom prst="ellipse">
                <a:avLst/>
              </a:prstGeom>
              <a:solidFill>
                <a:srgbClr val="02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008C974-D470-85B9-DA4B-12907FF43C68}"/>
                  </a:ext>
                </a:extLst>
              </p:cNvPr>
              <p:cNvSpPr/>
              <p:nvPr/>
            </p:nvSpPr>
            <p:spPr>
              <a:xfrm>
                <a:off x="4704388" y="1782089"/>
                <a:ext cx="257175" cy="25717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E41F50A2-9556-11DE-7111-0261905C2D0A}"/>
                </a:ext>
              </a:extLst>
            </p:cNvPr>
            <p:cNvSpPr/>
            <p:nvPr/>
          </p:nvSpPr>
          <p:spPr>
            <a:xfrm>
              <a:off x="4098043" y="1539440"/>
              <a:ext cx="2986088" cy="1712983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0A4D2D1-FC28-EF0B-9CA9-7711FB941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26994" y="2239116"/>
              <a:ext cx="254000" cy="2413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BD4906F-AFD0-7471-B938-8CFCB7B38318}"/>
                </a:ext>
              </a:extLst>
            </p:cNvPr>
            <p:cNvSpPr txBox="1"/>
            <p:nvPr/>
          </p:nvSpPr>
          <p:spPr>
            <a:xfrm>
              <a:off x="3688259" y="2097758"/>
              <a:ext cx="37863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600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=</a:t>
              </a: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7DE90728-A733-360D-39D0-882444C10022}"/>
              </a:ext>
            </a:extLst>
          </p:cNvPr>
          <p:cNvSpPr txBox="1"/>
          <p:nvPr/>
        </p:nvSpPr>
        <p:spPr>
          <a:xfrm>
            <a:off x="5303948" y="3835572"/>
            <a:ext cx="530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3600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…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198A8DD-9E5D-D543-A5FF-B2FB2C705726}"/>
              </a:ext>
            </a:extLst>
          </p:cNvPr>
          <p:cNvGrpSpPr/>
          <p:nvPr/>
        </p:nvGrpSpPr>
        <p:grpSpPr>
          <a:xfrm>
            <a:off x="5983269" y="3534110"/>
            <a:ext cx="3923837" cy="1712983"/>
            <a:chOff x="5977537" y="3607070"/>
            <a:chExt cx="3923837" cy="1712983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9FA1E5E-75D6-B466-4072-B9933A57E64A}"/>
                </a:ext>
              </a:extLst>
            </p:cNvPr>
            <p:cNvGrpSpPr/>
            <p:nvPr/>
          </p:nvGrpSpPr>
          <p:grpSpPr>
            <a:xfrm>
              <a:off x="7078719" y="3842298"/>
              <a:ext cx="2634532" cy="1359049"/>
              <a:chOff x="4447213" y="1735414"/>
              <a:chExt cx="2634532" cy="1359049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E13DB15-6B51-11EF-333E-ACD458CA998A}"/>
                  </a:ext>
                </a:extLst>
              </p:cNvPr>
              <p:cNvSpPr/>
              <p:nvPr/>
            </p:nvSpPr>
            <p:spPr>
              <a:xfrm>
                <a:off x="5922078" y="2109305"/>
                <a:ext cx="257175" cy="2571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41C19114-DAC0-D163-39B8-DDF42595E78A}"/>
                  </a:ext>
                </a:extLst>
              </p:cNvPr>
              <p:cNvSpPr/>
              <p:nvPr/>
            </p:nvSpPr>
            <p:spPr>
              <a:xfrm>
                <a:off x="6431666" y="2237892"/>
                <a:ext cx="257175" cy="25717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DAD5F33-0193-BE3A-134C-7173967F0CF8}"/>
                  </a:ext>
                </a:extLst>
              </p:cNvPr>
              <p:cNvSpPr/>
              <p:nvPr/>
            </p:nvSpPr>
            <p:spPr>
              <a:xfrm>
                <a:off x="6172110" y="2513518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F4E53B1F-5A94-C7D6-353B-87A541F8E360}"/>
                  </a:ext>
                </a:extLst>
              </p:cNvPr>
              <p:cNvSpPr/>
              <p:nvPr/>
            </p:nvSpPr>
            <p:spPr>
              <a:xfrm>
                <a:off x="5664903" y="2521844"/>
                <a:ext cx="257175" cy="257175"/>
              </a:xfrm>
              <a:prstGeom prst="ellipse">
                <a:avLst/>
              </a:prstGeom>
              <a:solidFill>
                <a:srgbClr val="02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501BA12-F3E0-0005-9A16-83BFC4CA4F10}"/>
                  </a:ext>
                </a:extLst>
              </p:cNvPr>
              <p:cNvSpPr/>
              <p:nvPr/>
            </p:nvSpPr>
            <p:spPr>
              <a:xfrm>
                <a:off x="5252951" y="1782090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8A0BB564-929A-1281-E13C-42ECCF36745D}"/>
                  </a:ext>
                </a:extLst>
              </p:cNvPr>
              <p:cNvSpPr/>
              <p:nvPr/>
            </p:nvSpPr>
            <p:spPr>
              <a:xfrm>
                <a:off x="6300697" y="1825856"/>
                <a:ext cx="257175" cy="257175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39515B6-F657-3E95-CA1E-2586BCC26A79}"/>
                  </a:ext>
                </a:extLst>
              </p:cNvPr>
              <p:cNvSpPr/>
              <p:nvPr/>
            </p:nvSpPr>
            <p:spPr>
              <a:xfrm>
                <a:off x="6824570" y="1942687"/>
                <a:ext cx="257175" cy="25717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A4B6A26A-A6B7-96AA-797E-EAD4ADCD35AF}"/>
                  </a:ext>
                </a:extLst>
              </p:cNvPr>
              <p:cNvSpPr/>
              <p:nvPr/>
            </p:nvSpPr>
            <p:spPr>
              <a:xfrm>
                <a:off x="5776824" y="1735414"/>
                <a:ext cx="257175" cy="257175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603E1D8-2451-65E8-9E81-4AFB06D70CA7}"/>
                  </a:ext>
                </a:extLst>
              </p:cNvPr>
              <p:cNvSpPr/>
              <p:nvPr/>
            </p:nvSpPr>
            <p:spPr>
              <a:xfrm>
                <a:off x="5444744" y="2121792"/>
                <a:ext cx="257175" cy="257175"/>
              </a:xfrm>
              <a:prstGeom prst="ellipse">
                <a:avLst/>
              </a:prstGeom>
              <a:solidFill>
                <a:srgbClr val="FA27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3241D2FF-D4EE-7C74-CABF-140C936C9DC8}"/>
                  </a:ext>
                </a:extLst>
              </p:cNvPr>
              <p:cNvSpPr/>
              <p:nvPr/>
            </p:nvSpPr>
            <p:spPr>
              <a:xfrm>
                <a:off x="5247104" y="2521844"/>
                <a:ext cx="257175" cy="25717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A42E4E91-F3DF-B4A3-7DAA-D76B26052BA9}"/>
                  </a:ext>
                </a:extLst>
              </p:cNvPr>
              <p:cNvSpPr/>
              <p:nvPr/>
            </p:nvSpPr>
            <p:spPr>
              <a:xfrm>
                <a:off x="6527998" y="2684377"/>
                <a:ext cx="257175" cy="25717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20B48FA8-D0D0-AFF4-C071-48359ABCF7BB}"/>
                  </a:ext>
                </a:extLst>
              </p:cNvPr>
              <p:cNvSpPr/>
              <p:nvPr/>
            </p:nvSpPr>
            <p:spPr>
              <a:xfrm>
                <a:off x="4961563" y="2126623"/>
                <a:ext cx="257175" cy="257175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F0226F33-4354-2DAA-3039-7DF9C72257BE}"/>
                  </a:ext>
                </a:extLst>
              </p:cNvPr>
              <p:cNvSpPr/>
              <p:nvPr/>
            </p:nvSpPr>
            <p:spPr>
              <a:xfrm>
                <a:off x="5887551" y="2837288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A6916590-5AD4-E178-B45F-E69FF6F4360C}"/>
                  </a:ext>
                </a:extLst>
              </p:cNvPr>
              <p:cNvSpPr/>
              <p:nvPr/>
            </p:nvSpPr>
            <p:spPr>
              <a:xfrm>
                <a:off x="4447213" y="2356678"/>
                <a:ext cx="257175" cy="25717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2C4AFA4-7814-C1B4-64D5-EA52C4BD762D}"/>
                  </a:ext>
                </a:extLst>
              </p:cNvPr>
              <p:cNvSpPr/>
              <p:nvPr/>
            </p:nvSpPr>
            <p:spPr>
              <a:xfrm>
                <a:off x="4820425" y="2686678"/>
                <a:ext cx="257175" cy="257175"/>
              </a:xfrm>
              <a:prstGeom prst="ellipse">
                <a:avLst/>
              </a:prstGeom>
              <a:solidFill>
                <a:srgbClr val="02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BE232D19-1046-3A49-2DF8-D93F90EC5614}"/>
                  </a:ext>
                </a:extLst>
              </p:cNvPr>
              <p:cNvSpPr/>
              <p:nvPr/>
            </p:nvSpPr>
            <p:spPr>
              <a:xfrm>
                <a:off x="4704388" y="1782089"/>
                <a:ext cx="257175" cy="25717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ABBADE65-C4E7-6E41-0529-49AA03716BBC}"/>
                </a:ext>
              </a:extLst>
            </p:cNvPr>
            <p:cNvSpPr/>
            <p:nvPr/>
          </p:nvSpPr>
          <p:spPr>
            <a:xfrm>
              <a:off x="6915286" y="3607070"/>
              <a:ext cx="2986088" cy="1712983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A181BED-4BB4-4D6A-D0FD-426B22C9D400}"/>
                </a:ext>
              </a:extLst>
            </p:cNvPr>
            <p:cNvSpPr txBox="1"/>
            <p:nvPr/>
          </p:nvSpPr>
          <p:spPr>
            <a:xfrm>
              <a:off x="6505502" y="4165388"/>
              <a:ext cx="37863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600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=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DD8E3384-A991-B1F7-C748-6FB2E85AF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77537" y="4232657"/>
              <a:ext cx="520700" cy="292100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7221E00-58F8-FC57-2E5F-83B18BD08B0D}"/>
              </a:ext>
            </a:extLst>
          </p:cNvPr>
          <p:cNvGrpSpPr/>
          <p:nvPr/>
        </p:nvGrpSpPr>
        <p:grpSpPr>
          <a:xfrm>
            <a:off x="1265454" y="3510441"/>
            <a:ext cx="3762327" cy="1712983"/>
            <a:chOff x="1387152" y="3626156"/>
            <a:chExt cx="3762327" cy="171298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CAD31D0-647D-65A7-097C-DDB681DFEBAE}"/>
                </a:ext>
              </a:extLst>
            </p:cNvPr>
            <p:cNvGrpSpPr/>
            <p:nvPr/>
          </p:nvGrpSpPr>
          <p:grpSpPr>
            <a:xfrm>
              <a:off x="2326824" y="3861384"/>
              <a:ext cx="2634532" cy="1359049"/>
              <a:chOff x="4447213" y="1735414"/>
              <a:chExt cx="2634532" cy="135904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7ACA196F-13FE-5719-DB13-CDBC081DB4FE}"/>
                  </a:ext>
                </a:extLst>
              </p:cNvPr>
              <p:cNvSpPr/>
              <p:nvPr/>
            </p:nvSpPr>
            <p:spPr>
              <a:xfrm>
                <a:off x="5922078" y="2109305"/>
                <a:ext cx="257175" cy="2571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515F981-BBE4-8103-E7FF-63D8B41BAF52}"/>
                  </a:ext>
                </a:extLst>
              </p:cNvPr>
              <p:cNvSpPr/>
              <p:nvPr/>
            </p:nvSpPr>
            <p:spPr>
              <a:xfrm>
                <a:off x="6431666" y="2237892"/>
                <a:ext cx="257175" cy="25717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C76F4EBC-085E-7B18-022D-73A5C2E7B2C9}"/>
                  </a:ext>
                </a:extLst>
              </p:cNvPr>
              <p:cNvSpPr/>
              <p:nvPr/>
            </p:nvSpPr>
            <p:spPr>
              <a:xfrm>
                <a:off x="6172110" y="2513518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C1D6866-AE2C-7ECD-18E5-02CE2FCCEC3C}"/>
                  </a:ext>
                </a:extLst>
              </p:cNvPr>
              <p:cNvSpPr/>
              <p:nvPr/>
            </p:nvSpPr>
            <p:spPr>
              <a:xfrm>
                <a:off x="5664903" y="2521844"/>
                <a:ext cx="257175" cy="257175"/>
              </a:xfrm>
              <a:prstGeom prst="ellipse">
                <a:avLst/>
              </a:prstGeom>
              <a:solidFill>
                <a:srgbClr val="02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E54972C-B1F4-CCFF-E0A4-A827A56EE290}"/>
                  </a:ext>
                </a:extLst>
              </p:cNvPr>
              <p:cNvSpPr/>
              <p:nvPr/>
            </p:nvSpPr>
            <p:spPr>
              <a:xfrm>
                <a:off x="5252951" y="1782090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A7365F7-4869-B20F-1F7E-F988E1978736}"/>
                  </a:ext>
                </a:extLst>
              </p:cNvPr>
              <p:cNvSpPr/>
              <p:nvPr/>
            </p:nvSpPr>
            <p:spPr>
              <a:xfrm>
                <a:off x="6300697" y="1825856"/>
                <a:ext cx="257175" cy="257175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60B485F-EFC4-8104-9C1B-1613C5CD2AAB}"/>
                  </a:ext>
                </a:extLst>
              </p:cNvPr>
              <p:cNvSpPr/>
              <p:nvPr/>
            </p:nvSpPr>
            <p:spPr>
              <a:xfrm>
                <a:off x="6824570" y="1942687"/>
                <a:ext cx="257175" cy="25717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623E661-1241-FFB0-4472-05590D374B31}"/>
                  </a:ext>
                </a:extLst>
              </p:cNvPr>
              <p:cNvSpPr/>
              <p:nvPr/>
            </p:nvSpPr>
            <p:spPr>
              <a:xfrm>
                <a:off x="5776824" y="1735414"/>
                <a:ext cx="257175" cy="257175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960B318-DD84-DE71-9043-7080186B4FDE}"/>
                  </a:ext>
                </a:extLst>
              </p:cNvPr>
              <p:cNvSpPr/>
              <p:nvPr/>
            </p:nvSpPr>
            <p:spPr>
              <a:xfrm>
                <a:off x="5444744" y="2121792"/>
                <a:ext cx="257175" cy="257175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E6F52BA-28D3-98E4-29D5-9EFBF169B1A8}"/>
                  </a:ext>
                </a:extLst>
              </p:cNvPr>
              <p:cNvSpPr/>
              <p:nvPr/>
            </p:nvSpPr>
            <p:spPr>
              <a:xfrm>
                <a:off x="5247104" y="2521844"/>
                <a:ext cx="257175" cy="25717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57EFC5C-3E58-1F87-09CA-5C557ECB5459}"/>
                  </a:ext>
                </a:extLst>
              </p:cNvPr>
              <p:cNvSpPr/>
              <p:nvPr/>
            </p:nvSpPr>
            <p:spPr>
              <a:xfrm>
                <a:off x="6527998" y="2684377"/>
                <a:ext cx="257175" cy="25717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6E174AC-C23B-AC54-6CEB-C30F4DE02CCA}"/>
                  </a:ext>
                </a:extLst>
              </p:cNvPr>
              <p:cNvSpPr/>
              <p:nvPr/>
            </p:nvSpPr>
            <p:spPr>
              <a:xfrm>
                <a:off x="4961563" y="2126623"/>
                <a:ext cx="257175" cy="257175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5CAB29C7-1853-F9CE-86B7-E95116DEBEA1}"/>
                  </a:ext>
                </a:extLst>
              </p:cNvPr>
              <p:cNvSpPr/>
              <p:nvPr/>
            </p:nvSpPr>
            <p:spPr>
              <a:xfrm>
                <a:off x="5887551" y="2837288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710AFA9-742C-B640-127F-0521D29AB935}"/>
                  </a:ext>
                </a:extLst>
              </p:cNvPr>
              <p:cNvSpPr/>
              <p:nvPr/>
            </p:nvSpPr>
            <p:spPr>
              <a:xfrm>
                <a:off x="4447213" y="2356678"/>
                <a:ext cx="257175" cy="25717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157B8359-EFB3-EDC9-DFD8-4D8E790E849E}"/>
                  </a:ext>
                </a:extLst>
              </p:cNvPr>
              <p:cNvSpPr/>
              <p:nvPr/>
            </p:nvSpPr>
            <p:spPr>
              <a:xfrm>
                <a:off x="4820425" y="2686678"/>
                <a:ext cx="257175" cy="257175"/>
              </a:xfrm>
              <a:prstGeom prst="ellipse">
                <a:avLst/>
              </a:prstGeom>
              <a:solidFill>
                <a:srgbClr val="02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154087B-143D-D1CD-F0C8-725A760927F2}"/>
                  </a:ext>
                </a:extLst>
              </p:cNvPr>
              <p:cNvSpPr/>
              <p:nvPr/>
            </p:nvSpPr>
            <p:spPr>
              <a:xfrm>
                <a:off x="4704388" y="1782089"/>
                <a:ext cx="257175" cy="25717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E358272B-20D5-2EAE-74D1-6054C85A352F}"/>
                </a:ext>
              </a:extLst>
            </p:cNvPr>
            <p:cNvSpPr/>
            <p:nvPr/>
          </p:nvSpPr>
          <p:spPr>
            <a:xfrm>
              <a:off x="2163391" y="3626156"/>
              <a:ext cx="2986088" cy="1712983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BD5F9D4-1725-43E3-54B1-CEE6B200FD04}"/>
                </a:ext>
              </a:extLst>
            </p:cNvPr>
            <p:cNvSpPr txBox="1"/>
            <p:nvPr/>
          </p:nvSpPr>
          <p:spPr>
            <a:xfrm>
              <a:off x="1753607" y="4184474"/>
              <a:ext cx="37863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600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=</a:t>
              </a:r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BE95B50-C49E-D36E-F433-D3EA4629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87152" y="4280157"/>
              <a:ext cx="368300" cy="292100"/>
            </a:xfrm>
            <a:prstGeom prst="rect">
              <a:avLst/>
            </a:prstGeom>
          </p:spPr>
        </p:pic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C9B363AB-2472-FDCC-80F7-FC9871177309}"/>
              </a:ext>
            </a:extLst>
          </p:cNvPr>
          <p:cNvSpPr txBox="1"/>
          <p:nvPr/>
        </p:nvSpPr>
        <p:spPr>
          <a:xfrm>
            <a:off x="241200" y="5776348"/>
            <a:ext cx="12069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classifier				        will reduce the variance, but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slower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than IID case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86BBF7A-F35F-958C-2FAC-D0D0CE41B7E5}"/>
              </a:ext>
            </a:extLst>
          </p:cNvPr>
          <p:cNvSpPr txBox="1"/>
          <p:nvPr/>
        </p:nvSpPr>
        <p:spPr>
          <a:xfrm>
            <a:off x="9261165" y="6189340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(Why?)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4A632-6961-6602-3F1D-CA007EFE956B}"/>
              </a:ext>
            </a:extLst>
          </p:cNvPr>
          <p:cNvSpPr txBox="1"/>
          <p:nvPr/>
        </p:nvSpPr>
        <p:spPr>
          <a:xfrm>
            <a:off x="240033" y="746721"/>
            <a:ext cx="11384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Bagging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stands for “Bootstrap aggregating” and reduces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variance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of the predictions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D934D0-64B9-1151-CA98-DA5C7FAEEA39}"/>
              </a:ext>
            </a:extLst>
          </p:cNvPr>
          <p:cNvSpPr txBox="1"/>
          <p:nvPr/>
        </p:nvSpPr>
        <p:spPr>
          <a:xfrm>
            <a:off x="240033" y="-110323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Bagging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FD6771-A686-6694-8C97-412590699C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8228" y="5518230"/>
            <a:ext cx="30607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94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4A632-6961-6602-3F1D-CA007EFE956B}"/>
              </a:ext>
            </a:extLst>
          </p:cNvPr>
          <p:cNvSpPr txBox="1"/>
          <p:nvPr/>
        </p:nvSpPr>
        <p:spPr>
          <a:xfrm>
            <a:off x="240033" y="871711"/>
            <a:ext cx="11456667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how do we choose a </a:t>
            </a:r>
            <a:r>
              <a:rPr lang="en-FR" sz="2400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base classifier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?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Since this is an expensive mechanism from a computational point of view, it makes sense to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use a reasonably simple baseline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algorithm for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Bagging reduces more the variance if there is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none or very little correlation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between the individual classifiers. This is what we need.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If the classifier have a strong bias, then bagging cannot do anything about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 standard choice is decision trees +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aggregate to make a forest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.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Each tree is constructed randomly: on a random sample from the training dataset and by selecting the next splitting dimension from a random subset of all dimensions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17778C64-2B3E-33EE-38E6-90AE98664812}"/>
              </a:ext>
            </a:extLst>
          </p:cNvPr>
          <p:cNvSpPr/>
          <p:nvPr/>
        </p:nvSpPr>
        <p:spPr>
          <a:xfrm rot="5400000">
            <a:off x="714402" y="5379247"/>
            <a:ext cx="294640" cy="254000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A7274-776F-436D-12A8-10A8C1579C8A}"/>
              </a:ext>
            </a:extLst>
          </p:cNvPr>
          <p:cNvSpPr txBox="1"/>
          <p:nvPr/>
        </p:nvSpPr>
        <p:spPr>
          <a:xfrm>
            <a:off x="240033" y="-110323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Bagging</a:t>
            </a:r>
          </a:p>
        </p:txBody>
      </p:sp>
    </p:spTree>
    <p:extLst>
      <p:ext uri="{BB962C8B-B14F-4D97-AF65-F5344CB8AC3E}">
        <p14:creationId xmlns:p14="http://schemas.microsoft.com/office/powerpoint/2010/main" val="2716827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4F3870-B94F-E0D1-0866-25502BA84240}"/>
              </a:ext>
            </a:extLst>
          </p:cNvPr>
          <p:cNvSpPr txBox="1"/>
          <p:nvPr/>
        </p:nvSpPr>
        <p:spPr>
          <a:xfrm>
            <a:off x="552070" y="2092882"/>
            <a:ext cx="1126462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Draw a bootstrap sample       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of size N from the training dataset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Grow a random-forest tree T</a:t>
            </a:r>
            <a:r>
              <a:rPr lang="en-FR" sz="24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 the bootstrapped data, by recursively repeating:</a:t>
            </a:r>
          </a:p>
          <a:p>
            <a:pPr marL="1885950" lvl="3" indent="-514350">
              <a:buFont typeface="+mj-lt"/>
              <a:buAutoNum type="romanUcPeriod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Select m variables at random out of the p predictors			</a:t>
            </a:r>
          </a:p>
          <a:p>
            <a:pPr marL="1885950" lvl="3" indent="-514350">
              <a:buFont typeface="+mj-lt"/>
              <a:buAutoNum type="romanUcPeriod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Pick the best variable/split-point amont the m possible choices</a:t>
            </a:r>
          </a:p>
          <a:p>
            <a:pPr marL="1885950" lvl="3" indent="-514350">
              <a:buFont typeface="+mj-lt"/>
              <a:buAutoNum type="romanUcPeriod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Split the node into two daughter nodes</a:t>
            </a:r>
          </a:p>
          <a:p>
            <a:pPr lvl="3"/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Output the ensemble of trees T</a:t>
            </a:r>
            <a:r>
              <a:rPr lang="en-FR" sz="24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 b = 1 to B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 make a prediction at a new point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imply do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683011-45B2-9C7A-075A-EF69AF644E8F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algorithm for building a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random forest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therefore: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6636C-00C1-9292-18A1-6A2F04532C35}"/>
              </a:ext>
            </a:extLst>
          </p:cNvPr>
          <p:cNvSpPr txBox="1"/>
          <p:nvPr/>
        </p:nvSpPr>
        <p:spPr>
          <a:xfrm>
            <a:off x="552070" y="1518273"/>
            <a:ext cx="8488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b = 1 to B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EF4402-2466-502F-9E0B-AB1FB723BBB9}"/>
              </a:ext>
            </a:extLst>
          </p:cNvPr>
          <p:cNvSpPr/>
          <p:nvPr/>
        </p:nvSpPr>
        <p:spPr>
          <a:xfrm>
            <a:off x="391779" y="1570415"/>
            <a:ext cx="77347" cy="4928108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8DC49E-AFCB-4147-2AB2-A10A1555D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228" y="2193569"/>
            <a:ext cx="368300" cy="2921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4A805A5-5988-F4F4-F45E-71A92D4268C0}"/>
              </a:ext>
            </a:extLst>
          </p:cNvPr>
          <p:cNvSpPr txBox="1"/>
          <p:nvPr/>
        </p:nvSpPr>
        <p:spPr>
          <a:xfrm>
            <a:off x="240033" y="-94532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Random forests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C4790D-089C-D7A0-1E67-CB0D280DB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096" y="4788994"/>
            <a:ext cx="29845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90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58E7D0-EDDA-A074-71AB-97430354C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337" y="1556373"/>
            <a:ext cx="8226869" cy="5060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3045FD-0967-4E3C-D51D-E47047CBCE6C}"/>
              </a:ext>
            </a:extLst>
          </p:cNvPr>
          <p:cNvSpPr txBox="1"/>
          <p:nvPr/>
        </p:nvSpPr>
        <p:spPr>
          <a:xfrm>
            <a:off x="1860044" y="849527"/>
            <a:ext cx="6389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Classification test error on the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heart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dataset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B6CCC-9B8D-241E-29BA-47F9820EE4AB}"/>
              </a:ext>
            </a:extLst>
          </p:cNvPr>
          <p:cNvSpPr txBox="1"/>
          <p:nvPr/>
        </p:nvSpPr>
        <p:spPr>
          <a:xfrm>
            <a:off x="240033" y="855062"/>
            <a:ext cx="1624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u="sng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Example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683E93-CF94-9FE6-06AB-D5B31A099DBE}"/>
              </a:ext>
            </a:extLst>
          </p:cNvPr>
          <p:cNvSpPr txBox="1"/>
          <p:nvPr/>
        </p:nvSpPr>
        <p:spPr>
          <a:xfrm>
            <a:off x="240033" y="-94532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Random forests</a:t>
            </a:r>
          </a:p>
        </p:txBody>
      </p:sp>
    </p:spTree>
    <p:extLst>
      <p:ext uri="{BB962C8B-B14F-4D97-AF65-F5344CB8AC3E}">
        <p14:creationId xmlns:p14="http://schemas.microsoft.com/office/powerpoint/2010/main" val="1403460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3045FD-0967-4E3C-D51D-E47047CBCE6C}"/>
              </a:ext>
            </a:extLst>
          </p:cNvPr>
          <p:cNvSpPr txBox="1"/>
          <p:nvPr/>
        </p:nvSpPr>
        <p:spPr>
          <a:xfrm>
            <a:off x="1865632" y="855062"/>
            <a:ext cx="101728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“</a:t>
            </a:r>
            <a:r>
              <a:rPr lang="en-GB" sz="2400" dirty="0">
                <a:solidFill>
                  <a:srgbClr val="5E5E5E"/>
                </a:solidFill>
                <a:effectLst/>
                <a:highlight>
                  <a:srgbClr val="FFFFFF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Why do tree-based models still outperform deep learning on tabular data?”</a:t>
            </a:r>
          </a:p>
          <a:p>
            <a:pPr algn="r"/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Grinsztajn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et al. (2022)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A209A4-0904-CD6E-E89E-63C79A38BC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301"/>
          <a:stretch/>
        </p:blipFill>
        <p:spPr>
          <a:xfrm>
            <a:off x="212799" y="1920327"/>
            <a:ext cx="11766402" cy="48333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43DE6F-2CF2-5E57-58CB-DC4D2A005623}"/>
              </a:ext>
            </a:extLst>
          </p:cNvPr>
          <p:cNvSpPr txBox="1"/>
          <p:nvPr/>
        </p:nvSpPr>
        <p:spPr>
          <a:xfrm>
            <a:off x="240033" y="855062"/>
            <a:ext cx="1624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u="sng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Example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C35E-CEDF-C37C-1FA8-619A07F67092}"/>
              </a:ext>
            </a:extLst>
          </p:cNvPr>
          <p:cNvSpPr txBox="1"/>
          <p:nvPr/>
        </p:nvSpPr>
        <p:spPr>
          <a:xfrm>
            <a:off x="240033" y="-94532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Random forests</a:t>
            </a:r>
          </a:p>
        </p:txBody>
      </p:sp>
    </p:spTree>
    <p:extLst>
      <p:ext uri="{BB962C8B-B14F-4D97-AF65-F5344CB8AC3E}">
        <p14:creationId xmlns:p14="http://schemas.microsoft.com/office/powerpoint/2010/main" val="3088699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24A632-6961-6602-3F1D-CA007EFE956B}"/>
              </a:ext>
            </a:extLst>
          </p:cNvPr>
          <p:cNvSpPr txBox="1"/>
          <p:nvPr/>
        </p:nvSpPr>
        <p:spPr>
          <a:xfrm>
            <a:off x="240033" y="835621"/>
            <a:ext cx="1145666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Regarding the parameters: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size of subsample should be reasonably large and can be with or without replacement (but often it is the former). The number m of dimensions of which we pick the best one is typically p/3. The number B of trees should be large.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However, random forests are known to be quite robust to these choices!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Random forests have been invented by Leo Breinman in 2001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They are a simple yet successful class of algorithms for classification and regression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Always consider Random Forests as a baseline when you work on new ML problems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BA9A43-5FD5-7D74-F83C-EFC748A569BB}"/>
              </a:ext>
            </a:extLst>
          </p:cNvPr>
          <p:cNvSpPr/>
          <p:nvPr/>
        </p:nvSpPr>
        <p:spPr>
          <a:xfrm>
            <a:off x="947420" y="2989832"/>
            <a:ext cx="9992488" cy="558800"/>
          </a:xfrm>
          <a:prstGeom prst="rect">
            <a:avLst/>
          </a:prstGeom>
          <a:solidFill>
            <a:srgbClr val="1E77B4">
              <a:alpha val="19000"/>
            </a:srgbClr>
          </a:solidFill>
          <a:ln w="25400">
            <a:solidFill>
              <a:srgbClr val="1E77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9CB5DB2C-D0B9-1BA7-FC92-F8FA430C2373}"/>
              </a:ext>
            </a:extLst>
          </p:cNvPr>
          <p:cNvSpPr/>
          <p:nvPr/>
        </p:nvSpPr>
        <p:spPr>
          <a:xfrm rot="5400000">
            <a:off x="673100" y="1659437"/>
            <a:ext cx="294640" cy="254000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DF50BCE7-26E8-7D69-1D91-9E750DD39D04}"/>
              </a:ext>
            </a:extLst>
          </p:cNvPr>
          <p:cNvSpPr/>
          <p:nvPr/>
        </p:nvSpPr>
        <p:spPr>
          <a:xfrm rot="5400000">
            <a:off x="673100" y="3857973"/>
            <a:ext cx="294640" cy="254000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896D3984-1646-C3EB-C7D9-3E210548CEAB}"/>
              </a:ext>
            </a:extLst>
          </p:cNvPr>
          <p:cNvSpPr/>
          <p:nvPr/>
        </p:nvSpPr>
        <p:spPr>
          <a:xfrm rot="5400000">
            <a:off x="673100" y="4583467"/>
            <a:ext cx="294640" cy="254000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6F8DFFC2-73BA-A3B4-E332-27A465358A26}"/>
              </a:ext>
            </a:extLst>
          </p:cNvPr>
          <p:cNvSpPr/>
          <p:nvPr/>
        </p:nvSpPr>
        <p:spPr>
          <a:xfrm rot="5400000">
            <a:off x="673100" y="5714522"/>
            <a:ext cx="294640" cy="254000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F2FE0-7B92-983C-5450-CB6021914B96}"/>
              </a:ext>
            </a:extLst>
          </p:cNvPr>
          <p:cNvSpPr/>
          <p:nvPr/>
        </p:nvSpPr>
        <p:spPr>
          <a:xfrm>
            <a:off x="626107" y="2950816"/>
            <a:ext cx="254000" cy="26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C9E44E-899D-F190-CF02-FE1445ED344B}"/>
              </a:ext>
            </a:extLst>
          </p:cNvPr>
          <p:cNvSpPr txBox="1"/>
          <p:nvPr/>
        </p:nvSpPr>
        <p:spPr>
          <a:xfrm>
            <a:off x="240033" y="-94532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Random forests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2E3616-28CF-5B37-E086-FAD1D20DCBBA}"/>
              </a:ext>
            </a:extLst>
          </p:cNvPr>
          <p:cNvSpPr/>
          <p:nvPr/>
        </p:nvSpPr>
        <p:spPr>
          <a:xfrm>
            <a:off x="713639" y="3084166"/>
            <a:ext cx="194313" cy="3448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39255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7A1B0-6F50-C59A-1DDF-17612EAA5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451C83-6A1C-9B61-DFA4-AC93782F573B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E06CB-A267-FE34-5E51-7EA473BCD1A7}"/>
              </a:ext>
            </a:extLst>
          </p:cNvPr>
          <p:cNvSpPr txBox="1"/>
          <p:nvPr/>
        </p:nvSpPr>
        <p:spPr>
          <a:xfrm>
            <a:off x="240033" y="-94532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Random forests</a:t>
            </a:r>
          </a:p>
        </p:txBody>
      </p:sp>
      <p:pic>
        <p:nvPicPr>
          <p:cNvPr id="13" name="Picture 12" descr="A computer code with text&#10;&#10;AI-generated content may be incorrect.">
            <a:extLst>
              <a:ext uri="{FF2B5EF4-FFF2-40B4-BE49-F238E27FC236}">
                <a16:creationId xmlns:a16="http://schemas.microsoft.com/office/drawing/2014/main" id="{A148AC65-63B6-0429-89CA-E7F6A104C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870502"/>
            <a:ext cx="7772400" cy="2567930"/>
          </a:xfrm>
          <a:prstGeom prst="rect">
            <a:avLst/>
          </a:prstGeom>
        </p:spPr>
      </p:pic>
      <p:pic>
        <p:nvPicPr>
          <p:cNvPr id="15" name="Picture 14" descr="A computer code with text&#10;&#10;AI-generated content may be incorrect.">
            <a:extLst>
              <a:ext uri="{FF2B5EF4-FFF2-40B4-BE49-F238E27FC236}">
                <a16:creationId xmlns:a16="http://schemas.microsoft.com/office/drawing/2014/main" id="{EC5398F4-10C4-45F8-1C3D-22A14FA58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918521"/>
            <a:ext cx="7772400" cy="260738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9002C3E-CC6D-D839-10C1-E01054007E9E}"/>
              </a:ext>
            </a:extLst>
          </p:cNvPr>
          <p:cNvSpPr/>
          <p:nvPr/>
        </p:nvSpPr>
        <p:spPr>
          <a:xfrm>
            <a:off x="2209800" y="870502"/>
            <a:ext cx="7772400" cy="270815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6989C-09EE-623A-4169-3194379061E0}"/>
              </a:ext>
            </a:extLst>
          </p:cNvPr>
          <p:cNvSpPr/>
          <p:nvPr/>
        </p:nvSpPr>
        <p:spPr>
          <a:xfrm>
            <a:off x="2209800" y="3940539"/>
            <a:ext cx="7772400" cy="270815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0728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EF58D-49CF-5DE0-7F26-27627213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4C6C4E5-90E3-5B66-042C-362CA3E7984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CD23AFF1-64AB-BF30-019E-8E0736C2E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5088122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1809F5-8D04-B34F-30FD-85EF88CBC884}"/>
              </a:ext>
            </a:extLst>
          </p:cNvPr>
          <p:cNvSpPr txBox="1"/>
          <p:nvPr/>
        </p:nvSpPr>
        <p:spPr>
          <a:xfrm>
            <a:off x="1865622" y="1450257"/>
            <a:ext cx="515397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Recap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Ensemble methods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Bagging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1437996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86890-3E42-352D-06BD-38D181580C83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18E77-0341-8CAA-2B3D-7FF65B10BC97}"/>
              </a:ext>
            </a:extLst>
          </p:cNvPr>
          <p:cNvSpPr txBox="1"/>
          <p:nvPr/>
        </p:nvSpPr>
        <p:spPr>
          <a:xfrm>
            <a:off x="240033" y="746721"/>
            <a:ext cx="114693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goal of machine learning is to build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strong learners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. In the context of classification, this means having a small generalization error. 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However, they are often hard to construct.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weak learner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an algorithm that is just slightly better than random guessing. For example, in a binary classification problem this would means a test error of 0.5-ε.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The idea of </a:t>
            </a:r>
            <a:r>
              <a:rPr lang="en-FR" sz="2400" dirty="0">
                <a:solidFill>
                  <a:srgbClr val="1E77B4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boosting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is to </a:t>
            </a:r>
            <a:r>
              <a:rPr lang="en-FR" sz="2400" u="sng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combine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many weak learners to obtain a strong learner.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D9B86166-2FB3-960B-5C89-21DACEDDE2BB}"/>
              </a:ext>
            </a:extLst>
          </p:cNvPr>
          <p:cNvSpPr/>
          <p:nvPr/>
        </p:nvSpPr>
        <p:spPr>
          <a:xfrm rot="5400000">
            <a:off x="335280" y="3788762"/>
            <a:ext cx="294640" cy="254000"/>
          </a:xfrm>
          <a:prstGeom prst="triangle">
            <a:avLst/>
          </a:prstGeom>
          <a:solidFill>
            <a:srgbClr val="1E77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12" name="Picture 11" descr="A cover of a book&#10;&#10;Description automatically generated">
            <a:extLst>
              <a:ext uri="{FF2B5EF4-FFF2-40B4-BE49-F238E27FC236}">
                <a16:creationId xmlns:a16="http://schemas.microsoft.com/office/drawing/2014/main" id="{48167218-656B-5DC4-0B5B-B6B93AEE2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020" y="4273964"/>
            <a:ext cx="1801260" cy="23384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B133B9-493F-1835-F0D8-DB3F2061420F}"/>
              </a:ext>
            </a:extLst>
          </p:cNvPr>
          <p:cNvSpPr txBox="1"/>
          <p:nvPr/>
        </p:nvSpPr>
        <p:spPr>
          <a:xfrm>
            <a:off x="2415540" y="5058450"/>
            <a:ext cx="48045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i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“Boosting: Foundations and algorithms”</a:t>
            </a:r>
          </a:p>
          <a:p>
            <a:r>
              <a:rPr lang="en-FR" sz="2200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Schapire and Freund</a:t>
            </a:r>
            <a:endParaRPr lang="en-FR" sz="2200" dirty="0">
              <a:solidFill>
                <a:srgbClr val="1E77B4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2464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4F3870-B94F-E0D1-0866-25502BA84240}"/>
              </a:ext>
            </a:extLst>
          </p:cNvPr>
          <p:cNvSpPr txBox="1"/>
          <p:nvPr/>
        </p:nvSpPr>
        <p:spPr>
          <a:xfrm>
            <a:off x="552070" y="2092882"/>
            <a:ext cx="1219917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Training points have weights that change from round to round. They add up to one.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each round, we train a weak classifier on the training points with the current weights</a:t>
            </a:r>
          </a:p>
          <a:p>
            <a:pPr lvl="3"/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point x</a:t>
            </a:r>
            <a:r>
              <a:rPr lang="en-US" sz="24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that was </a:t>
            </a:r>
            <a:r>
              <a:rPr lang="en-US" sz="2400" dirty="0" err="1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missclassified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, we </a:t>
            </a:r>
            <a:r>
              <a:rPr lang="en-US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increase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its weight </a:t>
            </a:r>
            <a:r>
              <a:rPr lang="en-US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</a:t>
            </a:r>
            <a:r>
              <a:rPr lang="en-US" sz="2400" baseline="-250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point x</a:t>
            </a:r>
            <a:r>
              <a:rPr lang="en-US" sz="24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that was </a:t>
            </a:r>
            <a:r>
              <a:rPr lang="en-US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correctly classified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, we </a:t>
            </a:r>
            <a:r>
              <a:rPr lang="en-US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decrease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its weight </a:t>
            </a:r>
            <a:r>
              <a:rPr lang="en-US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</a:t>
            </a:r>
            <a:r>
              <a:rPr lang="en-US" sz="2400" baseline="-250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lvl="3"/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final classifier uses a weighted sum of the weak classifiers of each round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683011-45B2-9C7A-075A-EF69AF644E8F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outline of a classical boosting algorithm for classification (AdaBoost) is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6636C-00C1-9292-18A1-6A2F04532C35}"/>
              </a:ext>
            </a:extLst>
          </p:cNvPr>
          <p:cNvSpPr txBox="1"/>
          <p:nvPr/>
        </p:nvSpPr>
        <p:spPr>
          <a:xfrm>
            <a:off x="552069" y="1428333"/>
            <a:ext cx="105731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Given a training set of n points (x</a:t>
            </a:r>
            <a:r>
              <a:rPr lang="en-GB" sz="24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, 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y</a:t>
            </a:r>
            <a:r>
              <a:rPr lang="en-GB" sz="2400" baseline="-250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 the algorithm proceeds in T+1 rounds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EF4402-2466-502F-9E0B-AB1FB723BBB9}"/>
              </a:ext>
            </a:extLst>
          </p:cNvPr>
          <p:cNvSpPr/>
          <p:nvPr/>
        </p:nvSpPr>
        <p:spPr>
          <a:xfrm>
            <a:off x="391779" y="1495465"/>
            <a:ext cx="77347" cy="4928108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C0CE5E-0E08-3886-CD8E-D1F61023BD3A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4302E-4B5B-1603-53D2-00179EFDD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950" y="5613897"/>
            <a:ext cx="43561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64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679D3-377C-2808-DBF4-88E618467A40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u="sng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Example: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a toy model with 10 examples labelled as + or –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7E1EBC-CCA9-699B-1A46-D3C1E12B1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629" y="1285949"/>
            <a:ext cx="8272742" cy="47047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54E748-4D54-14C4-4804-F635AD6899E4}"/>
              </a:ext>
            </a:extLst>
          </p:cNvPr>
          <p:cNvSpPr txBox="1"/>
          <p:nvPr/>
        </p:nvSpPr>
        <p:spPr>
          <a:xfrm>
            <a:off x="278388" y="5959898"/>
            <a:ext cx="10567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Our base classifier is a decision stump on the vertical or horizontal axis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7C772A4-E42E-9AE1-EF28-75FCCC256A99}"/>
              </a:ext>
            </a:extLst>
          </p:cNvPr>
          <p:cNvSpPr/>
          <p:nvPr/>
        </p:nvSpPr>
        <p:spPr>
          <a:xfrm>
            <a:off x="8826500" y="1269746"/>
            <a:ext cx="1752600" cy="1244854"/>
          </a:xfrm>
          <a:custGeom>
            <a:avLst/>
            <a:gdLst>
              <a:gd name="connsiteX0" fmla="*/ 1752600 w 1752600"/>
              <a:gd name="connsiteY0" fmla="*/ 533654 h 1244854"/>
              <a:gd name="connsiteX1" fmla="*/ 812800 w 1752600"/>
              <a:gd name="connsiteY1" fmla="*/ 25654 h 1244854"/>
              <a:gd name="connsiteX2" fmla="*/ 0 w 1752600"/>
              <a:gd name="connsiteY2" fmla="*/ 1244854 h 1244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2600" h="1244854">
                <a:moveTo>
                  <a:pt x="1752600" y="533654"/>
                </a:moveTo>
                <a:cubicBezTo>
                  <a:pt x="1428750" y="220387"/>
                  <a:pt x="1104900" y="-92879"/>
                  <a:pt x="812800" y="25654"/>
                </a:cubicBezTo>
                <a:cubicBezTo>
                  <a:pt x="520700" y="144187"/>
                  <a:pt x="260350" y="694520"/>
                  <a:pt x="0" y="1244854"/>
                </a:cubicBezTo>
              </a:path>
            </a:pathLst>
          </a:custGeom>
          <a:noFill/>
          <a:ln w="38100">
            <a:solidFill>
              <a:srgbClr val="FA2743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BCC65F-51F0-8E46-8F06-9B4268450B62}"/>
              </a:ext>
            </a:extLst>
          </p:cNvPr>
          <p:cNvSpPr txBox="1"/>
          <p:nvPr/>
        </p:nvSpPr>
        <p:spPr>
          <a:xfrm>
            <a:off x="10056962" y="1930273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Missclassified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F25A7-D653-0298-B2B8-165EEEA35335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416553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50CB2-8EA8-0A2E-47DD-2DA6BE734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571" y="1223725"/>
            <a:ext cx="8119091" cy="47255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E43BDC-407F-8635-E6D8-8BBC6C5E7B53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718B7-2229-DE04-59D5-4C9E9253FABD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u="sng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Example: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a toy model with 10 examples labelled as + or 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4DB2B-F37B-9F29-9607-885974898D31}"/>
              </a:ext>
            </a:extLst>
          </p:cNvPr>
          <p:cNvSpPr txBox="1"/>
          <p:nvPr/>
        </p:nvSpPr>
        <p:spPr>
          <a:xfrm>
            <a:off x="278388" y="5959898"/>
            <a:ext cx="10567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Our base classifier is a decision stump on the vertical or horizontal axis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7163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FB7C42-A66E-68B0-C972-BA0F17714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570" y="1391696"/>
            <a:ext cx="8006230" cy="4255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3CEE89-4996-D41F-017F-9C639C8ABBEA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68F0D-0EB4-F1EF-2995-8AE447DFAC1A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u="sng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Example: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a toy model with 10 examples labelled as + or –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BE945C-8B9D-5536-D15E-FCCC8494D747}"/>
              </a:ext>
            </a:extLst>
          </p:cNvPr>
          <p:cNvSpPr txBox="1"/>
          <p:nvPr/>
        </p:nvSpPr>
        <p:spPr>
          <a:xfrm>
            <a:off x="278388" y="5959898"/>
            <a:ext cx="10567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Our base classifier is a decision stump on the vertical or horizontal axis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5312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D01CE2-0111-4F16-1F0F-7879426B4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4218354"/>
            <a:ext cx="3429000" cy="2498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410F7-94E7-AC93-29EE-4AC1A7759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7" y="1479150"/>
            <a:ext cx="12042466" cy="27027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257E3E-CFB6-17A3-5377-0BB39620AFDA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B76CA-6D56-7A95-6FB9-E585CB21B6A6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u="sng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Example: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a toy model with 10 examples labelled as + or –</a:t>
            </a:r>
          </a:p>
        </p:txBody>
      </p:sp>
    </p:spTree>
    <p:extLst>
      <p:ext uri="{BB962C8B-B14F-4D97-AF65-F5344CB8AC3E}">
        <p14:creationId xmlns:p14="http://schemas.microsoft.com/office/powerpoint/2010/main" val="20309959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1D7570-C635-282A-6260-B0F9F50EFE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14" t="9630" r="10643" b="2883"/>
          <a:stretch/>
        </p:blipFill>
        <p:spPr>
          <a:xfrm>
            <a:off x="4064000" y="816962"/>
            <a:ext cx="6553200" cy="5922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9FE543A-0983-D57A-8EF8-BE6E04DD3236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AdaBoost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algorithm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AEE869-F82C-7789-DB69-55C9E86C69C5}"/>
              </a:ext>
            </a:extLst>
          </p:cNvPr>
          <p:cNvCxnSpPr/>
          <p:nvPr/>
        </p:nvCxnSpPr>
        <p:spPr>
          <a:xfrm>
            <a:off x="3873500" y="622738"/>
            <a:ext cx="0" cy="6235262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24F14FA-B10E-6BF6-796B-656CDFDDE011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13840191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FE543A-0983-D57A-8EF8-BE6E04DD3236}"/>
              </a:ext>
            </a:extLst>
          </p:cNvPr>
          <p:cNvSpPr txBox="1"/>
          <p:nvPr/>
        </p:nvSpPr>
        <p:spPr>
          <a:xfrm>
            <a:off x="278388" y="855062"/>
            <a:ext cx="1162405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AdaBoost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algorithm… but why would it be </a:t>
            </a:r>
            <a:r>
              <a:rPr lang="en-GB" sz="2400" u="sng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plausible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for it to work?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Assume the final classifier makes an error on some training point 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Because it is a weighted majority vote over all weak classifiers, it can only get x wrong if most of the weak classifiers classified x wrongly themselves</a:t>
            </a:r>
            <a:endParaRPr lang="en-GB" sz="2400" baseline="-25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means that the weight of x has been increased very often, so it must be still large after the final round of boosting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there can only be a few points with large weights, since they all add to 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 there can only </a:t>
            </a:r>
            <a:r>
              <a:rPr lang="en-GB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be few points that get classified wrong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by the final classifier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32BB0-8FB8-2D54-E823-DB99A5D54B17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9DFDF7-66A5-5F68-AB25-CBFF401B0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950" y="5501288"/>
            <a:ext cx="43561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57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FE543A-0983-D57A-8EF8-BE6E04DD3236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what about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gradient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boosting?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1CB7B8-542F-1290-5872-7DE16783A4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301"/>
          <a:stretch/>
        </p:blipFill>
        <p:spPr>
          <a:xfrm>
            <a:off x="212799" y="1625553"/>
            <a:ext cx="11766402" cy="48333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7CBDE5-301E-55F6-4D4E-27CAF3FC6628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4194342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18E77-0341-8CAA-2B3D-7FF65B10BC97}"/>
              </a:ext>
            </a:extLst>
          </p:cNvPr>
          <p:cNvSpPr txBox="1"/>
          <p:nvPr/>
        </p:nvSpPr>
        <p:spPr>
          <a:xfrm>
            <a:off x="240033" y="736088"/>
            <a:ext cx="6838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Boosting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is a strategy for answering the question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9B08BC-78A3-6372-468B-38D2A1138083}"/>
              </a:ext>
            </a:extLst>
          </p:cNvPr>
          <p:cNvSpPr txBox="1"/>
          <p:nvPr/>
        </p:nvSpPr>
        <p:spPr>
          <a:xfrm>
            <a:off x="152705" y="1294391"/>
            <a:ext cx="11886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i="1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“Can we combine a set of weak learners so to generate a strong learner with low bias?”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231690-81DF-4D9A-4ECE-98E373BE461E}"/>
              </a:ext>
            </a:extLst>
          </p:cNvPr>
          <p:cNvSpPr txBox="1"/>
          <p:nvPr/>
        </p:nvSpPr>
        <p:spPr>
          <a:xfrm>
            <a:off x="240032" y="1845477"/>
            <a:ext cx="7337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answer is </a:t>
            </a:r>
            <a:r>
              <a:rPr lang="en-FR" sz="2400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yes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and the procedure goes as follows: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A030E-7698-8CBF-6B3B-04686991ECD2}"/>
              </a:ext>
            </a:extLst>
          </p:cNvPr>
          <p:cNvSpPr txBox="1"/>
          <p:nvPr/>
        </p:nvSpPr>
        <p:spPr>
          <a:xfrm>
            <a:off x="637614" y="2400698"/>
            <a:ext cx="10815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Suppose we have trained a learner     (i.e. a classifier or regressor) to minimize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4D9542-C68C-BE9F-7DDE-45CF4EF7C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884" y="2494738"/>
            <a:ext cx="177800" cy="3048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A997142C-D125-9079-E743-B4AF40D6222D}"/>
              </a:ext>
            </a:extLst>
          </p:cNvPr>
          <p:cNvSpPr/>
          <p:nvPr/>
        </p:nvSpPr>
        <p:spPr>
          <a:xfrm>
            <a:off x="381870" y="2532696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9F9AF2-5A2B-CC90-2F89-E49DA1EECA0B}"/>
              </a:ext>
            </a:extLst>
          </p:cNvPr>
          <p:cNvSpPr txBox="1"/>
          <p:nvPr/>
        </p:nvSpPr>
        <p:spPr>
          <a:xfrm>
            <a:off x="637614" y="4105169"/>
            <a:ext cx="9698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could try to improve predictions by training a new learner so that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CB9DCC8-7B15-3E66-618A-84AC308ECD13}"/>
              </a:ext>
            </a:extLst>
          </p:cNvPr>
          <p:cNvSpPr/>
          <p:nvPr/>
        </p:nvSpPr>
        <p:spPr>
          <a:xfrm>
            <a:off x="381870" y="4256787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6B6A57-4B13-CEC0-07B7-9E8C62670D87}"/>
              </a:ext>
            </a:extLst>
          </p:cNvPr>
          <p:cNvSpPr txBox="1"/>
          <p:nvPr/>
        </p:nvSpPr>
        <p:spPr>
          <a:xfrm>
            <a:off x="637614" y="5583598"/>
            <a:ext cx="8693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Boosting adds several learners so to get a final strong predictor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A3D7CD2-11B7-3E2F-CAE2-2293EDE25D6C}"/>
              </a:ext>
            </a:extLst>
          </p:cNvPr>
          <p:cNvSpPr/>
          <p:nvPr/>
        </p:nvSpPr>
        <p:spPr>
          <a:xfrm>
            <a:off x="381870" y="5735216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ABAF6-5768-FB2A-1C1C-202A6C8AB65F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2ABE823-6AE3-C674-3674-9F726F00E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2946400"/>
            <a:ext cx="7772400" cy="94663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8114ED2-AF53-6A6E-6218-3B7330E50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798" y="4797179"/>
            <a:ext cx="7772400" cy="55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72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F9E8F1-4EA3-C241-A7A2-A63C682F3863}"/>
              </a:ext>
            </a:extLst>
          </p:cNvPr>
          <p:cNvSpPr txBox="1"/>
          <p:nvPr/>
        </p:nvSpPr>
        <p:spPr>
          <a:xfrm>
            <a:off x="240033" y="746721"/>
            <a:ext cx="11779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boosting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we approximate the change in the loss function for a small perturbation 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43E3A8-0C86-13BE-628B-0A5769135165}"/>
              </a:ext>
            </a:extLst>
          </p:cNvPr>
          <p:cNvSpPr txBox="1"/>
          <p:nvPr/>
        </p:nvSpPr>
        <p:spPr>
          <a:xfrm>
            <a:off x="240033" y="2126335"/>
            <a:ext cx="5921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 that the minimization problem becomes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5E8470-5F2C-332B-72C8-1E04EA42DE77}"/>
              </a:ext>
            </a:extLst>
          </p:cNvPr>
          <p:cNvSpPr txBox="1"/>
          <p:nvPr/>
        </p:nvSpPr>
        <p:spPr>
          <a:xfrm>
            <a:off x="240033" y="3720962"/>
            <a:ext cx="7604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gradient of the functional looks scary, but note that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C7625-185A-6F11-FD58-226A7F0162CE}"/>
              </a:ext>
            </a:extLst>
          </p:cNvPr>
          <p:cNvSpPr txBox="1"/>
          <p:nvPr/>
        </p:nvSpPr>
        <p:spPr>
          <a:xfrm>
            <a:off x="9090811" y="1937116"/>
            <a:ext cx="2986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1st order Taylor expansion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95524F11-23DF-3AD0-1C0F-481A195AAD2A}"/>
              </a:ext>
            </a:extLst>
          </p:cNvPr>
          <p:cNvCxnSpPr>
            <a:cxnSpLocks/>
          </p:cNvCxnSpPr>
          <p:nvPr/>
        </p:nvCxnSpPr>
        <p:spPr>
          <a:xfrm rot="10800000">
            <a:off x="9231762" y="1625433"/>
            <a:ext cx="1352406" cy="185711"/>
          </a:xfrm>
          <a:prstGeom prst="bentConnector3">
            <a:avLst>
              <a:gd name="adj1" fmla="val -921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9FCED5C-F5EC-3D41-6243-729622F4AD73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0E0D455-A78E-74E2-B8AD-FDE2B2672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300" y="1521039"/>
            <a:ext cx="5867400" cy="3429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80A81F8-9F9E-2A85-5F40-FBB77B961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300" y="2905539"/>
            <a:ext cx="6375400" cy="5588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4A136AB-253F-8DD8-802E-BBB89ED81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565" y="4228347"/>
            <a:ext cx="7772400" cy="156197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1C84A04-602A-8C60-44FA-E3D7B9C8DE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376" y="5790324"/>
            <a:ext cx="36449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517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78A2E-D98F-E408-F4B1-20E7B8199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2D7838-6A8E-ABF8-2B2A-FD3622B8B83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3A07E-B737-78BF-E4B4-1F2173399F3D}"/>
              </a:ext>
            </a:extLst>
          </p:cNvPr>
          <p:cNvSpPr txBox="1"/>
          <p:nvPr/>
        </p:nvSpPr>
        <p:spPr>
          <a:xfrm>
            <a:off x="240033" y="746721"/>
            <a:ext cx="4870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Generic boosting (aka AnyBoost):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685E19-1EAE-6D4D-A237-58152AFC36D0}"/>
              </a:ext>
            </a:extLst>
          </p:cNvPr>
          <p:cNvSpPr/>
          <p:nvPr/>
        </p:nvSpPr>
        <p:spPr>
          <a:xfrm>
            <a:off x="325092" y="1177608"/>
            <a:ext cx="2376544" cy="468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601677-E8FD-E48A-A25B-BE1457B46997}"/>
              </a:ext>
            </a:extLst>
          </p:cNvPr>
          <p:cNvSpPr txBox="1"/>
          <p:nvPr/>
        </p:nvSpPr>
        <p:spPr>
          <a:xfrm>
            <a:off x="240033" y="1484348"/>
            <a:ext cx="72843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Start with dataset                                         and train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11B6C1-E963-AC42-B21A-3B08215A2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036" y="1350541"/>
            <a:ext cx="2781300" cy="6985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52DB1C38-145D-61E2-6EAF-D31B8EC48CC2}"/>
              </a:ext>
            </a:extLst>
          </p:cNvPr>
          <p:cNvGrpSpPr/>
          <p:nvPr/>
        </p:nvGrpSpPr>
        <p:grpSpPr>
          <a:xfrm>
            <a:off x="712352" y="2616892"/>
            <a:ext cx="6274475" cy="596900"/>
            <a:chOff x="325093" y="2472139"/>
            <a:chExt cx="6274475" cy="59690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014247-512F-CD6E-BEA2-1BEABF938C46}"/>
                </a:ext>
              </a:extLst>
            </p:cNvPr>
            <p:cNvSpPr txBox="1"/>
            <p:nvPr/>
          </p:nvSpPr>
          <p:spPr>
            <a:xfrm>
              <a:off x="325093" y="2515513"/>
              <a:ext cx="62744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Form new dataset			            with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4E4ADC7-D8B4-1931-F6B5-768D032FB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10828" y="2472139"/>
              <a:ext cx="2425700" cy="596900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0717595-D3BF-0108-4DE6-385489C975A9}"/>
              </a:ext>
            </a:extLst>
          </p:cNvPr>
          <p:cNvSpPr txBox="1"/>
          <p:nvPr/>
        </p:nvSpPr>
        <p:spPr>
          <a:xfrm>
            <a:off x="712352" y="3866314"/>
            <a:ext cx="3135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Train new predictor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DCED66-2C49-4949-DC77-BC78BD292CD1}"/>
              </a:ext>
            </a:extLst>
          </p:cNvPr>
          <p:cNvSpPr txBox="1"/>
          <p:nvPr/>
        </p:nvSpPr>
        <p:spPr>
          <a:xfrm>
            <a:off x="712352" y="5076572"/>
            <a:ext cx="4535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Combine the predictors to get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BAB716-5848-F2BF-D24E-13DD6EF7C4AF}"/>
              </a:ext>
            </a:extLst>
          </p:cNvPr>
          <p:cNvSpPr txBox="1"/>
          <p:nvPr/>
        </p:nvSpPr>
        <p:spPr>
          <a:xfrm>
            <a:off x="712352" y="5944537"/>
            <a:ext cx="8576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Continue iterating to get more and more predictors in the sum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B258135-BB7D-71E0-CA00-6D6CC83A7DC7}"/>
              </a:ext>
            </a:extLst>
          </p:cNvPr>
          <p:cNvCxnSpPr>
            <a:cxnSpLocks/>
          </p:cNvCxnSpPr>
          <p:nvPr/>
        </p:nvCxnSpPr>
        <p:spPr>
          <a:xfrm flipV="1">
            <a:off x="412478" y="2775098"/>
            <a:ext cx="0" cy="3524472"/>
          </a:xfrm>
          <a:prstGeom prst="straightConnector1">
            <a:avLst/>
          </a:prstGeom>
          <a:ln w="63500">
            <a:solidFill>
              <a:srgbClr val="FA27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747FAA5F-4283-4C60-22D0-B348B2594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7688" y="5135954"/>
            <a:ext cx="3670300" cy="3429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1C99808-F9D2-9D14-892D-0F7477A57BC7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428D2C-9545-4890-7AE6-B98BF3BDAA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462" y="1233963"/>
            <a:ext cx="3975100" cy="965200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48F8C6-4A27-3326-B775-B6F3581179A0}"/>
              </a:ext>
            </a:extLst>
          </p:cNvPr>
          <p:cNvSpPr/>
          <p:nvPr/>
        </p:nvSpPr>
        <p:spPr>
          <a:xfrm>
            <a:off x="9081656" y="1177608"/>
            <a:ext cx="2319619" cy="1103157"/>
          </a:xfrm>
          <a:prstGeom prst="roundRect">
            <a:avLst/>
          </a:prstGeom>
          <a:noFill/>
          <a:ln>
            <a:solidFill>
              <a:srgbClr val="FA274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A3A567-4380-3DC8-4F94-DB02D78EDA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8979" y="839575"/>
            <a:ext cx="844971" cy="2427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396D8DB-FD7A-EA85-1AC0-3B2DAF8DE8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8147" y="3599081"/>
            <a:ext cx="3632200" cy="965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BB2514F-0D00-22FB-EFF7-4714F6FE72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6827" y="2520465"/>
            <a:ext cx="4876800" cy="787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579FE1-E90B-5E07-9922-940AAD1E2676}"/>
              </a:ext>
            </a:extLst>
          </p:cNvPr>
          <p:cNvSpPr txBox="1"/>
          <p:nvPr/>
        </p:nvSpPr>
        <p:spPr>
          <a:xfrm>
            <a:off x="8120282" y="4626167"/>
            <a:ext cx="2808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Note this new parameter!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02556410-8AA2-28D6-758C-6289D0FCDA23}"/>
              </a:ext>
            </a:extLst>
          </p:cNvPr>
          <p:cNvCxnSpPr>
            <a:cxnSpLocks/>
          </p:cNvCxnSpPr>
          <p:nvPr/>
        </p:nvCxnSpPr>
        <p:spPr>
          <a:xfrm rot="5400000">
            <a:off x="7792428" y="4808285"/>
            <a:ext cx="294310" cy="291238"/>
          </a:xfrm>
          <a:prstGeom prst="bentConnector3">
            <a:avLst>
              <a:gd name="adj1" fmla="val 292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6806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5DC38-7493-3221-6819-2D780584B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759CEFA-4369-FE43-5DA6-8C5FAE16C846}"/>
              </a:ext>
            </a:extLst>
          </p:cNvPr>
          <p:cNvSpPr/>
          <p:nvPr/>
        </p:nvSpPr>
        <p:spPr>
          <a:xfrm>
            <a:off x="2593071" y="4164273"/>
            <a:ext cx="8871761" cy="618542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b="1" dirty="0">
              <a:solidFill>
                <a:srgbClr val="5E5E5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40EF7D-36D4-FA8A-310D-18AC6A03F58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7CD742-095F-8B54-6F47-AA7DA6258A64}"/>
              </a:ext>
            </a:extLst>
          </p:cNvPr>
          <p:cNvSpPr txBox="1"/>
          <p:nvPr/>
        </p:nvSpPr>
        <p:spPr>
          <a:xfrm>
            <a:off x="240033" y="817668"/>
            <a:ext cx="103493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If we’re dealing with regression using MSE we get a very nice interpretation…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B8FE56-9DAF-D14C-6F10-DC41CF0AB782}"/>
              </a:ext>
            </a:extLst>
          </p:cNvPr>
          <p:cNvSpPr txBox="1"/>
          <p:nvPr/>
        </p:nvSpPr>
        <p:spPr>
          <a:xfrm>
            <a:off x="683575" y="4219628"/>
            <a:ext cx="1909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Conclusion: </a:t>
            </a:r>
            <a:endParaRPr lang="en-FR" sz="24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7B752B-75EE-01C7-FA60-89420660E3C5}"/>
              </a:ext>
            </a:extLst>
          </p:cNvPr>
          <p:cNvSpPr txBox="1"/>
          <p:nvPr/>
        </p:nvSpPr>
        <p:spPr>
          <a:xfrm>
            <a:off x="2635513" y="4235018"/>
            <a:ext cx="8643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Learner     is trained using the residuals of the previous learner 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ACC8E84-73D6-88E5-1E65-E61125561D6A}"/>
              </a:ext>
            </a:extLst>
          </p:cNvPr>
          <p:cNvCxnSpPr/>
          <p:nvPr/>
        </p:nvCxnSpPr>
        <p:spPr>
          <a:xfrm>
            <a:off x="9766718" y="2765425"/>
            <a:ext cx="2182091" cy="0"/>
          </a:xfrm>
          <a:prstGeom prst="line">
            <a:avLst/>
          </a:prstGeom>
          <a:ln w="50800">
            <a:solidFill>
              <a:srgbClr val="FA27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C09F898-9A6A-B8E0-97EA-E963D39DF496}"/>
              </a:ext>
            </a:extLst>
          </p:cNvPr>
          <p:cNvSpPr txBox="1"/>
          <p:nvPr/>
        </p:nvSpPr>
        <p:spPr>
          <a:xfrm>
            <a:off x="10830515" y="2770441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residuals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F65D69-A225-35C0-A7B1-E2085E5B7237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3EE8CE-7C0E-2B68-AA51-A57BBAAC2E99}"/>
              </a:ext>
            </a:extLst>
          </p:cNvPr>
          <p:cNvSpPr txBox="1"/>
          <p:nvPr/>
        </p:nvSpPr>
        <p:spPr>
          <a:xfrm>
            <a:off x="259810" y="2445616"/>
            <a:ext cx="1148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 that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3570A5-E4BE-93EB-D388-946012ABF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755" y="4329811"/>
            <a:ext cx="266700" cy="30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C433D7-4F74-41E6-E790-7CEB411B1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2883" y="4329811"/>
            <a:ext cx="279400" cy="304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1C8E6B2-00B5-DE40-782E-E10820460006}"/>
              </a:ext>
            </a:extLst>
          </p:cNvPr>
          <p:cNvSpPr txBox="1"/>
          <p:nvPr/>
        </p:nvSpPr>
        <p:spPr>
          <a:xfrm>
            <a:off x="240033" y="5080992"/>
            <a:ext cx="116381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means that the new regressors are trained on the errors from the previous round</a:t>
            </a:r>
          </a:p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PS: We will see in TD how to derive these results and particularize it to decision trees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1C586E5-C860-C8AE-FB02-2C4B665BD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416" y="1332938"/>
            <a:ext cx="9359900" cy="965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FF36F2-F889-0858-CCAD-DBCCD6359E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5409" y="2323008"/>
            <a:ext cx="3073400" cy="342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93245B-AFD2-196B-875B-E33F07A052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8900" y="2824726"/>
            <a:ext cx="94742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2080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F9E8F1-4EA3-C241-A7A2-A63C682F3863}"/>
              </a:ext>
            </a:extLst>
          </p:cNvPr>
          <p:cNvSpPr txBox="1"/>
          <p:nvPr/>
        </p:nvSpPr>
        <p:spPr>
          <a:xfrm>
            <a:off x="240033" y="746721"/>
            <a:ext cx="5145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 algorithm for regression: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57F0DC-479D-00FE-4E31-8D42BEE6E08C}"/>
              </a:ext>
            </a:extLst>
          </p:cNvPr>
          <p:cNvSpPr/>
          <p:nvPr/>
        </p:nvSpPr>
        <p:spPr>
          <a:xfrm>
            <a:off x="325092" y="1177608"/>
            <a:ext cx="4662543" cy="468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8B900-2C78-507D-3687-888E28AFB0FD}"/>
              </a:ext>
            </a:extLst>
          </p:cNvPr>
          <p:cNvSpPr txBox="1"/>
          <p:nvPr/>
        </p:nvSpPr>
        <p:spPr>
          <a:xfrm>
            <a:off x="240033" y="1484348"/>
            <a:ext cx="72843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Start with dataset                                         and train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FAF221-A326-3A5B-5A3A-63FF2E903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036" y="1350541"/>
            <a:ext cx="2781300" cy="698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894E8D-FB17-1235-4748-F2651FBC0337}"/>
              </a:ext>
            </a:extLst>
          </p:cNvPr>
          <p:cNvSpPr txBox="1"/>
          <p:nvPr/>
        </p:nvSpPr>
        <p:spPr>
          <a:xfrm>
            <a:off x="1182376" y="2660266"/>
            <a:ext cx="6274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Form new dataset			            with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1C139D-5AC5-EFF2-FD34-B1F92A02BCF0}"/>
              </a:ext>
            </a:extLst>
          </p:cNvPr>
          <p:cNvSpPr txBox="1"/>
          <p:nvPr/>
        </p:nvSpPr>
        <p:spPr>
          <a:xfrm>
            <a:off x="1182376" y="3866314"/>
            <a:ext cx="3135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Train new predictor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CB345C-42F7-61CF-7F0D-16548BEA6FC8}"/>
              </a:ext>
            </a:extLst>
          </p:cNvPr>
          <p:cNvSpPr txBox="1"/>
          <p:nvPr/>
        </p:nvSpPr>
        <p:spPr>
          <a:xfrm>
            <a:off x="1182376" y="5076572"/>
            <a:ext cx="4535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Combine the predictors to get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DABF3D-17F2-29ED-13E4-B5FEC670262B}"/>
              </a:ext>
            </a:extLst>
          </p:cNvPr>
          <p:cNvSpPr txBox="1"/>
          <p:nvPr/>
        </p:nvSpPr>
        <p:spPr>
          <a:xfrm>
            <a:off x="1182376" y="5944537"/>
            <a:ext cx="8576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Continue iterating to get more and more predictors in the sum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ECA5550-AB2A-BF92-80D6-4D6EC4E8F024}"/>
              </a:ext>
            </a:extLst>
          </p:cNvPr>
          <p:cNvCxnSpPr>
            <a:cxnSpLocks/>
          </p:cNvCxnSpPr>
          <p:nvPr/>
        </p:nvCxnSpPr>
        <p:spPr>
          <a:xfrm flipV="1">
            <a:off x="882502" y="2775098"/>
            <a:ext cx="0" cy="3524472"/>
          </a:xfrm>
          <a:prstGeom prst="straightConnector1">
            <a:avLst/>
          </a:prstGeom>
          <a:ln w="63500">
            <a:solidFill>
              <a:srgbClr val="FA27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AC37BDC-A7CC-1D65-B806-1A647317C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844" y="1230247"/>
            <a:ext cx="4267200" cy="965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1E163A-8284-5C9E-E44C-978C9FBA53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712" y="5135954"/>
            <a:ext cx="3670300" cy="3429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3DB463-B006-2A1F-BE24-9EC2849A1B54}"/>
              </a:ext>
            </a:extLst>
          </p:cNvPr>
          <p:cNvSpPr txBox="1"/>
          <p:nvPr/>
        </p:nvSpPr>
        <p:spPr>
          <a:xfrm>
            <a:off x="8640982" y="4626167"/>
            <a:ext cx="2808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Note this new parameter!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B25644D1-1A43-AD77-1D40-315228E5A605}"/>
              </a:ext>
            </a:extLst>
          </p:cNvPr>
          <p:cNvCxnSpPr>
            <a:cxnSpLocks/>
          </p:cNvCxnSpPr>
          <p:nvPr/>
        </p:nvCxnSpPr>
        <p:spPr>
          <a:xfrm rot="5400000">
            <a:off x="8313128" y="4808285"/>
            <a:ext cx="294310" cy="291238"/>
          </a:xfrm>
          <a:prstGeom prst="bentConnector3">
            <a:avLst>
              <a:gd name="adj1" fmla="val 292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2A7C009-3CF1-E5D3-9BD4-DB1C73D9B40B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DEF14A4-1120-9DC4-2775-517552177D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4094" y="2610748"/>
            <a:ext cx="2463800" cy="5969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885D3E2-F798-DA10-DDF5-631736EBBF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6851" y="2603185"/>
            <a:ext cx="24638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CF6A367-9B48-DE73-C897-2087DFA74A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171" y="3611325"/>
            <a:ext cx="46228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1018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208671-5EA3-A642-B12B-9BA5E81DD91B}"/>
              </a:ext>
            </a:extLst>
          </p:cNvPr>
          <p:cNvSpPr/>
          <p:nvPr/>
        </p:nvSpPr>
        <p:spPr>
          <a:xfrm>
            <a:off x="1194195" y="3349291"/>
            <a:ext cx="9827997" cy="1253747"/>
          </a:xfrm>
          <a:prstGeom prst="rect">
            <a:avLst/>
          </a:pr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23562-5F1F-A2CB-2D84-91316DBA4715}"/>
              </a:ext>
            </a:extLst>
          </p:cNvPr>
          <p:cNvSpPr txBox="1"/>
          <p:nvPr/>
        </p:nvSpPr>
        <p:spPr>
          <a:xfrm>
            <a:off x="278388" y="4945150"/>
            <a:ext cx="11659612" cy="154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Invent AdaBoost, the first successful boosting algorithm (Freund 1996)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Formulate AdaBoost as a gradient descent with a special loss function (</a:t>
            </a:r>
            <a:r>
              <a:rPr lang="en-GB" sz="22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Breiman</a:t>
            </a:r>
            <a:r>
              <a:rPr lang="en-GB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1998)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Generalize AdaBoost to Gradient Boosting to handle other loss functions (Friedman 2000)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2F1FB3-C2BC-B9DE-F52A-AE23240A3C06}"/>
              </a:ext>
            </a:extLst>
          </p:cNvPr>
          <p:cNvSpPr txBox="1"/>
          <p:nvPr/>
        </p:nvSpPr>
        <p:spPr>
          <a:xfrm>
            <a:off x="278388" y="921373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Put very simply, every boosting algorithm does the following: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D8C77A2-EDB7-3012-2C8C-2DB08FF4A9CC}"/>
              </a:ext>
            </a:extLst>
          </p:cNvPr>
          <p:cNvGrpSpPr/>
          <p:nvPr/>
        </p:nvGrpSpPr>
        <p:grpSpPr>
          <a:xfrm>
            <a:off x="379987" y="1650895"/>
            <a:ext cx="11666297" cy="1357134"/>
            <a:chOff x="849887" y="1741780"/>
            <a:chExt cx="11666297" cy="13571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BCDF3F-F8AD-902F-081D-7471CF315574}"/>
                </a:ext>
              </a:extLst>
            </p:cNvPr>
            <p:cNvSpPr txBox="1"/>
            <p:nvPr/>
          </p:nvSpPr>
          <p:spPr>
            <a:xfrm>
              <a:off x="1256288" y="1741780"/>
              <a:ext cx="837600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At round T fit an additive model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AE6F91-4C47-6A51-5A1A-0EFA9678D7E7}"/>
                </a:ext>
              </a:extLst>
            </p:cNvPr>
            <p:cNvSpPr txBox="1"/>
            <p:nvPr/>
          </p:nvSpPr>
          <p:spPr>
            <a:xfrm>
              <a:off x="1256288" y="2637249"/>
              <a:ext cx="1125989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In each new round T+1, train a weak learner to </a:t>
              </a:r>
              <a:r>
                <a:rPr lang="en-GB" sz="2400" dirty="0">
                  <a:solidFill>
                    <a:srgbClr val="FA2743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compensate shortcomings </a:t>
              </a:r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of</a:t>
              </a:r>
            </a:p>
          </p:txBody>
        </p:sp>
        <p:sp>
          <p:nvSpPr>
            <p:cNvPr id="9" name="Triangle 8">
              <a:extLst>
                <a:ext uri="{FF2B5EF4-FFF2-40B4-BE49-F238E27FC236}">
                  <a16:creationId xmlns:a16="http://schemas.microsoft.com/office/drawing/2014/main" id="{E8035CBC-858B-E7F9-CE4A-3E515D09023E}"/>
                </a:ext>
              </a:extLst>
            </p:cNvPr>
            <p:cNvSpPr/>
            <p:nvPr/>
          </p:nvSpPr>
          <p:spPr>
            <a:xfrm rot="5400000">
              <a:off x="829567" y="1830223"/>
              <a:ext cx="294640" cy="254000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C851AD29-B9C7-4304-6CE7-A394C2D4FB04}"/>
                </a:ext>
              </a:extLst>
            </p:cNvPr>
            <p:cNvSpPr/>
            <p:nvPr/>
          </p:nvSpPr>
          <p:spPr>
            <a:xfrm rot="5400000">
              <a:off x="829567" y="2741081"/>
              <a:ext cx="294640" cy="254000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B45DB36-AA66-8D00-217B-C622DA0F5793}"/>
              </a:ext>
            </a:extLst>
          </p:cNvPr>
          <p:cNvSpPr txBox="1"/>
          <p:nvPr/>
        </p:nvSpPr>
        <p:spPr>
          <a:xfrm>
            <a:off x="1053088" y="3387391"/>
            <a:ext cx="1011021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2400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 AdaBoost, shortcomings are identified by high-weight data points</a:t>
            </a:r>
          </a:p>
          <a:p>
            <a:pPr algn="ctr">
              <a:lnSpc>
                <a:spcPct val="150000"/>
              </a:lnSpc>
            </a:pPr>
            <a:r>
              <a:rPr lang="en-GB" sz="2400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 gradient boosting they are identified by gradients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EBF075-8A4B-5402-B68D-838850CC34FE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E06CAC-6FEC-0AE9-6548-773FCBC88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240" y="1405056"/>
            <a:ext cx="2844800" cy="965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F5CE77-5B5D-5371-2E51-DCDA4475C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900" y="2637894"/>
            <a:ext cx="3683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582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44292-99C4-C614-F9F1-C5E663992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A9820F-C723-EEFD-9D61-0D00C91E0CF5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C927A7-C67F-E7DB-4BEA-9A1B27DB1C49}"/>
              </a:ext>
            </a:extLst>
          </p:cNvPr>
          <p:cNvSpPr txBox="1"/>
          <p:nvPr/>
        </p:nvSpPr>
        <p:spPr>
          <a:xfrm>
            <a:off x="278388" y="921373"/>
            <a:ext cx="1191361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Gradient boosting has a story of much success with some famous implementations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800100" indent="-342900" rtl="0" fontAlgn="base">
              <a:buFont typeface="Courier New" panose="02070309020205020404" pitchFamily="49" charset="0"/>
              <a:buChar char="o"/>
            </a:pPr>
            <a:r>
              <a:rPr lang="en-GB" sz="2400" u="none" strike="noStrike" dirty="0" err="1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XGBoost</a:t>
            </a:r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 [Chen &amp; </a:t>
            </a:r>
            <a:r>
              <a:rPr lang="en-GB" sz="2400" u="none" strike="noStrike" dirty="0" err="1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Guestrin</a:t>
            </a:r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en-GB" sz="2400" u="none" strike="noStrike" dirty="0" err="1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Arxiv</a:t>
            </a:r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 2016] (w. Apple, NVidia)</a:t>
            </a:r>
            <a:b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</a:br>
            <a:endParaRPr lang="en-GB" sz="2400" u="none" strike="noStrike" dirty="0">
              <a:solidFill>
                <a:srgbClr val="5E5E5E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800100" indent="-342900" rtl="0" fontAlgn="base">
              <a:buFont typeface="Courier New" panose="02070309020205020404" pitchFamily="49" charset="0"/>
              <a:buChar char="o"/>
            </a:pPr>
            <a:r>
              <a:rPr lang="en-GB" sz="2400" u="none" strike="noStrike" dirty="0" err="1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LightGBM</a:t>
            </a:r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 [Ke et al., Proc. NIPS 2017] (by Microsoft)</a:t>
            </a:r>
            <a:b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</a:br>
            <a:endParaRPr lang="en-GB" sz="2400" u="none" strike="noStrike" dirty="0">
              <a:solidFill>
                <a:srgbClr val="5E5E5E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800100" indent="-342900" rtl="0" fontAlgn="base">
              <a:buFont typeface="Courier New" panose="02070309020205020404" pitchFamily="49" charset="0"/>
              <a:buChar char="o"/>
            </a:pPr>
            <a:r>
              <a:rPr lang="en-GB" sz="2400" u="none" strike="noStrike" dirty="0" err="1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CatBoost</a:t>
            </a:r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 [</a:t>
            </a:r>
            <a:r>
              <a:rPr lang="en-GB" sz="2400" u="none" strike="noStrike" dirty="0" err="1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Prokhorenkova</a:t>
            </a:r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 et al. </a:t>
            </a:r>
            <a:r>
              <a:rPr lang="en-GB" sz="2400" u="none" strike="noStrike" dirty="0" err="1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Arxiv</a:t>
            </a:r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 2017] (by Yandex)</a:t>
            </a:r>
            <a:b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</a:br>
            <a:endParaRPr lang="en-GB" sz="2400" u="none" strike="noStrike" dirty="0">
              <a:solidFill>
                <a:srgbClr val="5E5E5E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800100" indent="-342900" rtl="0" fontAlgn="base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2400" u="none" strike="noStrike" dirty="0" err="1">
                <a:solidFill>
                  <a:srgbClr val="5E5E5E"/>
                </a:solidFill>
                <a:effectLst/>
                <a:latin typeface="Courier New" panose="02070309020205020404" pitchFamily="49" charset="0"/>
                <a:ea typeface="Roboto Light" panose="02000000000000000000" pitchFamily="2" charset="0"/>
                <a:cs typeface="Courier New" panose="02070309020205020404" pitchFamily="49" charset="0"/>
              </a:rPr>
              <a:t>sklearn.ensemble.HistGradientBoostingClassifier</a:t>
            </a:r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 (v0.21)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You can check this video with some nice extra practical explanations: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lvl="1"/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  <a:hlinkClick r:id="rId3"/>
              </a:rPr>
              <a:t>https://www.youtube.com/watch?v=o6seqpMJSTI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3C7DCB-6DBF-52A6-BA08-63B6F0FD79DF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30554613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BE0A7-EF41-87AB-958E-02A58822F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B305C1-E0C8-CE63-4600-63C61BCAB5E2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632AB1-E6DF-F01A-948E-4A58EC376C78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see some of these implementations in the curves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84A10B-F558-9F83-ECC2-E8624E8F2B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301"/>
          <a:stretch/>
        </p:blipFill>
        <p:spPr>
          <a:xfrm>
            <a:off x="212799" y="1625553"/>
            <a:ext cx="11766402" cy="48333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44EE89-B211-4C21-F00E-DED8969CF5DE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36802663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93AE1-EC2E-7427-7DB6-44FA33BC2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BE75D7-70A7-7D6B-7FA8-1D60D31BDC87}"/>
              </a:ext>
            </a:extLst>
          </p:cNvPr>
          <p:cNvSpPr txBox="1"/>
          <p:nvPr/>
        </p:nvSpPr>
        <p:spPr>
          <a:xfrm>
            <a:off x="278388" y="921373"/>
            <a:ext cx="119136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 err="1">
                <a:solidFill>
                  <a:srgbClr val="169FD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XGBoost</a:t>
            </a:r>
            <a:r>
              <a:rPr lang="en-GB" sz="2400" b="1" dirty="0">
                <a:solidFill>
                  <a:srgbClr val="169FD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: </a:t>
            </a:r>
            <a:r>
              <a:rPr lang="en-GB" sz="2400" b="1" dirty="0" err="1">
                <a:solidFill>
                  <a:srgbClr val="169FD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eXtreme</a:t>
            </a:r>
            <a:r>
              <a:rPr lang="en-GB" sz="2400" b="1" dirty="0">
                <a:solidFill>
                  <a:srgbClr val="169FD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 gradient boosting</a:t>
            </a:r>
          </a:p>
          <a:p>
            <a:endParaRPr lang="en-GB" sz="2400" b="1" dirty="0">
              <a:solidFill>
                <a:srgbClr val="1E77B4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Proposed in Chen and 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Guestrin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(2016) – 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arxiv.org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/abs/1603.02754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XGBoost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uses a 2</a:t>
            </a:r>
            <a:r>
              <a:rPr lang="en-GB" sz="2400" baseline="30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nd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Order Taylor approximation of the cost function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XGBoost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has a regularization term to control the size of the trees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Several tricks to make the algorithm scale to very large datasets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Approximate splitting via feature binning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Parallel implementation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Cache-aware access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084584-3226-0BB0-EAC9-7701EE5911FD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379507-7E95-3395-6983-670B23A1E10D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CCEF0C3-AC42-12AE-D3AB-41473B72A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205" y="5006715"/>
            <a:ext cx="3822853" cy="147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c 2" descr="Right pointing backhand index outline">
            <a:extLst>
              <a:ext uri="{FF2B5EF4-FFF2-40B4-BE49-F238E27FC236}">
                <a16:creationId xmlns:a16="http://schemas.microsoft.com/office/drawing/2014/main" id="{C767DC09-3AB1-591D-B44C-A7225981E4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891713" y="4492552"/>
            <a:ext cx="784485" cy="78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5333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C0995-D54D-6D07-31D7-C115F2D6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1229C6-9708-E072-4B4A-8CB08775909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219A5-72F3-C693-ACD0-68C04E5A9C82}"/>
              </a:ext>
            </a:extLst>
          </p:cNvPr>
          <p:cNvSpPr txBox="1"/>
          <p:nvPr/>
        </p:nvSpPr>
        <p:spPr>
          <a:xfrm>
            <a:off x="278388" y="921373"/>
            <a:ext cx="119136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 err="1">
                <a:solidFill>
                  <a:srgbClr val="169FD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XGBoost</a:t>
            </a:r>
            <a:r>
              <a:rPr lang="en-GB" sz="2400" b="1" dirty="0">
                <a:solidFill>
                  <a:srgbClr val="169FD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: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Approximate splitting via feature binning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Remember that when growing a tree, we had to do for each of P features:</a:t>
            </a:r>
          </a:p>
          <a:p>
            <a:endParaRPr lang="en-GB" sz="2400" u="none" strike="noStrike" dirty="0">
              <a:solidFill>
                <a:srgbClr val="5E5E5E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lvl="1"/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1) Sort the values of the data points on that feature 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O(</a:t>
            </a:r>
            <a:r>
              <a:rPr lang="en-GB" sz="2400" b="1" u="none" strike="noStrike" dirty="0" err="1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n.log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 n)</a:t>
            </a:r>
            <a:endParaRPr lang="en-GB" sz="24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endParaRPr lang="en-GB" sz="2400" u="none" strike="noStrike" dirty="0">
              <a:solidFill>
                <a:srgbClr val="000000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lvl="1"/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2) For every possible split point 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O(n)</a:t>
            </a:r>
            <a:endParaRPr lang="en-GB" sz="2400" u="none" strike="noStrike" dirty="0">
              <a:solidFill>
                <a:srgbClr val="000000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lvl="1"/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	</a:t>
            </a:r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2.1) Evaluate the split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lvl="1"/>
            <a:endParaRPr lang="en-GB" sz="2400" u="none" strike="noStrike" dirty="0">
              <a:solidFill>
                <a:srgbClr val="000000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lvl="1"/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3) Pick the best split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GB" sz="2400" u="none" strike="noStrike" dirty="0">
              <a:solidFill>
                <a:srgbClr val="000000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Final complexity : 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O(</a:t>
            </a:r>
            <a:r>
              <a:rPr lang="en-GB" sz="2400" b="1" u="none" strike="noStrike" dirty="0" err="1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D.n.log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 n + n)</a:t>
            </a:r>
            <a:endParaRPr lang="en-GB" sz="2400" b="1" dirty="0">
              <a:effectLst/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indent="457200" rtl="0">
              <a:spcAft>
                <a:spcPts val="1200"/>
              </a:spcAft>
              <a:buNone/>
            </a:pPr>
            <a:br>
              <a:rPr lang="en-GB" sz="2400" b="1" u="none" strike="noStrike" dirty="0">
                <a:solidFill>
                  <a:srgbClr val="0097A7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</a:br>
            <a:r>
              <a:rPr lang="en-GB" sz="2400" b="1" u="none" strike="noStrike" dirty="0">
                <a:solidFill>
                  <a:srgbClr val="0097A7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-- Q: What if we could avoid having to sort?</a:t>
            </a:r>
            <a:endParaRPr lang="en-GB" sz="2400" b="1" dirty="0">
              <a:effectLst/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64C9DA-18B4-27EF-4437-29D19A036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205" y="5006715"/>
            <a:ext cx="3822853" cy="147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048A29-3BBB-82B5-B1AA-9B33F6CBB869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28445062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956651-2F25-614D-3333-C1E7866B2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772" y="870997"/>
            <a:ext cx="6183817" cy="584878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AFD91D-45F1-9C39-0CE7-BE960EB92F44}"/>
              </a:ext>
            </a:extLst>
          </p:cNvPr>
          <p:cNvCxnSpPr>
            <a:cxnSpLocks/>
          </p:cNvCxnSpPr>
          <p:nvPr/>
        </p:nvCxnSpPr>
        <p:spPr>
          <a:xfrm>
            <a:off x="5512423" y="1207698"/>
            <a:ext cx="0" cy="5139762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B0BA1A0-83BF-590D-9F1D-2BBAB984D3D4}"/>
              </a:ext>
            </a:extLst>
          </p:cNvPr>
          <p:cNvSpPr/>
          <p:nvPr/>
        </p:nvSpPr>
        <p:spPr>
          <a:xfrm>
            <a:off x="5454913" y="1150188"/>
            <a:ext cx="115019" cy="1150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06D75-C238-3B78-604B-FF6E86F39222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23458515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5BC63-B912-4655-F8E1-2F1471B06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583745-56F6-DA33-CF5B-D96F98F6000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E7C50-B9F6-F1D0-C0CB-A5DABD4EE8A3}"/>
              </a:ext>
            </a:extLst>
          </p:cNvPr>
          <p:cNvSpPr txBox="1"/>
          <p:nvPr/>
        </p:nvSpPr>
        <p:spPr>
          <a:xfrm>
            <a:off x="278388" y="921373"/>
            <a:ext cx="119136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 err="1">
                <a:solidFill>
                  <a:srgbClr val="169FD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XGBoost</a:t>
            </a:r>
            <a:r>
              <a:rPr lang="en-GB" sz="2400" b="1" dirty="0">
                <a:solidFill>
                  <a:srgbClr val="169FD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: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Approximate splitting via feature binning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Remember that when growing a tree, we had to do for each of P features:</a:t>
            </a:r>
          </a:p>
          <a:p>
            <a:endParaRPr lang="en-GB" sz="2400" u="none" strike="noStrike" dirty="0">
              <a:solidFill>
                <a:srgbClr val="5E5E5E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lvl="1"/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1) Sort the values of the data points on that feature 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O(</a:t>
            </a:r>
            <a:r>
              <a:rPr lang="en-GB" sz="2400" b="1" u="none" strike="noStrike" dirty="0" err="1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n.log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 n)</a:t>
            </a:r>
            <a:endParaRPr lang="en-GB" sz="24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endParaRPr lang="en-GB" sz="2400" u="none" strike="noStrike" dirty="0">
              <a:solidFill>
                <a:srgbClr val="000000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lvl="1"/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2) For every possible split point 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O(n)</a:t>
            </a:r>
            <a:endParaRPr lang="en-GB" sz="2400" u="none" strike="noStrike" dirty="0">
              <a:solidFill>
                <a:srgbClr val="000000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lvl="1"/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	</a:t>
            </a:r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2.1) Evaluate the split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lvl="1"/>
            <a:endParaRPr lang="en-GB" sz="2400" u="none" strike="noStrike" dirty="0">
              <a:solidFill>
                <a:srgbClr val="000000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lvl="1"/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3) Pick the best split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GB" sz="2400" u="none" strike="noStrike" dirty="0">
              <a:solidFill>
                <a:srgbClr val="000000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Final complexity : 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O(</a:t>
            </a:r>
            <a:r>
              <a:rPr lang="en-GB" sz="2400" b="1" u="none" strike="noStrike" dirty="0" err="1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D.n.log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 n + n)</a:t>
            </a:r>
            <a:endParaRPr lang="en-GB" sz="2400" b="1" dirty="0">
              <a:effectLst/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indent="457200" rtl="0">
              <a:spcAft>
                <a:spcPts val="1200"/>
              </a:spcAft>
              <a:buNone/>
            </a:pPr>
            <a:br>
              <a:rPr lang="en-GB" sz="2400" b="1" u="none" strike="noStrike" dirty="0">
                <a:solidFill>
                  <a:srgbClr val="0097A7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</a:br>
            <a:r>
              <a:rPr lang="en-GB" sz="2400" b="1" u="none" strike="noStrike" dirty="0">
                <a:solidFill>
                  <a:srgbClr val="0097A7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-- Q: What if we could avoid having to sort?</a:t>
            </a:r>
            <a:endParaRPr lang="en-GB" sz="2400" b="1" dirty="0">
              <a:effectLst/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D6362E-B843-C5B5-7F06-EAAE09D6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205" y="5006715"/>
            <a:ext cx="3822853" cy="147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DA6631-14C2-F228-B8A0-9DED1C549315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32781526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B5B61-929F-947E-6E86-068065CF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10DAC7-56C2-517A-F565-13F739DF99E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586BB-7EE1-EB25-3A16-7B66FADC6096}"/>
              </a:ext>
            </a:extLst>
          </p:cNvPr>
          <p:cNvSpPr txBox="1"/>
          <p:nvPr/>
        </p:nvSpPr>
        <p:spPr>
          <a:xfrm>
            <a:off x="278388" y="921373"/>
            <a:ext cx="119136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 err="1">
                <a:solidFill>
                  <a:srgbClr val="169FD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XGBoost</a:t>
            </a:r>
            <a:r>
              <a:rPr lang="en-GB" sz="2400" b="1" dirty="0">
                <a:solidFill>
                  <a:srgbClr val="169FD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: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Approximate splitting via feature binning</a:t>
            </a:r>
          </a:p>
          <a:p>
            <a:pPr indent="457200" rtl="0">
              <a:spcAft>
                <a:spcPts val="1200"/>
              </a:spcAft>
              <a:buNone/>
            </a:pPr>
            <a:br>
              <a:rPr lang="en-GB" sz="2400" b="1" u="none" strike="noStrike" dirty="0">
                <a:solidFill>
                  <a:srgbClr val="0097A7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</a:br>
            <a:r>
              <a:rPr lang="en-GB" sz="2400" b="1" u="none" strike="noStrike" dirty="0">
                <a:solidFill>
                  <a:srgbClr val="0097A7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-- Q: What if we could avoid having to sort?</a:t>
            </a:r>
            <a:br>
              <a:rPr lang="en-GB" sz="2400" b="1" u="none" strike="noStrike" dirty="0">
                <a:solidFill>
                  <a:srgbClr val="0097A7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</a:br>
            <a:r>
              <a:rPr lang="en-GB" sz="2400" b="1" u="none" strike="noStrike" dirty="0">
                <a:solidFill>
                  <a:srgbClr val="0097A7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-- A: We can bin the feature values and create a histogram!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832C0BA-4DB5-8079-A9E3-88B92036BB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6" t="9241" r="9352"/>
          <a:stretch/>
        </p:blipFill>
        <p:spPr bwMode="auto">
          <a:xfrm>
            <a:off x="1582825" y="2753810"/>
            <a:ext cx="9026350" cy="4047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243697-4756-0E58-8B33-E011D5B40A79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4707287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BF0E-0AEF-E9A3-B14D-785D90760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4D444A-1C7F-269F-382F-AAA72AA59137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ED362-F312-83BA-8D57-93CAA5983D1E}"/>
              </a:ext>
            </a:extLst>
          </p:cNvPr>
          <p:cNvSpPr txBox="1"/>
          <p:nvPr/>
        </p:nvSpPr>
        <p:spPr>
          <a:xfrm>
            <a:off x="278388" y="921373"/>
            <a:ext cx="119136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 err="1">
                <a:solidFill>
                  <a:srgbClr val="169FD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XGBoost</a:t>
            </a:r>
            <a:r>
              <a:rPr lang="en-GB" sz="2400" b="1" dirty="0">
                <a:solidFill>
                  <a:srgbClr val="169FD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: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Approximate splitting via feature binning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Remember that when growing a tree, we had to do for each of P features:</a:t>
            </a:r>
          </a:p>
          <a:p>
            <a:endParaRPr lang="en-GB" sz="2400" u="none" strike="noStrike" dirty="0">
              <a:solidFill>
                <a:srgbClr val="5E5E5E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lvl="1"/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1) Construct a histogram 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O(n)</a:t>
            </a:r>
            <a:endParaRPr lang="en-GB" sz="24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endParaRPr lang="en-GB" sz="2400" u="none" strike="noStrike" dirty="0">
              <a:solidFill>
                <a:srgbClr val="000000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lvl="1"/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2) For every possible split point 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O(</a:t>
            </a:r>
            <a:r>
              <a:rPr lang="en-GB" sz="2400" b="1" u="none" strike="noStrike" dirty="0" err="1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n_bins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en-GB" sz="2400" u="none" strike="noStrike" dirty="0">
              <a:solidFill>
                <a:srgbClr val="000000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lvl="1"/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	</a:t>
            </a:r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2.1) Evaluate the split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lvl="1"/>
            <a:endParaRPr lang="en-GB" sz="2400" u="none" strike="noStrike" dirty="0">
              <a:solidFill>
                <a:srgbClr val="000000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lvl="1"/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3) Pick the best split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GB" sz="2400" u="none" strike="noStrike" dirty="0">
              <a:solidFill>
                <a:srgbClr val="000000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en-GB" sz="2400" u="none" strike="noStrike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rPr>
              <a:t>Final complexity : 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O(</a:t>
            </a:r>
            <a:r>
              <a:rPr lang="en-GB" sz="2400" b="1" u="none" strike="noStrike" dirty="0" err="1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D.n_bins</a:t>
            </a:r>
            <a:r>
              <a:rPr lang="en-GB" sz="2400" b="1" u="none" strike="noStrike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 + n)</a:t>
            </a:r>
            <a:endParaRPr lang="en-GB" sz="2400" b="1" dirty="0">
              <a:effectLst/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15F2664-76A5-6675-776F-B42B59FE6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205" y="5006715"/>
            <a:ext cx="3822853" cy="147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AA49D4-003D-DD85-0729-1FCFFD859A7F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37491701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F18F8E-3047-6198-B1DB-74461151763E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9FCBCCF-FFD4-367D-E1CC-86AF778BC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06" y="823973"/>
            <a:ext cx="11026588" cy="591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0860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4A48-B3D9-BE58-3C50-2506BB824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B7C9C1-AED3-D75B-9F85-0A31BA00EA1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3D5949-671D-4EB1-A8E9-8688BB729E37}"/>
              </a:ext>
            </a:extLst>
          </p:cNvPr>
          <p:cNvSpPr txBox="1"/>
          <p:nvPr/>
        </p:nvSpPr>
        <p:spPr>
          <a:xfrm>
            <a:off x="278388" y="921373"/>
            <a:ext cx="119136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1E77B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Overview of the gradient boosting with regression trees</a:t>
            </a:r>
          </a:p>
          <a:p>
            <a:endParaRPr lang="en-GB" sz="2400" b="1" dirty="0">
              <a:solidFill>
                <a:srgbClr val="1E77B4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1) If large-scale dataset : bin data for each feature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2) Make initial predictions with f</a:t>
            </a:r>
            <a:r>
              <a:rPr lang="en-GB" sz="24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0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– it could be simply constants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3) Calculate gradients of the loss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4) Grow trees for boosting: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4.1) Find best splits</a:t>
            </a:r>
            <a:b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4.2) Add tree to predictors</a:t>
            </a:r>
            <a:b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b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4.3) Update de gradients and hessians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C17962-660D-5957-3719-A0FE83E5B17B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Boosting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B52EDB-ACF5-C2D3-AD9B-A896AB45D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882" y="3196746"/>
            <a:ext cx="11684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8663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EC88EDB-F887-5672-A646-7D8355883033}"/>
              </a:ext>
            </a:extLst>
          </p:cNvPr>
          <p:cNvSpPr/>
          <p:nvPr/>
        </p:nvSpPr>
        <p:spPr>
          <a:xfrm>
            <a:off x="1524000" y="1599370"/>
            <a:ext cx="9042400" cy="3657600"/>
          </a:xfrm>
          <a:prstGeom prst="rect">
            <a:avLst/>
          </a:prstGeom>
          <a:solidFill>
            <a:schemeClr val="bg1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B18FF24-E17A-334A-BDA5-98AC6E02DD9F}"/>
              </a:ext>
            </a:extLst>
          </p:cNvPr>
          <p:cNvGrpSpPr/>
          <p:nvPr/>
        </p:nvGrpSpPr>
        <p:grpSpPr>
          <a:xfrm>
            <a:off x="2055765" y="1750854"/>
            <a:ext cx="8080470" cy="3356291"/>
            <a:chOff x="2043066" y="2348584"/>
            <a:chExt cx="8080470" cy="335629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BC5630F-D6C3-88CA-ADDA-707DE92013D7}"/>
                </a:ext>
              </a:extLst>
            </p:cNvPr>
            <p:cNvSpPr txBox="1"/>
            <p:nvPr/>
          </p:nvSpPr>
          <p:spPr>
            <a:xfrm>
              <a:off x="2043066" y="3242662"/>
              <a:ext cx="3138411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2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Resamples data points</a:t>
              </a:r>
            </a:p>
            <a:p>
              <a:pPr algn="ctr"/>
              <a:endParaRPr lang="en-GB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endParaRPr>
            </a:p>
            <a:p>
              <a:pPr algn="ctr"/>
              <a:r>
                <a:rPr lang="en-GB" sz="22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Weight of each classifier is the same</a:t>
              </a:r>
            </a:p>
            <a:p>
              <a:pPr algn="ctr"/>
              <a:endParaRPr lang="en-GB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endParaRPr>
            </a:p>
            <a:p>
              <a:pPr algn="ctr"/>
              <a:r>
                <a:rPr lang="en-GB" sz="22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Only variance reduction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78C6B3-A846-31EF-0092-80F43C832807}"/>
                </a:ext>
              </a:extLst>
            </p:cNvPr>
            <p:cNvSpPr txBox="1"/>
            <p:nvPr/>
          </p:nvSpPr>
          <p:spPr>
            <a:xfrm>
              <a:off x="2870723" y="2348584"/>
              <a:ext cx="142058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BAGGING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965BED-A54B-5D19-A694-A10E44F390A5}"/>
                </a:ext>
              </a:extLst>
            </p:cNvPr>
            <p:cNvSpPr txBox="1"/>
            <p:nvPr/>
          </p:nvSpPr>
          <p:spPr>
            <a:xfrm>
              <a:off x="7812780" y="2362198"/>
              <a:ext cx="15888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BOOSTING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CB62EDC-8CF0-D6FC-B426-B9CE6B87F319}"/>
                </a:ext>
              </a:extLst>
            </p:cNvPr>
            <p:cNvSpPr txBox="1"/>
            <p:nvPr/>
          </p:nvSpPr>
          <p:spPr>
            <a:xfrm>
              <a:off x="6985125" y="3242662"/>
              <a:ext cx="3138411" cy="24622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2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Reweight data points</a:t>
              </a:r>
            </a:p>
            <a:p>
              <a:pPr algn="ctr"/>
              <a:endParaRPr lang="en-GB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endParaRPr>
            </a:p>
            <a:p>
              <a:pPr algn="ctr"/>
              <a:r>
                <a:rPr lang="en-GB" sz="22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Weight is dependent of performance</a:t>
              </a:r>
            </a:p>
            <a:p>
              <a:pPr algn="ctr"/>
              <a:endParaRPr lang="en-GB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endParaRPr>
            </a:p>
            <a:p>
              <a:pPr algn="ctr"/>
              <a:r>
                <a:rPr lang="en-GB" sz="22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Both variance and bias are reduced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0FD093C-EBD5-88F0-C192-2DE4506FA767}"/>
                </a:ext>
              </a:extLst>
            </p:cNvPr>
            <p:cNvCxnSpPr>
              <a:cxnSpLocks/>
            </p:cNvCxnSpPr>
            <p:nvPr/>
          </p:nvCxnSpPr>
          <p:spPr>
            <a:xfrm>
              <a:off x="5715000" y="3479800"/>
              <a:ext cx="736600" cy="0"/>
            </a:xfrm>
            <a:prstGeom prst="straightConnector1">
              <a:avLst/>
            </a:prstGeom>
            <a:ln w="38100">
              <a:solidFill>
                <a:srgbClr val="5E5E5E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4BD6CC4-2AC5-C2D2-0C3C-9C5EE6E183BD}"/>
                </a:ext>
              </a:extLst>
            </p:cNvPr>
            <p:cNvCxnSpPr>
              <a:cxnSpLocks/>
            </p:cNvCxnSpPr>
            <p:nvPr/>
          </p:nvCxnSpPr>
          <p:spPr>
            <a:xfrm>
              <a:off x="5715000" y="4178300"/>
              <a:ext cx="736600" cy="0"/>
            </a:xfrm>
            <a:prstGeom prst="straightConnector1">
              <a:avLst/>
            </a:prstGeom>
            <a:ln w="38100">
              <a:solidFill>
                <a:srgbClr val="5E5E5E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AC51A28-B517-BE69-EBA8-9184F44C29A3}"/>
                </a:ext>
              </a:extLst>
            </p:cNvPr>
            <p:cNvCxnSpPr>
              <a:cxnSpLocks/>
            </p:cNvCxnSpPr>
            <p:nvPr/>
          </p:nvCxnSpPr>
          <p:spPr>
            <a:xfrm>
              <a:off x="5715000" y="5168900"/>
              <a:ext cx="736600" cy="0"/>
            </a:xfrm>
            <a:prstGeom prst="straightConnector1">
              <a:avLst/>
            </a:prstGeom>
            <a:ln w="38100">
              <a:solidFill>
                <a:srgbClr val="5E5E5E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4A9C3E1-6DBD-2C06-A2E5-AEE3972F740A}"/>
              </a:ext>
            </a:extLst>
          </p:cNvPr>
          <p:cNvSpPr txBox="1"/>
          <p:nvPr/>
        </p:nvSpPr>
        <p:spPr>
          <a:xfrm>
            <a:off x="240033" y="837655"/>
            <a:ext cx="11644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summary, the two main methods that we’ve seen today can be compared as below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0ECDEE-B37A-DACE-6E89-137A7A09D0AF}"/>
              </a:ext>
            </a:extLst>
          </p:cNvPr>
          <p:cNvCxnSpPr/>
          <p:nvPr/>
        </p:nvCxnSpPr>
        <p:spPr>
          <a:xfrm flipH="1">
            <a:off x="1524000" y="2398555"/>
            <a:ext cx="9042400" cy="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D0BB3E4-C093-721A-5A0F-B98FED3AAB78}"/>
              </a:ext>
            </a:extLst>
          </p:cNvPr>
          <p:cNvSpPr txBox="1"/>
          <p:nvPr/>
        </p:nvSpPr>
        <p:spPr>
          <a:xfrm>
            <a:off x="240033" y="-93661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39221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55480</TotalTime>
  <Words>3218</Words>
  <Application>Microsoft Macintosh PowerPoint</Application>
  <PresentationFormat>Widescreen</PresentationFormat>
  <Paragraphs>470</Paragraphs>
  <Slides>54</Slides>
  <Notes>45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5" baseType="lpstr">
      <vt:lpstr>Arial</vt:lpstr>
      <vt:lpstr>Calibri</vt:lpstr>
      <vt:lpstr>Calibri Light</vt:lpstr>
      <vt:lpstr>Courier New</vt:lpstr>
      <vt:lpstr>Helvetica Neue</vt:lpstr>
      <vt:lpstr>Lato</vt:lpstr>
      <vt:lpstr>Lato Light</vt:lpstr>
      <vt:lpstr>Roboto Black</vt:lpstr>
      <vt:lpstr>Roboto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 Rodrigues</dc:creator>
  <cp:lastModifiedBy>Pedro Rodrigues</cp:lastModifiedBy>
  <cp:revision>1769</cp:revision>
  <dcterms:created xsi:type="dcterms:W3CDTF">2022-01-14T10:39:20Z</dcterms:created>
  <dcterms:modified xsi:type="dcterms:W3CDTF">2026-03-31T09:19:14Z</dcterms:modified>
</cp:coreProperties>
</file>